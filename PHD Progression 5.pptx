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62" r:id="rId6"/>
    <p:sldId id="264" r:id="rId7"/>
    <p:sldId id="266" r:id="rId8"/>
    <p:sldId id="265" r:id="rId9"/>
    <p:sldId id="279" r:id="rId10"/>
    <p:sldId id="280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906D2E-2F2A-4ECB-9ED5-FBC836576C72}" v="24" dt="2025-12-12T12:42:42.056"/>
    <p1510:client id="{81A4CB5D-AB4D-4C9D-9284-A0CFAE0E8D08}" v="200" dt="2025-12-12T13:24:42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206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68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02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08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87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66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82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36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26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0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8794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84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145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57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139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519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56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01D569F-403D-4D8B-A270-78E243560B07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EC06815-B781-4AC7-B10D-5A1F4DF3D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02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visbert.demo.datexis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D31B-AFFA-1EA2-AF22-59B3B93EFB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PHD Progression 5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D0195-92E0-A7BF-5C7D-47B67AECA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Explainable AI with visual analytics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977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58402-64F7-4E10-CC3C-295AFE167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C174-B74D-93DE-D69A-0CC59ACD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How Does BERT Answer Questions? A Layer-wise Analysis of Transformer Representations</a:t>
            </a:r>
            <a:br>
              <a:rPr lang="en-GB"/>
            </a:b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42074-8D15-48F8-15E9-6972BD4D5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Proposing a layer-wise visualization of token representations that reveals information about the internal state of Transformer networks</a:t>
            </a:r>
          </a:p>
          <a:p>
            <a:endParaRPr lang="en-US"/>
          </a:p>
          <a:p>
            <a:r>
              <a:rPr lang="en-US"/>
              <a:t>A set of general NLP probing tasks were applied and extended by the QA-specific tasks of question type classification and supporting fact extraction</a:t>
            </a:r>
          </a:p>
          <a:p>
            <a:endParaRPr lang="en-US"/>
          </a:p>
          <a:p>
            <a:r>
              <a:rPr lang="en-US"/>
              <a:t>The third contribution is to show that BERT’s layers go through similar phases even if fine-tuned on different tasks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507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2980B-5B47-BDEB-0582-729FD572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F71D-9119-7782-3AAA-5465FDBF5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How Does BERT Answer Questions? A Layer-wise Analysis of Transformer Representations</a:t>
            </a:r>
            <a:br>
              <a:rPr lang="en-GB"/>
            </a:b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C426B-0E3B-CC3E-88DF-5DCFA5715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87600"/>
            <a:ext cx="4720913" cy="3632200"/>
          </a:xfrm>
        </p:spPr>
        <p:txBody>
          <a:bodyPr>
            <a:normAutofit fontScale="92500" lnSpcReduction="10000"/>
          </a:bodyPr>
          <a:lstStyle/>
          <a:p>
            <a:r>
              <a:rPr lang="en-US" b="1"/>
              <a:t>Dimensionality reduction: </a:t>
            </a:r>
            <a:r>
              <a:rPr lang="en-US"/>
              <a:t>BERT’s pretrained models use vector dimensions of 1024 and 512. Dimensionality reduction is used to visualize relations between tokens. </a:t>
            </a:r>
          </a:p>
          <a:p>
            <a:endParaRPr lang="en-US"/>
          </a:p>
          <a:p>
            <a:r>
              <a:rPr lang="en-US" b="1"/>
              <a:t>K-means Clustering: </a:t>
            </a:r>
            <a:r>
              <a:rPr lang="en-US"/>
              <a:t>To verify that clusters in 2D space represent the actual distribution in high dimensional vector space, we apply k-means clustering. </a:t>
            </a:r>
          </a:p>
          <a:p>
            <a:endParaRPr lang="en-US"/>
          </a:p>
          <a:p>
            <a:r>
              <a:rPr lang="en-US"/>
              <a:t>We use principle of Edge probing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06A11-4890-7375-4D3C-A66C157CC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650" y="2300288"/>
            <a:ext cx="4563533" cy="413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77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490A-E3AC-AA4F-1CFD-B6627E60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DEE9-7B97-3CE1-DD0A-2CF99507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How Does BERT Answer Questions? A Layer-wise Analysis of Transformer Representations</a:t>
            </a:r>
            <a:br>
              <a:rPr lang="en-GB"/>
            </a:b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07BA7-C959-B5D5-EF7E-C73A1A85D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use principle of Edge probing: this translates core NLP tasks into classification tasks by focusing solely on their labeling part.</a:t>
            </a:r>
          </a:p>
          <a:p>
            <a:endParaRPr lang="en-US"/>
          </a:p>
          <a:p>
            <a:r>
              <a:rPr lang="en-US"/>
              <a:t>The research adopts the tasks Named Entity Labeling, Conference Resolution, Relation classification </a:t>
            </a:r>
          </a:p>
          <a:p>
            <a:endParaRPr lang="en-US"/>
          </a:p>
          <a:p>
            <a:r>
              <a:rPr lang="en-US"/>
              <a:t>The researcher also adds question type classification and supporting fact identification due to their importance for question answering.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2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67CC2-68EC-9370-76CC-1C7D1AC8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4B7B-9A70-5DA5-7159-D7A21C42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39" y="973668"/>
            <a:ext cx="9727693" cy="764980"/>
          </a:xfrm>
        </p:spPr>
        <p:txBody>
          <a:bodyPr/>
          <a:lstStyle/>
          <a:p>
            <a:r>
              <a:rPr lang="en-US" sz="2400"/>
              <a:t>How Does BERT Answer Questions? A Layer-wise Analysis of Transformer Representations</a:t>
            </a:r>
            <a:endParaRPr lang="en-GB" sz="2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00E62-BADA-F107-306B-0A772ACC9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285999"/>
            <a:ext cx="9228786" cy="4217831"/>
          </a:xfrm>
        </p:spPr>
        <p:txBody>
          <a:bodyPr>
            <a:normAutofit/>
          </a:bodyPr>
          <a:lstStyle/>
          <a:p>
            <a:r>
              <a:rPr lang="en-US" b="1"/>
              <a:t>Named Entity Labeling</a:t>
            </a:r>
            <a:r>
              <a:rPr lang="en-US"/>
              <a:t>: This is based on Named Entity Recognition but formulated as a Classification problem</a:t>
            </a:r>
            <a:endParaRPr lang="en-GB"/>
          </a:p>
          <a:p>
            <a:endParaRPr lang="en-US" b="1"/>
          </a:p>
          <a:p>
            <a:r>
              <a:rPr lang="en-US" b="1"/>
              <a:t>Coreference Resolution: </a:t>
            </a:r>
            <a:r>
              <a:rPr lang="en-US"/>
              <a:t>The Coreference task requires the model to predict whether two mentions within a text refer to the same entity.</a:t>
            </a:r>
          </a:p>
          <a:p>
            <a:endParaRPr lang="en-US" b="1"/>
          </a:p>
          <a:p>
            <a:r>
              <a:rPr lang="en-US" b="1"/>
              <a:t>Relation Classification:</a:t>
            </a:r>
            <a:r>
              <a:rPr lang="en-US"/>
              <a:t> In Relation Classification the model has to predict which relation type connects two known entities.</a:t>
            </a:r>
            <a:endParaRPr lang="en-GB"/>
          </a:p>
          <a:p>
            <a:endParaRPr lang="en-US" b="1"/>
          </a:p>
          <a:p>
            <a:r>
              <a:rPr lang="en-US" b="1"/>
              <a:t>Question Type Classification:</a:t>
            </a:r>
            <a:r>
              <a:rPr lang="en-US"/>
              <a:t> A fundamental part of answering a question is to correctly identify its question type.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801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9A610-C804-67B5-B2C9-DB0EFDD5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5570-0573-39C7-9201-7D26D3A5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Experiment</a:t>
            </a:r>
            <a:br>
              <a:rPr lang="en-GB"/>
            </a:b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3DD44-BC95-B073-CCF6-52CEE94D4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285999"/>
            <a:ext cx="6104585" cy="4217831"/>
          </a:xfrm>
        </p:spPr>
        <p:txBody>
          <a:bodyPr>
            <a:normAutofit/>
          </a:bodyPr>
          <a:lstStyle/>
          <a:p>
            <a:r>
              <a:rPr lang="en-US"/>
              <a:t>SQUAD, HotpotQA and </a:t>
            </a:r>
            <a:r>
              <a:rPr lang="en-US" err="1"/>
              <a:t>babI</a:t>
            </a:r>
            <a:r>
              <a:rPr lang="en-US"/>
              <a:t> dataset</a:t>
            </a:r>
          </a:p>
          <a:p>
            <a:endParaRPr lang="en-US"/>
          </a:p>
          <a:p>
            <a:r>
              <a:rPr lang="en-US"/>
              <a:t>The two models these dataset was tried on was BERT and GPT-2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1DB5E-ECEA-93E5-83C9-7CBC2CF9E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3" y="4309598"/>
            <a:ext cx="6387921" cy="2060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79CA54-A779-4D7C-33E7-7E2AE5263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985" y="1491237"/>
            <a:ext cx="5554015" cy="308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FA9BBD-C045-FEFC-9995-FE34695BF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984" y="4120203"/>
            <a:ext cx="5554016" cy="273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34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DCF1-0CAD-99CB-04EF-4912E449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4849A-03CF-BA6C-DB21-3B091D9A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Results</a:t>
            </a:r>
            <a:br>
              <a:rPr lang="en-GB"/>
            </a:b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B3F99-180E-0980-5F5A-9CA27E763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7" y="2285999"/>
            <a:ext cx="11225013" cy="4572001"/>
          </a:xfrm>
        </p:spPr>
        <p:txBody>
          <a:bodyPr>
            <a:normAutofit/>
          </a:bodyPr>
          <a:lstStyle/>
          <a:p>
            <a:r>
              <a:rPr lang="en-US" b="1"/>
              <a:t>Semantic Clustering: </a:t>
            </a:r>
            <a:r>
              <a:rPr lang="en-US"/>
              <a:t>Early layers within BERT-based models group tokens into topical clusters. This clustering still holds little task-specific information.</a:t>
            </a:r>
          </a:p>
          <a:p>
            <a:endParaRPr lang="en-US" b="1"/>
          </a:p>
          <a:p>
            <a:r>
              <a:rPr lang="en-US" b="1"/>
              <a:t>Connecting Entities with Mentions and Attributes:</a:t>
            </a:r>
            <a:r>
              <a:rPr lang="en-US"/>
              <a:t> In the middle layer, clustering is less connected by their topical similarities. Tokens are connected by their relation to certain input contexts.</a:t>
            </a:r>
          </a:p>
          <a:p>
            <a:endParaRPr lang="en-US" b="1"/>
          </a:p>
          <a:p>
            <a:r>
              <a:rPr lang="en-US" b="1"/>
              <a:t>Matching Questions with Supporting Facts: </a:t>
            </a:r>
            <a:r>
              <a:rPr lang="en-US"/>
              <a:t>Identifying relevant parts of the context is crucial for QA and information retrieval. BERT performs this task by transforming the tokens so that question tokens are matched onto relevant tokens.</a:t>
            </a:r>
          </a:p>
          <a:p>
            <a:endParaRPr lang="en-US" b="1"/>
          </a:p>
          <a:p>
            <a:r>
              <a:rPr lang="en-US" b="1"/>
              <a:t>Answer Extraction: </a:t>
            </a:r>
            <a:r>
              <a:rPr lang="en-US"/>
              <a:t>In the last network layers, the model dissolves most of the previous clusters. It then separates the correct answer token, and sometimes other possible candidates, from the rest of the tokens.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686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EFF6-FA8C-525F-199E-FAC1E99C2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9E3E-0C8E-ADCF-DEFB-0E9E3D7C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Results</a:t>
            </a:r>
            <a:br>
              <a:rPr lang="en-GB"/>
            </a:b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AAA3C-C73A-36DC-0D2A-24301786D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150"/>
            <a:ext cx="12191999" cy="543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74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2ED06-65CF-5563-6EAD-1B047E61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7FA52-8950-AC56-1637-73ACBB152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Results</a:t>
            </a:r>
            <a:br>
              <a:rPr lang="en-GB"/>
            </a:b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89FF6-1485-D436-CE6E-C7C8837A7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8" y="1867436"/>
            <a:ext cx="11217499" cy="499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75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B8917-09C9-B999-7FC5-9A2178150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1AC5-9844-EBDC-EF00-59B13DA6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Results</a:t>
            </a:r>
            <a:br>
              <a:rPr lang="en-GB"/>
            </a:b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862FD-A1CA-5E5A-B4E7-6D6181E13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46" y="2869104"/>
            <a:ext cx="87249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52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2D1B6-6044-C190-3BB2-3CDD29F6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3B67D-E52E-3507-818C-5A97E57F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Results</a:t>
            </a:r>
            <a:br>
              <a:rPr lang="en-GB"/>
            </a:b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C4DABE8-C49F-7BBD-0D02-3C18C5B8F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7" y="2285999"/>
            <a:ext cx="11225013" cy="4572001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/>
              <a:t>Comparison to GPT-2 </a:t>
            </a:r>
          </a:p>
          <a:p>
            <a:endParaRPr lang="en-US" sz="2400"/>
          </a:p>
          <a:p>
            <a:r>
              <a:rPr lang="en-US" sz="2400"/>
              <a:t>Both give particular attention to the first token sequence</a:t>
            </a:r>
          </a:p>
          <a:p>
            <a:endParaRPr lang="en-US" sz="2400"/>
          </a:p>
          <a:p>
            <a:r>
              <a:rPr lang="en-US" sz="2400"/>
              <a:t>Attention is given to the first token in every layer, except for the Embedding layer, the first transformer block, and the last one.</a:t>
            </a:r>
          </a:p>
          <a:p>
            <a:endParaRPr lang="en-US" sz="2400"/>
          </a:p>
          <a:p>
            <a:r>
              <a:rPr lang="en-US" sz="2400"/>
              <a:t>separates the relevant supporting Facts and the question in the vector space</a:t>
            </a:r>
          </a:p>
          <a:p>
            <a:endParaRPr lang="en-US" sz="2400"/>
          </a:p>
          <a:p>
            <a:r>
              <a:rPr lang="en-US" sz="2400"/>
              <a:t>Unlike BERT the final answer is not separated but left as part of the sentence</a:t>
            </a:r>
          </a:p>
          <a:p>
            <a:endParaRPr lang="en-US" sz="2400"/>
          </a:p>
          <a:p>
            <a:r>
              <a:rPr lang="en-US" sz="2400"/>
              <a:t>Possible future research can be done to further probe GPT-2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77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9238B-4EEE-6C8A-9B3D-86E17FDC7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2983-8E16-5F1A-6D93-2895835F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Results</a:t>
            </a:r>
            <a:br>
              <a:rPr lang="en-GB"/>
            </a:b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A5E6765-7650-85B6-5D9F-1C37DBB58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7" y="2427666"/>
            <a:ext cx="5790128" cy="4572001"/>
          </a:xfrm>
        </p:spPr>
        <p:txBody>
          <a:bodyPr>
            <a:normAutofit fontScale="70000" lnSpcReduction="20000"/>
          </a:bodyPr>
          <a:lstStyle/>
          <a:p>
            <a:endParaRPr lang="en-US" sz="2400">
              <a:hlinkClick r:id="rId2"/>
            </a:endParaRPr>
          </a:p>
          <a:p>
            <a:r>
              <a:rPr lang="en-US" sz="2400"/>
              <a:t>While GPT-2 performs </a:t>
            </a:r>
            <a:r>
              <a:rPr lang="en-US" sz="2400" err="1"/>
              <a:t>signifi</a:t>
            </a:r>
            <a:r>
              <a:rPr lang="en-US" sz="2400"/>
              <a:t> </a:t>
            </a:r>
            <a:r>
              <a:rPr lang="en-US" sz="2400" err="1"/>
              <a:t>cantly</a:t>
            </a:r>
            <a:r>
              <a:rPr lang="en-US" sz="2400"/>
              <a:t> worse in the more difficult tasks of </a:t>
            </a:r>
            <a:r>
              <a:rPr lang="en-US" sz="2400" err="1"/>
              <a:t>SQuAD</a:t>
            </a:r>
            <a:r>
              <a:rPr lang="en-US" sz="2400"/>
              <a:t> and HotpotQA, </a:t>
            </a:r>
          </a:p>
          <a:p>
            <a:r>
              <a:rPr lang="en-US" sz="2400"/>
              <a:t>it does considerably better on </a:t>
            </a:r>
            <a:r>
              <a:rPr lang="en-US" sz="2400" err="1"/>
              <a:t>bAbi</a:t>
            </a:r>
            <a:r>
              <a:rPr lang="en-US" sz="2400"/>
              <a:t> reducing the validation error to nearly 0. Both tasks require positional or geometric reasoning</a:t>
            </a:r>
          </a:p>
          <a:p>
            <a:r>
              <a:rPr lang="en-US" sz="2400"/>
              <a:t>it is reasonable to assume that this is a skill where GPT-2 improves on BERT’s reasoning capabilities.</a:t>
            </a:r>
            <a:endParaRPr lang="en-US" sz="2400">
              <a:hlinkClick r:id="rId2"/>
            </a:endParaRPr>
          </a:p>
          <a:p>
            <a:endParaRPr lang="en-US" sz="2400">
              <a:hlinkClick r:id="rId2"/>
            </a:endParaRPr>
          </a:p>
          <a:p>
            <a:endParaRPr lang="en-US" sz="2400">
              <a:hlinkClick r:id="rId2"/>
            </a:endParaRPr>
          </a:p>
          <a:p>
            <a:endParaRPr lang="en-US" sz="2400">
              <a:hlinkClick r:id="rId2"/>
            </a:endParaRPr>
          </a:p>
          <a:p>
            <a:endParaRPr lang="en-US" sz="2400">
              <a:hlinkClick r:id="rId2"/>
            </a:endParaRPr>
          </a:p>
          <a:p>
            <a:endParaRPr lang="en-US" sz="2400">
              <a:hlinkClick r:id="rId2"/>
            </a:endParaRPr>
          </a:p>
          <a:p>
            <a:r>
              <a:rPr lang="en-US" sz="2400">
                <a:hlinkClick r:id="rId2"/>
              </a:rPr>
              <a:t>https://visbert.demo.datexis.com/</a:t>
            </a:r>
            <a:endParaRPr lang="en-US" sz="2400"/>
          </a:p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698CC-49F0-8809-A86B-C2C44CDC8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492" y="2427667"/>
            <a:ext cx="6078829" cy="384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64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6714-2EE3-B5DD-E16B-2C2E1DB3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73094-0C41-8C6B-5295-D8C507BCC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US" sz="2400"/>
              <a:t>Explainable Deep Learning: A Visual Analytics Approach with Transition Matrices</a:t>
            </a:r>
            <a:br>
              <a:rPr lang="en-GB"/>
            </a:br>
            <a:br>
              <a:rPr lang="en-GB"/>
            </a:b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EF6B2C2-C09E-4398-F890-70DC4ABFD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7" y="2285999"/>
            <a:ext cx="11225013" cy="4572001"/>
          </a:xfrm>
        </p:spPr>
        <p:txBody>
          <a:bodyPr>
            <a:normAutofit/>
          </a:bodyPr>
          <a:lstStyle/>
          <a:p>
            <a:r>
              <a:rPr lang="en-US"/>
              <a:t>the concept of mental models (MMs) and formal models (FM) to bridge the gap between human understanding and AI decision making processes</a:t>
            </a:r>
          </a:p>
          <a:p>
            <a:endParaRPr lang="en-US"/>
          </a:p>
          <a:p>
            <a:r>
              <a:rPr lang="en-US"/>
              <a:t>comparing a DL model with its ML counterpart or connecting a multidimensional data model with a reduced-dimensional feature space model.</a:t>
            </a:r>
          </a:p>
          <a:p>
            <a:endParaRPr lang="en-US"/>
          </a:p>
          <a:p>
            <a:r>
              <a:rPr lang="en-US"/>
              <a:t>the formal models employed in DL and the mental models presented as an ML model that resonates more intuitively with human cognition.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780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4FC9-837D-B440-7DA7-67664A8A2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FE3B-354F-8CBF-2037-CB3C40310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US" sz="2400"/>
              <a:t>Explainable Deep Learning: A Visual Analytics Approach with Transition Matrices</a:t>
            </a:r>
            <a:br>
              <a:rPr lang="en-GB"/>
            </a:br>
            <a:br>
              <a:rPr lang="en-GB"/>
            </a:br>
            <a:endParaRPr lang="en-GB"/>
          </a:p>
        </p:txBody>
      </p:sp>
      <p:pic>
        <p:nvPicPr>
          <p:cNvPr id="3" name="drawing">
            <a:extLst>
              <a:ext uri="{FF2B5EF4-FFF2-40B4-BE49-F238E27FC236}">
                <a16:creationId xmlns:a16="http://schemas.microsoft.com/office/drawing/2014/main" id="{DBABF600-A315-8B63-AE77-84C83B5A4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792" y="2292439"/>
            <a:ext cx="9787943" cy="430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72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05FF-5E92-7252-2CF5-C58252DB0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CABF-06CD-89D2-80FA-931DA0FA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US" sz="2400"/>
              <a:t>Explainable Deep Learning: A Visual Analytics Approach with Transition Matrices</a:t>
            </a:r>
            <a:br>
              <a:rPr lang="en-GB"/>
            </a:br>
            <a:br>
              <a:rPr lang="en-GB"/>
            </a:b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250270E6-1F57-5370-8690-EDD0DE573F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517" y="2285999"/>
                <a:ext cx="11225013" cy="4572001"/>
              </a:xfrm>
            </p:spPr>
            <p:txBody>
              <a:bodyPr>
                <a:normAutofit/>
              </a:bodyPr>
              <a:lstStyle/>
              <a:p>
                <a:r>
                  <a:rPr lang="en-US" b="1"/>
                  <a:t>Matrix A</a:t>
                </a:r>
                <a:r>
                  <a:rPr lang="en-US"/>
                  <a:t> (size m × k).</a:t>
                </a:r>
                <a:endParaRPr lang="en-GB"/>
              </a:p>
              <a:p>
                <a:r>
                  <a:rPr lang="en-US" b="1"/>
                  <a:t>Matrix B</a:t>
                </a:r>
                <a:r>
                  <a:rPr lang="en-US"/>
                  <a:t> (size m × l).</a:t>
                </a:r>
              </a:p>
              <a:p>
                <a:endParaRPr lang="en-US"/>
              </a:p>
              <a:p>
                <a:r>
                  <a:rPr lang="en-US"/>
                  <a:t>We want a </a:t>
                </a:r>
                <a:r>
                  <a:rPr lang="en-US" b="1"/>
                  <a:t>conversion rule</a:t>
                </a:r>
                <a:r>
                  <a:rPr lang="en-US"/>
                  <a:t> to go from A's description → B's description.</a:t>
                </a:r>
              </a:p>
              <a:p>
                <a:r>
                  <a:rPr lang="en-US"/>
                  <a:t>We want a </a:t>
                </a:r>
                <a:r>
                  <a:rPr lang="en-US" b="1"/>
                  <a:t>matrix T</a:t>
                </a:r>
                <a:r>
                  <a:rPr lang="en-US"/>
                  <a:t> such that: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/>
              </a:p>
              <a:p>
                <a:r>
                  <a:rPr lang="en-GB"/>
                  <a:t> if m = k = l, you could just do: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ar-AE"/>
              </a:p>
              <a:p>
                <a:r>
                  <a:rPr lang="en-GB"/>
                  <a:t>But here, m, k, l often differ, so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ar-AE"/>
                  <a:t> </a:t>
                </a:r>
                <a:r>
                  <a:rPr lang="en-GB"/>
                  <a:t>may not exist</a:t>
                </a:r>
              </a:p>
              <a:p>
                <a:endParaRPr lang="en-US"/>
              </a:p>
              <a:p>
                <a:endParaRPr lang="en-GB"/>
              </a:p>
              <a:p>
                <a:endParaRPr lang="en-GB"/>
              </a:p>
            </p:txBody>
          </p:sp>
        </mc:Choice>
        <mc:Fallback xmlns="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250270E6-1F57-5370-8690-EDD0DE573F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517" y="2285999"/>
                <a:ext cx="11225013" cy="4572001"/>
              </a:xfrm>
              <a:blipFill>
                <a:blip r:embed="rId2"/>
                <a:stretch>
                  <a:fillRect l="-217" t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7155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C78EE-6677-FCF9-7F88-311D50156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B192-7DD8-7A71-6E68-F68833890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US" sz="2400"/>
              <a:t>Explainable Deep Learning: A Visual Analytics Approach with Transition Matrices</a:t>
            </a:r>
            <a:br>
              <a:rPr lang="en-GB"/>
            </a:br>
            <a:br>
              <a:rPr lang="en-GB"/>
            </a:b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9DA2100A-D3CE-D291-6A81-9BC3DB15BB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517" y="2285999"/>
                <a:ext cx="11225013" cy="4572001"/>
              </a:xfrm>
            </p:spPr>
            <p:txBody>
              <a:bodyPr>
                <a:normAutofit/>
              </a:bodyPr>
              <a:lstStyle/>
              <a:p>
                <a:r>
                  <a:rPr lang="en-GB" b="1"/>
                  <a:t>So we use pseudoinverse (a kind of “almost inverse” for non-square matrices).</a:t>
                </a:r>
              </a:p>
              <a:p>
                <a:endParaRPr lang="en-US" b="1"/>
              </a:p>
              <a:p>
                <a:endParaRPr lang="en-GB" b="1"/>
              </a:p>
              <a:p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b="1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 b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ar-AE" b="1"/>
              </a:p>
              <a:p>
                <a:endParaRPr lang="en-GB" b="1"/>
              </a:p>
              <a:p>
                <a:endParaRPr lang="en-GB" b="1"/>
              </a:p>
              <a:p>
                <a:r>
                  <a:rPr lang="en-GB" b="1"/>
                  <a:t>Where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 b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ar-AE" b="1"/>
                  <a:t> </a:t>
                </a:r>
                <a:r>
                  <a:rPr lang="en-GB" b="1"/>
                  <a:t>is the pseudoinverse of A.</a:t>
                </a:r>
              </a:p>
              <a:p>
                <a:endParaRPr lang="en-GB"/>
              </a:p>
            </p:txBody>
          </p:sp>
        </mc:Choice>
        <mc:Fallback xmlns="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9DA2100A-D3CE-D291-6A81-9BC3DB15BB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517" y="2285999"/>
                <a:ext cx="11225013" cy="4572001"/>
              </a:xfrm>
              <a:blipFill>
                <a:blip r:embed="rId2"/>
                <a:stretch>
                  <a:fillRect l="-217" t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7646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DA81-91BC-70BA-1A28-BC0A7CFBD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DB03-14B5-C6D0-2932-26D9C0AC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US" sz="2400"/>
              <a:t>Explainable Deep Learning: A Visual Analytics Approach with Transition Matrices</a:t>
            </a:r>
            <a:br>
              <a:rPr lang="en-GB"/>
            </a:br>
            <a:br>
              <a:rPr lang="en-GB"/>
            </a:b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3341C50A-AD07-3AE8-BF1E-021AB2E0B2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517" y="2285999"/>
                <a:ext cx="11225013" cy="4572001"/>
              </a:xfrm>
            </p:spPr>
            <p:txBody>
              <a:bodyPr>
                <a:normAutofit/>
              </a:bodyPr>
              <a:lstStyle/>
              <a:p>
                <a:r>
                  <a:rPr lang="en-GB" b="1"/>
                  <a:t>Simple case:</a:t>
                </a:r>
                <a:r>
                  <a:rPr lang="en-GB"/>
                  <a:t> If columns of A are independent,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lang="en-US"/>
              </a:p>
              <a:p>
                <a:r>
                  <a:rPr lang="en-US"/>
                  <a:t>det(A ^(T) A)  = 0 or close to 0</a:t>
                </a:r>
              </a:p>
              <a:p>
                <a:r>
                  <a:rPr lang="en-GB" b="1"/>
                  <a:t>If rows of A are independent</a:t>
                </a:r>
                <a:r>
                  <a:rPr lang="en-GB"/>
                  <a:t>,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ar-AE"/>
              </a:p>
              <a:p>
                <a:r>
                  <a:rPr lang="en-US"/>
                  <a:t>det(AA^(T))  = 0 or close to 0</a:t>
                </a:r>
              </a:p>
              <a:p>
                <a:r>
                  <a:rPr lang="en-US" b="1"/>
                  <a:t>If Both are close to 0, use SVD decomposition</a:t>
                </a:r>
              </a:p>
              <a:p>
                <a:endParaRPr lang="en-GB"/>
              </a:p>
            </p:txBody>
          </p:sp>
        </mc:Choice>
        <mc:Fallback xmlns="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3341C50A-AD07-3AE8-BF1E-021AB2E0B2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517" y="2285999"/>
                <a:ext cx="11225013" cy="4572001"/>
              </a:xfrm>
              <a:blipFill>
                <a:blip r:embed="rId2"/>
                <a:stretch>
                  <a:fillRect l="-217" t="-1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drawing">
            <a:extLst>
              <a:ext uri="{FF2B5EF4-FFF2-40B4-BE49-F238E27FC236}">
                <a16:creationId xmlns:a16="http://schemas.microsoft.com/office/drawing/2014/main" id="{8D0BD58B-6DDC-6636-047A-AB44314A8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946" y="5546397"/>
            <a:ext cx="2259102" cy="46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1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B3743-2B61-61D7-0361-ABD67964B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0743-C029-A06C-28F1-5BEE9243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US" sz="2400"/>
              <a:t>Explainable Deep Learning: A Visual Analytics Approach with Transition Matrices</a:t>
            </a:r>
            <a:br>
              <a:rPr lang="en-GB"/>
            </a:br>
            <a:br>
              <a:rPr lang="en-GB"/>
            </a:b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C5A2CA49-820A-1BA7-6079-B4C1C39B98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517" y="2285999"/>
                <a:ext cx="11225013" cy="4572001"/>
              </a:xfrm>
            </p:spPr>
            <p:txBody>
              <a:bodyPr>
                <a:normAutofit/>
              </a:bodyPr>
              <a:lstStyle/>
              <a:p>
                <a:endParaRPr lang="en-GB" b="1"/>
              </a:p>
              <a:p>
                <a:r>
                  <a:rPr lang="en-GB" b="1"/>
                  <a:t>So we use pseudoinverse (a kind of “almost inverse” for non-square matrices).</a:t>
                </a:r>
              </a:p>
              <a:p>
                <a:endParaRPr lang="en-US" b="1"/>
              </a:p>
              <a:p>
                <a:endParaRPr lang="en-GB" b="1"/>
              </a:p>
              <a:p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b="1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 b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b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ar-AE" b="1"/>
              </a:p>
              <a:p>
                <a:endParaRPr lang="en-GB" b="1"/>
              </a:p>
              <a:p>
                <a:endParaRPr lang="en-GB" b="1"/>
              </a:p>
              <a:p>
                <a:r>
                  <a:rPr lang="en-GB" b="1"/>
                  <a:t>Where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ar-AE" b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ar-AE" b="1"/>
                  <a:t> </a:t>
                </a:r>
                <a:r>
                  <a:rPr lang="en-GB" b="1"/>
                  <a:t>is the pseudoinverse of A.</a:t>
                </a:r>
              </a:p>
              <a:p>
                <a:endParaRPr lang="en-GB"/>
              </a:p>
            </p:txBody>
          </p:sp>
        </mc:Choice>
        <mc:Fallback xmlns="">
          <p:sp>
            <p:nvSpPr>
              <p:cNvPr id="4" name="Subtitle 2">
                <a:extLst>
                  <a:ext uri="{FF2B5EF4-FFF2-40B4-BE49-F238E27FC236}">
                    <a16:creationId xmlns:a16="http://schemas.microsoft.com/office/drawing/2014/main" id="{C5A2CA49-820A-1BA7-6079-B4C1C39B98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517" y="2285999"/>
                <a:ext cx="11225013" cy="4572001"/>
              </a:xfrm>
              <a:blipFill>
                <a:blip r:embed="rId2"/>
                <a:stretch>
                  <a:fillRect l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3441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DCB6-DEEA-D038-662D-AAD6CD21E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9F1D-AB30-7882-2B1A-6F06B238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US" sz="2400"/>
              <a:t>Explainable Deep Learning: A Visual Analytics Approach with Transition Matrices</a:t>
            </a:r>
            <a:br>
              <a:rPr lang="en-GB"/>
            </a:br>
            <a:br>
              <a:rPr lang="en-GB"/>
            </a:b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84E3F8-059F-843D-8FAF-1C10F3F21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7" y="2285999"/>
            <a:ext cx="11225013" cy="4572001"/>
          </a:xfrm>
        </p:spPr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Once you have </a:t>
            </a:r>
            <a:r>
              <a:rPr lang="en-US" b="1"/>
              <a:t>T</a:t>
            </a:r>
            <a:r>
              <a:rPr lang="en-US"/>
              <a:t>, for a new cat’s A-features </a:t>
            </a:r>
            <a:r>
              <a:rPr lang="en-GB" i="1"/>
              <a:t>a∗</a:t>
            </a:r>
            <a:r>
              <a:rPr lang="en-US" i="1"/>
              <a:t>a</a:t>
            </a:r>
            <a:r>
              <a:rPr lang="en-US"/>
              <a:t>∗,</a:t>
            </a:r>
            <a:endParaRPr lang="en-GB"/>
          </a:p>
          <a:p>
            <a:pPr marL="0" indent="0">
              <a:buNone/>
            </a:pPr>
            <a:endParaRPr lang="en-GB" sz="4400" b="1" i="1"/>
          </a:p>
          <a:p>
            <a:pPr marL="0" indent="0">
              <a:buNone/>
            </a:pPr>
            <a:r>
              <a:rPr lang="en-GB" sz="4400" b="1" i="1"/>
              <a:t>b∗=a∗×T</a:t>
            </a:r>
            <a:endParaRPr lang="en-GB" sz="4400" b="1"/>
          </a:p>
          <a:p>
            <a:endParaRPr lang="en-US"/>
          </a:p>
          <a:p>
            <a:endParaRPr lang="en-US"/>
          </a:p>
          <a:p>
            <a:r>
              <a:rPr lang="en-US"/>
              <a:t>gives its predicted B-features.</a:t>
            </a:r>
            <a:endParaRPr lang="en-GB"/>
          </a:p>
          <a:p>
            <a:pPr marL="0" indent="0">
              <a:buNone/>
            </a:pPr>
            <a:endParaRPr lang="en-GB"/>
          </a:p>
        </p:txBody>
      </p:sp>
      <p:pic>
        <p:nvPicPr>
          <p:cNvPr id="3" name="drawing">
            <a:extLst>
              <a:ext uri="{FF2B5EF4-FFF2-40B4-BE49-F238E27FC236}">
                <a16:creationId xmlns:a16="http://schemas.microsoft.com/office/drawing/2014/main" id="{30C31FB9-15F2-C66F-F37C-056200F59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6541" y="3139937"/>
            <a:ext cx="7044743" cy="286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04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243B8-6531-AC93-4E97-493BB5EE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2D07-4A17-C842-FDC4-0804BB598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GB"/>
              <a:t>Experiment</a:t>
            </a:r>
            <a:br>
              <a:rPr lang="en-GB"/>
            </a:br>
            <a:br>
              <a:rPr lang="en-GB"/>
            </a:b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B092709-35C4-1A23-0519-604B4649F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7" y="2285999"/>
            <a:ext cx="6189373" cy="4572001"/>
          </a:xfrm>
        </p:spPr>
        <p:txBody>
          <a:bodyPr>
            <a:normAutofit/>
          </a:bodyPr>
          <a:lstStyle/>
          <a:p>
            <a:r>
              <a:rPr lang="en-US"/>
              <a:t>DL models convolutional neural network and robustly optimized bidirectional encoder representations from transformers (</a:t>
            </a:r>
            <a:r>
              <a:rPr lang="en-US" err="1"/>
              <a:t>RoBERTa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/>
              <a:t>Let us also assume that solutions to these tasks exist both through DL and ML means (for the same datasets)</a:t>
            </a:r>
          </a:p>
          <a:p>
            <a:endParaRPr lang="en-US"/>
          </a:p>
          <a:p>
            <a:r>
              <a:rPr lang="en-US"/>
              <a:t>MDS was used on FM output of DL  A and MM output of ML B</a:t>
            </a:r>
            <a:endParaRPr lang="en-GB"/>
          </a:p>
          <a:p>
            <a:endParaRPr lang="en-GB"/>
          </a:p>
        </p:txBody>
      </p:sp>
      <p:pic>
        <p:nvPicPr>
          <p:cNvPr id="5" name="drawing">
            <a:extLst>
              <a:ext uri="{FF2B5EF4-FFF2-40B4-BE49-F238E27FC236}">
                <a16:creationId xmlns:a16="http://schemas.microsoft.com/office/drawing/2014/main" id="{FFFA89E7-5CFB-11F7-75A5-C2AB5976D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4890" y="2285999"/>
            <a:ext cx="5811593" cy="359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59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6E36C-ACC9-DBB8-1CD4-6A56FF92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392E-AED9-F116-193E-29EA31082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GB"/>
              <a:t>Experiment</a:t>
            </a:r>
            <a:br>
              <a:rPr lang="en-GB"/>
            </a:br>
            <a:br>
              <a:rPr lang="en-GB"/>
            </a:b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D179BCD-629C-8AA0-35AB-5248134E6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7" y="2285999"/>
            <a:ext cx="11804562" cy="4572001"/>
          </a:xfrm>
        </p:spPr>
        <p:txBody>
          <a:bodyPr>
            <a:normAutofit/>
          </a:bodyPr>
          <a:lstStyle/>
          <a:p>
            <a:r>
              <a:rPr lang="en-US"/>
              <a:t>A</a:t>
            </a:r>
            <a:r>
              <a:rPr lang="en-US" baseline="30000"/>
              <a:t>+ </a:t>
            </a:r>
            <a:r>
              <a:rPr lang="en-US"/>
              <a:t>and Transition matrix T were calculated. This was then used to estimate the result of MM B.</a:t>
            </a:r>
            <a:endParaRPr lang="en-GB"/>
          </a:p>
          <a:p>
            <a:endParaRPr lang="en-US"/>
          </a:p>
          <a:p>
            <a:endParaRPr lang="en-GB"/>
          </a:p>
        </p:txBody>
      </p:sp>
      <p:pic>
        <p:nvPicPr>
          <p:cNvPr id="3" name="drawing">
            <a:extLst>
              <a:ext uri="{FF2B5EF4-FFF2-40B4-BE49-F238E27FC236}">
                <a16:creationId xmlns:a16="http://schemas.microsoft.com/office/drawing/2014/main" id="{2B393691-23EA-ABC0-EA83-B778245C6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757" y="3045852"/>
            <a:ext cx="8900147" cy="305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396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3B257-0CB3-182C-902B-E40CC58B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D515-EEED-64FE-3B1C-B649E1FF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GB"/>
              <a:t>Experiment</a:t>
            </a:r>
            <a:br>
              <a:rPr lang="en-GB"/>
            </a:br>
            <a:br>
              <a:rPr lang="en-GB"/>
            </a:b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95D5D0B-568A-5E5B-8B5C-9580872F2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7" y="2285999"/>
            <a:ext cx="11804562" cy="4572001"/>
          </a:xfrm>
        </p:spPr>
        <p:txBody>
          <a:bodyPr>
            <a:normAutofit/>
          </a:bodyPr>
          <a:lstStyle/>
          <a:p>
            <a:r>
              <a:rPr lang="en-US"/>
              <a:t>A</a:t>
            </a:r>
            <a:r>
              <a:rPr lang="en-US" baseline="30000"/>
              <a:t>+ </a:t>
            </a:r>
            <a:r>
              <a:rPr lang="en-US"/>
              <a:t>and Transition matrix T were calculated. This was then used to estimate the result of MM B.</a:t>
            </a:r>
          </a:p>
          <a:p>
            <a:r>
              <a:rPr lang="en-US"/>
              <a:t>Plot of initial B and B</a:t>
            </a:r>
            <a:r>
              <a:rPr lang="en-US" baseline="30000"/>
              <a:t>1</a:t>
            </a:r>
            <a:r>
              <a:rPr lang="en-US"/>
              <a:t> Calculated with the transition matrix</a:t>
            </a:r>
            <a:endParaRPr lang="en-GB"/>
          </a:p>
          <a:p>
            <a:endParaRPr lang="en-GB"/>
          </a:p>
          <a:p>
            <a:endParaRPr lang="en-US"/>
          </a:p>
          <a:p>
            <a:endParaRPr lang="en-GB"/>
          </a:p>
        </p:txBody>
      </p:sp>
      <p:pic>
        <p:nvPicPr>
          <p:cNvPr id="5" name="drawing">
            <a:extLst>
              <a:ext uri="{FF2B5EF4-FFF2-40B4-BE49-F238E27FC236}">
                <a16:creationId xmlns:a16="http://schemas.microsoft.com/office/drawing/2014/main" id="{D8B0694C-1E85-F269-8B2D-417979914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3274453"/>
            <a:ext cx="7624293" cy="284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41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EEC83-34D6-DF5D-15AC-29699AB1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8E01-88AF-4CA1-6F3A-7C9A1F84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8581474" cy="983921"/>
          </a:xfrm>
        </p:spPr>
        <p:txBody>
          <a:bodyPr/>
          <a:lstStyle/>
          <a:p>
            <a:r>
              <a:rPr lang="en-GB"/>
              <a:t>Supervisors' comments</a:t>
            </a:r>
            <a:br>
              <a:rPr lang="en-GB"/>
            </a:br>
            <a:br>
              <a:rPr lang="en-GB"/>
            </a:b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01CA62-26BE-956A-2200-BF515A6EA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7" y="2285999"/>
            <a:ext cx="11804562" cy="4572001"/>
          </a:xfrm>
        </p:spPr>
        <p:txBody>
          <a:bodyPr>
            <a:normAutofit/>
          </a:bodyPr>
          <a:lstStyle/>
          <a:p>
            <a:endParaRPr lang="en-GB"/>
          </a:p>
          <a:p>
            <a:endParaRPr lang="en-US"/>
          </a:p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77771-4FD3-9232-5E8A-DBC6E0EA3946}"/>
              </a:ext>
            </a:extLst>
          </p:cNvPr>
          <p:cNvSpPr txBox="1">
            <a:spLocks/>
          </p:cNvSpPr>
          <p:nvPr/>
        </p:nvSpPr>
        <p:spPr>
          <a:xfrm>
            <a:off x="247917" y="2438399"/>
            <a:ext cx="11804562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GPT hallucination</a:t>
            </a:r>
          </a:p>
          <a:p>
            <a:r>
              <a:rPr lang="en-GB"/>
              <a:t>Digest </a:t>
            </a:r>
            <a:r>
              <a:rPr lang="en-GB" err="1"/>
              <a:t>VisBERT</a:t>
            </a:r>
            <a:r>
              <a:rPr lang="en-GB"/>
              <a:t> code</a:t>
            </a:r>
          </a:p>
          <a:p>
            <a:r>
              <a:rPr lang="en-GB"/>
              <a:t>Study LLM</a:t>
            </a:r>
          </a:p>
          <a:p>
            <a:r>
              <a:rPr lang="en-GB"/>
              <a:t>New framework with force connected graph</a:t>
            </a:r>
          </a:p>
          <a:p>
            <a:r>
              <a:rPr lang="en-GB"/>
              <a:t>Play with </a:t>
            </a:r>
            <a:r>
              <a:rPr lang="en-GB" err="1"/>
              <a:t>attentionviz</a:t>
            </a:r>
            <a:endParaRPr lang="en-GB"/>
          </a:p>
          <a:p>
            <a:r>
              <a:rPr lang="en-GB"/>
              <a:t>Digest </a:t>
            </a:r>
            <a:r>
              <a:rPr lang="en-GB" err="1"/>
              <a:t>attentionviz</a:t>
            </a:r>
            <a:endParaRPr lang="en-GB"/>
          </a:p>
          <a:p>
            <a:r>
              <a:rPr lang="en-GB"/>
              <a:t>Have the codes for both running by January</a:t>
            </a:r>
          </a:p>
          <a:p>
            <a:endParaRPr lang="en-US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425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Ion Boardroom</vt:lpstr>
      <vt:lpstr>PHD Progression 5</vt:lpstr>
      <vt:lpstr>How Does BERT Answer Questions? A Layer-wise Analysis of Transformer Representations </vt:lpstr>
      <vt:lpstr>How Does BERT Answer Questions? A Layer-wise Analysis of Transformer Representations </vt:lpstr>
      <vt:lpstr>How Does BERT Answer Questions? A Layer-wise Analysis of Transformer Representations </vt:lpstr>
      <vt:lpstr>How Does BERT Answer Questions? A Layer-wise Analysis of Transformer Representations</vt:lpstr>
      <vt:lpstr>Experiment </vt:lpstr>
      <vt:lpstr>Results </vt:lpstr>
      <vt:lpstr>Results </vt:lpstr>
      <vt:lpstr>Results </vt:lpstr>
      <vt:lpstr>Results </vt:lpstr>
      <vt:lpstr>Results </vt:lpstr>
      <vt:lpstr>Results </vt:lpstr>
      <vt:lpstr>Explainable Deep Learning: A Visual Analytics Approach with Transition Matrices  </vt:lpstr>
      <vt:lpstr>Explainable Deep Learning: A Visual Analytics Approach with Transition Matrices  </vt:lpstr>
      <vt:lpstr>Explainable Deep Learning: A Visual Analytics Approach with Transition Matrices  </vt:lpstr>
      <vt:lpstr>Explainable Deep Learning: A Visual Analytics Approach with Transition Matrices  </vt:lpstr>
      <vt:lpstr>Explainable Deep Learning: A Visual Analytics Approach with Transition Matrices  </vt:lpstr>
      <vt:lpstr>Explainable Deep Learning: A Visual Analytics Approach with Transition Matrices  </vt:lpstr>
      <vt:lpstr>Explainable Deep Learning: A Visual Analytics Approach with Transition Matrices  </vt:lpstr>
      <vt:lpstr>Experiment  </vt:lpstr>
      <vt:lpstr>Experiment  </vt:lpstr>
      <vt:lpstr>Experiment  </vt:lpstr>
      <vt:lpstr>Supervisors' comments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Olanrewaju</dc:creator>
  <cp:revision>2</cp:revision>
  <dcterms:created xsi:type="dcterms:W3CDTF">2025-12-11T20:11:21Z</dcterms:created>
  <dcterms:modified xsi:type="dcterms:W3CDTF">2025-12-12T20:07:16Z</dcterms:modified>
</cp:coreProperties>
</file>