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3CF5BF-E2F0-45AF-84E4-DF35DA837C9B}" v="1" dt="2026-01-23T13:18:07.9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anrewaju, Emmanuel (Student)" userId="856d88a3-a0f5-4502-a208-88adfba07448" providerId="ADAL" clId="{D34ADB89-9553-4F7A-AB9F-7E09DCC0A1DE}"/>
    <pc:docChg chg="custSel modSld">
      <pc:chgData name="Olanrewaju, Emmanuel (Student)" userId="856d88a3-a0f5-4502-a208-88adfba07448" providerId="ADAL" clId="{D34ADB89-9553-4F7A-AB9F-7E09DCC0A1DE}" dt="2026-01-23T13:18:23.786" v="207" actId="5793"/>
      <pc:docMkLst>
        <pc:docMk/>
      </pc:docMkLst>
      <pc:sldChg chg="modSp mod">
        <pc:chgData name="Olanrewaju, Emmanuel (Student)" userId="856d88a3-a0f5-4502-a208-88adfba07448" providerId="ADAL" clId="{D34ADB89-9553-4F7A-AB9F-7E09DCC0A1DE}" dt="2026-01-23T12:34:12.469" v="1" actId="20577"/>
        <pc:sldMkLst>
          <pc:docMk/>
          <pc:sldMk cId="665073157" sldId="256"/>
        </pc:sldMkLst>
        <pc:spChg chg="mod">
          <ac:chgData name="Olanrewaju, Emmanuel (Student)" userId="856d88a3-a0f5-4502-a208-88adfba07448" providerId="ADAL" clId="{D34ADB89-9553-4F7A-AB9F-7E09DCC0A1DE}" dt="2026-01-23T12:34:12.469" v="1" actId="20577"/>
          <ac:spMkLst>
            <pc:docMk/>
            <pc:sldMk cId="665073157" sldId="256"/>
            <ac:spMk id="2" creationId="{75817DD2-BE30-DB9E-DA5E-5C656FF4EA35}"/>
          </ac:spMkLst>
        </pc:spChg>
      </pc:sldChg>
      <pc:sldChg chg="modSp mod">
        <pc:chgData name="Olanrewaju, Emmanuel (Student)" userId="856d88a3-a0f5-4502-a208-88adfba07448" providerId="ADAL" clId="{D34ADB89-9553-4F7A-AB9F-7E09DCC0A1DE}" dt="2026-01-23T13:18:23.786" v="207" actId="5793"/>
        <pc:sldMkLst>
          <pc:docMk/>
          <pc:sldMk cId="2217885053" sldId="268"/>
        </pc:sldMkLst>
        <pc:spChg chg="mod">
          <ac:chgData name="Olanrewaju, Emmanuel (Student)" userId="856d88a3-a0f5-4502-a208-88adfba07448" providerId="ADAL" clId="{D34ADB89-9553-4F7A-AB9F-7E09DCC0A1DE}" dt="2026-01-23T13:18:23.786" v="207" actId="5793"/>
          <ac:spMkLst>
            <pc:docMk/>
            <pc:sldMk cId="2217885053" sldId="268"/>
            <ac:spMk id="4" creationId="{D86F72FA-05BD-F214-E9D1-095146F42CD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CCD0C0-3D72-4993-B397-82FF86DC4911}"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BA6258D4-1F77-4BDE-BC3F-F5ED8604BA1B}">
      <dgm:prSet/>
      <dgm:spPr/>
      <dgm:t>
        <a:bodyPr/>
        <a:lstStyle/>
        <a:p>
          <a:r>
            <a:rPr lang="en-GB"/>
            <a:t>1980 RNNs           1997 LSTMS                      </a:t>
          </a:r>
          <a:endParaRPr lang="en-US"/>
        </a:p>
      </dgm:t>
    </dgm:pt>
    <dgm:pt modelId="{1AF1C494-7FF4-4124-A97B-7728E5F1F78F}" type="parTrans" cxnId="{664ADAB8-558E-4168-81D2-E22D7C89C10B}">
      <dgm:prSet/>
      <dgm:spPr/>
      <dgm:t>
        <a:bodyPr/>
        <a:lstStyle/>
        <a:p>
          <a:endParaRPr lang="en-US"/>
        </a:p>
      </dgm:t>
    </dgm:pt>
    <dgm:pt modelId="{E8DF0AB6-F890-46C7-BFBF-9DE76493C767}" type="sibTrans" cxnId="{664ADAB8-558E-4168-81D2-E22D7C89C10B}">
      <dgm:prSet/>
      <dgm:spPr/>
      <dgm:t>
        <a:bodyPr/>
        <a:lstStyle/>
        <a:p>
          <a:endParaRPr lang="en-US"/>
        </a:p>
      </dgm:t>
    </dgm:pt>
    <dgm:pt modelId="{E175BD32-8F40-4D51-9640-789F3F015411}">
      <dgm:prSet/>
      <dgm:spPr/>
      <dgm:t>
        <a:bodyPr/>
        <a:lstStyle/>
        <a:p>
          <a:r>
            <a:rPr lang="en-GB"/>
            <a:t>2014 Attention                 2017 Transformers</a:t>
          </a:r>
          <a:endParaRPr lang="en-US"/>
        </a:p>
      </dgm:t>
    </dgm:pt>
    <dgm:pt modelId="{C667CCE8-C3C8-4193-BAFE-D66457101169}" type="parTrans" cxnId="{386B5267-36A8-43ED-BDBF-636A5BB8F64B}">
      <dgm:prSet/>
      <dgm:spPr/>
      <dgm:t>
        <a:bodyPr/>
        <a:lstStyle/>
        <a:p>
          <a:endParaRPr lang="en-US"/>
        </a:p>
      </dgm:t>
    </dgm:pt>
    <dgm:pt modelId="{0A8A5CF3-F138-458B-A4B7-850BA4F1CAED}" type="sibTrans" cxnId="{386B5267-36A8-43ED-BDBF-636A5BB8F64B}">
      <dgm:prSet/>
      <dgm:spPr/>
      <dgm:t>
        <a:bodyPr/>
        <a:lstStyle/>
        <a:p>
          <a:endParaRPr lang="en-US"/>
        </a:p>
      </dgm:t>
    </dgm:pt>
    <dgm:pt modelId="{8CEED7DF-368F-48B5-A9A3-25FDE8A6266E}">
      <dgm:prSet/>
      <dgm:spPr/>
      <dgm:t>
        <a:bodyPr/>
        <a:lstStyle/>
        <a:p>
          <a:r>
            <a:rPr lang="en-GB"/>
            <a:t>Self attention: is a mechanism that allows each position of the input sequence to attend to all positions in the same sequence when computing the representation of a sequence</a:t>
          </a:r>
          <a:endParaRPr lang="en-US"/>
        </a:p>
      </dgm:t>
    </dgm:pt>
    <dgm:pt modelId="{66461332-5FDE-4851-8197-36F8B61A4D10}" type="parTrans" cxnId="{486E7153-18D9-4828-B06E-296E30C74C11}">
      <dgm:prSet/>
      <dgm:spPr/>
      <dgm:t>
        <a:bodyPr/>
        <a:lstStyle/>
        <a:p>
          <a:endParaRPr lang="en-US"/>
        </a:p>
      </dgm:t>
    </dgm:pt>
    <dgm:pt modelId="{29F90F1E-B810-4F61-A732-9463A0F0A4E8}" type="sibTrans" cxnId="{486E7153-18D9-4828-B06E-296E30C74C11}">
      <dgm:prSet/>
      <dgm:spPr/>
      <dgm:t>
        <a:bodyPr/>
        <a:lstStyle/>
        <a:p>
          <a:endParaRPr lang="en-US"/>
        </a:p>
      </dgm:t>
    </dgm:pt>
    <dgm:pt modelId="{7DA624B3-EF9C-4B35-B646-B894EC6C02CE}" type="pres">
      <dgm:prSet presAssocID="{81CCD0C0-3D72-4993-B397-82FF86DC4911}" presName="Name0" presStyleCnt="0">
        <dgm:presLayoutVars>
          <dgm:dir/>
          <dgm:animLvl val="lvl"/>
          <dgm:resizeHandles val="exact"/>
        </dgm:presLayoutVars>
      </dgm:prSet>
      <dgm:spPr/>
    </dgm:pt>
    <dgm:pt modelId="{CA5E9ED0-EF03-4FAF-AF7B-7D91558E27BE}" type="pres">
      <dgm:prSet presAssocID="{8CEED7DF-368F-48B5-A9A3-25FDE8A6266E}" presName="boxAndChildren" presStyleCnt="0"/>
      <dgm:spPr/>
    </dgm:pt>
    <dgm:pt modelId="{46A4AD66-335F-4DC4-9921-D4FDDE9D6490}" type="pres">
      <dgm:prSet presAssocID="{8CEED7DF-368F-48B5-A9A3-25FDE8A6266E}" presName="parentTextBox" presStyleLbl="node1" presStyleIdx="0" presStyleCnt="3"/>
      <dgm:spPr/>
    </dgm:pt>
    <dgm:pt modelId="{E5749B0B-97D2-4F57-9A27-A654C37557FC}" type="pres">
      <dgm:prSet presAssocID="{0A8A5CF3-F138-458B-A4B7-850BA4F1CAED}" presName="sp" presStyleCnt="0"/>
      <dgm:spPr/>
    </dgm:pt>
    <dgm:pt modelId="{65EF4B79-92B9-4BB5-923F-239289AFD83C}" type="pres">
      <dgm:prSet presAssocID="{E175BD32-8F40-4D51-9640-789F3F015411}" presName="arrowAndChildren" presStyleCnt="0"/>
      <dgm:spPr/>
    </dgm:pt>
    <dgm:pt modelId="{BC86DC60-847B-40B8-99FD-FB2E7403AA33}" type="pres">
      <dgm:prSet presAssocID="{E175BD32-8F40-4D51-9640-789F3F015411}" presName="parentTextArrow" presStyleLbl="node1" presStyleIdx="1" presStyleCnt="3"/>
      <dgm:spPr/>
    </dgm:pt>
    <dgm:pt modelId="{6F7559BE-AB4D-4F37-9068-CAF4E1343471}" type="pres">
      <dgm:prSet presAssocID="{E8DF0AB6-F890-46C7-BFBF-9DE76493C767}" presName="sp" presStyleCnt="0"/>
      <dgm:spPr/>
    </dgm:pt>
    <dgm:pt modelId="{F9647F50-B458-4CB4-9C79-09827C5419CD}" type="pres">
      <dgm:prSet presAssocID="{BA6258D4-1F77-4BDE-BC3F-F5ED8604BA1B}" presName="arrowAndChildren" presStyleCnt="0"/>
      <dgm:spPr/>
    </dgm:pt>
    <dgm:pt modelId="{12E47364-A7EF-4C92-B8DD-91AC7DE0F13A}" type="pres">
      <dgm:prSet presAssocID="{BA6258D4-1F77-4BDE-BC3F-F5ED8604BA1B}" presName="parentTextArrow" presStyleLbl="node1" presStyleIdx="2" presStyleCnt="3"/>
      <dgm:spPr/>
    </dgm:pt>
  </dgm:ptLst>
  <dgm:cxnLst>
    <dgm:cxn modelId="{386B5267-36A8-43ED-BDBF-636A5BB8F64B}" srcId="{81CCD0C0-3D72-4993-B397-82FF86DC4911}" destId="{E175BD32-8F40-4D51-9640-789F3F015411}" srcOrd="1" destOrd="0" parTransId="{C667CCE8-C3C8-4193-BAFE-D66457101169}" sibTransId="{0A8A5CF3-F138-458B-A4B7-850BA4F1CAED}"/>
    <dgm:cxn modelId="{486E7153-18D9-4828-B06E-296E30C74C11}" srcId="{81CCD0C0-3D72-4993-B397-82FF86DC4911}" destId="{8CEED7DF-368F-48B5-A9A3-25FDE8A6266E}" srcOrd="2" destOrd="0" parTransId="{66461332-5FDE-4851-8197-36F8B61A4D10}" sibTransId="{29F90F1E-B810-4F61-A732-9463A0F0A4E8}"/>
    <dgm:cxn modelId="{D12EFB83-92D7-4FBF-A6F6-29933B3DA39F}" type="presOf" srcId="{BA6258D4-1F77-4BDE-BC3F-F5ED8604BA1B}" destId="{12E47364-A7EF-4C92-B8DD-91AC7DE0F13A}" srcOrd="0" destOrd="0" presId="urn:microsoft.com/office/officeart/2005/8/layout/process4"/>
    <dgm:cxn modelId="{DCF2109C-C303-4EAE-A244-93FBD382BF48}" type="presOf" srcId="{81CCD0C0-3D72-4993-B397-82FF86DC4911}" destId="{7DA624B3-EF9C-4B35-B646-B894EC6C02CE}" srcOrd="0" destOrd="0" presId="urn:microsoft.com/office/officeart/2005/8/layout/process4"/>
    <dgm:cxn modelId="{664ADAB8-558E-4168-81D2-E22D7C89C10B}" srcId="{81CCD0C0-3D72-4993-B397-82FF86DC4911}" destId="{BA6258D4-1F77-4BDE-BC3F-F5ED8604BA1B}" srcOrd="0" destOrd="0" parTransId="{1AF1C494-7FF4-4124-A97B-7728E5F1F78F}" sibTransId="{E8DF0AB6-F890-46C7-BFBF-9DE76493C767}"/>
    <dgm:cxn modelId="{0B3240B9-D94E-4F82-A3CD-9CFDF724F6D2}" type="presOf" srcId="{8CEED7DF-368F-48B5-A9A3-25FDE8A6266E}" destId="{46A4AD66-335F-4DC4-9921-D4FDDE9D6490}" srcOrd="0" destOrd="0" presId="urn:microsoft.com/office/officeart/2005/8/layout/process4"/>
    <dgm:cxn modelId="{1D027EE0-FA6F-4F07-A486-557C3A8E1A29}" type="presOf" srcId="{E175BD32-8F40-4D51-9640-789F3F015411}" destId="{BC86DC60-847B-40B8-99FD-FB2E7403AA33}" srcOrd="0" destOrd="0" presId="urn:microsoft.com/office/officeart/2005/8/layout/process4"/>
    <dgm:cxn modelId="{83D76824-370B-40B1-8B2C-FAB49F23E6F7}" type="presParOf" srcId="{7DA624B3-EF9C-4B35-B646-B894EC6C02CE}" destId="{CA5E9ED0-EF03-4FAF-AF7B-7D91558E27BE}" srcOrd="0" destOrd="0" presId="urn:microsoft.com/office/officeart/2005/8/layout/process4"/>
    <dgm:cxn modelId="{E16CABC3-25C5-43E6-975B-1B117EEAAE72}" type="presParOf" srcId="{CA5E9ED0-EF03-4FAF-AF7B-7D91558E27BE}" destId="{46A4AD66-335F-4DC4-9921-D4FDDE9D6490}" srcOrd="0" destOrd="0" presId="urn:microsoft.com/office/officeart/2005/8/layout/process4"/>
    <dgm:cxn modelId="{43B139D1-F8DF-4B65-ADD0-898185234901}" type="presParOf" srcId="{7DA624B3-EF9C-4B35-B646-B894EC6C02CE}" destId="{E5749B0B-97D2-4F57-9A27-A654C37557FC}" srcOrd="1" destOrd="0" presId="urn:microsoft.com/office/officeart/2005/8/layout/process4"/>
    <dgm:cxn modelId="{8FD4BC2D-608D-44F0-9B05-91A16CE62F66}" type="presParOf" srcId="{7DA624B3-EF9C-4B35-B646-B894EC6C02CE}" destId="{65EF4B79-92B9-4BB5-923F-239289AFD83C}" srcOrd="2" destOrd="0" presId="urn:microsoft.com/office/officeart/2005/8/layout/process4"/>
    <dgm:cxn modelId="{1F06D3AD-67E0-4EA4-A5AA-61B36E6C9E8F}" type="presParOf" srcId="{65EF4B79-92B9-4BB5-923F-239289AFD83C}" destId="{BC86DC60-847B-40B8-99FD-FB2E7403AA33}" srcOrd="0" destOrd="0" presId="urn:microsoft.com/office/officeart/2005/8/layout/process4"/>
    <dgm:cxn modelId="{67F6AF19-577C-420C-8446-BC4C2AF737A5}" type="presParOf" srcId="{7DA624B3-EF9C-4B35-B646-B894EC6C02CE}" destId="{6F7559BE-AB4D-4F37-9068-CAF4E1343471}" srcOrd="3" destOrd="0" presId="urn:microsoft.com/office/officeart/2005/8/layout/process4"/>
    <dgm:cxn modelId="{898AA50E-2776-41AC-9837-E33CCD4B42FB}" type="presParOf" srcId="{7DA624B3-EF9C-4B35-B646-B894EC6C02CE}" destId="{F9647F50-B458-4CB4-9C79-09827C5419CD}" srcOrd="4" destOrd="0" presId="urn:microsoft.com/office/officeart/2005/8/layout/process4"/>
    <dgm:cxn modelId="{97887879-F89B-48DB-86FD-FE3F0F0A6AE3}" type="presParOf" srcId="{F9647F50-B458-4CB4-9C79-09827C5419CD}" destId="{12E47364-A7EF-4C92-B8DD-91AC7DE0F13A}"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A4AD66-335F-4DC4-9921-D4FDDE9D6490}">
      <dsp:nvSpPr>
        <dsp:cNvPr id="0" name=""/>
        <dsp:cNvSpPr/>
      </dsp:nvSpPr>
      <dsp:spPr>
        <a:xfrm>
          <a:off x="0" y="2869298"/>
          <a:ext cx="6072775" cy="94176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Self attention: is a mechanism that allows each position of the input sequence to attend to all positions in the same sequence when computing the representation of a sequence</a:t>
          </a:r>
          <a:endParaRPr lang="en-US" sz="1500" kern="1200"/>
        </a:p>
      </dsp:txBody>
      <dsp:txXfrm>
        <a:off x="0" y="2869298"/>
        <a:ext cx="6072775" cy="941767"/>
      </dsp:txXfrm>
    </dsp:sp>
    <dsp:sp modelId="{BC86DC60-847B-40B8-99FD-FB2E7403AA33}">
      <dsp:nvSpPr>
        <dsp:cNvPr id="0" name=""/>
        <dsp:cNvSpPr/>
      </dsp:nvSpPr>
      <dsp:spPr>
        <a:xfrm rot="10800000">
          <a:off x="0" y="1434986"/>
          <a:ext cx="6072775" cy="1448438"/>
        </a:xfrm>
        <a:prstGeom prst="upArrowCallou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2014 Attention                 2017 Transformers</a:t>
          </a:r>
          <a:endParaRPr lang="en-US" sz="1500" kern="1200"/>
        </a:p>
      </dsp:txBody>
      <dsp:txXfrm rot="10800000">
        <a:off x="0" y="1434986"/>
        <a:ext cx="6072775" cy="941152"/>
      </dsp:txXfrm>
    </dsp:sp>
    <dsp:sp modelId="{12E47364-A7EF-4C92-B8DD-91AC7DE0F13A}">
      <dsp:nvSpPr>
        <dsp:cNvPr id="0" name=""/>
        <dsp:cNvSpPr/>
      </dsp:nvSpPr>
      <dsp:spPr>
        <a:xfrm rot="10800000">
          <a:off x="0" y="673"/>
          <a:ext cx="6072775" cy="1448438"/>
        </a:xfrm>
        <a:prstGeom prst="upArrowCallou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a:t>1980 RNNs           1997 LSTMS                      </a:t>
          </a:r>
          <a:endParaRPr lang="en-US" sz="1500" kern="1200"/>
        </a:p>
      </dsp:txBody>
      <dsp:txXfrm rot="10800000">
        <a:off x="0" y="673"/>
        <a:ext cx="6072775" cy="941152"/>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7690202-7898-431A-AD49-7C288020FC0D}" type="datetimeFigureOut">
              <a:rPr lang="en-GB" smtClean="0"/>
              <a:t>23/01/2026</a:t>
            </a:fld>
            <a:endParaRPr lang="en-GB"/>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GB"/>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Slide Number Placeholder 5"/>
          <p:cNvSpPr>
            <a:spLocks noGrp="1"/>
          </p:cNvSpPr>
          <p:nvPr>
            <p:ph type="sldNum" sz="quarter" idx="12"/>
          </p:nvPr>
        </p:nvSpPr>
        <p:spPr>
          <a:xfrm>
            <a:off x="10352540" y="295729"/>
            <a:ext cx="838199" cy="767687"/>
          </a:xfrm>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1892665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690202-7898-431A-AD49-7C288020FC0D}" type="datetimeFigureOut">
              <a:rPr lang="en-GB" smtClean="0"/>
              <a:t>23/01/2026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1325488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690202-7898-431A-AD49-7C288020FC0D}" type="datetimeFigureOut">
              <a:rPr lang="en-GB" smtClean="0"/>
              <a:t>23/01/2026</a:t>
            </a:fld>
            <a:endParaRPr lang="en-GB"/>
          </a:p>
        </p:txBody>
      </p:sp>
      <p:sp>
        <p:nvSpPr>
          <p:cNvPr id="5" name="Footer Placeholder 4"/>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1594538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690202-7898-431A-AD49-7C288020FC0D}" type="datetimeFigureOut">
              <a:rPr lang="en-GB" smtClean="0"/>
              <a:t>23/01/2026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3265778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690202-7898-431A-AD49-7C288020FC0D}" type="datetimeFigureOut">
              <a:rPr lang="en-GB" smtClean="0"/>
              <a:t>23/01/2026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3609026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690202-7898-431A-AD49-7C288020FC0D}" type="datetimeFigureOut">
              <a:rPr lang="en-GB" smtClean="0"/>
              <a:t>23/01/2026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2864786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690202-7898-431A-AD49-7C288020FC0D}" type="datetimeFigureOut">
              <a:rPr lang="en-GB" smtClean="0"/>
              <a:t>23/01/2026</a:t>
            </a:fld>
            <a:endParaRPr lang="en-GB"/>
          </a:p>
        </p:txBody>
      </p:sp>
      <p:sp>
        <p:nvSpPr>
          <p:cNvPr id="3" name="Footer Placeholder 2"/>
          <p:cNvSpPr>
            <a:spLocks noGrp="1"/>
          </p:cNvSpPr>
          <p:nvPr>
            <p:ph type="ftr" sz="quarter" idx="11"/>
          </p:nvPr>
        </p:nvSpPr>
        <p:spPr/>
        <p:txBody>
          <a:bodyPr/>
          <a:lstStyle/>
          <a:p>
            <a:endParaRPr lang="en-GB"/>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356638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690202-7898-431A-AD49-7C288020FC0D}" type="datetimeFigureOut">
              <a:rPr lang="en-GB" smtClean="0"/>
              <a:t>23/01/2026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1229402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690202-7898-431A-AD49-7C288020FC0D}" type="datetimeFigureOut">
              <a:rPr lang="en-GB" smtClean="0"/>
              <a:t>23/01/2026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4196458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690202-7898-431A-AD49-7C288020FC0D}" type="datetimeFigureOut">
              <a:rPr lang="en-GB" smtClean="0"/>
              <a:t>23/01/2026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2269106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7690202-7898-431A-AD49-7C288020FC0D}" type="datetimeFigureOut">
              <a:rPr lang="en-GB" smtClean="0"/>
              <a:t>23/01/2026</a:t>
            </a:fld>
            <a:endParaRPr lang="en-GB"/>
          </a:p>
        </p:txBody>
      </p:sp>
      <p:sp>
        <p:nvSpPr>
          <p:cNvPr id="5" name="Footer Placeholder 4"/>
          <p:cNvSpPr>
            <a:spLocks noGrp="1"/>
          </p:cNvSpPr>
          <p:nvPr>
            <p:ph type="ftr" sz="quarter" idx="11"/>
          </p:nvPr>
        </p:nvSpPr>
        <p:spPr/>
        <p:txBody>
          <a:bodyPr/>
          <a:lstStyle/>
          <a:p>
            <a:endParaRPr lang="en-GB"/>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14420899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7690202-7898-431A-AD49-7C288020FC0D}" type="datetimeFigureOut">
              <a:rPr lang="en-GB" smtClean="0"/>
              <a:t>23/01/2026</a:t>
            </a:fld>
            <a:endParaRPr lang="en-GB"/>
          </a:p>
        </p:txBody>
      </p:sp>
      <p:sp>
        <p:nvSpPr>
          <p:cNvPr id="5" name="Footer Placeholder 4"/>
          <p:cNvSpPr>
            <a:spLocks noGrp="1"/>
          </p:cNvSpPr>
          <p:nvPr>
            <p:ph type="ftr" sz="quarter" idx="11"/>
          </p:nvPr>
        </p:nvSpPr>
        <p:spPr/>
        <p:txBody>
          <a:bodyPr/>
          <a:lstStyle/>
          <a:p>
            <a:endParaRPr lang="en-GB"/>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2311623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690202-7898-431A-AD49-7C288020FC0D}" type="datetimeFigureOut">
              <a:rPr lang="en-GB" smtClean="0"/>
              <a:t>23/01/2026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16574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7690202-7898-431A-AD49-7C288020FC0D}" type="datetimeFigureOut">
              <a:rPr lang="en-GB" smtClean="0"/>
              <a:t>23/01/2026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23099883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7690202-7898-431A-AD49-7C288020FC0D}" type="datetimeFigureOut">
              <a:rPr lang="en-GB" smtClean="0"/>
              <a:t>23/01/2026</a:t>
            </a:fld>
            <a:endParaRPr lang="en-GB"/>
          </a:p>
        </p:txBody>
      </p:sp>
      <p:sp>
        <p:nvSpPr>
          <p:cNvPr id="8" name="Footer Placeholder 7"/>
          <p:cNvSpPr>
            <a:spLocks noGrp="1"/>
          </p:cNvSpPr>
          <p:nvPr>
            <p:ph type="ftr" sz="quarter" idx="11"/>
          </p:nvPr>
        </p:nvSpPr>
        <p:spPr>
          <a:xfrm>
            <a:off x="561111" y="6391838"/>
            <a:ext cx="3644282" cy="304801"/>
          </a:xfrm>
        </p:spPr>
        <p:txBody>
          <a:bodyPr/>
          <a:lstStyle/>
          <a:p>
            <a:endParaRPr lang="en-GB"/>
          </a:p>
        </p:txBody>
      </p:sp>
      <p:sp>
        <p:nvSpPr>
          <p:cNvPr id="9" name="Slide Number Placeholder 8"/>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2694898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7690202-7898-431A-AD49-7C288020FC0D}" type="datetimeFigureOut">
              <a:rPr lang="en-GB" smtClean="0"/>
              <a:t>23/01/2026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33592101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7690202-7898-431A-AD49-7C288020FC0D}" type="datetimeFigureOut">
              <a:rPr lang="en-GB" smtClean="0"/>
              <a:t>23/01/2026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7D693C6-42EF-4350-B4BA-C98C467CB097}" type="slidenum">
              <a:rPr lang="en-GB" smtClean="0"/>
              <a:t>‹#›</a:t>
            </a:fld>
            <a:endParaRPr lang="en-GB"/>
          </a:p>
        </p:txBody>
      </p:sp>
    </p:spTree>
    <p:extLst>
      <p:ext uri="{BB962C8B-B14F-4D97-AF65-F5344CB8AC3E}">
        <p14:creationId xmlns:p14="http://schemas.microsoft.com/office/powerpoint/2010/main" val="4044853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7690202-7898-431A-AD49-7C288020FC0D}" type="datetimeFigureOut">
              <a:rPr lang="en-GB" smtClean="0"/>
              <a:t>23/01/2026</a:t>
            </a:fld>
            <a:endParaRPr lang="en-GB"/>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GB"/>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7D693C6-42EF-4350-B4BA-C98C467CB097}" type="slidenum">
              <a:rPr lang="en-GB" smtClean="0"/>
              <a:t>‹#›</a:t>
            </a:fld>
            <a:endParaRPr lang="en-GB"/>
          </a:p>
        </p:txBody>
      </p:sp>
    </p:spTree>
    <p:extLst>
      <p:ext uri="{BB962C8B-B14F-4D97-AF65-F5344CB8AC3E}">
        <p14:creationId xmlns:p14="http://schemas.microsoft.com/office/powerpoint/2010/main" val="804812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17DD2-BE30-DB9E-DA5E-5C656FF4EA35}"/>
              </a:ext>
            </a:extLst>
          </p:cNvPr>
          <p:cNvSpPr>
            <a:spLocks noGrp="1"/>
          </p:cNvSpPr>
          <p:nvPr>
            <p:ph type="ctrTitle"/>
          </p:nvPr>
        </p:nvSpPr>
        <p:spPr/>
        <p:txBody>
          <a:bodyPr/>
          <a:lstStyle/>
          <a:p>
            <a:r>
              <a:rPr lang="en-US" dirty="0"/>
              <a:t>PHD Progression 9</a:t>
            </a:r>
            <a:endParaRPr lang="en-GB" dirty="0"/>
          </a:p>
        </p:txBody>
      </p:sp>
      <p:sp>
        <p:nvSpPr>
          <p:cNvPr id="3" name="Subtitle 2">
            <a:extLst>
              <a:ext uri="{FF2B5EF4-FFF2-40B4-BE49-F238E27FC236}">
                <a16:creationId xmlns:a16="http://schemas.microsoft.com/office/drawing/2014/main" id="{2F4FC526-7366-226A-8E37-C3DA1B651DF5}"/>
              </a:ext>
            </a:extLst>
          </p:cNvPr>
          <p:cNvSpPr>
            <a:spLocks noGrp="1"/>
          </p:cNvSpPr>
          <p:nvPr>
            <p:ph type="subTitle" idx="1"/>
          </p:nvPr>
        </p:nvSpPr>
        <p:spPr/>
        <p:txBody>
          <a:bodyPr/>
          <a:lstStyle/>
          <a:p>
            <a:r>
              <a:rPr lang="en-US" dirty="0"/>
              <a:t>Explainable AI with Visual analytics</a:t>
            </a:r>
            <a:endParaRPr lang="en-GB" dirty="0"/>
          </a:p>
          <a:p>
            <a:endParaRPr lang="en-GB" dirty="0"/>
          </a:p>
        </p:txBody>
      </p:sp>
    </p:spTree>
    <p:extLst>
      <p:ext uri="{BB962C8B-B14F-4D97-AF65-F5344CB8AC3E}">
        <p14:creationId xmlns:p14="http://schemas.microsoft.com/office/powerpoint/2010/main" val="665073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Gear with compass turning gears without">
            <a:extLst>
              <a:ext uri="{FF2B5EF4-FFF2-40B4-BE49-F238E27FC236}">
                <a16:creationId xmlns:a16="http://schemas.microsoft.com/office/drawing/2014/main" id="{DC1C9C29-2D02-C9E6-2130-E2669F749D30}"/>
              </a:ext>
            </a:extLst>
          </p:cNvPr>
          <p:cNvPicPr>
            <a:picLocks noChangeAspect="1"/>
          </p:cNvPicPr>
          <p:nvPr/>
        </p:nvPicPr>
        <p:blipFill>
          <a:blip r:embed="rId2">
            <a:alphaModFix amt="40000"/>
          </a:blip>
          <a:srcRect b="15730"/>
          <a:stretch>
            <a:fillRect/>
          </a:stretch>
        </p:blipFill>
        <p:spPr>
          <a:xfrm>
            <a:off x="20" y="10"/>
            <a:ext cx="12191980" cy="6857990"/>
          </a:xfrm>
          <a:prstGeom prst="rect">
            <a:avLst/>
          </a:prstGeom>
        </p:spPr>
      </p:pic>
      <p:sp>
        <p:nvSpPr>
          <p:cNvPr id="4" name="Title 3">
            <a:extLst>
              <a:ext uri="{FF2B5EF4-FFF2-40B4-BE49-F238E27FC236}">
                <a16:creationId xmlns:a16="http://schemas.microsoft.com/office/drawing/2014/main" id="{26D5FDFF-511B-1600-2F45-D3FECC44B3C6}"/>
              </a:ext>
            </a:extLst>
          </p:cNvPr>
          <p:cNvSpPr>
            <a:spLocks noGrp="1"/>
          </p:cNvSpPr>
          <p:nvPr>
            <p:ph type="title"/>
          </p:nvPr>
        </p:nvSpPr>
        <p:spPr>
          <a:xfrm>
            <a:off x="1154954" y="973668"/>
            <a:ext cx="8761413" cy="706964"/>
          </a:xfrm>
        </p:spPr>
        <p:txBody>
          <a:bodyPr>
            <a:normAutofit/>
          </a:bodyPr>
          <a:lstStyle/>
          <a:p>
            <a:r>
              <a:rPr lang="en-GB">
                <a:solidFill>
                  <a:schemeClr val="tx1"/>
                </a:solidFill>
              </a:rPr>
              <a:t>Attention mechanism</a:t>
            </a:r>
          </a:p>
        </p:txBody>
      </p:sp>
      <p:sp>
        <p:nvSpPr>
          <p:cNvPr id="5" name="Content Placeholder 4">
            <a:extLst>
              <a:ext uri="{FF2B5EF4-FFF2-40B4-BE49-F238E27FC236}">
                <a16:creationId xmlns:a16="http://schemas.microsoft.com/office/drawing/2014/main" id="{B3D6878D-4DE3-2A09-BDE4-942FF9F080A0}"/>
              </a:ext>
            </a:extLst>
          </p:cNvPr>
          <p:cNvSpPr>
            <a:spLocks noGrp="1"/>
          </p:cNvSpPr>
          <p:nvPr>
            <p:ph idx="1"/>
          </p:nvPr>
        </p:nvSpPr>
        <p:spPr>
          <a:xfrm>
            <a:off x="1154954" y="2603500"/>
            <a:ext cx="8825659" cy="3416300"/>
          </a:xfrm>
        </p:spPr>
        <p:txBody>
          <a:bodyPr>
            <a:normAutofit/>
          </a:bodyPr>
          <a:lstStyle/>
          <a:p>
            <a:pPr>
              <a:lnSpc>
                <a:spcPct val="90000"/>
              </a:lnSpc>
            </a:pPr>
            <a:r>
              <a:rPr lang="en-GB" sz="1500">
                <a:solidFill>
                  <a:schemeClr val="tx1"/>
                </a:solidFill>
              </a:rPr>
              <a:t>Attention helps to capture long range relationship of tokens</a:t>
            </a:r>
          </a:p>
          <a:p>
            <a:pPr>
              <a:lnSpc>
                <a:spcPct val="90000"/>
              </a:lnSpc>
            </a:pPr>
            <a:endParaRPr lang="en-GB" sz="1500">
              <a:solidFill>
                <a:schemeClr val="tx1"/>
              </a:solidFill>
            </a:endParaRPr>
          </a:p>
          <a:p>
            <a:pPr>
              <a:lnSpc>
                <a:spcPct val="90000"/>
              </a:lnSpc>
            </a:pPr>
            <a:r>
              <a:rPr lang="en-GB" sz="1500">
                <a:solidFill>
                  <a:schemeClr val="tx1"/>
                </a:solidFill>
              </a:rPr>
              <a:t>Simplified self attention introduces the broad idea of attention</a:t>
            </a:r>
          </a:p>
          <a:p>
            <a:pPr>
              <a:lnSpc>
                <a:spcPct val="90000"/>
              </a:lnSpc>
            </a:pPr>
            <a:endParaRPr lang="en-GB" sz="1500">
              <a:solidFill>
                <a:schemeClr val="tx1"/>
              </a:solidFill>
            </a:endParaRPr>
          </a:p>
          <a:p>
            <a:pPr>
              <a:lnSpc>
                <a:spcPct val="90000"/>
              </a:lnSpc>
            </a:pPr>
            <a:r>
              <a:rPr lang="en-GB" sz="1500">
                <a:solidFill>
                  <a:schemeClr val="tx1"/>
                </a:solidFill>
              </a:rPr>
              <a:t>Self attention: with trainable weight , forms the basis of the mechanism used in LLMs</a:t>
            </a:r>
          </a:p>
          <a:p>
            <a:pPr>
              <a:lnSpc>
                <a:spcPct val="90000"/>
              </a:lnSpc>
            </a:pPr>
            <a:endParaRPr lang="en-GB" sz="1500">
              <a:solidFill>
                <a:schemeClr val="tx1"/>
              </a:solidFill>
            </a:endParaRPr>
          </a:p>
          <a:p>
            <a:pPr>
              <a:lnSpc>
                <a:spcPct val="90000"/>
              </a:lnSpc>
            </a:pPr>
            <a:r>
              <a:rPr lang="en-GB" sz="1500">
                <a:solidFill>
                  <a:schemeClr val="tx1"/>
                </a:solidFill>
              </a:rPr>
              <a:t>Causal self attention: A type of attention used in LLMs that allows only the consideration of previous and current input</a:t>
            </a:r>
          </a:p>
          <a:p>
            <a:pPr>
              <a:lnSpc>
                <a:spcPct val="90000"/>
              </a:lnSpc>
            </a:pPr>
            <a:endParaRPr lang="en-GB" sz="1500">
              <a:solidFill>
                <a:schemeClr val="tx1"/>
              </a:solidFill>
            </a:endParaRPr>
          </a:p>
          <a:p>
            <a:pPr>
              <a:lnSpc>
                <a:spcPct val="90000"/>
              </a:lnSpc>
            </a:pPr>
            <a:r>
              <a:rPr lang="en-GB" sz="1500">
                <a:solidFill>
                  <a:schemeClr val="tx1"/>
                </a:solidFill>
              </a:rPr>
              <a:t>Multi-head attention: An extension of self attention and causal attention that enables the model to simultaneously attend to information from different subspaces</a:t>
            </a:r>
          </a:p>
          <a:p>
            <a:pPr>
              <a:lnSpc>
                <a:spcPct val="90000"/>
              </a:lnSpc>
            </a:pPr>
            <a:endParaRPr lang="en-GB" sz="1500">
              <a:solidFill>
                <a:schemeClr val="tx1"/>
              </a:solidFill>
            </a:endParaRPr>
          </a:p>
        </p:txBody>
      </p:sp>
    </p:spTree>
    <p:extLst>
      <p:ext uri="{BB962C8B-B14F-4D97-AF65-F5344CB8AC3E}">
        <p14:creationId xmlns:p14="http://schemas.microsoft.com/office/powerpoint/2010/main" val="288325010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D0B53B-ADD9-A69E-292E-EC80301DEA2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2" name="Freeform: Shape 11">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4"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4" name="Title 3">
            <a:extLst>
              <a:ext uri="{FF2B5EF4-FFF2-40B4-BE49-F238E27FC236}">
                <a16:creationId xmlns:a16="http://schemas.microsoft.com/office/drawing/2014/main" id="{9C3CCCEA-8285-EE6F-5C98-2505699BBA36}"/>
              </a:ext>
            </a:extLst>
          </p:cNvPr>
          <p:cNvSpPr>
            <a:spLocks noGrp="1"/>
          </p:cNvSpPr>
          <p:nvPr>
            <p:ph type="title"/>
          </p:nvPr>
        </p:nvSpPr>
        <p:spPr>
          <a:xfrm>
            <a:off x="1154955" y="973668"/>
            <a:ext cx="2942210" cy="1020232"/>
          </a:xfrm>
        </p:spPr>
        <p:txBody>
          <a:bodyPr>
            <a:normAutofit/>
          </a:bodyPr>
          <a:lstStyle/>
          <a:p>
            <a:pPr>
              <a:lnSpc>
                <a:spcPct val="90000"/>
              </a:lnSpc>
            </a:pPr>
            <a:r>
              <a:rPr lang="en-GB" sz="2000">
                <a:solidFill>
                  <a:srgbClr val="EBEBEB"/>
                </a:solidFill>
              </a:rPr>
              <a:t>History of transformers and attention </a:t>
            </a:r>
          </a:p>
        </p:txBody>
      </p:sp>
      <p:pic>
        <p:nvPicPr>
          <p:cNvPr id="3" name="Picture 2">
            <a:extLst>
              <a:ext uri="{FF2B5EF4-FFF2-40B4-BE49-F238E27FC236}">
                <a16:creationId xmlns:a16="http://schemas.microsoft.com/office/drawing/2014/main" id="{9D8D76E4-7AD9-E9D7-5628-415264A78BC6}"/>
              </a:ext>
            </a:extLst>
          </p:cNvPr>
          <p:cNvPicPr>
            <a:picLocks noChangeAspect="1"/>
          </p:cNvPicPr>
          <p:nvPr/>
        </p:nvPicPr>
        <p:blipFill>
          <a:blip r:embed="rId2"/>
          <a:stretch>
            <a:fillRect/>
          </a:stretch>
        </p:blipFill>
        <p:spPr>
          <a:xfrm>
            <a:off x="5194607" y="2246567"/>
            <a:ext cx="6391533" cy="2364866"/>
          </a:xfrm>
          <a:prstGeom prst="rect">
            <a:avLst/>
          </a:prstGeom>
        </p:spPr>
      </p:pic>
      <p:sp>
        <p:nvSpPr>
          <p:cNvPr id="16" name="Rectangle 15">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Oval 17">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Oval 19">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Content Placeholder 4">
            <a:extLst>
              <a:ext uri="{FF2B5EF4-FFF2-40B4-BE49-F238E27FC236}">
                <a16:creationId xmlns:a16="http://schemas.microsoft.com/office/drawing/2014/main" id="{F3FD8385-BC5E-0A89-0340-7228C3ED2FE4}"/>
              </a:ext>
            </a:extLst>
          </p:cNvPr>
          <p:cNvSpPr>
            <a:spLocks noGrp="1"/>
          </p:cNvSpPr>
          <p:nvPr>
            <p:ph idx="1"/>
          </p:nvPr>
        </p:nvSpPr>
        <p:spPr>
          <a:xfrm>
            <a:off x="1154955" y="2120900"/>
            <a:ext cx="3133726" cy="3898900"/>
          </a:xfrm>
        </p:spPr>
        <p:txBody>
          <a:bodyPr>
            <a:normAutofit/>
          </a:bodyPr>
          <a:lstStyle/>
          <a:p>
            <a:r>
              <a:rPr lang="en-GB" dirty="0">
                <a:solidFill>
                  <a:srgbClr val="FFFFFF"/>
                </a:solidFill>
              </a:rPr>
              <a:t>Before transformers, RNNs was used for encoder-decoder architecture</a:t>
            </a:r>
          </a:p>
          <a:p>
            <a:endParaRPr lang="en-GB" dirty="0">
              <a:solidFill>
                <a:srgbClr val="FFFFFF"/>
              </a:solidFill>
            </a:endParaRPr>
          </a:p>
          <a:p>
            <a:r>
              <a:rPr lang="en-GB" dirty="0">
                <a:solidFill>
                  <a:srgbClr val="FFFFFF"/>
                </a:solidFill>
              </a:rPr>
              <a:t>Decoder only has access to the last hidden state, in long sentences situation</a:t>
            </a:r>
          </a:p>
          <a:p>
            <a:pPr marL="0" indent="0">
              <a:buNone/>
            </a:pPr>
            <a:endParaRPr lang="en-GB" dirty="0">
              <a:solidFill>
                <a:srgbClr val="FFFFFF"/>
              </a:solidFill>
            </a:endParaRPr>
          </a:p>
          <a:p>
            <a:pPr marL="0" indent="0">
              <a:buNone/>
            </a:pPr>
            <a:r>
              <a:rPr lang="en-GB" dirty="0">
                <a:solidFill>
                  <a:srgbClr val="FFFFFF"/>
                </a:solidFill>
              </a:rPr>
              <a:t> </a:t>
            </a:r>
          </a:p>
        </p:txBody>
      </p:sp>
      <p:sp>
        <p:nvSpPr>
          <p:cNvPr id="22"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Tree>
    <p:extLst>
      <p:ext uri="{BB962C8B-B14F-4D97-AF65-F5344CB8AC3E}">
        <p14:creationId xmlns:p14="http://schemas.microsoft.com/office/powerpoint/2010/main" val="427301792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8FEE35-3E7D-C861-11F3-F91CDA6C497E}"/>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8ABDB68-E3D5-448E-97D3-06FFEF680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3" name="Freeform 5">
            <a:extLst>
              <a:ext uri="{FF2B5EF4-FFF2-40B4-BE49-F238E27FC236}">
                <a16:creationId xmlns:a16="http://schemas.microsoft.com/office/drawing/2014/main" id="{B8DD7FEB-D9F3-4F5B-982C-36B0664D0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537676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15" name="Freeform 5">
            <a:extLst>
              <a:ext uri="{FF2B5EF4-FFF2-40B4-BE49-F238E27FC236}">
                <a16:creationId xmlns:a16="http://schemas.microsoft.com/office/drawing/2014/main" id="{96BA11E4-0636-4FA9-A836-2A4FB1764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4" name="Title 3">
            <a:extLst>
              <a:ext uri="{FF2B5EF4-FFF2-40B4-BE49-F238E27FC236}">
                <a16:creationId xmlns:a16="http://schemas.microsoft.com/office/drawing/2014/main" id="{65D676E8-2EEC-1B55-FA46-36ABF457550D}"/>
              </a:ext>
            </a:extLst>
          </p:cNvPr>
          <p:cNvSpPr>
            <a:spLocks noGrp="1"/>
          </p:cNvSpPr>
          <p:nvPr>
            <p:ph type="title"/>
          </p:nvPr>
        </p:nvSpPr>
        <p:spPr>
          <a:xfrm>
            <a:off x="639098" y="629265"/>
            <a:ext cx="6072776" cy="1622322"/>
          </a:xfrm>
        </p:spPr>
        <p:txBody>
          <a:bodyPr>
            <a:normAutofit/>
          </a:bodyPr>
          <a:lstStyle/>
          <a:p>
            <a:r>
              <a:rPr lang="en-GB">
                <a:solidFill>
                  <a:srgbClr val="EBEBEB"/>
                </a:solidFill>
              </a:rPr>
              <a:t>Attention and Self-attention</a:t>
            </a:r>
          </a:p>
        </p:txBody>
      </p:sp>
      <p:sp>
        <p:nvSpPr>
          <p:cNvPr id="17" name="Freeform: Shape 16">
            <a:extLst>
              <a:ext uri="{FF2B5EF4-FFF2-40B4-BE49-F238E27FC236}">
                <a16:creationId xmlns:a16="http://schemas.microsoft.com/office/drawing/2014/main" id="{5681882E-BDD0-4311-AF62-E80196285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90102" y="977273"/>
            <a:ext cx="6053670" cy="4903455"/>
          </a:xfrm>
          <a:custGeom>
            <a:avLst/>
            <a:gdLst>
              <a:gd name="connsiteX0" fmla="*/ 6053670 w 6053670"/>
              <a:gd name="connsiteY0" fmla="*/ 1098 h 4903455"/>
              <a:gd name="connsiteX1" fmla="*/ 6053670 w 6053670"/>
              <a:gd name="connsiteY1" fmla="*/ 424590 h 4903455"/>
              <a:gd name="connsiteX2" fmla="*/ 6053670 w 6053670"/>
              <a:gd name="connsiteY2" fmla="*/ 1254558 h 4903455"/>
              <a:gd name="connsiteX3" fmla="*/ 6053670 w 6053670"/>
              <a:gd name="connsiteY3" fmla="*/ 4903455 h 4903455"/>
              <a:gd name="connsiteX4" fmla="*/ 0 w 6053670"/>
              <a:gd name="connsiteY4" fmla="*/ 4903455 h 4903455"/>
              <a:gd name="connsiteX5" fmla="*/ 0 w 6053670"/>
              <a:gd name="connsiteY5" fmla="*/ 1249853 h 4903455"/>
              <a:gd name="connsiteX6" fmla="*/ 0 w 6053670"/>
              <a:gd name="connsiteY6" fmla="*/ 424590 h 4903455"/>
              <a:gd name="connsiteX7" fmla="*/ 0 w 6053670"/>
              <a:gd name="connsiteY7" fmla="*/ 0 h 4903455"/>
              <a:gd name="connsiteX8" fmla="*/ 35717 w 6053670"/>
              <a:gd name="connsiteY8" fmla="*/ 5488 h 4903455"/>
              <a:gd name="connsiteX9" fmla="*/ 140445 w 6053670"/>
              <a:gd name="connsiteY9" fmla="*/ 21641 h 4903455"/>
              <a:gd name="connsiteX10" fmla="*/ 216722 w 6053670"/>
              <a:gd name="connsiteY10" fmla="*/ 32932 h 4903455"/>
              <a:gd name="connsiteX11" fmla="*/ 307527 w 6053670"/>
              <a:gd name="connsiteY11" fmla="*/ 44850 h 4903455"/>
              <a:gd name="connsiteX12" fmla="*/ 415282 w 6053670"/>
              <a:gd name="connsiteY12" fmla="*/ 59121 h 4903455"/>
              <a:gd name="connsiteX13" fmla="*/ 534539 w 6053670"/>
              <a:gd name="connsiteY13" fmla="*/ 74175 h 4903455"/>
              <a:gd name="connsiteX14" fmla="*/ 668931 w 6053670"/>
              <a:gd name="connsiteY14" fmla="*/ 90014 h 4903455"/>
              <a:gd name="connsiteX15" fmla="*/ 815430 w 6053670"/>
              <a:gd name="connsiteY15" fmla="*/ 106794 h 4903455"/>
              <a:gd name="connsiteX16" fmla="*/ 974641 w 6053670"/>
              <a:gd name="connsiteY16" fmla="*/ 123574 h 4903455"/>
              <a:gd name="connsiteX17" fmla="*/ 1144144 w 6053670"/>
              <a:gd name="connsiteY17" fmla="*/ 140667 h 4903455"/>
              <a:gd name="connsiteX18" fmla="*/ 1326965 w 6053670"/>
              <a:gd name="connsiteY18" fmla="*/ 156506 h 4903455"/>
              <a:gd name="connsiteX19" fmla="*/ 1518261 w 6053670"/>
              <a:gd name="connsiteY19" fmla="*/ 171717 h 4903455"/>
              <a:gd name="connsiteX20" fmla="*/ 1720453 w 6053670"/>
              <a:gd name="connsiteY20" fmla="*/ 185518 h 4903455"/>
              <a:gd name="connsiteX21" fmla="*/ 1931121 w 6053670"/>
              <a:gd name="connsiteY21" fmla="*/ 198690 h 4903455"/>
              <a:gd name="connsiteX22" fmla="*/ 2150869 w 6053670"/>
              <a:gd name="connsiteY22" fmla="*/ 211079 h 4903455"/>
              <a:gd name="connsiteX23" fmla="*/ 2263467 w 6053670"/>
              <a:gd name="connsiteY23" fmla="*/ 215470 h 4903455"/>
              <a:gd name="connsiteX24" fmla="*/ 2378487 w 6053670"/>
              <a:gd name="connsiteY24" fmla="*/ 220332 h 4903455"/>
              <a:gd name="connsiteX25" fmla="*/ 2495323 w 6053670"/>
              <a:gd name="connsiteY25" fmla="*/ 224879 h 4903455"/>
              <a:gd name="connsiteX26" fmla="*/ 2612764 w 6053670"/>
              <a:gd name="connsiteY26" fmla="*/ 227859 h 4903455"/>
              <a:gd name="connsiteX27" fmla="*/ 2732627 w 6053670"/>
              <a:gd name="connsiteY27" fmla="*/ 230525 h 4903455"/>
              <a:gd name="connsiteX28" fmla="*/ 2853700 w 6053670"/>
              <a:gd name="connsiteY28" fmla="*/ 233348 h 4903455"/>
              <a:gd name="connsiteX29" fmla="*/ 2977195 w 6053670"/>
              <a:gd name="connsiteY29" fmla="*/ 235229 h 4903455"/>
              <a:gd name="connsiteX30" fmla="*/ 3101900 w 6053670"/>
              <a:gd name="connsiteY30" fmla="*/ 235229 h 4903455"/>
              <a:gd name="connsiteX31" fmla="*/ 3227817 w 6053670"/>
              <a:gd name="connsiteY31" fmla="*/ 236170 h 4903455"/>
              <a:gd name="connsiteX32" fmla="*/ 3354944 w 6053670"/>
              <a:gd name="connsiteY32" fmla="*/ 235229 h 4903455"/>
              <a:gd name="connsiteX33" fmla="*/ 3483887 w 6053670"/>
              <a:gd name="connsiteY33" fmla="*/ 233348 h 4903455"/>
              <a:gd name="connsiteX34" fmla="*/ 3612830 w 6053670"/>
              <a:gd name="connsiteY34" fmla="*/ 231623 h 4903455"/>
              <a:gd name="connsiteX35" fmla="*/ 3743589 w 6053670"/>
              <a:gd name="connsiteY35" fmla="*/ 227859 h 4903455"/>
              <a:gd name="connsiteX36" fmla="*/ 3875559 w 6053670"/>
              <a:gd name="connsiteY36" fmla="*/ 223938 h 4903455"/>
              <a:gd name="connsiteX37" fmla="*/ 4007529 w 6053670"/>
              <a:gd name="connsiteY37" fmla="*/ 219391 h 4903455"/>
              <a:gd name="connsiteX38" fmla="*/ 4140710 w 6053670"/>
              <a:gd name="connsiteY38" fmla="*/ 212961 h 4903455"/>
              <a:gd name="connsiteX39" fmla="*/ 4275102 w 6053670"/>
              <a:gd name="connsiteY39" fmla="*/ 205277 h 4903455"/>
              <a:gd name="connsiteX40" fmla="*/ 4410098 w 6053670"/>
              <a:gd name="connsiteY40" fmla="*/ 197907 h 4903455"/>
              <a:gd name="connsiteX41" fmla="*/ 4545096 w 6053670"/>
              <a:gd name="connsiteY41" fmla="*/ 188498 h 4903455"/>
              <a:gd name="connsiteX42" fmla="*/ 4681909 w 6053670"/>
              <a:gd name="connsiteY42" fmla="*/ 177207 h 4903455"/>
              <a:gd name="connsiteX43" fmla="*/ 4816905 w 6053670"/>
              <a:gd name="connsiteY43" fmla="*/ 165916 h 4903455"/>
              <a:gd name="connsiteX44" fmla="*/ 4954323 w 6053670"/>
              <a:gd name="connsiteY44" fmla="*/ 152899 h 4903455"/>
              <a:gd name="connsiteX45" fmla="*/ 5092347 w 6053670"/>
              <a:gd name="connsiteY45" fmla="*/ 138629 h 4903455"/>
              <a:gd name="connsiteX46" fmla="*/ 5228555 w 6053670"/>
              <a:gd name="connsiteY46" fmla="*/ 123574 h 4903455"/>
              <a:gd name="connsiteX47" fmla="*/ 5366578 w 6053670"/>
              <a:gd name="connsiteY47" fmla="*/ 106010 h 4903455"/>
              <a:gd name="connsiteX48" fmla="*/ 5503997 w 6053670"/>
              <a:gd name="connsiteY48" fmla="*/ 87192 h 4903455"/>
              <a:gd name="connsiteX49" fmla="*/ 5642020 w 6053670"/>
              <a:gd name="connsiteY49" fmla="*/ 68530 h 4903455"/>
              <a:gd name="connsiteX50" fmla="*/ 5779438 w 6053670"/>
              <a:gd name="connsiteY50" fmla="*/ 46733 h 4903455"/>
              <a:gd name="connsiteX51" fmla="*/ 5916251 w 6053670"/>
              <a:gd name="connsiteY51" fmla="*/ 24464 h 490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4903455">
                <a:moveTo>
                  <a:pt x="6053670" y="1098"/>
                </a:moveTo>
                <a:lnTo>
                  <a:pt x="6053670" y="424590"/>
                </a:lnTo>
                <a:lnTo>
                  <a:pt x="6053670" y="1254558"/>
                </a:lnTo>
                <a:lnTo>
                  <a:pt x="6053670" y="4903455"/>
                </a:lnTo>
                <a:lnTo>
                  <a:pt x="0" y="4903455"/>
                </a:lnTo>
                <a:lnTo>
                  <a:pt x="0" y="1249853"/>
                </a:lnTo>
                <a:lnTo>
                  <a:pt x="0" y="424590"/>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pic>
        <p:nvPicPr>
          <p:cNvPr id="6" name="Picture 5">
            <a:extLst>
              <a:ext uri="{FF2B5EF4-FFF2-40B4-BE49-F238E27FC236}">
                <a16:creationId xmlns:a16="http://schemas.microsoft.com/office/drawing/2014/main" id="{87A403ED-C068-E112-D281-9A5A5A8428D2}"/>
              </a:ext>
            </a:extLst>
          </p:cNvPr>
          <p:cNvPicPr>
            <a:picLocks noChangeAspect="1"/>
          </p:cNvPicPr>
          <p:nvPr/>
        </p:nvPicPr>
        <p:blipFill>
          <a:blip r:embed="rId2"/>
          <a:stretch>
            <a:fillRect/>
          </a:stretch>
        </p:blipFill>
        <p:spPr>
          <a:xfrm>
            <a:off x="7418226" y="1430742"/>
            <a:ext cx="4125317" cy="4014096"/>
          </a:xfrm>
          <a:prstGeom prst="rect">
            <a:avLst/>
          </a:prstGeom>
        </p:spPr>
      </p:pic>
      <p:sp>
        <p:nvSpPr>
          <p:cNvPr id="19" name="Rectangle 18">
            <a:extLst>
              <a:ext uri="{FF2B5EF4-FFF2-40B4-BE49-F238E27FC236}">
                <a16:creationId xmlns:a16="http://schemas.microsoft.com/office/drawing/2014/main" id="{EADD3260-4BDA-459B-A162-5E1B897E3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1" name="Oval 20">
            <a:extLst>
              <a:ext uri="{FF2B5EF4-FFF2-40B4-BE49-F238E27FC236}">
                <a16:creationId xmlns:a16="http://schemas.microsoft.com/office/drawing/2014/main" id="{283DA7DD-CA37-4ED7-8710-48E56B063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Oval 22">
            <a:extLst>
              <a:ext uri="{FF2B5EF4-FFF2-40B4-BE49-F238E27FC236}">
                <a16:creationId xmlns:a16="http://schemas.microsoft.com/office/drawing/2014/main" id="{B92F2E3C-66CD-4DEB-BA14-2A5912B65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25" name="Content Placeholder 4">
            <a:extLst>
              <a:ext uri="{FF2B5EF4-FFF2-40B4-BE49-F238E27FC236}">
                <a16:creationId xmlns:a16="http://schemas.microsoft.com/office/drawing/2014/main" id="{81BB67D2-82BD-649F-3AF4-48BA199F0249}"/>
              </a:ext>
            </a:extLst>
          </p:cNvPr>
          <p:cNvGraphicFramePr>
            <a:graphicFrameLocks noGrp="1"/>
          </p:cNvGraphicFramePr>
          <p:nvPr>
            <p:ph idx="1"/>
          </p:nvPr>
        </p:nvGraphicFramePr>
        <p:xfrm>
          <a:off x="639098" y="2418735"/>
          <a:ext cx="6072776" cy="38117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1306207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B748B7-E5A4-3702-1775-6FD436FD87CD}"/>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38ABDB68-E3D5-448E-97D3-06FFEF680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29" name="Freeform 5">
            <a:extLst>
              <a:ext uri="{FF2B5EF4-FFF2-40B4-BE49-F238E27FC236}">
                <a16:creationId xmlns:a16="http://schemas.microsoft.com/office/drawing/2014/main" id="{B8DD7FEB-D9F3-4F5B-982C-36B0664D0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537676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31" name="Freeform 5">
            <a:extLst>
              <a:ext uri="{FF2B5EF4-FFF2-40B4-BE49-F238E27FC236}">
                <a16:creationId xmlns:a16="http://schemas.microsoft.com/office/drawing/2014/main" id="{96BA11E4-0636-4FA9-A836-2A4FB1764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4" name="Title 3">
            <a:extLst>
              <a:ext uri="{FF2B5EF4-FFF2-40B4-BE49-F238E27FC236}">
                <a16:creationId xmlns:a16="http://schemas.microsoft.com/office/drawing/2014/main" id="{95E89D5A-E70F-CB2C-8FAB-266F0008BC62}"/>
              </a:ext>
            </a:extLst>
          </p:cNvPr>
          <p:cNvSpPr>
            <a:spLocks noGrp="1"/>
          </p:cNvSpPr>
          <p:nvPr>
            <p:ph type="title"/>
          </p:nvPr>
        </p:nvSpPr>
        <p:spPr>
          <a:xfrm>
            <a:off x="639098" y="629265"/>
            <a:ext cx="6072776" cy="1622322"/>
          </a:xfrm>
        </p:spPr>
        <p:txBody>
          <a:bodyPr>
            <a:normAutofit/>
          </a:bodyPr>
          <a:lstStyle/>
          <a:p>
            <a:r>
              <a:rPr lang="en-GB" dirty="0">
                <a:solidFill>
                  <a:srgbClr val="EBEBEB"/>
                </a:solidFill>
              </a:rPr>
              <a:t>Simplified attention mechanism</a:t>
            </a:r>
          </a:p>
        </p:txBody>
      </p:sp>
      <p:sp>
        <p:nvSpPr>
          <p:cNvPr id="33" name="Freeform: Shape 32">
            <a:extLst>
              <a:ext uri="{FF2B5EF4-FFF2-40B4-BE49-F238E27FC236}">
                <a16:creationId xmlns:a16="http://schemas.microsoft.com/office/drawing/2014/main" id="{5681882E-BDD0-4311-AF62-E80196285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90102" y="977273"/>
            <a:ext cx="6053670" cy="4903455"/>
          </a:xfrm>
          <a:custGeom>
            <a:avLst/>
            <a:gdLst>
              <a:gd name="connsiteX0" fmla="*/ 6053670 w 6053670"/>
              <a:gd name="connsiteY0" fmla="*/ 1098 h 4903455"/>
              <a:gd name="connsiteX1" fmla="*/ 6053670 w 6053670"/>
              <a:gd name="connsiteY1" fmla="*/ 424590 h 4903455"/>
              <a:gd name="connsiteX2" fmla="*/ 6053670 w 6053670"/>
              <a:gd name="connsiteY2" fmla="*/ 1254558 h 4903455"/>
              <a:gd name="connsiteX3" fmla="*/ 6053670 w 6053670"/>
              <a:gd name="connsiteY3" fmla="*/ 4903455 h 4903455"/>
              <a:gd name="connsiteX4" fmla="*/ 0 w 6053670"/>
              <a:gd name="connsiteY4" fmla="*/ 4903455 h 4903455"/>
              <a:gd name="connsiteX5" fmla="*/ 0 w 6053670"/>
              <a:gd name="connsiteY5" fmla="*/ 1249853 h 4903455"/>
              <a:gd name="connsiteX6" fmla="*/ 0 w 6053670"/>
              <a:gd name="connsiteY6" fmla="*/ 424590 h 4903455"/>
              <a:gd name="connsiteX7" fmla="*/ 0 w 6053670"/>
              <a:gd name="connsiteY7" fmla="*/ 0 h 4903455"/>
              <a:gd name="connsiteX8" fmla="*/ 35717 w 6053670"/>
              <a:gd name="connsiteY8" fmla="*/ 5488 h 4903455"/>
              <a:gd name="connsiteX9" fmla="*/ 140445 w 6053670"/>
              <a:gd name="connsiteY9" fmla="*/ 21641 h 4903455"/>
              <a:gd name="connsiteX10" fmla="*/ 216722 w 6053670"/>
              <a:gd name="connsiteY10" fmla="*/ 32932 h 4903455"/>
              <a:gd name="connsiteX11" fmla="*/ 307527 w 6053670"/>
              <a:gd name="connsiteY11" fmla="*/ 44850 h 4903455"/>
              <a:gd name="connsiteX12" fmla="*/ 415282 w 6053670"/>
              <a:gd name="connsiteY12" fmla="*/ 59121 h 4903455"/>
              <a:gd name="connsiteX13" fmla="*/ 534539 w 6053670"/>
              <a:gd name="connsiteY13" fmla="*/ 74175 h 4903455"/>
              <a:gd name="connsiteX14" fmla="*/ 668931 w 6053670"/>
              <a:gd name="connsiteY14" fmla="*/ 90014 h 4903455"/>
              <a:gd name="connsiteX15" fmla="*/ 815430 w 6053670"/>
              <a:gd name="connsiteY15" fmla="*/ 106794 h 4903455"/>
              <a:gd name="connsiteX16" fmla="*/ 974641 w 6053670"/>
              <a:gd name="connsiteY16" fmla="*/ 123574 h 4903455"/>
              <a:gd name="connsiteX17" fmla="*/ 1144144 w 6053670"/>
              <a:gd name="connsiteY17" fmla="*/ 140667 h 4903455"/>
              <a:gd name="connsiteX18" fmla="*/ 1326965 w 6053670"/>
              <a:gd name="connsiteY18" fmla="*/ 156506 h 4903455"/>
              <a:gd name="connsiteX19" fmla="*/ 1518261 w 6053670"/>
              <a:gd name="connsiteY19" fmla="*/ 171717 h 4903455"/>
              <a:gd name="connsiteX20" fmla="*/ 1720453 w 6053670"/>
              <a:gd name="connsiteY20" fmla="*/ 185518 h 4903455"/>
              <a:gd name="connsiteX21" fmla="*/ 1931121 w 6053670"/>
              <a:gd name="connsiteY21" fmla="*/ 198690 h 4903455"/>
              <a:gd name="connsiteX22" fmla="*/ 2150869 w 6053670"/>
              <a:gd name="connsiteY22" fmla="*/ 211079 h 4903455"/>
              <a:gd name="connsiteX23" fmla="*/ 2263467 w 6053670"/>
              <a:gd name="connsiteY23" fmla="*/ 215470 h 4903455"/>
              <a:gd name="connsiteX24" fmla="*/ 2378487 w 6053670"/>
              <a:gd name="connsiteY24" fmla="*/ 220332 h 4903455"/>
              <a:gd name="connsiteX25" fmla="*/ 2495323 w 6053670"/>
              <a:gd name="connsiteY25" fmla="*/ 224879 h 4903455"/>
              <a:gd name="connsiteX26" fmla="*/ 2612764 w 6053670"/>
              <a:gd name="connsiteY26" fmla="*/ 227859 h 4903455"/>
              <a:gd name="connsiteX27" fmla="*/ 2732627 w 6053670"/>
              <a:gd name="connsiteY27" fmla="*/ 230525 h 4903455"/>
              <a:gd name="connsiteX28" fmla="*/ 2853700 w 6053670"/>
              <a:gd name="connsiteY28" fmla="*/ 233348 h 4903455"/>
              <a:gd name="connsiteX29" fmla="*/ 2977195 w 6053670"/>
              <a:gd name="connsiteY29" fmla="*/ 235229 h 4903455"/>
              <a:gd name="connsiteX30" fmla="*/ 3101900 w 6053670"/>
              <a:gd name="connsiteY30" fmla="*/ 235229 h 4903455"/>
              <a:gd name="connsiteX31" fmla="*/ 3227817 w 6053670"/>
              <a:gd name="connsiteY31" fmla="*/ 236170 h 4903455"/>
              <a:gd name="connsiteX32" fmla="*/ 3354944 w 6053670"/>
              <a:gd name="connsiteY32" fmla="*/ 235229 h 4903455"/>
              <a:gd name="connsiteX33" fmla="*/ 3483887 w 6053670"/>
              <a:gd name="connsiteY33" fmla="*/ 233348 h 4903455"/>
              <a:gd name="connsiteX34" fmla="*/ 3612830 w 6053670"/>
              <a:gd name="connsiteY34" fmla="*/ 231623 h 4903455"/>
              <a:gd name="connsiteX35" fmla="*/ 3743589 w 6053670"/>
              <a:gd name="connsiteY35" fmla="*/ 227859 h 4903455"/>
              <a:gd name="connsiteX36" fmla="*/ 3875559 w 6053670"/>
              <a:gd name="connsiteY36" fmla="*/ 223938 h 4903455"/>
              <a:gd name="connsiteX37" fmla="*/ 4007529 w 6053670"/>
              <a:gd name="connsiteY37" fmla="*/ 219391 h 4903455"/>
              <a:gd name="connsiteX38" fmla="*/ 4140710 w 6053670"/>
              <a:gd name="connsiteY38" fmla="*/ 212961 h 4903455"/>
              <a:gd name="connsiteX39" fmla="*/ 4275102 w 6053670"/>
              <a:gd name="connsiteY39" fmla="*/ 205277 h 4903455"/>
              <a:gd name="connsiteX40" fmla="*/ 4410098 w 6053670"/>
              <a:gd name="connsiteY40" fmla="*/ 197907 h 4903455"/>
              <a:gd name="connsiteX41" fmla="*/ 4545096 w 6053670"/>
              <a:gd name="connsiteY41" fmla="*/ 188498 h 4903455"/>
              <a:gd name="connsiteX42" fmla="*/ 4681909 w 6053670"/>
              <a:gd name="connsiteY42" fmla="*/ 177207 h 4903455"/>
              <a:gd name="connsiteX43" fmla="*/ 4816905 w 6053670"/>
              <a:gd name="connsiteY43" fmla="*/ 165916 h 4903455"/>
              <a:gd name="connsiteX44" fmla="*/ 4954323 w 6053670"/>
              <a:gd name="connsiteY44" fmla="*/ 152899 h 4903455"/>
              <a:gd name="connsiteX45" fmla="*/ 5092347 w 6053670"/>
              <a:gd name="connsiteY45" fmla="*/ 138629 h 4903455"/>
              <a:gd name="connsiteX46" fmla="*/ 5228555 w 6053670"/>
              <a:gd name="connsiteY46" fmla="*/ 123574 h 4903455"/>
              <a:gd name="connsiteX47" fmla="*/ 5366578 w 6053670"/>
              <a:gd name="connsiteY47" fmla="*/ 106010 h 4903455"/>
              <a:gd name="connsiteX48" fmla="*/ 5503997 w 6053670"/>
              <a:gd name="connsiteY48" fmla="*/ 87192 h 4903455"/>
              <a:gd name="connsiteX49" fmla="*/ 5642020 w 6053670"/>
              <a:gd name="connsiteY49" fmla="*/ 68530 h 4903455"/>
              <a:gd name="connsiteX50" fmla="*/ 5779438 w 6053670"/>
              <a:gd name="connsiteY50" fmla="*/ 46733 h 4903455"/>
              <a:gd name="connsiteX51" fmla="*/ 5916251 w 6053670"/>
              <a:gd name="connsiteY51" fmla="*/ 24464 h 490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4903455">
                <a:moveTo>
                  <a:pt x="6053670" y="1098"/>
                </a:moveTo>
                <a:lnTo>
                  <a:pt x="6053670" y="424590"/>
                </a:lnTo>
                <a:lnTo>
                  <a:pt x="6053670" y="1254558"/>
                </a:lnTo>
                <a:lnTo>
                  <a:pt x="6053670" y="4903455"/>
                </a:lnTo>
                <a:lnTo>
                  <a:pt x="0" y="4903455"/>
                </a:lnTo>
                <a:lnTo>
                  <a:pt x="0" y="1249853"/>
                </a:lnTo>
                <a:lnTo>
                  <a:pt x="0" y="424590"/>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pic>
        <p:nvPicPr>
          <p:cNvPr id="3" name="Picture 2">
            <a:extLst>
              <a:ext uri="{FF2B5EF4-FFF2-40B4-BE49-F238E27FC236}">
                <a16:creationId xmlns:a16="http://schemas.microsoft.com/office/drawing/2014/main" id="{EA4BDCEC-8CD0-D090-B2C3-C41BEEF936E5}"/>
              </a:ext>
            </a:extLst>
          </p:cNvPr>
          <p:cNvPicPr>
            <a:picLocks noChangeAspect="1"/>
          </p:cNvPicPr>
          <p:nvPr/>
        </p:nvPicPr>
        <p:blipFill>
          <a:blip r:embed="rId2"/>
          <a:stretch>
            <a:fillRect/>
          </a:stretch>
        </p:blipFill>
        <p:spPr>
          <a:xfrm>
            <a:off x="7418226" y="2071280"/>
            <a:ext cx="4125317" cy="2733021"/>
          </a:xfrm>
          <a:prstGeom prst="rect">
            <a:avLst/>
          </a:prstGeom>
        </p:spPr>
      </p:pic>
      <p:sp>
        <p:nvSpPr>
          <p:cNvPr id="35" name="Rectangle 34">
            <a:extLst>
              <a:ext uri="{FF2B5EF4-FFF2-40B4-BE49-F238E27FC236}">
                <a16:creationId xmlns:a16="http://schemas.microsoft.com/office/drawing/2014/main" id="{EADD3260-4BDA-459B-A162-5E1B897E3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7" name="Oval 36">
            <a:extLst>
              <a:ext uri="{FF2B5EF4-FFF2-40B4-BE49-F238E27FC236}">
                <a16:creationId xmlns:a16="http://schemas.microsoft.com/office/drawing/2014/main" id="{283DA7DD-CA37-4ED7-8710-48E56B063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9" name="Oval 38">
            <a:extLst>
              <a:ext uri="{FF2B5EF4-FFF2-40B4-BE49-F238E27FC236}">
                <a16:creationId xmlns:a16="http://schemas.microsoft.com/office/drawing/2014/main" id="{B92F2E3C-66CD-4DEB-BA14-2A5912B65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Content Placeholder 4">
            <a:extLst>
              <a:ext uri="{FF2B5EF4-FFF2-40B4-BE49-F238E27FC236}">
                <a16:creationId xmlns:a16="http://schemas.microsoft.com/office/drawing/2014/main" id="{C6F407ED-4EC5-03D9-DAC0-A905FFB4FB51}"/>
              </a:ext>
            </a:extLst>
          </p:cNvPr>
          <p:cNvSpPr>
            <a:spLocks noGrp="1"/>
          </p:cNvSpPr>
          <p:nvPr>
            <p:ph idx="1"/>
          </p:nvPr>
        </p:nvSpPr>
        <p:spPr>
          <a:xfrm>
            <a:off x="639098" y="2418735"/>
            <a:ext cx="6072776" cy="3811740"/>
          </a:xfrm>
        </p:spPr>
        <p:txBody>
          <a:bodyPr anchor="ctr">
            <a:normAutofit/>
          </a:bodyPr>
          <a:lstStyle/>
          <a:p>
            <a:r>
              <a:rPr lang="en-GB" dirty="0">
                <a:solidFill>
                  <a:srgbClr val="FFFFFF"/>
                </a:solidFill>
              </a:rPr>
              <a:t>For simplified attention mechanism attention score is calculated by getting the dot product of a token(query) in the sequence and every other token in the sequence</a:t>
            </a:r>
          </a:p>
          <a:p>
            <a:r>
              <a:rPr lang="en-GB" dirty="0">
                <a:solidFill>
                  <a:srgbClr val="FFFFFF"/>
                </a:solidFill>
              </a:rPr>
              <a:t>Normalization of attention score using soft max gives the attention weight</a:t>
            </a:r>
          </a:p>
          <a:p>
            <a:r>
              <a:rPr lang="en-GB" dirty="0">
                <a:solidFill>
                  <a:srgbClr val="FFFFFF"/>
                </a:solidFill>
              </a:rPr>
              <a:t>The dot product of the attention score and vector embedding produces context weight</a:t>
            </a:r>
          </a:p>
        </p:txBody>
      </p:sp>
    </p:spTree>
    <p:extLst>
      <p:ext uri="{BB962C8B-B14F-4D97-AF65-F5344CB8AC3E}">
        <p14:creationId xmlns:p14="http://schemas.microsoft.com/office/powerpoint/2010/main" val="1836592787"/>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32FC8E-9A26-9AF5-CC23-00FA03EFD223}"/>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42" name="Freeform: Shape 41">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4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4" name="Title 3">
            <a:extLst>
              <a:ext uri="{FF2B5EF4-FFF2-40B4-BE49-F238E27FC236}">
                <a16:creationId xmlns:a16="http://schemas.microsoft.com/office/drawing/2014/main" id="{D62B8782-477F-231F-4009-15D9791ACD56}"/>
              </a:ext>
            </a:extLst>
          </p:cNvPr>
          <p:cNvSpPr>
            <a:spLocks noGrp="1"/>
          </p:cNvSpPr>
          <p:nvPr>
            <p:ph type="title"/>
          </p:nvPr>
        </p:nvSpPr>
        <p:spPr>
          <a:xfrm>
            <a:off x="1154955" y="973668"/>
            <a:ext cx="2942210" cy="1020232"/>
          </a:xfrm>
        </p:spPr>
        <p:txBody>
          <a:bodyPr>
            <a:normAutofit/>
          </a:bodyPr>
          <a:lstStyle/>
          <a:p>
            <a:pPr>
              <a:lnSpc>
                <a:spcPct val="90000"/>
              </a:lnSpc>
            </a:pPr>
            <a:r>
              <a:rPr lang="en-GB" sz="2800">
                <a:solidFill>
                  <a:srgbClr val="EBEBEB"/>
                </a:solidFill>
              </a:rPr>
              <a:t>Attention for self mechanism</a:t>
            </a:r>
          </a:p>
        </p:txBody>
      </p:sp>
      <p:pic>
        <p:nvPicPr>
          <p:cNvPr id="7" name="Picture 6">
            <a:extLst>
              <a:ext uri="{FF2B5EF4-FFF2-40B4-BE49-F238E27FC236}">
                <a16:creationId xmlns:a16="http://schemas.microsoft.com/office/drawing/2014/main" id="{D0B78668-F750-8A2F-22D7-F8DF66099BEF}"/>
              </a:ext>
            </a:extLst>
          </p:cNvPr>
          <p:cNvPicPr>
            <a:picLocks noChangeAspect="1"/>
          </p:cNvPicPr>
          <p:nvPr/>
        </p:nvPicPr>
        <p:blipFill>
          <a:blip r:embed="rId2"/>
          <a:stretch>
            <a:fillRect/>
          </a:stretch>
        </p:blipFill>
        <p:spPr>
          <a:xfrm>
            <a:off x="5194607" y="1679319"/>
            <a:ext cx="6391533" cy="3499362"/>
          </a:xfrm>
          <a:prstGeom prst="rect">
            <a:avLst/>
          </a:prstGeom>
        </p:spPr>
      </p:pic>
      <p:sp>
        <p:nvSpPr>
          <p:cNvPr id="44" name="Rectangle 43">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5" name="Oval 44">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6" name="Oval 45">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Content Placeholder 4">
            <a:extLst>
              <a:ext uri="{FF2B5EF4-FFF2-40B4-BE49-F238E27FC236}">
                <a16:creationId xmlns:a16="http://schemas.microsoft.com/office/drawing/2014/main" id="{F97EA2D0-2F41-C243-0BB2-FE8BC6B5B63D}"/>
              </a:ext>
            </a:extLst>
          </p:cNvPr>
          <p:cNvSpPr>
            <a:spLocks noGrp="1"/>
          </p:cNvSpPr>
          <p:nvPr>
            <p:ph idx="1"/>
          </p:nvPr>
        </p:nvSpPr>
        <p:spPr>
          <a:xfrm>
            <a:off x="1154955" y="2120900"/>
            <a:ext cx="3133726" cy="3898900"/>
          </a:xfrm>
        </p:spPr>
        <p:txBody>
          <a:bodyPr>
            <a:normAutofit/>
          </a:bodyPr>
          <a:lstStyle/>
          <a:p>
            <a:pPr>
              <a:lnSpc>
                <a:spcPct val="90000"/>
              </a:lnSpc>
            </a:pPr>
            <a:r>
              <a:rPr lang="en-GB" sz="1500">
                <a:solidFill>
                  <a:srgbClr val="FFFFFF"/>
                </a:solidFill>
              </a:rPr>
              <a:t>For self attention mechanism, attention scores are calculated using weighted vectors Wq, Wk, and Wv as vectors for dot multiplication with input embedding</a:t>
            </a:r>
          </a:p>
          <a:p>
            <a:pPr>
              <a:lnSpc>
                <a:spcPct val="90000"/>
              </a:lnSpc>
            </a:pPr>
            <a:r>
              <a:rPr lang="en-GB" sz="1500">
                <a:solidFill>
                  <a:srgbClr val="FFFFFF"/>
                </a:solidFill>
              </a:rPr>
              <a:t>These produce the Query, Key and value vectors</a:t>
            </a:r>
          </a:p>
          <a:p>
            <a:pPr>
              <a:lnSpc>
                <a:spcPct val="90000"/>
              </a:lnSpc>
            </a:pPr>
            <a:endParaRPr lang="en-GB" sz="1500">
              <a:solidFill>
                <a:srgbClr val="FFFFFF"/>
              </a:solidFill>
            </a:endParaRPr>
          </a:p>
          <a:p>
            <a:pPr>
              <a:lnSpc>
                <a:spcPct val="90000"/>
              </a:lnSpc>
            </a:pPr>
            <a:r>
              <a:rPr lang="en-GB" sz="1500">
                <a:solidFill>
                  <a:srgbClr val="FFFFFF"/>
                </a:solidFill>
              </a:rPr>
              <a:t>Dot product of the Query and Key produces the attention score</a:t>
            </a:r>
          </a:p>
        </p:txBody>
      </p:sp>
      <p:sp>
        <p:nvSpPr>
          <p:cNvPr id="47"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Tree>
    <p:extLst>
      <p:ext uri="{BB962C8B-B14F-4D97-AF65-F5344CB8AC3E}">
        <p14:creationId xmlns:p14="http://schemas.microsoft.com/office/powerpoint/2010/main" val="48063125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4BCFC5-40BD-29A1-3034-674F139B7DC1}"/>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29" name="Freeform: Shape 28">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31"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4" name="Title 3">
            <a:extLst>
              <a:ext uri="{FF2B5EF4-FFF2-40B4-BE49-F238E27FC236}">
                <a16:creationId xmlns:a16="http://schemas.microsoft.com/office/drawing/2014/main" id="{67EDAE97-06F1-0F2B-09BA-1ED0FE6B3FD5}"/>
              </a:ext>
            </a:extLst>
          </p:cNvPr>
          <p:cNvSpPr>
            <a:spLocks noGrp="1"/>
          </p:cNvSpPr>
          <p:nvPr>
            <p:ph type="title"/>
          </p:nvPr>
        </p:nvSpPr>
        <p:spPr>
          <a:xfrm>
            <a:off x="1154955" y="973668"/>
            <a:ext cx="2942210" cy="1020232"/>
          </a:xfrm>
        </p:spPr>
        <p:txBody>
          <a:bodyPr>
            <a:normAutofit/>
          </a:bodyPr>
          <a:lstStyle/>
          <a:p>
            <a:pPr>
              <a:lnSpc>
                <a:spcPct val="90000"/>
              </a:lnSpc>
            </a:pPr>
            <a:r>
              <a:rPr lang="en-GB" sz="2800">
                <a:solidFill>
                  <a:srgbClr val="EBEBEB"/>
                </a:solidFill>
              </a:rPr>
              <a:t>Attention for self mechanism</a:t>
            </a:r>
          </a:p>
        </p:txBody>
      </p:sp>
      <p:pic>
        <p:nvPicPr>
          <p:cNvPr id="7" name="Picture 6">
            <a:extLst>
              <a:ext uri="{FF2B5EF4-FFF2-40B4-BE49-F238E27FC236}">
                <a16:creationId xmlns:a16="http://schemas.microsoft.com/office/drawing/2014/main" id="{E2F1EAB3-865A-E01E-92F3-4E2763AA90EF}"/>
              </a:ext>
            </a:extLst>
          </p:cNvPr>
          <p:cNvPicPr>
            <a:picLocks noChangeAspect="1"/>
          </p:cNvPicPr>
          <p:nvPr/>
        </p:nvPicPr>
        <p:blipFill>
          <a:blip r:embed="rId2"/>
          <a:stretch>
            <a:fillRect/>
          </a:stretch>
        </p:blipFill>
        <p:spPr>
          <a:xfrm>
            <a:off x="5194607" y="1679319"/>
            <a:ext cx="6391533" cy="3499362"/>
          </a:xfrm>
          <a:prstGeom prst="rect">
            <a:avLst/>
          </a:prstGeom>
        </p:spPr>
      </p:pic>
      <p:sp>
        <p:nvSpPr>
          <p:cNvPr id="33" name="Rectangle 32">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5" name="Oval 34">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7" name="Oval 36">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 name="Content Placeholder 4">
            <a:extLst>
              <a:ext uri="{FF2B5EF4-FFF2-40B4-BE49-F238E27FC236}">
                <a16:creationId xmlns:a16="http://schemas.microsoft.com/office/drawing/2014/main" id="{834637F2-FD8F-3853-19A0-F3BFB46C6B6B}"/>
              </a:ext>
            </a:extLst>
          </p:cNvPr>
          <p:cNvSpPr>
            <a:spLocks noGrp="1"/>
          </p:cNvSpPr>
          <p:nvPr>
            <p:ph idx="1"/>
          </p:nvPr>
        </p:nvSpPr>
        <p:spPr>
          <a:xfrm>
            <a:off x="1154955" y="2120900"/>
            <a:ext cx="3133726" cy="3898900"/>
          </a:xfrm>
        </p:spPr>
        <p:txBody>
          <a:bodyPr>
            <a:normAutofit/>
          </a:bodyPr>
          <a:lstStyle/>
          <a:p>
            <a:r>
              <a:rPr lang="en-GB">
                <a:solidFill>
                  <a:srgbClr val="FFFFFF"/>
                </a:solidFill>
              </a:rPr>
              <a:t>Scaling by dividing the attention score by the square root of the key dimension</a:t>
            </a:r>
          </a:p>
          <a:p>
            <a:r>
              <a:rPr lang="en-GB">
                <a:solidFill>
                  <a:srgbClr val="FFFFFF"/>
                </a:solidFill>
              </a:rPr>
              <a:t>Then normalizing the divided attention score with the SoftMax function to obtain attention weight</a:t>
            </a:r>
          </a:p>
          <a:p>
            <a:r>
              <a:rPr lang="en-GB">
                <a:solidFill>
                  <a:srgbClr val="FFFFFF"/>
                </a:solidFill>
              </a:rPr>
              <a:t>Context vector = attention weight * Value </a:t>
            </a:r>
          </a:p>
        </p:txBody>
      </p:sp>
      <p:sp>
        <p:nvSpPr>
          <p:cNvPr id="39"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Tree>
    <p:extLst>
      <p:ext uri="{BB962C8B-B14F-4D97-AF65-F5344CB8AC3E}">
        <p14:creationId xmlns:p14="http://schemas.microsoft.com/office/powerpoint/2010/main" val="1631920666"/>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C8747C-B60C-E3D0-B1DD-D747C66BFE04}"/>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n image of two dumbells against sunlight">
            <a:extLst>
              <a:ext uri="{FF2B5EF4-FFF2-40B4-BE49-F238E27FC236}">
                <a16:creationId xmlns:a16="http://schemas.microsoft.com/office/drawing/2014/main" id="{3E494603-F475-95D2-69E1-6EB57C571F3E}"/>
              </a:ext>
            </a:extLst>
          </p:cNvPr>
          <p:cNvPicPr>
            <a:picLocks noChangeAspect="1"/>
          </p:cNvPicPr>
          <p:nvPr/>
        </p:nvPicPr>
        <p:blipFill>
          <a:blip r:embed="rId2">
            <a:alphaModFix amt="40000"/>
          </a:blip>
          <a:srcRect t="15730"/>
          <a:stretch>
            <a:fillRect/>
          </a:stretch>
        </p:blipFill>
        <p:spPr>
          <a:xfrm>
            <a:off x="20" y="10"/>
            <a:ext cx="12191980" cy="6857990"/>
          </a:xfrm>
          <a:prstGeom prst="rect">
            <a:avLst/>
          </a:prstGeom>
        </p:spPr>
      </p:pic>
      <p:sp>
        <p:nvSpPr>
          <p:cNvPr id="4" name="Title 3">
            <a:extLst>
              <a:ext uri="{FF2B5EF4-FFF2-40B4-BE49-F238E27FC236}">
                <a16:creationId xmlns:a16="http://schemas.microsoft.com/office/drawing/2014/main" id="{D17953A2-F4C3-9262-3AFA-07E588E7F2EB}"/>
              </a:ext>
            </a:extLst>
          </p:cNvPr>
          <p:cNvSpPr>
            <a:spLocks noGrp="1"/>
          </p:cNvSpPr>
          <p:nvPr>
            <p:ph type="title"/>
          </p:nvPr>
        </p:nvSpPr>
        <p:spPr>
          <a:xfrm>
            <a:off x="1154954" y="973668"/>
            <a:ext cx="8761413" cy="706964"/>
          </a:xfrm>
        </p:spPr>
        <p:txBody>
          <a:bodyPr>
            <a:normAutofit/>
          </a:bodyPr>
          <a:lstStyle/>
          <a:p>
            <a:r>
              <a:rPr lang="en-GB" sz="3300" dirty="0">
                <a:solidFill>
                  <a:schemeClr val="tx1"/>
                </a:solidFill>
              </a:rPr>
              <a:t>Trainable weight vs no trainable weights</a:t>
            </a:r>
          </a:p>
        </p:txBody>
      </p:sp>
      <p:sp>
        <p:nvSpPr>
          <p:cNvPr id="5" name="Content Placeholder 4">
            <a:extLst>
              <a:ext uri="{FF2B5EF4-FFF2-40B4-BE49-F238E27FC236}">
                <a16:creationId xmlns:a16="http://schemas.microsoft.com/office/drawing/2014/main" id="{512C0972-20C9-4CEE-037C-425E8FD73885}"/>
              </a:ext>
            </a:extLst>
          </p:cNvPr>
          <p:cNvSpPr>
            <a:spLocks noGrp="1"/>
          </p:cNvSpPr>
          <p:nvPr>
            <p:ph idx="1"/>
          </p:nvPr>
        </p:nvSpPr>
        <p:spPr>
          <a:xfrm>
            <a:off x="1154954" y="2603500"/>
            <a:ext cx="8825659" cy="3416300"/>
          </a:xfrm>
        </p:spPr>
        <p:txBody>
          <a:bodyPr>
            <a:normAutofit/>
          </a:bodyPr>
          <a:lstStyle/>
          <a:p>
            <a:r>
              <a:rPr lang="en-GB" dirty="0">
                <a:solidFill>
                  <a:schemeClr val="tx1"/>
                </a:solidFill>
              </a:rPr>
              <a:t>With trainable weights we can identify more relationships between tokens even if words are not semantically related. Long range dependency in the sequence is better captured. Through training and back propagation these weights are adjusted to better understand the relationship between tokens</a:t>
            </a:r>
          </a:p>
        </p:txBody>
      </p:sp>
    </p:spTree>
    <p:extLst>
      <p:ext uri="{BB962C8B-B14F-4D97-AF65-F5344CB8AC3E}">
        <p14:creationId xmlns:p14="http://schemas.microsoft.com/office/powerpoint/2010/main" val="306458632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1E6844-272D-E098-EF03-1CE0BBA489A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F8CBDB-39C0-43AD-FC31-A44290B33A44}"/>
              </a:ext>
            </a:extLst>
          </p:cNvPr>
          <p:cNvSpPr>
            <a:spLocks noGrp="1"/>
          </p:cNvSpPr>
          <p:nvPr>
            <p:ph type="title"/>
          </p:nvPr>
        </p:nvSpPr>
        <p:spPr>
          <a:xfrm>
            <a:off x="1154954" y="973668"/>
            <a:ext cx="8761413" cy="706964"/>
          </a:xfrm>
        </p:spPr>
        <p:txBody>
          <a:bodyPr>
            <a:normAutofit/>
          </a:bodyPr>
          <a:lstStyle/>
          <a:p>
            <a:r>
              <a:rPr lang="en-GB">
                <a:solidFill>
                  <a:srgbClr val="EBEBEB"/>
                </a:solidFill>
              </a:rPr>
              <a:t>Causal Attention</a:t>
            </a:r>
          </a:p>
        </p:txBody>
      </p:sp>
      <p:pic>
        <p:nvPicPr>
          <p:cNvPr id="3" name="Picture 2">
            <a:extLst>
              <a:ext uri="{FF2B5EF4-FFF2-40B4-BE49-F238E27FC236}">
                <a16:creationId xmlns:a16="http://schemas.microsoft.com/office/drawing/2014/main" id="{F2244C0A-7851-19B1-7E6E-15469BF5DF78}"/>
              </a:ext>
            </a:extLst>
          </p:cNvPr>
          <p:cNvPicPr>
            <a:picLocks noChangeAspect="1"/>
          </p:cNvPicPr>
          <p:nvPr/>
        </p:nvPicPr>
        <p:blipFill>
          <a:blip r:embed="rId2"/>
          <a:stretch>
            <a:fillRect/>
          </a:stretch>
        </p:blipFill>
        <p:spPr>
          <a:xfrm>
            <a:off x="1151467" y="3163533"/>
            <a:ext cx="4345024" cy="2291999"/>
          </a:xfrm>
          <a:prstGeom prst="roundRect">
            <a:avLst>
              <a:gd name="adj" fmla="val 1858"/>
            </a:avLst>
          </a:prstGeom>
          <a:effectLst>
            <a:outerShdw blurRad="50800" dist="50800" dir="5400000" algn="tl" rotWithShape="0">
              <a:srgbClr val="000000">
                <a:alpha val="43000"/>
              </a:srgbClr>
            </a:outerShdw>
          </a:effectLst>
        </p:spPr>
      </p:pic>
      <p:sp>
        <p:nvSpPr>
          <p:cNvPr id="5" name="Content Placeholder 4">
            <a:extLst>
              <a:ext uri="{FF2B5EF4-FFF2-40B4-BE49-F238E27FC236}">
                <a16:creationId xmlns:a16="http://schemas.microsoft.com/office/drawing/2014/main" id="{6E6DB0C7-F312-6446-D226-DF8C26C40A71}"/>
              </a:ext>
            </a:extLst>
          </p:cNvPr>
          <p:cNvSpPr>
            <a:spLocks noGrp="1"/>
          </p:cNvSpPr>
          <p:nvPr>
            <p:ph idx="1"/>
          </p:nvPr>
        </p:nvSpPr>
        <p:spPr>
          <a:xfrm>
            <a:off x="5980954" y="2603500"/>
            <a:ext cx="5211979" cy="3416300"/>
          </a:xfrm>
        </p:spPr>
        <p:txBody>
          <a:bodyPr anchor="ctr">
            <a:normAutofit/>
          </a:bodyPr>
          <a:lstStyle/>
          <a:p>
            <a:pPr>
              <a:lnSpc>
                <a:spcPct val="90000"/>
              </a:lnSpc>
            </a:pPr>
            <a:r>
              <a:rPr lang="en-GB" dirty="0"/>
              <a:t> Also known as masked attention</a:t>
            </a:r>
          </a:p>
          <a:p>
            <a:pPr>
              <a:lnSpc>
                <a:spcPct val="90000"/>
              </a:lnSpc>
            </a:pPr>
            <a:r>
              <a:rPr lang="en-GB" dirty="0"/>
              <a:t>It restricts the model to only consider previous and current inputs in a sequence</a:t>
            </a:r>
          </a:p>
          <a:p>
            <a:pPr>
              <a:lnSpc>
                <a:spcPct val="90000"/>
              </a:lnSpc>
            </a:pPr>
            <a:r>
              <a:rPr lang="en-GB" dirty="0"/>
              <a:t>We use </a:t>
            </a:r>
            <a:r>
              <a:rPr lang="en-GB" dirty="0" err="1"/>
              <a:t>triu</a:t>
            </a:r>
            <a:r>
              <a:rPr lang="en-GB" dirty="0"/>
              <a:t> and set the values to –Infinity and use this for masking attention score to prevent data leakage </a:t>
            </a:r>
          </a:p>
          <a:p>
            <a:pPr>
              <a:lnSpc>
                <a:spcPct val="90000"/>
              </a:lnSpc>
            </a:pPr>
            <a:r>
              <a:rPr lang="en-GB" dirty="0"/>
              <a:t>Scaling by dividing the attention score by the square root of the key dimension</a:t>
            </a:r>
          </a:p>
          <a:p>
            <a:pPr>
              <a:lnSpc>
                <a:spcPct val="90000"/>
              </a:lnSpc>
            </a:pPr>
            <a:r>
              <a:rPr lang="en-GB" dirty="0"/>
              <a:t>Then normalizing the divided attention score with the SoftMax function to obtain attention weight</a:t>
            </a:r>
          </a:p>
          <a:p>
            <a:pPr marL="0" indent="0">
              <a:lnSpc>
                <a:spcPct val="90000"/>
              </a:lnSpc>
              <a:buNone/>
            </a:pPr>
            <a:endParaRPr lang="en-GB" dirty="0"/>
          </a:p>
        </p:txBody>
      </p:sp>
    </p:spTree>
    <p:extLst>
      <p:ext uri="{BB962C8B-B14F-4D97-AF65-F5344CB8AC3E}">
        <p14:creationId xmlns:p14="http://schemas.microsoft.com/office/powerpoint/2010/main" val="3202867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DDFAB8-E942-DAAC-CC4C-719F8053927B}"/>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906331F9-7C9F-4BB2-87F8-B8727CC2C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21" name="Freeform 5">
            <a:extLst>
              <a:ext uri="{FF2B5EF4-FFF2-40B4-BE49-F238E27FC236}">
                <a16:creationId xmlns:a16="http://schemas.microsoft.com/office/drawing/2014/main" id="{760E064B-C2F2-4237-8792-5F01F0F4C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23" name="Freeform: Shape 22">
            <a:extLst>
              <a:ext uri="{FF2B5EF4-FFF2-40B4-BE49-F238E27FC236}">
                <a16:creationId xmlns:a16="http://schemas.microsoft.com/office/drawing/2014/main" id="{C5F377F0-1AD0-4A6F-A698-9724187046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25" name="Freeform 5">
            <a:extLst>
              <a:ext uri="{FF2B5EF4-FFF2-40B4-BE49-F238E27FC236}">
                <a16:creationId xmlns:a16="http://schemas.microsoft.com/office/drawing/2014/main" id="{F094C3D3-17E7-4BCC-B786-4B3BDD25E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4" name="Title 3">
            <a:extLst>
              <a:ext uri="{FF2B5EF4-FFF2-40B4-BE49-F238E27FC236}">
                <a16:creationId xmlns:a16="http://schemas.microsoft.com/office/drawing/2014/main" id="{072674E5-12B7-AB6D-6063-26077C947DB8}"/>
              </a:ext>
            </a:extLst>
          </p:cNvPr>
          <p:cNvSpPr>
            <a:spLocks noGrp="1"/>
          </p:cNvSpPr>
          <p:nvPr>
            <p:ph type="title"/>
          </p:nvPr>
        </p:nvSpPr>
        <p:spPr>
          <a:xfrm>
            <a:off x="696686" y="973668"/>
            <a:ext cx="3400479" cy="4817532"/>
          </a:xfrm>
        </p:spPr>
        <p:txBody>
          <a:bodyPr>
            <a:normAutofit/>
          </a:bodyPr>
          <a:lstStyle/>
          <a:p>
            <a:pPr>
              <a:lnSpc>
                <a:spcPct val="90000"/>
              </a:lnSpc>
            </a:pPr>
            <a:r>
              <a:rPr lang="en-GB" sz="2300" dirty="0">
                <a:solidFill>
                  <a:srgbClr val="FFFFFE"/>
                </a:solidFill>
              </a:rPr>
              <a:t>Triu (-inf), Tril(0) and The data leakage</a:t>
            </a:r>
          </a:p>
        </p:txBody>
      </p:sp>
      <p:pic>
        <p:nvPicPr>
          <p:cNvPr id="8" name="Content Placeholder 7">
            <a:extLst>
              <a:ext uri="{FF2B5EF4-FFF2-40B4-BE49-F238E27FC236}">
                <a16:creationId xmlns:a16="http://schemas.microsoft.com/office/drawing/2014/main" id="{22EE19BF-51DE-1450-AC29-17F76B90DF48}"/>
              </a:ext>
            </a:extLst>
          </p:cNvPr>
          <p:cNvPicPr>
            <a:picLocks noChangeAspect="1"/>
          </p:cNvPicPr>
          <p:nvPr/>
        </p:nvPicPr>
        <p:blipFill>
          <a:blip r:embed="rId2"/>
          <a:stretch>
            <a:fillRect/>
          </a:stretch>
        </p:blipFill>
        <p:spPr>
          <a:xfrm>
            <a:off x="5194607" y="2378058"/>
            <a:ext cx="3113903" cy="2101884"/>
          </a:xfrm>
          <a:prstGeom prst="rect">
            <a:avLst/>
          </a:prstGeom>
        </p:spPr>
      </p:pic>
      <p:pic>
        <p:nvPicPr>
          <p:cNvPr id="10" name="Picture 9">
            <a:extLst>
              <a:ext uri="{FF2B5EF4-FFF2-40B4-BE49-F238E27FC236}">
                <a16:creationId xmlns:a16="http://schemas.microsoft.com/office/drawing/2014/main" id="{A673921B-981B-E688-5269-CE99464B5C03}"/>
              </a:ext>
            </a:extLst>
          </p:cNvPr>
          <p:cNvPicPr>
            <a:picLocks noChangeAspect="1"/>
          </p:cNvPicPr>
          <p:nvPr/>
        </p:nvPicPr>
        <p:blipFill>
          <a:blip r:embed="rId3"/>
          <a:stretch>
            <a:fillRect/>
          </a:stretch>
        </p:blipFill>
        <p:spPr>
          <a:xfrm>
            <a:off x="8472236" y="1345132"/>
            <a:ext cx="3113904" cy="1462998"/>
          </a:xfrm>
          <a:prstGeom prst="rect">
            <a:avLst/>
          </a:prstGeom>
        </p:spPr>
      </p:pic>
      <p:sp>
        <p:nvSpPr>
          <p:cNvPr id="27" name="Rectangle 26">
            <a:extLst>
              <a:ext uri="{FF2B5EF4-FFF2-40B4-BE49-F238E27FC236}">
                <a16:creationId xmlns:a16="http://schemas.microsoft.com/office/drawing/2014/main" id="{BC650D5C-009B-4021-82BD-1E28BFF450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2" name="Picture 11">
            <a:extLst>
              <a:ext uri="{FF2B5EF4-FFF2-40B4-BE49-F238E27FC236}">
                <a16:creationId xmlns:a16="http://schemas.microsoft.com/office/drawing/2014/main" id="{E3A5AA32-ACFA-370A-C42D-597EB4C4A2CB}"/>
              </a:ext>
            </a:extLst>
          </p:cNvPr>
          <p:cNvPicPr>
            <a:picLocks noChangeAspect="1"/>
          </p:cNvPicPr>
          <p:nvPr/>
        </p:nvPicPr>
        <p:blipFill>
          <a:blip r:embed="rId4"/>
          <a:stretch>
            <a:fillRect/>
          </a:stretch>
        </p:blipFill>
        <p:spPr>
          <a:xfrm>
            <a:off x="8472236" y="4110486"/>
            <a:ext cx="3113904" cy="1341764"/>
          </a:xfrm>
          <a:prstGeom prst="rect">
            <a:avLst/>
          </a:prstGeom>
        </p:spPr>
      </p:pic>
    </p:spTree>
    <p:extLst>
      <p:ext uri="{BB962C8B-B14F-4D97-AF65-F5344CB8AC3E}">
        <p14:creationId xmlns:p14="http://schemas.microsoft.com/office/powerpoint/2010/main" val="2183352956"/>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AB2AA7-1BB1-B349-8288-D7BECB663B6B}"/>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29"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
        <p:nvSpPr>
          <p:cNvPr id="31" name="Freeform: Shape 30">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33"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931CDD58-2473-9208-B00B-220AD577FC50}"/>
              </a:ext>
            </a:extLst>
          </p:cNvPr>
          <p:cNvSpPr>
            <a:spLocks noGrp="1"/>
          </p:cNvSpPr>
          <p:nvPr>
            <p:ph type="title"/>
          </p:nvPr>
        </p:nvSpPr>
        <p:spPr>
          <a:xfrm>
            <a:off x="639098" y="629265"/>
            <a:ext cx="5132438" cy="1622322"/>
          </a:xfrm>
        </p:spPr>
        <p:txBody>
          <a:bodyPr vert="horz" lIns="91440" tIns="45720" rIns="91440" bIns="45720" rtlCol="0">
            <a:normAutofit/>
          </a:bodyPr>
          <a:lstStyle/>
          <a:p>
            <a:r>
              <a:rPr lang="en-US" b="0" i="0" kern="1200" dirty="0">
                <a:solidFill>
                  <a:srgbClr val="EBEBEB"/>
                </a:solidFill>
                <a:latin typeface="+mj-lt"/>
                <a:ea typeface="+mj-ea"/>
                <a:cs typeface="+mj-cs"/>
              </a:rPr>
              <a:t>Dropout function</a:t>
            </a:r>
          </a:p>
        </p:txBody>
      </p:sp>
      <p:pic>
        <p:nvPicPr>
          <p:cNvPr id="7" name="Content Placeholder 6">
            <a:extLst>
              <a:ext uri="{FF2B5EF4-FFF2-40B4-BE49-F238E27FC236}">
                <a16:creationId xmlns:a16="http://schemas.microsoft.com/office/drawing/2014/main" id="{09D45EE4-26D1-578F-30FA-61ACAFEEC06B}"/>
              </a:ext>
            </a:extLst>
          </p:cNvPr>
          <p:cNvPicPr>
            <a:picLocks noChangeAspect="1"/>
          </p:cNvPicPr>
          <p:nvPr/>
        </p:nvPicPr>
        <p:blipFill>
          <a:blip r:embed="rId2"/>
          <a:stretch>
            <a:fillRect/>
          </a:stretch>
        </p:blipFill>
        <p:spPr>
          <a:xfrm>
            <a:off x="6714836" y="1156227"/>
            <a:ext cx="4828707" cy="4563126"/>
          </a:xfrm>
          <a:prstGeom prst="rect">
            <a:avLst/>
          </a:prstGeom>
        </p:spPr>
      </p:pic>
      <p:sp>
        <p:nvSpPr>
          <p:cNvPr id="35" name="Rectangle 34">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Content Placeholder 23">
            <a:extLst>
              <a:ext uri="{FF2B5EF4-FFF2-40B4-BE49-F238E27FC236}">
                <a16:creationId xmlns:a16="http://schemas.microsoft.com/office/drawing/2014/main" id="{AD1D767F-C953-04B1-2986-A35F4F0CAAC8}"/>
              </a:ext>
            </a:extLst>
          </p:cNvPr>
          <p:cNvSpPr>
            <a:spLocks noGrp="1"/>
          </p:cNvSpPr>
          <p:nvPr>
            <p:ph idx="1"/>
          </p:nvPr>
        </p:nvSpPr>
        <p:spPr>
          <a:xfrm>
            <a:off x="639098" y="2418735"/>
            <a:ext cx="5132439" cy="3811742"/>
          </a:xfrm>
        </p:spPr>
        <p:txBody>
          <a:bodyPr anchor="ctr">
            <a:normAutofit/>
          </a:bodyPr>
          <a:lstStyle/>
          <a:p>
            <a:r>
              <a:rPr lang="en-US" dirty="0">
                <a:solidFill>
                  <a:srgbClr val="FFFFFF"/>
                </a:solidFill>
              </a:rPr>
              <a:t>Prevents overfitting and good for generalization</a:t>
            </a:r>
          </a:p>
          <a:p>
            <a:r>
              <a:rPr lang="en-US" dirty="0">
                <a:solidFill>
                  <a:srgbClr val="FFFFFF"/>
                </a:solidFill>
              </a:rPr>
              <a:t>Optimizes the system by activating inactive neurons</a:t>
            </a:r>
          </a:p>
          <a:p>
            <a:r>
              <a:rPr lang="en-US" dirty="0">
                <a:solidFill>
                  <a:srgbClr val="FFFFFF"/>
                </a:solidFill>
              </a:rPr>
              <a:t>Randomly zeros out values</a:t>
            </a:r>
          </a:p>
          <a:p>
            <a:r>
              <a:rPr lang="en-US" dirty="0">
                <a:solidFill>
                  <a:srgbClr val="FFFFFF"/>
                </a:solidFill>
              </a:rPr>
              <a:t>Can be applied after calculating attention scores or attention weight</a:t>
            </a:r>
          </a:p>
        </p:txBody>
      </p:sp>
    </p:spTree>
    <p:extLst>
      <p:ext uri="{BB962C8B-B14F-4D97-AF65-F5344CB8AC3E}">
        <p14:creationId xmlns:p14="http://schemas.microsoft.com/office/powerpoint/2010/main" val="235553778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CCA413-DADF-8A86-2905-AEA78F838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A4FA1-3671-72ED-4290-2CD31A173EA6}"/>
              </a:ext>
            </a:extLst>
          </p:cNvPr>
          <p:cNvSpPr>
            <a:spLocks noGrp="1"/>
          </p:cNvSpPr>
          <p:nvPr>
            <p:ph type="title"/>
          </p:nvPr>
        </p:nvSpPr>
        <p:spPr>
          <a:xfrm>
            <a:off x="1154954" y="973668"/>
            <a:ext cx="8761413" cy="706964"/>
          </a:xfrm>
        </p:spPr>
        <p:txBody>
          <a:bodyPr vert="horz" lIns="91440" tIns="45720" rIns="91440" bIns="45720" rtlCol="0">
            <a:normAutofit/>
          </a:bodyPr>
          <a:lstStyle/>
          <a:p>
            <a:r>
              <a:rPr lang="en-US">
                <a:solidFill>
                  <a:srgbClr val="EBEBEB"/>
                </a:solidFill>
              </a:rPr>
              <a:t>MultiHead attention</a:t>
            </a:r>
            <a:endParaRPr lang="en-US" b="0" i="0" kern="1200">
              <a:solidFill>
                <a:srgbClr val="EBEBEB"/>
              </a:solidFill>
              <a:latin typeface="+mj-lt"/>
              <a:ea typeface="+mj-ea"/>
              <a:cs typeface="+mj-cs"/>
            </a:endParaRPr>
          </a:p>
        </p:txBody>
      </p:sp>
      <p:pic>
        <p:nvPicPr>
          <p:cNvPr id="8" name="Picture 7">
            <a:extLst>
              <a:ext uri="{FF2B5EF4-FFF2-40B4-BE49-F238E27FC236}">
                <a16:creationId xmlns:a16="http://schemas.microsoft.com/office/drawing/2014/main" id="{CFE1F008-00FF-670E-7E1C-CA4A00C9CE61}"/>
              </a:ext>
            </a:extLst>
          </p:cNvPr>
          <p:cNvPicPr>
            <a:picLocks noChangeAspect="1"/>
          </p:cNvPicPr>
          <p:nvPr/>
        </p:nvPicPr>
        <p:blipFill>
          <a:blip r:embed="rId2"/>
          <a:stretch>
            <a:fillRect/>
          </a:stretch>
        </p:blipFill>
        <p:spPr>
          <a:xfrm>
            <a:off x="1151467" y="3136377"/>
            <a:ext cx="4345024" cy="2346311"/>
          </a:xfrm>
          <a:prstGeom prst="roundRect">
            <a:avLst>
              <a:gd name="adj" fmla="val 1858"/>
            </a:avLst>
          </a:prstGeom>
          <a:effectLst>
            <a:outerShdw blurRad="50800" dist="50800" dir="5400000" algn="tl" rotWithShape="0">
              <a:srgbClr val="000000">
                <a:alpha val="43000"/>
              </a:srgbClr>
            </a:outerShdw>
          </a:effectLst>
        </p:spPr>
      </p:pic>
      <p:sp>
        <p:nvSpPr>
          <p:cNvPr id="4" name="Content Placeholder 3">
            <a:extLst>
              <a:ext uri="{FF2B5EF4-FFF2-40B4-BE49-F238E27FC236}">
                <a16:creationId xmlns:a16="http://schemas.microsoft.com/office/drawing/2014/main" id="{C3C17005-EDDF-6A27-ED91-BBA4B160C29B}"/>
              </a:ext>
            </a:extLst>
          </p:cNvPr>
          <p:cNvSpPr>
            <a:spLocks noGrp="1"/>
          </p:cNvSpPr>
          <p:nvPr>
            <p:ph idx="1"/>
          </p:nvPr>
        </p:nvSpPr>
        <p:spPr>
          <a:xfrm>
            <a:off x="5980954" y="2603500"/>
            <a:ext cx="5211979" cy="3416300"/>
          </a:xfrm>
        </p:spPr>
        <p:txBody>
          <a:bodyPr anchor="ctr">
            <a:normAutofit/>
          </a:bodyPr>
          <a:lstStyle/>
          <a:p>
            <a:r>
              <a:rPr lang="en-GB" dirty="0" err="1"/>
              <a:t>Multihead</a:t>
            </a:r>
            <a:r>
              <a:rPr lang="en-GB" dirty="0"/>
              <a:t> mechanism refers to dividing the attention mechanism into multiple heads, each operating independently.</a:t>
            </a:r>
          </a:p>
          <a:p>
            <a:r>
              <a:rPr lang="en-GB" dirty="0"/>
              <a:t>Stacking multiple attention head layers</a:t>
            </a:r>
          </a:p>
          <a:p>
            <a:r>
              <a:rPr lang="en-GB" dirty="0"/>
              <a:t>Computationally expensive but good for complex pattern recognition</a:t>
            </a:r>
          </a:p>
        </p:txBody>
      </p:sp>
    </p:spTree>
    <p:extLst>
      <p:ext uri="{BB962C8B-B14F-4D97-AF65-F5344CB8AC3E}">
        <p14:creationId xmlns:p14="http://schemas.microsoft.com/office/powerpoint/2010/main" val="1684243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DE5082-7809-B713-0F30-CD80F0B2C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D1816-BCF4-E4E1-0866-A523E82D152B}"/>
              </a:ext>
            </a:extLst>
          </p:cNvPr>
          <p:cNvSpPr>
            <a:spLocks noGrp="1"/>
          </p:cNvSpPr>
          <p:nvPr>
            <p:ph type="title"/>
          </p:nvPr>
        </p:nvSpPr>
        <p:spPr/>
        <p:txBody>
          <a:bodyPr vert="horz" lIns="91440" tIns="45720" rIns="91440" bIns="45720" rtlCol="0">
            <a:normAutofit/>
          </a:bodyPr>
          <a:lstStyle/>
          <a:p>
            <a:r>
              <a:rPr lang="en-US" dirty="0">
                <a:solidFill>
                  <a:srgbClr val="EBEBEB"/>
                </a:solidFill>
              </a:rPr>
              <a:t>Supervisors’ Feedback</a:t>
            </a:r>
            <a:endParaRPr lang="en-US" b="0" i="0" kern="1200" dirty="0">
              <a:solidFill>
                <a:srgbClr val="EBEBEB"/>
              </a:solidFill>
              <a:latin typeface="+mj-lt"/>
              <a:ea typeface="+mj-ea"/>
              <a:cs typeface="+mj-cs"/>
            </a:endParaRPr>
          </a:p>
        </p:txBody>
      </p:sp>
      <p:sp>
        <p:nvSpPr>
          <p:cNvPr id="4" name="Content Placeholder 3">
            <a:extLst>
              <a:ext uri="{FF2B5EF4-FFF2-40B4-BE49-F238E27FC236}">
                <a16:creationId xmlns:a16="http://schemas.microsoft.com/office/drawing/2014/main" id="{D86F72FA-05BD-F214-E9D1-095146F42CD8}"/>
              </a:ext>
            </a:extLst>
          </p:cNvPr>
          <p:cNvSpPr>
            <a:spLocks noGrp="1"/>
          </p:cNvSpPr>
          <p:nvPr>
            <p:ph idx="4294967295"/>
          </p:nvPr>
        </p:nvSpPr>
        <p:spPr>
          <a:xfrm>
            <a:off x="391886" y="2340429"/>
            <a:ext cx="11800114" cy="4386942"/>
          </a:xfrm>
        </p:spPr>
        <p:txBody>
          <a:bodyPr anchor="ctr">
            <a:normAutofit/>
          </a:bodyPr>
          <a:lstStyle/>
          <a:p>
            <a:r>
              <a:rPr lang="en-GB" dirty="0"/>
              <a:t>Use more everyday examples</a:t>
            </a:r>
          </a:p>
          <a:p>
            <a:r>
              <a:rPr lang="en-GB" dirty="0"/>
              <a:t>Implement visualization code into the LLM with D3.js</a:t>
            </a:r>
          </a:p>
          <a:p>
            <a:r>
              <a:rPr lang="en-GB" dirty="0"/>
              <a:t> Look into conferences and start considering presenting at one</a:t>
            </a:r>
          </a:p>
          <a:p>
            <a:pPr marL="0" indent="0">
              <a:buNone/>
            </a:pPr>
            <a:endParaRPr lang="en-GB" dirty="0"/>
          </a:p>
        </p:txBody>
      </p:sp>
    </p:spTree>
    <p:extLst>
      <p:ext uri="{BB962C8B-B14F-4D97-AF65-F5344CB8AC3E}">
        <p14:creationId xmlns:p14="http://schemas.microsoft.com/office/powerpoint/2010/main" val="22178850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Metadata/LabelInfo.xml><?xml version="1.0" encoding="utf-8"?>
<clbl:labelList xmlns:clbl="http://schemas.microsoft.com/office/2020/mipLabelMetadata">
  <clbl:label id="{d79a8112-4fbe-417a-a112-cd0fb490d85c}" enabled="0" method="" siteId="{d79a8112-4fbe-417a-a112-cd0fb490d85c}" removed="1"/>
</clbl:labelList>
</file>

<file path=docProps/app.xml><?xml version="1.0" encoding="utf-8"?>
<Properties xmlns="http://schemas.openxmlformats.org/officeDocument/2006/extended-properties" xmlns:vt="http://schemas.openxmlformats.org/officeDocument/2006/docPropsVTypes">
  <Template>Ion Boardroom</Template>
  <TotalTime>780</TotalTime>
  <Words>523</Words>
  <Application>Microsoft Office PowerPoint</Application>
  <PresentationFormat>Widescreen</PresentationFormat>
  <Paragraphs>57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 Boardroom</vt:lpstr>
      <vt:lpstr>PHD Progression 9</vt:lpstr>
      <vt:lpstr>Attention mechanism</vt:lpstr>
      <vt:lpstr>History of transformers and attention </vt:lpstr>
      <vt:lpstr>Attention and Self-attention</vt:lpstr>
      <vt:lpstr>Simplified attention mechanism</vt:lpstr>
      <vt:lpstr>Attention for self mechanism</vt:lpstr>
      <vt:lpstr>Attention for self mechanism</vt:lpstr>
      <vt:lpstr>Trainable weight vs no trainable weights</vt:lpstr>
      <vt:lpstr>Causal Attention</vt:lpstr>
      <vt:lpstr>Triu (-inf), Tril(0) and The data leakage</vt:lpstr>
      <vt:lpstr>Dropout function</vt:lpstr>
      <vt:lpstr>MultiHead attention</vt:lpstr>
      <vt:lpstr>Supervisors’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Olanrewaju, Emmanuel (Student)</dc:creator>
  <cp:lastModifiedBy>Olanrewaju, Emmanuel (Student)</cp:lastModifiedBy>
  <cp:revision>1</cp:revision>
  <dcterms:created xsi:type="dcterms:W3CDTF">2026-01-23T00:12:46Z</dcterms:created>
  <dcterms:modified xsi:type="dcterms:W3CDTF">2026-01-23T13:18:29Z</dcterms:modified>
</cp:coreProperties>
</file>