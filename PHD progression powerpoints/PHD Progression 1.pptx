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B17A985-B9ED-4A91-8D48-FA6D54632100}" type="datetimeFigureOut">
              <a:rPr lang="en-GB" smtClean="0"/>
              <a:t>20/11/2025</a:t>
            </a:fld>
            <a:endParaRPr lang="en-GB"/>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110322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17A985-B9ED-4A91-8D48-FA6D54632100}"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2327434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B17A985-B9ED-4A91-8D48-FA6D54632100}" type="datetimeFigureOut">
              <a:rPr lang="en-GB" smtClean="0"/>
              <a:t>20/11/2025</a:t>
            </a:fld>
            <a:endParaRPr lang="en-GB"/>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3941066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17A985-B9ED-4A91-8D48-FA6D54632100}"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339390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17A985-B9ED-4A91-8D48-FA6D54632100}" type="datetimeFigureOut">
              <a:rPr lang="en-GB" smtClean="0"/>
              <a:t>20/11/2025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3704319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17A985-B9ED-4A91-8D48-FA6D54632100}" type="datetimeFigureOut">
              <a:rPr lang="en-GB" smtClean="0"/>
              <a:t>20/11/2025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927922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17A985-B9ED-4A91-8D48-FA6D54632100}" type="datetimeFigureOut">
              <a:rPr lang="en-GB" smtClean="0"/>
              <a:t>20/11/2025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11149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B17A985-B9ED-4A91-8D48-FA6D54632100}" type="datetimeFigureOut">
              <a:rPr lang="en-GB" smtClean="0"/>
              <a:t>20/11/2025</a:t>
            </a:fld>
            <a:endParaRPr lang="en-GB"/>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3432512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17A985-B9ED-4A91-8D48-FA6D54632100}"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2785397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17A985-B9ED-4A91-8D48-FA6D54632100}"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25103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B17A985-B9ED-4A91-8D48-FA6D54632100}" type="datetimeFigureOut">
              <a:rPr lang="en-GB" smtClean="0"/>
              <a:t>20/11/2025</a:t>
            </a:fld>
            <a:endParaRPr lang="en-GB"/>
          </a:p>
        </p:txBody>
      </p:sp>
      <p:sp>
        <p:nvSpPr>
          <p:cNvPr id="5" name="Footer Placeholder 4"/>
          <p:cNvSpPr>
            <a:spLocks noGrp="1"/>
          </p:cNvSpPr>
          <p:nvPr>
            <p:ph type="ftr" sz="quarter" idx="11"/>
          </p:nvPr>
        </p:nvSpPr>
        <p:spPr>
          <a:xfrm>
            <a:off x="774923" y="5951811"/>
            <a:ext cx="7896279" cy="365125"/>
          </a:xfrm>
        </p:spPr>
        <p:txBody>
          <a:bodyPr/>
          <a:lstStyle/>
          <a:p>
            <a:endParaRPr lang="en-GB"/>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1984723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B17A985-B9ED-4A91-8D48-FA6D54632100}" type="datetimeFigureOut">
              <a:rPr lang="en-GB" smtClean="0"/>
              <a:t>20/11/2025</a:t>
            </a:fld>
            <a:endParaRPr lang="en-GB"/>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GB"/>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C73AB7D-1247-43B7-8C72-08C109DEE25C}" type="slidenum">
              <a:rPr lang="en-GB" smtClean="0"/>
              <a:t>‹#›</a:t>
            </a:fld>
            <a:endParaRPr lang="en-GB"/>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91455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81FE-6C03-F279-21DA-813F4BA27400}"/>
              </a:ext>
            </a:extLst>
          </p:cNvPr>
          <p:cNvSpPr>
            <a:spLocks noGrp="1"/>
          </p:cNvSpPr>
          <p:nvPr>
            <p:ph type="ctrTitle"/>
          </p:nvPr>
        </p:nvSpPr>
        <p:spPr/>
        <p:txBody>
          <a:bodyPr/>
          <a:lstStyle/>
          <a:p>
            <a:r>
              <a:rPr lang="en-US" dirty="0"/>
              <a:t>PHD Progression</a:t>
            </a:r>
            <a:endParaRPr lang="en-GB" dirty="0"/>
          </a:p>
        </p:txBody>
      </p:sp>
      <p:sp>
        <p:nvSpPr>
          <p:cNvPr id="3" name="Subtitle 2">
            <a:extLst>
              <a:ext uri="{FF2B5EF4-FFF2-40B4-BE49-F238E27FC236}">
                <a16:creationId xmlns:a16="http://schemas.microsoft.com/office/drawing/2014/main" id="{206C69DC-13C6-F301-7C6C-39C97A820503}"/>
              </a:ext>
            </a:extLst>
          </p:cNvPr>
          <p:cNvSpPr>
            <a:spLocks noGrp="1"/>
          </p:cNvSpPr>
          <p:nvPr>
            <p:ph type="subTitle" idx="1"/>
          </p:nvPr>
        </p:nvSpPr>
        <p:spPr/>
        <p:txBody>
          <a:bodyPr/>
          <a:lstStyle/>
          <a:p>
            <a:r>
              <a:rPr lang="en-US" dirty="0"/>
              <a:t>Explainable AI with Visual analytics</a:t>
            </a:r>
            <a:endParaRPr lang="en-GB" dirty="0"/>
          </a:p>
        </p:txBody>
      </p:sp>
    </p:spTree>
    <p:extLst>
      <p:ext uri="{BB962C8B-B14F-4D97-AF65-F5344CB8AC3E}">
        <p14:creationId xmlns:p14="http://schemas.microsoft.com/office/powerpoint/2010/main" val="2995180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75EA-8075-EFC4-14C7-E9CB2CD15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FDEF0-2646-EAE0-7F8D-249ECBAA9BC6}"/>
              </a:ext>
            </a:extLst>
          </p:cNvPr>
          <p:cNvSpPr>
            <a:spLocks noGrp="1"/>
          </p:cNvSpPr>
          <p:nvPr>
            <p:ph type="title"/>
          </p:nvPr>
        </p:nvSpPr>
        <p:spPr/>
        <p:txBody>
          <a:bodyPr/>
          <a:lstStyle/>
          <a:p>
            <a:r>
              <a:rPr lang="en-US" dirty="0"/>
              <a:t>Multilevel OF Trust</a:t>
            </a:r>
            <a:endParaRPr lang="en-GB" dirty="0"/>
          </a:p>
        </p:txBody>
      </p:sp>
      <p:sp>
        <p:nvSpPr>
          <p:cNvPr id="3" name="Subtitle 2">
            <a:extLst>
              <a:ext uri="{FF2B5EF4-FFF2-40B4-BE49-F238E27FC236}">
                <a16:creationId xmlns:a16="http://schemas.microsoft.com/office/drawing/2014/main" id="{B7A211CA-CD67-EB70-F503-A1DA4269FF9C}"/>
              </a:ext>
            </a:extLst>
          </p:cNvPr>
          <p:cNvSpPr>
            <a:spLocks noGrp="1"/>
          </p:cNvSpPr>
          <p:nvPr>
            <p:ph idx="1"/>
          </p:nvPr>
        </p:nvSpPr>
        <p:spPr/>
        <p:txBody>
          <a:bodyPr/>
          <a:lstStyle/>
          <a:p>
            <a:pPr fontAlgn="base"/>
            <a:r>
              <a:rPr lang="en-US" dirty="0"/>
              <a:t>the raw data (source reliability and transparent collection process),  </a:t>
            </a:r>
          </a:p>
          <a:p>
            <a:pPr fontAlgn="base"/>
            <a:r>
              <a:rPr lang="en-US" dirty="0"/>
              <a:t>the processed data (uncertainty awareness, equality/data bias, comparison of structures, guidance/recommendation, and outlier detection) </a:t>
            </a:r>
          </a:p>
          <a:p>
            <a:pPr fontAlgn="base"/>
            <a:r>
              <a:rPr lang="en-US" dirty="0"/>
              <a:t>the algorithm/learning method (familiarity, understanding/ explanation, debugging/diagnosis, refinement/steering, comparison, knowledgeability, and fairness),  </a:t>
            </a:r>
          </a:p>
          <a:p>
            <a:pPr fontAlgn="base"/>
            <a:r>
              <a:rPr lang="en-US" dirty="0"/>
              <a:t>the concrete model(s) for a particular task (experience, in situ comparison, performance, what–if hypotheses, model bias, and model variance) </a:t>
            </a:r>
          </a:p>
          <a:p>
            <a:pPr fontAlgn="base"/>
            <a:r>
              <a:rPr lang="en-US" dirty="0"/>
              <a:t>The evaluation and the subjective users’ expectations (agreement of colleagues, visualization evaluation, metrics validation/results, and user bias). </a:t>
            </a:r>
          </a:p>
          <a:p>
            <a:pPr marL="0" indent="0">
              <a:buNone/>
            </a:pPr>
            <a:endParaRPr lang="en-GB" dirty="0"/>
          </a:p>
        </p:txBody>
      </p:sp>
    </p:spTree>
    <p:extLst>
      <p:ext uri="{BB962C8B-B14F-4D97-AF65-F5344CB8AC3E}">
        <p14:creationId xmlns:p14="http://schemas.microsoft.com/office/powerpoint/2010/main" val="594277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90422-D36E-4872-F8EF-ADD5C24D4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AE06A-8EC0-B569-43D2-5E5AD431159F}"/>
              </a:ext>
            </a:extLst>
          </p:cNvPr>
          <p:cNvSpPr>
            <a:spLocks noGrp="1"/>
          </p:cNvSpPr>
          <p:nvPr>
            <p:ph type="title"/>
          </p:nvPr>
        </p:nvSpPr>
        <p:spPr/>
        <p:txBody>
          <a:bodyPr/>
          <a:lstStyle/>
          <a:p>
            <a:r>
              <a:rPr lang="en-US" dirty="0"/>
              <a:t>Model Explanation classifications</a:t>
            </a:r>
            <a:endParaRPr lang="en-GB" dirty="0"/>
          </a:p>
        </p:txBody>
      </p:sp>
      <p:sp>
        <p:nvSpPr>
          <p:cNvPr id="3" name="Subtitle 2">
            <a:extLst>
              <a:ext uri="{FF2B5EF4-FFF2-40B4-BE49-F238E27FC236}">
                <a16:creationId xmlns:a16="http://schemas.microsoft.com/office/drawing/2014/main" id="{999C1C58-94D1-30DD-16A1-D13DE723E4C4}"/>
              </a:ext>
            </a:extLst>
          </p:cNvPr>
          <p:cNvSpPr>
            <a:spLocks noGrp="1"/>
          </p:cNvSpPr>
          <p:nvPr>
            <p:ph idx="1"/>
          </p:nvPr>
        </p:nvSpPr>
        <p:spPr/>
        <p:txBody>
          <a:bodyPr/>
          <a:lstStyle/>
          <a:p>
            <a:pPr fontAlgn="base"/>
            <a:r>
              <a:rPr lang="en-US" b="1" dirty="0"/>
              <a:t>Intrinsic explanation</a:t>
            </a:r>
            <a:r>
              <a:rPr lang="en-US" dirty="0"/>
              <a:t>: explanation that is reliant on the system, provided by the system itself and </a:t>
            </a:r>
            <a:r>
              <a:rPr lang="en-US" b="1" dirty="0"/>
              <a:t>post-hoc explanations</a:t>
            </a:r>
            <a:r>
              <a:rPr lang="en-US" dirty="0"/>
              <a:t>: reveal the internal working of a system, and can be used with either a pretrained model or complete model. </a:t>
            </a:r>
          </a:p>
          <a:p>
            <a:pPr fontAlgn="base"/>
            <a:r>
              <a:rPr lang="en-US" b="1" dirty="0"/>
              <a:t>Model-specific and Model-agnostic explanations: Model</a:t>
            </a:r>
            <a:r>
              <a:rPr lang="en-US" dirty="0"/>
              <a:t> specific can be used for only specific algorithms or models, while model-agnostic works on any model. </a:t>
            </a:r>
          </a:p>
          <a:p>
            <a:pPr marL="0" indent="0">
              <a:buNone/>
            </a:pPr>
            <a:endParaRPr lang="en-GB" dirty="0"/>
          </a:p>
        </p:txBody>
      </p:sp>
    </p:spTree>
    <p:extLst>
      <p:ext uri="{BB962C8B-B14F-4D97-AF65-F5344CB8AC3E}">
        <p14:creationId xmlns:p14="http://schemas.microsoft.com/office/powerpoint/2010/main" val="330738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84E7B-F9E3-93C2-3089-4B81C8F58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BA8F0-2D9C-6D57-695F-E1AB13C4C709}"/>
              </a:ext>
            </a:extLst>
          </p:cNvPr>
          <p:cNvSpPr>
            <a:spLocks noGrp="1"/>
          </p:cNvSpPr>
          <p:nvPr>
            <p:ph type="title"/>
          </p:nvPr>
        </p:nvSpPr>
        <p:spPr/>
        <p:txBody>
          <a:bodyPr/>
          <a:lstStyle/>
          <a:p>
            <a:r>
              <a:rPr lang="en-US" dirty="0"/>
              <a:t>Attribution method for understanding LLMs</a:t>
            </a:r>
            <a:endParaRPr lang="en-GB" dirty="0"/>
          </a:p>
        </p:txBody>
      </p:sp>
      <p:sp>
        <p:nvSpPr>
          <p:cNvPr id="3" name="Subtitle 2">
            <a:extLst>
              <a:ext uri="{FF2B5EF4-FFF2-40B4-BE49-F238E27FC236}">
                <a16:creationId xmlns:a16="http://schemas.microsoft.com/office/drawing/2014/main" id="{B1A2689D-0392-D474-BA38-B9A8E29E2DCE}"/>
              </a:ext>
            </a:extLst>
          </p:cNvPr>
          <p:cNvSpPr>
            <a:spLocks noGrp="1"/>
          </p:cNvSpPr>
          <p:nvPr>
            <p:ph idx="1"/>
          </p:nvPr>
        </p:nvSpPr>
        <p:spPr/>
        <p:txBody>
          <a:bodyPr>
            <a:normAutofit fontScale="92500" lnSpcReduction="10000"/>
          </a:bodyPr>
          <a:lstStyle/>
          <a:p>
            <a:pPr fontAlgn="base"/>
            <a:r>
              <a:rPr lang="en-US" b="1" i="1" dirty="0"/>
              <a:t>Y</a:t>
            </a:r>
            <a:r>
              <a:rPr lang="en-US" b="1" dirty="0"/>
              <a:t>= f(x)</a:t>
            </a:r>
            <a:r>
              <a:rPr lang="en-US" dirty="0"/>
              <a:t> </a:t>
            </a:r>
          </a:p>
          <a:p>
            <a:pPr fontAlgn="base"/>
            <a:r>
              <a:rPr lang="en-US" i="1" dirty="0"/>
              <a:t>f</a:t>
            </a:r>
            <a:r>
              <a:rPr lang="en-US" dirty="0"/>
              <a:t> is the language model </a:t>
            </a:r>
          </a:p>
          <a:p>
            <a:pPr fontAlgn="base"/>
            <a:r>
              <a:rPr lang="en-US" dirty="0"/>
              <a:t>N-words input prompt x </a:t>
            </a:r>
          </a:p>
          <a:p>
            <a:pPr fontAlgn="base"/>
            <a:r>
              <a:rPr lang="en-US" i="1" dirty="0"/>
              <a:t>Y </a:t>
            </a:r>
            <a:r>
              <a:rPr lang="en-US" dirty="0"/>
              <a:t>is the prediction of the model </a:t>
            </a:r>
          </a:p>
          <a:p>
            <a:pPr fontAlgn="base"/>
            <a:r>
              <a:rPr lang="en-US" dirty="0"/>
              <a:t> </a:t>
            </a:r>
          </a:p>
          <a:p>
            <a:pPr fontAlgn="base"/>
            <a:r>
              <a:rPr lang="en-US" dirty="0"/>
              <a:t>For the attribution method: </a:t>
            </a:r>
          </a:p>
          <a:p>
            <a:pPr fontAlgn="base"/>
            <a:r>
              <a:rPr lang="en-US" b="1" i="1" dirty="0"/>
              <a:t>a</a:t>
            </a:r>
            <a:r>
              <a:rPr lang="en-US" b="1" dirty="0"/>
              <a:t>=g(</a:t>
            </a:r>
            <a:r>
              <a:rPr lang="en-US" b="1" dirty="0" err="1"/>
              <a:t>x</a:t>
            </a:r>
            <a:r>
              <a:rPr lang="en-US" b="1" i="1" dirty="0" err="1"/>
              <a:t>,y,f</a:t>
            </a:r>
            <a:r>
              <a:rPr lang="en-US" b="1" i="1" dirty="0"/>
              <a:t>)</a:t>
            </a:r>
            <a:r>
              <a:rPr lang="en-US" dirty="0"/>
              <a:t> </a:t>
            </a:r>
          </a:p>
          <a:p>
            <a:pPr fontAlgn="base"/>
            <a:r>
              <a:rPr lang="en-US" i="1" dirty="0"/>
              <a:t>G assesses the influence of input words in x</a:t>
            </a:r>
            <a:r>
              <a:rPr lang="en-US" dirty="0"/>
              <a:t> </a:t>
            </a:r>
          </a:p>
          <a:p>
            <a:pPr fontAlgn="base"/>
            <a:r>
              <a:rPr lang="en-US" i="1" dirty="0"/>
              <a:t>A store the importance score of words</a:t>
            </a:r>
            <a:r>
              <a:rPr lang="en-US" dirty="0"/>
              <a:t> </a:t>
            </a:r>
          </a:p>
          <a:p>
            <a:pPr fontAlgn="base"/>
            <a:r>
              <a:rPr lang="en-US" dirty="0"/>
              <a:t>Y is the specific class label in text classification or varying length of generated text in text generation </a:t>
            </a:r>
          </a:p>
        </p:txBody>
      </p:sp>
    </p:spTree>
    <p:extLst>
      <p:ext uri="{BB962C8B-B14F-4D97-AF65-F5344CB8AC3E}">
        <p14:creationId xmlns:p14="http://schemas.microsoft.com/office/powerpoint/2010/main" val="21759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3E74-8D71-2240-A17E-73DB7E85A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1AEB0-F65C-5416-754C-322A163A6318}"/>
              </a:ext>
            </a:extLst>
          </p:cNvPr>
          <p:cNvSpPr>
            <a:spLocks noGrp="1"/>
          </p:cNvSpPr>
          <p:nvPr>
            <p:ph type="title"/>
          </p:nvPr>
        </p:nvSpPr>
        <p:spPr/>
        <p:txBody>
          <a:bodyPr/>
          <a:lstStyle/>
          <a:p>
            <a:r>
              <a:rPr lang="en-US" dirty="0"/>
              <a:t>Common Methods and visualization used for complex models</a:t>
            </a:r>
            <a:endParaRPr lang="en-GB" dirty="0"/>
          </a:p>
        </p:txBody>
      </p:sp>
      <p:sp>
        <p:nvSpPr>
          <p:cNvPr id="3" name="Subtitle 2">
            <a:extLst>
              <a:ext uri="{FF2B5EF4-FFF2-40B4-BE49-F238E27FC236}">
                <a16:creationId xmlns:a16="http://schemas.microsoft.com/office/drawing/2014/main" id="{8F52821F-9BCD-B48D-DC91-F44A9D426007}"/>
              </a:ext>
            </a:extLst>
          </p:cNvPr>
          <p:cNvSpPr>
            <a:spLocks noGrp="1"/>
          </p:cNvSpPr>
          <p:nvPr>
            <p:ph idx="1"/>
          </p:nvPr>
        </p:nvSpPr>
        <p:spPr/>
        <p:txBody>
          <a:bodyPr>
            <a:normAutofit/>
          </a:bodyPr>
          <a:lstStyle/>
          <a:p>
            <a:pPr fontAlgn="base"/>
            <a:r>
              <a:rPr lang="en-US" dirty="0"/>
              <a:t>Scatterplot with dimensionality reduction</a:t>
            </a:r>
          </a:p>
          <a:p>
            <a:pPr fontAlgn="base"/>
            <a:r>
              <a:rPr lang="en-US" dirty="0"/>
              <a:t>Gradient-based methods( computationally efficient; only one backward pass instead of several forward passes and explains both the local and global structure of the model)</a:t>
            </a:r>
          </a:p>
          <a:p>
            <a:pPr fontAlgn="base"/>
            <a:r>
              <a:rPr lang="en-US" dirty="0"/>
              <a:t>Heat maps</a:t>
            </a:r>
          </a:p>
          <a:p>
            <a:pPr fontAlgn="base"/>
            <a:r>
              <a:rPr lang="en-US" dirty="0"/>
              <a:t>Acyclic maps</a:t>
            </a:r>
          </a:p>
        </p:txBody>
      </p:sp>
    </p:spTree>
    <p:extLst>
      <p:ext uri="{BB962C8B-B14F-4D97-AF65-F5344CB8AC3E}">
        <p14:creationId xmlns:p14="http://schemas.microsoft.com/office/powerpoint/2010/main" val="1515050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C3C8-3A38-4F25-A3C6-9AFD97FE8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B7174-5932-CFA8-2386-A626DD76469D}"/>
              </a:ext>
            </a:extLst>
          </p:cNvPr>
          <p:cNvSpPr>
            <a:spLocks noGrp="1"/>
          </p:cNvSpPr>
          <p:nvPr>
            <p:ph type="title"/>
          </p:nvPr>
        </p:nvSpPr>
        <p:spPr/>
        <p:txBody>
          <a:bodyPr/>
          <a:lstStyle/>
          <a:p>
            <a:r>
              <a:rPr lang="en-US" dirty="0"/>
              <a:t>Latent Representation in LLM</a:t>
            </a:r>
            <a:endParaRPr lang="en-GB" dirty="0"/>
          </a:p>
        </p:txBody>
      </p:sp>
      <p:sp>
        <p:nvSpPr>
          <p:cNvPr id="3" name="Subtitle 2">
            <a:extLst>
              <a:ext uri="{FF2B5EF4-FFF2-40B4-BE49-F238E27FC236}">
                <a16:creationId xmlns:a16="http://schemas.microsoft.com/office/drawing/2014/main" id="{6DFC3BC5-8715-D355-245E-E5F9A44A5757}"/>
              </a:ext>
            </a:extLst>
          </p:cNvPr>
          <p:cNvSpPr>
            <a:spLocks noGrp="1"/>
          </p:cNvSpPr>
          <p:nvPr>
            <p:ph idx="1"/>
          </p:nvPr>
        </p:nvSpPr>
        <p:spPr>
          <a:xfrm>
            <a:off x="581192" y="-987442"/>
            <a:ext cx="11029615" cy="6846241"/>
          </a:xfrm>
        </p:spPr>
        <p:txBody>
          <a:bodyPr>
            <a:normAutofit/>
          </a:bodyPr>
          <a:lstStyle/>
          <a:p>
            <a:pPr fontAlgn="base"/>
            <a:endParaRPr lang="en-US" dirty="0"/>
          </a:p>
          <a:p>
            <a:pPr fontAlgn="base"/>
            <a:r>
              <a:rPr lang="en-US" dirty="0"/>
              <a:t>Transformers are the building block of LLMs, for us to understand LLMs we must first understand transformers.</a:t>
            </a:r>
          </a:p>
          <a:p>
            <a:pPr fontAlgn="base"/>
            <a:r>
              <a:rPr lang="en-US" dirty="0"/>
              <a:t>The latent representation is an intermediate layer's prediction which is extracted from the model and can be used for input for another LLM model to understand. I’d like to attempt at visualizing the latent representation instead of using LLM for understanding it.</a:t>
            </a:r>
          </a:p>
          <a:p>
            <a:pPr fontAlgn="base"/>
            <a:endParaRPr lang="en-US" dirty="0"/>
          </a:p>
        </p:txBody>
      </p:sp>
      <p:pic>
        <p:nvPicPr>
          <p:cNvPr id="1032" name="Picture 8">
            <a:extLst>
              <a:ext uri="{FF2B5EF4-FFF2-40B4-BE49-F238E27FC236}">
                <a16:creationId xmlns:a16="http://schemas.microsoft.com/office/drawing/2014/main" id="{1DAEE7DB-CA83-BAA8-216D-D535871A0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727" y="3429000"/>
            <a:ext cx="3129501" cy="655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471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35B0-3080-9E65-3386-D25A65E24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AE273-4209-C1A5-AE2D-41FEBB89B216}"/>
              </a:ext>
            </a:extLst>
          </p:cNvPr>
          <p:cNvSpPr>
            <a:spLocks noGrp="1"/>
          </p:cNvSpPr>
          <p:nvPr>
            <p:ph type="title"/>
          </p:nvPr>
        </p:nvSpPr>
        <p:spPr/>
        <p:txBody>
          <a:bodyPr/>
          <a:lstStyle/>
          <a:p>
            <a:r>
              <a:rPr lang="en-US" dirty="0"/>
              <a:t>Concepts to Study and understand from our previous meeting</a:t>
            </a:r>
            <a:endParaRPr lang="en-GB" dirty="0"/>
          </a:p>
        </p:txBody>
      </p:sp>
      <p:sp>
        <p:nvSpPr>
          <p:cNvPr id="3" name="Subtitle 2">
            <a:extLst>
              <a:ext uri="{FF2B5EF4-FFF2-40B4-BE49-F238E27FC236}">
                <a16:creationId xmlns:a16="http://schemas.microsoft.com/office/drawing/2014/main" id="{579A4E8B-CE1C-A807-4A6E-E65722B88826}"/>
              </a:ext>
            </a:extLst>
          </p:cNvPr>
          <p:cNvSpPr>
            <a:spLocks noGrp="1"/>
          </p:cNvSpPr>
          <p:nvPr>
            <p:ph idx="1"/>
          </p:nvPr>
        </p:nvSpPr>
        <p:spPr/>
        <p:txBody>
          <a:bodyPr>
            <a:normAutofit/>
          </a:bodyPr>
          <a:lstStyle/>
          <a:p>
            <a:pPr fontAlgn="base"/>
            <a:r>
              <a:rPr lang="en-US" dirty="0"/>
              <a:t>Causal inference</a:t>
            </a:r>
          </a:p>
          <a:p>
            <a:pPr fontAlgn="base"/>
            <a:r>
              <a:rPr lang="en-US" dirty="0"/>
              <a:t>Start developing a usable framework</a:t>
            </a:r>
          </a:p>
          <a:p>
            <a:pPr fontAlgn="base"/>
            <a:r>
              <a:rPr lang="en-US" dirty="0"/>
              <a:t>Study only the particular model I’m interested in explaining</a:t>
            </a:r>
          </a:p>
          <a:p>
            <a:pPr fontAlgn="base"/>
            <a:r>
              <a:rPr lang="en-US" dirty="0"/>
              <a:t>Study CAM and GRAD-CAM</a:t>
            </a:r>
          </a:p>
          <a:p>
            <a:pPr fontAlgn="base"/>
            <a:r>
              <a:rPr lang="en-US" dirty="0"/>
              <a:t>Find how you’d like to visually represent your model in D3 (</a:t>
            </a:r>
            <a:r>
              <a:rPr lang="en-GB" b="1" dirty="0"/>
              <a:t>force-directed graph</a:t>
            </a:r>
            <a:r>
              <a:rPr lang="en-US" b="1" dirty="0"/>
              <a:t>)</a:t>
            </a:r>
            <a:endParaRPr lang="en-GB" b="1" dirty="0"/>
          </a:p>
        </p:txBody>
      </p:sp>
    </p:spTree>
    <p:extLst>
      <p:ext uri="{BB962C8B-B14F-4D97-AF65-F5344CB8AC3E}">
        <p14:creationId xmlns:p14="http://schemas.microsoft.com/office/powerpoint/2010/main" val="374736883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1403</TotalTime>
  <Words>427</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Gill Sans MT</vt:lpstr>
      <vt:lpstr>Wingdings 2</vt:lpstr>
      <vt:lpstr>Dividend</vt:lpstr>
      <vt:lpstr>PHD Progression</vt:lpstr>
      <vt:lpstr>Multilevel OF Trust</vt:lpstr>
      <vt:lpstr>Model Explanation classifications</vt:lpstr>
      <vt:lpstr>Attribution method for understanding LLMs</vt:lpstr>
      <vt:lpstr>Common Methods and visualization used for complex models</vt:lpstr>
      <vt:lpstr>Latent Representation in LLM</vt:lpstr>
      <vt:lpstr>Concepts to Study and understand from our previous meeting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Olanrewaju</dc:creator>
  <cp:lastModifiedBy>Emmanuel Olanrewaju</cp:lastModifiedBy>
  <cp:revision>2</cp:revision>
  <dcterms:created xsi:type="dcterms:W3CDTF">2025-11-09T11:44:41Z</dcterms:created>
  <dcterms:modified xsi:type="dcterms:W3CDTF">2025-11-21T13:47:14Z</dcterms:modified>
</cp:coreProperties>
</file>