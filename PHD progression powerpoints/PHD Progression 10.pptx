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6" r:id="rId19"/>
    <p:sldId id="275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nrewaju, Emmanuel (Student)" userId="856d88a3-a0f5-4502-a208-88adfba07448" providerId="ADAL" clId="{D34ADB89-9553-4F7A-AB9F-7E09DCC0A1DE}"/>
    <pc:docChg chg="custSel modSld sldOrd">
      <pc:chgData name="Olanrewaju, Emmanuel (Student)" userId="856d88a3-a0f5-4502-a208-88adfba07448" providerId="ADAL" clId="{D34ADB89-9553-4F7A-AB9F-7E09DCC0A1DE}" dt="2026-02-03T14:36:24.757" v="582" actId="20577"/>
      <pc:docMkLst>
        <pc:docMk/>
      </pc:docMkLst>
      <pc:sldChg chg="modSp mod">
        <pc:chgData name="Olanrewaju, Emmanuel (Student)" userId="856d88a3-a0f5-4502-a208-88adfba07448" providerId="ADAL" clId="{D34ADB89-9553-4F7A-AB9F-7E09DCC0A1DE}" dt="2026-02-03T13:04:00.555" v="16" actId="20577"/>
        <pc:sldMkLst>
          <pc:docMk/>
          <pc:sldMk cId="2091632994" sldId="258"/>
        </pc:sldMkLst>
        <pc:spChg chg="mod">
          <ac:chgData name="Olanrewaju, Emmanuel (Student)" userId="856d88a3-a0f5-4502-a208-88adfba07448" providerId="ADAL" clId="{D34ADB89-9553-4F7A-AB9F-7E09DCC0A1DE}" dt="2026-02-03T13:04:00.555" v="16" actId="20577"/>
          <ac:spMkLst>
            <pc:docMk/>
            <pc:sldMk cId="2091632994" sldId="258"/>
            <ac:spMk id="3" creationId="{26D7BD4A-9D9D-8221-1344-F4AD81E2BAD0}"/>
          </ac:spMkLst>
        </pc:spChg>
      </pc:sldChg>
      <pc:sldChg chg="modSp mod">
        <pc:chgData name="Olanrewaju, Emmanuel (Student)" userId="856d88a3-a0f5-4502-a208-88adfba07448" providerId="ADAL" clId="{D34ADB89-9553-4F7A-AB9F-7E09DCC0A1DE}" dt="2026-02-02T21:08:40.379" v="0" actId="20577"/>
        <pc:sldMkLst>
          <pc:docMk/>
          <pc:sldMk cId="507311170" sldId="264"/>
        </pc:sldMkLst>
        <pc:spChg chg="mod">
          <ac:chgData name="Olanrewaju, Emmanuel (Student)" userId="856d88a3-a0f5-4502-a208-88adfba07448" providerId="ADAL" clId="{D34ADB89-9553-4F7A-AB9F-7E09DCC0A1DE}" dt="2026-02-02T21:08:40.379" v="0" actId="20577"/>
          <ac:spMkLst>
            <pc:docMk/>
            <pc:sldMk cId="507311170" sldId="264"/>
            <ac:spMk id="3" creationId="{7A79BB52-909C-0B9C-E2A6-A4FADD219267}"/>
          </ac:spMkLst>
        </pc:spChg>
      </pc:sldChg>
      <pc:sldChg chg="ord">
        <pc:chgData name="Olanrewaju, Emmanuel (Student)" userId="856d88a3-a0f5-4502-a208-88adfba07448" providerId="ADAL" clId="{D34ADB89-9553-4F7A-AB9F-7E09DCC0A1DE}" dt="2026-02-02T21:13:28.667" v="4"/>
        <pc:sldMkLst>
          <pc:docMk/>
          <pc:sldMk cId="3528901048" sldId="274"/>
        </pc:sldMkLst>
      </pc:sldChg>
      <pc:sldChg chg="ord">
        <pc:chgData name="Olanrewaju, Emmanuel (Student)" userId="856d88a3-a0f5-4502-a208-88adfba07448" providerId="ADAL" clId="{D34ADB89-9553-4F7A-AB9F-7E09DCC0A1DE}" dt="2026-02-02T21:13:16.989" v="2"/>
        <pc:sldMkLst>
          <pc:docMk/>
          <pc:sldMk cId="1863178734" sldId="276"/>
        </pc:sldMkLst>
      </pc:sldChg>
      <pc:sldChg chg="modSp mod">
        <pc:chgData name="Olanrewaju, Emmanuel (Student)" userId="856d88a3-a0f5-4502-a208-88adfba07448" providerId="ADAL" clId="{D34ADB89-9553-4F7A-AB9F-7E09DCC0A1DE}" dt="2026-02-03T12:57:41.879" v="14" actId="14100"/>
        <pc:sldMkLst>
          <pc:docMk/>
          <pc:sldMk cId="3567459007" sldId="279"/>
        </pc:sldMkLst>
        <pc:picChg chg="mod">
          <ac:chgData name="Olanrewaju, Emmanuel (Student)" userId="856d88a3-a0f5-4502-a208-88adfba07448" providerId="ADAL" clId="{D34ADB89-9553-4F7A-AB9F-7E09DCC0A1DE}" dt="2026-02-03T12:57:41.879" v="14" actId="14100"/>
          <ac:picMkLst>
            <pc:docMk/>
            <pc:sldMk cId="3567459007" sldId="279"/>
            <ac:picMk id="5" creationId="{D1949CFD-6233-59C4-84DC-CAFE55838381}"/>
          </ac:picMkLst>
        </pc:picChg>
      </pc:sldChg>
      <pc:sldChg chg="modSp mod">
        <pc:chgData name="Olanrewaju, Emmanuel (Student)" userId="856d88a3-a0f5-4502-a208-88adfba07448" providerId="ADAL" clId="{D34ADB89-9553-4F7A-AB9F-7E09DCC0A1DE}" dt="2026-02-03T12:57:31.752" v="13" actId="1076"/>
        <pc:sldMkLst>
          <pc:docMk/>
          <pc:sldMk cId="825023034" sldId="280"/>
        </pc:sldMkLst>
        <pc:picChg chg="mod">
          <ac:chgData name="Olanrewaju, Emmanuel (Student)" userId="856d88a3-a0f5-4502-a208-88adfba07448" providerId="ADAL" clId="{D34ADB89-9553-4F7A-AB9F-7E09DCC0A1DE}" dt="2026-02-03T12:57:31.752" v="13" actId="1076"/>
          <ac:picMkLst>
            <pc:docMk/>
            <pc:sldMk cId="825023034" sldId="280"/>
            <ac:picMk id="5" creationId="{70FC7B41-3543-803B-91F4-3BF1A76857D6}"/>
          </ac:picMkLst>
        </pc:picChg>
      </pc:sldChg>
      <pc:sldChg chg="modSp mod">
        <pc:chgData name="Olanrewaju, Emmanuel (Student)" userId="856d88a3-a0f5-4502-a208-88adfba07448" providerId="ADAL" clId="{D34ADB89-9553-4F7A-AB9F-7E09DCC0A1DE}" dt="2026-02-03T14:36:24.757" v="582" actId="20577"/>
        <pc:sldMkLst>
          <pc:docMk/>
          <pc:sldMk cId="1713365827" sldId="281"/>
        </pc:sldMkLst>
        <pc:spChg chg="mod">
          <ac:chgData name="Olanrewaju, Emmanuel (Student)" userId="856d88a3-a0f5-4502-a208-88adfba07448" providerId="ADAL" clId="{D34ADB89-9553-4F7A-AB9F-7E09DCC0A1DE}" dt="2026-02-03T14:36:24.757" v="582" actId="20577"/>
          <ac:spMkLst>
            <pc:docMk/>
            <pc:sldMk cId="1713365827" sldId="281"/>
            <ac:spMk id="3" creationId="{DEE84C74-B930-D4F0-3554-1CE8F2B9C03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A7E1D2-679A-4DBF-8934-865165B4CD7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C863A0-252F-4B85-B6C4-778B9FF8EB66}">
      <dgm:prSet/>
      <dgm:spPr/>
      <dgm:t>
        <a:bodyPr/>
        <a:lstStyle/>
        <a:p>
          <a:r>
            <a:rPr lang="en-GB"/>
            <a:t>Progress in NLP tasks since introducing the attention mechanism with the use of transformers</a:t>
          </a:r>
          <a:endParaRPr lang="en-US"/>
        </a:p>
      </dgm:t>
    </dgm:pt>
    <dgm:pt modelId="{4783C6AC-E0B2-4B44-93D1-1D0BBD54DC27}" type="parTrans" cxnId="{6290395A-4A28-40C4-B202-F04BC6429CF4}">
      <dgm:prSet/>
      <dgm:spPr/>
      <dgm:t>
        <a:bodyPr/>
        <a:lstStyle/>
        <a:p>
          <a:endParaRPr lang="en-US"/>
        </a:p>
      </dgm:t>
    </dgm:pt>
    <dgm:pt modelId="{8A0B25A6-7FBA-45CD-AC79-4E3D1459E06C}" type="sibTrans" cxnId="{6290395A-4A28-40C4-B202-F04BC6429CF4}">
      <dgm:prSet/>
      <dgm:spPr/>
      <dgm:t>
        <a:bodyPr/>
        <a:lstStyle/>
        <a:p>
          <a:endParaRPr lang="en-US"/>
        </a:p>
      </dgm:t>
    </dgm:pt>
    <dgm:pt modelId="{C3E7781F-433A-488F-BED5-6BD15EC64D55}">
      <dgm:prSet/>
      <dgm:spPr/>
      <dgm:t>
        <a:bodyPr/>
        <a:lstStyle/>
        <a:p>
          <a:r>
            <a:rPr lang="en-GB"/>
            <a:t>Recurrent networks were previously used, and lacked the ability to understand context, especially in longer sequences.</a:t>
          </a:r>
          <a:endParaRPr lang="en-US"/>
        </a:p>
      </dgm:t>
    </dgm:pt>
    <dgm:pt modelId="{0DDA9A6A-351C-4442-BBBF-E56E6FF812D8}" type="parTrans" cxnId="{30489AE6-3A3A-4C55-A9A0-2FBC4BAD2553}">
      <dgm:prSet/>
      <dgm:spPr/>
      <dgm:t>
        <a:bodyPr/>
        <a:lstStyle/>
        <a:p>
          <a:endParaRPr lang="en-US"/>
        </a:p>
      </dgm:t>
    </dgm:pt>
    <dgm:pt modelId="{5FEA93DD-F14D-414D-8916-1900EDF2741C}" type="sibTrans" cxnId="{30489AE6-3A3A-4C55-A9A0-2FBC4BAD2553}">
      <dgm:prSet/>
      <dgm:spPr/>
      <dgm:t>
        <a:bodyPr/>
        <a:lstStyle/>
        <a:p>
          <a:endParaRPr lang="en-US"/>
        </a:p>
      </dgm:t>
    </dgm:pt>
    <dgm:pt modelId="{3B87A489-2736-4196-B2EA-DE1FF5622702}">
      <dgm:prSet/>
      <dgm:spPr/>
      <dgm:t>
        <a:bodyPr/>
        <a:lstStyle/>
        <a:p>
          <a:r>
            <a:rPr lang="en-GB"/>
            <a:t>The major challenge visualizing attention now are multiple attention heads producing different patterns in multiple layers.</a:t>
          </a:r>
          <a:endParaRPr lang="en-US"/>
        </a:p>
      </dgm:t>
    </dgm:pt>
    <dgm:pt modelId="{775DC5C1-7B7D-44BA-B74E-5BEA4DE724CD}" type="parTrans" cxnId="{A7E2A462-68E1-46A3-B807-C547A569C7E7}">
      <dgm:prSet/>
      <dgm:spPr/>
      <dgm:t>
        <a:bodyPr/>
        <a:lstStyle/>
        <a:p>
          <a:endParaRPr lang="en-US"/>
        </a:p>
      </dgm:t>
    </dgm:pt>
    <dgm:pt modelId="{CAAAF675-B490-48C2-B5CD-CDA18AA6E8CC}" type="sibTrans" cxnId="{A7E2A462-68E1-46A3-B807-C547A569C7E7}">
      <dgm:prSet/>
      <dgm:spPr/>
      <dgm:t>
        <a:bodyPr/>
        <a:lstStyle/>
        <a:p>
          <a:endParaRPr lang="en-US"/>
        </a:p>
      </dgm:t>
    </dgm:pt>
    <dgm:pt modelId="{84FA0CF4-2B14-4475-A74A-F81E1019D68D}" type="pres">
      <dgm:prSet presAssocID="{26A7E1D2-679A-4DBF-8934-865165B4CD7E}" presName="linear" presStyleCnt="0">
        <dgm:presLayoutVars>
          <dgm:animLvl val="lvl"/>
          <dgm:resizeHandles val="exact"/>
        </dgm:presLayoutVars>
      </dgm:prSet>
      <dgm:spPr/>
    </dgm:pt>
    <dgm:pt modelId="{B66D7C7E-D1A4-432B-96AA-31C991273F14}" type="pres">
      <dgm:prSet presAssocID="{74C863A0-252F-4B85-B6C4-778B9FF8EB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168DE60-DC8D-4C57-85C4-F8FAE9717A5C}" type="pres">
      <dgm:prSet presAssocID="{8A0B25A6-7FBA-45CD-AC79-4E3D1459E06C}" presName="spacer" presStyleCnt="0"/>
      <dgm:spPr/>
    </dgm:pt>
    <dgm:pt modelId="{C42664AA-C504-4479-88B8-68CB6A294540}" type="pres">
      <dgm:prSet presAssocID="{C3E7781F-433A-488F-BED5-6BD15EC64D5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A5E3E4-3B07-47CD-89BB-05A0847E4FB9}" type="pres">
      <dgm:prSet presAssocID="{5FEA93DD-F14D-414D-8916-1900EDF2741C}" presName="spacer" presStyleCnt="0"/>
      <dgm:spPr/>
    </dgm:pt>
    <dgm:pt modelId="{4F2F4D80-1F00-4285-83B1-4736D5128015}" type="pres">
      <dgm:prSet presAssocID="{3B87A489-2736-4196-B2EA-DE1FF562270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1E45E00-06C9-4C61-8A0B-8EC5A519A1D4}" type="presOf" srcId="{74C863A0-252F-4B85-B6C4-778B9FF8EB66}" destId="{B66D7C7E-D1A4-432B-96AA-31C991273F14}" srcOrd="0" destOrd="0" presId="urn:microsoft.com/office/officeart/2005/8/layout/vList2"/>
    <dgm:cxn modelId="{B56AAE05-4DCB-4CDB-870D-F4BAAA86C30A}" type="presOf" srcId="{26A7E1D2-679A-4DBF-8934-865165B4CD7E}" destId="{84FA0CF4-2B14-4475-A74A-F81E1019D68D}" srcOrd="0" destOrd="0" presId="urn:microsoft.com/office/officeart/2005/8/layout/vList2"/>
    <dgm:cxn modelId="{622D051F-267A-4F6B-8010-CC9E19FBC21C}" type="presOf" srcId="{C3E7781F-433A-488F-BED5-6BD15EC64D55}" destId="{C42664AA-C504-4479-88B8-68CB6A294540}" srcOrd="0" destOrd="0" presId="urn:microsoft.com/office/officeart/2005/8/layout/vList2"/>
    <dgm:cxn modelId="{A7E2A462-68E1-46A3-B807-C547A569C7E7}" srcId="{26A7E1D2-679A-4DBF-8934-865165B4CD7E}" destId="{3B87A489-2736-4196-B2EA-DE1FF5622702}" srcOrd="2" destOrd="0" parTransId="{775DC5C1-7B7D-44BA-B74E-5BEA4DE724CD}" sibTransId="{CAAAF675-B490-48C2-B5CD-CDA18AA6E8CC}"/>
    <dgm:cxn modelId="{6F234E56-5E27-4521-A17E-2E8B048E813B}" type="presOf" srcId="{3B87A489-2736-4196-B2EA-DE1FF5622702}" destId="{4F2F4D80-1F00-4285-83B1-4736D5128015}" srcOrd="0" destOrd="0" presId="urn:microsoft.com/office/officeart/2005/8/layout/vList2"/>
    <dgm:cxn modelId="{6290395A-4A28-40C4-B202-F04BC6429CF4}" srcId="{26A7E1D2-679A-4DBF-8934-865165B4CD7E}" destId="{74C863A0-252F-4B85-B6C4-778B9FF8EB66}" srcOrd="0" destOrd="0" parTransId="{4783C6AC-E0B2-4B44-93D1-1D0BBD54DC27}" sibTransId="{8A0B25A6-7FBA-45CD-AC79-4E3D1459E06C}"/>
    <dgm:cxn modelId="{30489AE6-3A3A-4C55-A9A0-2FBC4BAD2553}" srcId="{26A7E1D2-679A-4DBF-8934-865165B4CD7E}" destId="{C3E7781F-433A-488F-BED5-6BD15EC64D55}" srcOrd="1" destOrd="0" parTransId="{0DDA9A6A-351C-4442-BBBF-E56E6FF812D8}" sibTransId="{5FEA93DD-F14D-414D-8916-1900EDF2741C}"/>
    <dgm:cxn modelId="{09DC2F81-25AC-4BC1-99AA-2EFCBCD28CD1}" type="presParOf" srcId="{84FA0CF4-2B14-4475-A74A-F81E1019D68D}" destId="{B66D7C7E-D1A4-432B-96AA-31C991273F14}" srcOrd="0" destOrd="0" presId="urn:microsoft.com/office/officeart/2005/8/layout/vList2"/>
    <dgm:cxn modelId="{255A1B30-326C-4BEF-A875-A5CA88BAD706}" type="presParOf" srcId="{84FA0CF4-2B14-4475-A74A-F81E1019D68D}" destId="{F168DE60-DC8D-4C57-85C4-F8FAE9717A5C}" srcOrd="1" destOrd="0" presId="urn:microsoft.com/office/officeart/2005/8/layout/vList2"/>
    <dgm:cxn modelId="{00D7CC3C-A4F2-467D-B784-2979A83F2E08}" type="presParOf" srcId="{84FA0CF4-2B14-4475-A74A-F81E1019D68D}" destId="{C42664AA-C504-4479-88B8-68CB6A294540}" srcOrd="2" destOrd="0" presId="urn:microsoft.com/office/officeart/2005/8/layout/vList2"/>
    <dgm:cxn modelId="{87F4E70F-F611-4A7E-848A-25FE91C8D9A6}" type="presParOf" srcId="{84FA0CF4-2B14-4475-A74A-F81E1019D68D}" destId="{7EA5E3E4-3B07-47CD-89BB-05A0847E4FB9}" srcOrd="3" destOrd="0" presId="urn:microsoft.com/office/officeart/2005/8/layout/vList2"/>
    <dgm:cxn modelId="{F536C606-2C42-4C6D-B4DF-12F208AB7391}" type="presParOf" srcId="{84FA0CF4-2B14-4475-A74A-F81E1019D68D}" destId="{4F2F4D80-1F00-4285-83B1-4736D512801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FD519D-272D-4DF7-9710-D93CEF76AE06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0D740E-3EA6-46D7-813A-A365183EFBA5}">
      <dgm:prSet/>
      <dgm:spPr/>
      <dgm:t>
        <a:bodyPr/>
        <a:lstStyle/>
        <a:p>
          <a:r>
            <a:rPr lang="en-GB" dirty="0"/>
            <a:t>The three views used in this tool for GPT and BERT are</a:t>
          </a:r>
          <a:endParaRPr lang="en-US" dirty="0"/>
        </a:p>
      </dgm:t>
    </dgm:pt>
    <dgm:pt modelId="{2850938C-9210-46F1-A80C-AE773991FA6D}" type="parTrans" cxnId="{D72A338C-D88D-45B1-BD62-6F13BD566CE0}">
      <dgm:prSet/>
      <dgm:spPr/>
      <dgm:t>
        <a:bodyPr/>
        <a:lstStyle/>
        <a:p>
          <a:endParaRPr lang="en-US"/>
        </a:p>
      </dgm:t>
    </dgm:pt>
    <dgm:pt modelId="{90051B75-47F3-4160-A6BC-2B4D00203B1F}" type="sibTrans" cxnId="{D72A338C-D88D-45B1-BD62-6F13BD566CE0}">
      <dgm:prSet/>
      <dgm:spPr/>
      <dgm:t>
        <a:bodyPr/>
        <a:lstStyle/>
        <a:p>
          <a:endParaRPr lang="en-US"/>
        </a:p>
      </dgm:t>
    </dgm:pt>
    <dgm:pt modelId="{724F60D6-2DE3-45C0-A34B-C1948B4650C6}">
      <dgm:prSet/>
      <dgm:spPr/>
      <dgm:t>
        <a:bodyPr/>
        <a:lstStyle/>
        <a:p>
          <a:r>
            <a:rPr lang="en-GB" dirty="0"/>
            <a:t>attention-head view,</a:t>
          </a:r>
          <a:endParaRPr lang="en-US" dirty="0"/>
        </a:p>
      </dgm:t>
    </dgm:pt>
    <dgm:pt modelId="{567CD17D-7C20-4AEB-AC95-A3D94A0A84D6}" type="parTrans" cxnId="{B477318D-7FB2-40F5-9A4F-21C0AFE65D2D}">
      <dgm:prSet/>
      <dgm:spPr/>
      <dgm:t>
        <a:bodyPr/>
        <a:lstStyle/>
        <a:p>
          <a:endParaRPr lang="en-US"/>
        </a:p>
      </dgm:t>
    </dgm:pt>
    <dgm:pt modelId="{DBD21CDA-7F95-48BB-8DF4-AA7AD1CBBAFA}" type="sibTrans" cxnId="{B477318D-7FB2-40F5-9A4F-21C0AFE65D2D}">
      <dgm:prSet/>
      <dgm:spPr/>
      <dgm:t>
        <a:bodyPr/>
        <a:lstStyle/>
        <a:p>
          <a:endParaRPr lang="en-US"/>
        </a:p>
      </dgm:t>
    </dgm:pt>
    <dgm:pt modelId="{2839E5F2-5022-4F8F-AA9B-EE3C5E00883C}">
      <dgm:prSet/>
      <dgm:spPr/>
      <dgm:t>
        <a:bodyPr/>
        <a:lstStyle/>
        <a:p>
          <a:r>
            <a:rPr lang="en-GB"/>
            <a:t>model view, </a:t>
          </a:r>
          <a:endParaRPr lang="en-US"/>
        </a:p>
      </dgm:t>
    </dgm:pt>
    <dgm:pt modelId="{592A3EC1-1C77-4D09-8CCE-15FD7F40287D}" type="parTrans" cxnId="{EA356294-0D3B-4965-B707-9A792FCDADDC}">
      <dgm:prSet/>
      <dgm:spPr/>
      <dgm:t>
        <a:bodyPr/>
        <a:lstStyle/>
        <a:p>
          <a:endParaRPr lang="en-US"/>
        </a:p>
      </dgm:t>
    </dgm:pt>
    <dgm:pt modelId="{5A970FB6-0C16-4351-8960-71547962F1B4}" type="sibTrans" cxnId="{EA356294-0D3B-4965-B707-9A792FCDADDC}">
      <dgm:prSet/>
      <dgm:spPr/>
      <dgm:t>
        <a:bodyPr/>
        <a:lstStyle/>
        <a:p>
          <a:endParaRPr lang="en-US"/>
        </a:p>
      </dgm:t>
    </dgm:pt>
    <dgm:pt modelId="{D9CF9055-54D1-4A3E-8070-D6A4C9A2920E}">
      <dgm:prSet/>
      <dgm:spPr/>
      <dgm:t>
        <a:bodyPr/>
        <a:lstStyle/>
        <a:p>
          <a:r>
            <a:rPr lang="en-GB"/>
            <a:t>neuron view</a:t>
          </a:r>
          <a:endParaRPr lang="en-US"/>
        </a:p>
      </dgm:t>
    </dgm:pt>
    <dgm:pt modelId="{A61A7768-87EF-4E6D-B212-0BD08208F5D9}" type="parTrans" cxnId="{BFF82BC6-0338-4C4E-A380-5FBC8EEA086C}">
      <dgm:prSet/>
      <dgm:spPr/>
      <dgm:t>
        <a:bodyPr/>
        <a:lstStyle/>
        <a:p>
          <a:endParaRPr lang="en-US"/>
        </a:p>
      </dgm:t>
    </dgm:pt>
    <dgm:pt modelId="{37ACD781-621D-44E3-806D-2C0A03C20E29}" type="sibTrans" cxnId="{BFF82BC6-0338-4C4E-A380-5FBC8EEA086C}">
      <dgm:prSet/>
      <dgm:spPr/>
      <dgm:t>
        <a:bodyPr/>
        <a:lstStyle/>
        <a:p>
          <a:endParaRPr lang="en-US"/>
        </a:p>
      </dgm:t>
    </dgm:pt>
    <dgm:pt modelId="{AC22966F-1B97-481F-B57A-24878FE3E4BF}" type="pres">
      <dgm:prSet presAssocID="{69FD519D-272D-4DF7-9710-D93CEF76AE06}" presName="Name0" presStyleCnt="0">
        <dgm:presLayoutVars>
          <dgm:dir/>
          <dgm:animLvl val="lvl"/>
          <dgm:resizeHandles val="exact"/>
        </dgm:presLayoutVars>
      </dgm:prSet>
      <dgm:spPr/>
    </dgm:pt>
    <dgm:pt modelId="{94252CA2-3B5A-4CF7-BC84-75C332F6B895}" type="pres">
      <dgm:prSet presAssocID="{550D740E-3EA6-46D7-813A-A365183EFBA5}" presName="linNode" presStyleCnt="0"/>
      <dgm:spPr/>
    </dgm:pt>
    <dgm:pt modelId="{423F601B-4D43-49F4-9989-779A82C7A90C}" type="pres">
      <dgm:prSet presAssocID="{550D740E-3EA6-46D7-813A-A365183EFBA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4B00162-D606-47AC-BA37-1FDFA4845187}" type="pres">
      <dgm:prSet presAssocID="{90051B75-47F3-4160-A6BC-2B4D00203B1F}" presName="sp" presStyleCnt="0"/>
      <dgm:spPr/>
    </dgm:pt>
    <dgm:pt modelId="{4BBA3768-0FB0-4419-9C6A-C6DE169B605B}" type="pres">
      <dgm:prSet presAssocID="{724F60D6-2DE3-45C0-A34B-C1948B4650C6}" presName="linNode" presStyleCnt="0"/>
      <dgm:spPr/>
    </dgm:pt>
    <dgm:pt modelId="{A2DFC720-C5B9-41DF-A807-B69E453C75EB}" type="pres">
      <dgm:prSet presAssocID="{724F60D6-2DE3-45C0-A34B-C1948B4650C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CAB6362-F1FC-4940-A1C8-F67F892EB6A8}" type="pres">
      <dgm:prSet presAssocID="{DBD21CDA-7F95-48BB-8DF4-AA7AD1CBBAFA}" presName="sp" presStyleCnt="0"/>
      <dgm:spPr/>
    </dgm:pt>
    <dgm:pt modelId="{1DE8A252-E957-4723-A712-78FB264EC806}" type="pres">
      <dgm:prSet presAssocID="{2839E5F2-5022-4F8F-AA9B-EE3C5E00883C}" presName="linNode" presStyleCnt="0"/>
      <dgm:spPr/>
    </dgm:pt>
    <dgm:pt modelId="{ECD0033E-38B6-458B-A619-A3291FBDCE11}" type="pres">
      <dgm:prSet presAssocID="{2839E5F2-5022-4F8F-AA9B-EE3C5E00883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1D2222D-100C-448B-8309-65398AC15D63}" type="pres">
      <dgm:prSet presAssocID="{5A970FB6-0C16-4351-8960-71547962F1B4}" presName="sp" presStyleCnt="0"/>
      <dgm:spPr/>
    </dgm:pt>
    <dgm:pt modelId="{3E383D0A-EA81-4E24-B56E-99C7F497AA36}" type="pres">
      <dgm:prSet presAssocID="{D9CF9055-54D1-4A3E-8070-D6A4C9A2920E}" presName="linNode" presStyleCnt="0"/>
      <dgm:spPr/>
    </dgm:pt>
    <dgm:pt modelId="{82A7DD2C-826A-4DB3-A57F-1D51B8647468}" type="pres">
      <dgm:prSet presAssocID="{D9CF9055-54D1-4A3E-8070-D6A4C9A2920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C1294053-A679-477D-9759-AD5AD402D94F}" type="presOf" srcId="{724F60D6-2DE3-45C0-A34B-C1948B4650C6}" destId="{A2DFC720-C5B9-41DF-A807-B69E453C75EB}" srcOrd="0" destOrd="0" presId="urn:microsoft.com/office/officeart/2005/8/layout/vList5"/>
    <dgm:cxn modelId="{C7B8E281-3833-4EED-A099-B21A20F5493C}" type="presOf" srcId="{550D740E-3EA6-46D7-813A-A365183EFBA5}" destId="{423F601B-4D43-49F4-9989-779A82C7A90C}" srcOrd="0" destOrd="0" presId="urn:microsoft.com/office/officeart/2005/8/layout/vList5"/>
    <dgm:cxn modelId="{D72A338C-D88D-45B1-BD62-6F13BD566CE0}" srcId="{69FD519D-272D-4DF7-9710-D93CEF76AE06}" destId="{550D740E-3EA6-46D7-813A-A365183EFBA5}" srcOrd="0" destOrd="0" parTransId="{2850938C-9210-46F1-A80C-AE773991FA6D}" sibTransId="{90051B75-47F3-4160-A6BC-2B4D00203B1F}"/>
    <dgm:cxn modelId="{B477318D-7FB2-40F5-9A4F-21C0AFE65D2D}" srcId="{69FD519D-272D-4DF7-9710-D93CEF76AE06}" destId="{724F60D6-2DE3-45C0-A34B-C1948B4650C6}" srcOrd="1" destOrd="0" parTransId="{567CD17D-7C20-4AEB-AC95-A3D94A0A84D6}" sibTransId="{DBD21CDA-7F95-48BB-8DF4-AA7AD1CBBAFA}"/>
    <dgm:cxn modelId="{EA356294-0D3B-4965-B707-9A792FCDADDC}" srcId="{69FD519D-272D-4DF7-9710-D93CEF76AE06}" destId="{2839E5F2-5022-4F8F-AA9B-EE3C5E00883C}" srcOrd="2" destOrd="0" parTransId="{592A3EC1-1C77-4D09-8CCE-15FD7F40287D}" sibTransId="{5A970FB6-0C16-4351-8960-71547962F1B4}"/>
    <dgm:cxn modelId="{F288E8A4-EE62-4FC2-A00E-0E7FDB4512CD}" type="presOf" srcId="{2839E5F2-5022-4F8F-AA9B-EE3C5E00883C}" destId="{ECD0033E-38B6-458B-A619-A3291FBDCE11}" srcOrd="0" destOrd="0" presId="urn:microsoft.com/office/officeart/2005/8/layout/vList5"/>
    <dgm:cxn modelId="{BFF82BC6-0338-4C4E-A380-5FBC8EEA086C}" srcId="{69FD519D-272D-4DF7-9710-D93CEF76AE06}" destId="{D9CF9055-54D1-4A3E-8070-D6A4C9A2920E}" srcOrd="3" destOrd="0" parTransId="{A61A7768-87EF-4E6D-B212-0BD08208F5D9}" sibTransId="{37ACD781-621D-44E3-806D-2C0A03C20E29}"/>
    <dgm:cxn modelId="{2E61EDCA-54C1-47D7-90E0-377956CA78BA}" type="presOf" srcId="{69FD519D-272D-4DF7-9710-D93CEF76AE06}" destId="{AC22966F-1B97-481F-B57A-24878FE3E4BF}" srcOrd="0" destOrd="0" presId="urn:microsoft.com/office/officeart/2005/8/layout/vList5"/>
    <dgm:cxn modelId="{934333F8-B412-4FDB-A65D-6EBE4F6945CF}" type="presOf" srcId="{D9CF9055-54D1-4A3E-8070-D6A4C9A2920E}" destId="{82A7DD2C-826A-4DB3-A57F-1D51B8647468}" srcOrd="0" destOrd="0" presId="urn:microsoft.com/office/officeart/2005/8/layout/vList5"/>
    <dgm:cxn modelId="{3DA91C7A-859C-4261-988B-AAE5063C996E}" type="presParOf" srcId="{AC22966F-1B97-481F-B57A-24878FE3E4BF}" destId="{94252CA2-3B5A-4CF7-BC84-75C332F6B895}" srcOrd="0" destOrd="0" presId="urn:microsoft.com/office/officeart/2005/8/layout/vList5"/>
    <dgm:cxn modelId="{CAC093BC-EF48-493F-A7B0-E9F3A2C9C998}" type="presParOf" srcId="{94252CA2-3B5A-4CF7-BC84-75C332F6B895}" destId="{423F601B-4D43-49F4-9989-779A82C7A90C}" srcOrd="0" destOrd="0" presId="urn:microsoft.com/office/officeart/2005/8/layout/vList5"/>
    <dgm:cxn modelId="{76798FF3-A143-4225-9CA6-EF78A7D827A2}" type="presParOf" srcId="{AC22966F-1B97-481F-B57A-24878FE3E4BF}" destId="{F4B00162-D606-47AC-BA37-1FDFA4845187}" srcOrd="1" destOrd="0" presId="urn:microsoft.com/office/officeart/2005/8/layout/vList5"/>
    <dgm:cxn modelId="{E8494221-B986-48B4-AF0E-5EBE8593C9EE}" type="presParOf" srcId="{AC22966F-1B97-481F-B57A-24878FE3E4BF}" destId="{4BBA3768-0FB0-4419-9C6A-C6DE169B605B}" srcOrd="2" destOrd="0" presId="urn:microsoft.com/office/officeart/2005/8/layout/vList5"/>
    <dgm:cxn modelId="{FF67EDAF-E7B8-409B-B528-E74D78B1F4CA}" type="presParOf" srcId="{4BBA3768-0FB0-4419-9C6A-C6DE169B605B}" destId="{A2DFC720-C5B9-41DF-A807-B69E453C75EB}" srcOrd="0" destOrd="0" presId="urn:microsoft.com/office/officeart/2005/8/layout/vList5"/>
    <dgm:cxn modelId="{E4D69857-99CA-4C17-943D-A0DDC571EB8A}" type="presParOf" srcId="{AC22966F-1B97-481F-B57A-24878FE3E4BF}" destId="{ECAB6362-F1FC-4940-A1C8-F67F892EB6A8}" srcOrd="3" destOrd="0" presId="urn:microsoft.com/office/officeart/2005/8/layout/vList5"/>
    <dgm:cxn modelId="{AC047CE9-8906-4A1F-9458-3215B2E90C81}" type="presParOf" srcId="{AC22966F-1B97-481F-B57A-24878FE3E4BF}" destId="{1DE8A252-E957-4723-A712-78FB264EC806}" srcOrd="4" destOrd="0" presId="urn:microsoft.com/office/officeart/2005/8/layout/vList5"/>
    <dgm:cxn modelId="{3901FB28-42B4-4190-A576-F10C228AC276}" type="presParOf" srcId="{1DE8A252-E957-4723-A712-78FB264EC806}" destId="{ECD0033E-38B6-458B-A619-A3291FBDCE11}" srcOrd="0" destOrd="0" presId="urn:microsoft.com/office/officeart/2005/8/layout/vList5"/>
    <dgm:cxn modelId="{E09B9C4E-005E-43B2-834E-73BAB44B8037}" type="presParOf" srcId="{AC22966F-1B97-481F-B57A-24878FE3E4BF}" destId="{F1D2222D-100C-448B-8309-65398AC15D63}" srcOrd="5" destOrd="0" presId="urn:microsoft.com/office/officeart/2005/8/layout/vList5"/>
    <dgm:cxn modelId="{5DEB402A-A87F-47B7-8B78-6E43B39335A2}" type="presParOf" srcId="{AC22966F-1B97-481F-B57A-24878FE3E4BF}" destId="{3E383D0A-EA81-4E24-B56E-99C7F497AA36}" srcOrd="6" destOrd="0" presId="urn:microsoft.com/office/officeart/2005/8/layout/vList5"/>
    <dgm:cxn modelId="{72B79988-F11D-480D-A907-3C145C4233C2}" type="presParOf" srcId="{3E383D0A-EA81-4E24-B56E-99C7F497AA36}" destId="{82A7DD2C-826A-4DB3-A57F-1D51B864746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D7C7E-D1A4-432B-96AA-31C991273F14}">
      <dsp:nvSpPr>
        <dsp:cNvPr id="0" name=""/>
        <dsp:cNvSpPr/>
      </dsp:nvSpPr>
      <dsp:spPr>
        <a:xfrm>
          <a:off x="0" y="74655"/>
          <a:ext cx="6391275" cy="16549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Progress in NLP tasks since introducing the attention mechanism with the use of transformers</a:t>
          </a:r>
          <a:endParaRPr lang="en-US" sz="2300" kern="1200"/>
        </a:p>
      </dsp:txBody>
      <dsp:txXfrm>
        <a:off x="80789" y="155444"/>
        <a:ext cx="6229697" cy="1493387"/>
      </dsp:txXfrm>
    </dsp:sp>
    <dsp:sp modelId="{C42664AA-C504-4479-88B8-68CB6A294540}">
      <dsp:nvSpPr>
        <dsp:cNvPr id="0" name=""/>
        <dsp:cNvSpPr/>
      </dsp:nvSpPr>
      <dsp:spPr>
        <a:xfrm>
          <a:off x="0" y="1795860"/>
          <a:ext cx="6391275" cy="1654965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Recurrent networks were previously used, and lacked the ability to understand context, especially in longer sequences.</a:t>
          </a:r>
          <a:endParaRPr lang="en-US" sz="2300" kern="1200"/>
        </a:p>
      </dsp:txBody>
      <dsp:txXfrm>
        <a:off x="80789" y="1876649"/>
        <a:ext cx="6229697" cy="1493387"/>
      </dsp:txXfrm>
    </dsp:sp>
    <dsp:sp modelId="{4F2F4D80-1F00-4285-83B1-4736D5128015}">
      <dsp:nvSpPr>
        <dsp:cNvPr id="0" name=""/>
        <dsp:cNvSpPr/>
      </dsp:nvSpPr>
      <dsp:spPr>
        <a:xfrm>
          <a:off x="0" y="3517066"/>
          <a:ext cx="6391275" cy="1654965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The major challenge visualizing attention now are multiple attention heads producing different patterns in multiple layers.</a:t>
          </a:r>
          <a:endParaRPr lang="en-US" sz="2300" kern="1200"/>
        </a:p>
      </dsp:txBody>
      <dsp:txXfrm>
        <a:off x="80789" y="3597855"/>
        <a:ext cx="6229697" cy="14933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F601B-4D43-49F4-9989-779A82C7A90C}">
      <dsp:nvSpPr>
        <dsp:cNvPr id="0" name=""/>
        <dsp:cNvSpPr/>
      </dsp:nvSpPr>
      <dsp:spPr>
        <a:xfrm>
          <a:off x="3751234" y="2201"/>
          <a:ext cx="4220138" cy="105876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The three views used in this tool for GPT and BERT are</a:t>
          </a:r>
          <a:endParaRPr lang="en-US" sz="2300" kern="1200" dirty="0"/>
        </a:p>
      </dsp:txBody>
      <dsp:txXfrm>
        <a:off x="3802918" y="53885"/>
        <a:ext cx="4116770" cy="955393"/>
      </dsp:txXfrm>
    </dsp:sp>
    <dsp:sp modelId="{A2DFC720-C5B9-41DF-A807-B69E453C75EB}">
      <dsp:nvSpPr>
        <dsp:cNvPr id="0" name=""/>
        <dsp:cNvSpPr/>
      </dsp:nvSpPr>
      <dsp:spPr>
        <a:xfrm>
          <a:off x="3751234" y="1113901"/>
          <a:ext cx="4220138" cy="1058761"/>
        </a:xfrm>
        <a:prstGeom prst="roundRect">
          <a:avLst/>
        </a:prstGeom>
        <a:gradFill rotWithShape="0">
          <a:gsLst>
            <a:gs pos="0">
              <a:schemeClr val="accent5">
                <a:hueOff val="812808"/>
                <a:satOff val="-6481"/>
                <a:lumOff val="-4902"/>
                <a:alphaOff val="0"/>
                <a:tint val="98000"/>
                <a:lumMod val="114000"/>
              </a:schemeClr>
            </a:gs>
            <a:gs pos="100000">
              <a:schemeClr val="accent5">
                <a:hueOff val="812808"/>
                <a:satOff val="-6481"/>
                <a:lumOff val="-490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attention-head view,</a:t>
          </a:r>
          <a:endParaRPr lang="en-US" sz="2300" kern="1200" dirty="0"/>
        </a:p>
      </dsp:txBody>
      <dsp:txXfrm>
        <a:off x="3802918" y="1165585"/>
        <a:ext cx="4116770" cy="955393"/>
      </dsp:txXfrm>
    </dsp:sp>
    <dsp:sp modelId="{ECD0033E-38B6-458B-A619-A3291FBDCE11}">
      <dsp:nvSpPr>
        <dsp:cNvPr id="0" name=""/>
        <dsp:cNvSpPr/>
      </dsp:nvSpPr>
      <dsp:spPr>
        <a:xfrm>
          <a:off x="3751234" y="2225601"/>
          <a:ext cx="4220138" cy="1058761"/>
        </a:xfrm>
        <a:prstGeom prst="roundRect">
          <a:avLst/>
        </a:prstGeom>
        <a:gradFill rotWithShape="0">
          <a:gsLst>
            <a:gs pos="0">
              <a:schemeClr val="accent5">
                <a:hueOff val="1625617"/>
                <a:satOff val="-12962"/>
                <a:lumOff val="-9803"/>
                <a:alphaOff val="0"/>
                <a:tint val="98000"/>
                <a:lumMod val="114000"/>
              </a:schemeClr>
            </a:gs>
            <a:gs pos="100000">
              <a:schemeClr val="accent5">
                <a:hueOff val="1625617"/>
                <a:satOff val="-12962"/>
                <a:lumOff val="-980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model view, </a:t>
          </a:r>
          <a:endParaRPr lang="en-US" sz="2300" kern="1200"/>
        </a:p>
      </dsp:txBody>
      <dsp:txXfrm>
        <a:off x="3802918" y="2277285"/>
        <a:ext cx="4116770" cy="955393"/>
      </dsp:txXfrm>
    </dsp:sp>
    <dsp:sp modelId="{82A7DD2C-826A-4DB3-A57F-1D51B8647468}">
      <dsp:nvSpPr>
        <dsp:cNvPr id="0" name=""/>
        <dsp:cNvSpPr/>
      </dsp:nvSpPr>
      <dsp:spPr>
        <a:xfrm>
          <a:off x="3751234" y="3337300"/>
          <a:ext cx="4220138" cy="1058761"/>
        </a:xfrm>
        <a:prstGeom prst="roundRect">
          <a:avLst/>
        </a:prstGeom>
        <a:gradFill rotWithShape="0">
          <a:gsLst>
            <a:gs pos="0">
              <a:schemeClr val="accent5">
                <a:hueOff val="2438425"/>
                <a:satOff val="-19443"/>
                <a:lumOff val="-14705"/>
                <a:alphaOff val="0"/>
                <a:tint val="98000"/>
                <a:lumMod val="114000"/>
              </a:schemeClr>
            </a:gs>
            <a:gs pos="100000">
              <a:schemeClr val="accent5">
                <a:hueOff val="2438425"/>
                <a:satOff val="-19443"/>
                <a:lumOff val="-1470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neuron view</a:t>
          </a:r>
          <a:endParaRPr lang="en-US" sz="2300" kern="1200"/>
        </a:p>
      </dsp:txBody>
      <dsp:txXfrm>
        <a:off x="3802918" y="3388984"/>
        <a:ext cx="4116770" cy="955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20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4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02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24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53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79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843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62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061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83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174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410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489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119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26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479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838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7690202-7898-431A-AD49-7C288020FC0D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7D693C6-42EF-4350-B4BA-C98C467CB0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52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4f6ba4e0f687c4c72af1a4dbe36f73fed3efa29cc0f1ef9ae304dabbe3be76f7JmltdHM9MTc2OTY0NDgwMA&amp;ptn=3&amp;ver=2&amp;hsh=4&amp;fclid=39fed3fd-bcb0-675a-0876-c553bd9d66ba&amp;psq=gelu+activation+function+formula&amp;u=a1aHR0cHM6Ly9kYXRhc2NpZW5jZS5zdGFja2V4Y2hhbmdlLmNvbS9xdWVzdGlvbnMvNDk1MjIvd2hhdC1pcy1nZWx1LWFjdGl2YXRpb24&amp;ntb=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7DD2-BE30-DB9E-DA5E-5C656FF4E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PHD Progression 10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FC526-7366-226A-8E37-C3DA1B651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Explainable AI with Visual analytics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073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56E2D-DE7A-F8EF-55E8-C085DECE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CB6CB-F1BD-A2D8-0115-A484E9E3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EBEBEB"/>
                </a:solidFill>
              </a:rPr>
              <a:t>LLM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DFCC10-DB46-0B20-1812-F6046521A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886" y="131592"/>
            <a:ext cx="4303016" cy="609888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7BD4A-9D9D-8221-1344-F4AD81E2B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We have previously looked at masked multi-head attention, we’ll now be looking at other components of the transformer</a:t>
            </a:r>
          </a:p>
          <a:p>
            <a:r>
              <a:rPr lang="en-GB" dirty="0">
                <a:solidFill>
                  <a:srgbClr val="FFFFFF"/>
                </a:solidFill>
              </a:rPr>
              <a:t>Tokenize</a:t>
            </a:r>
          </a:p>
          <a:p>
            <a:r>
              <a:rPr lang="en-GB" dirty="0">
                <a:solidFill>
                  <a:srgbClr val="FFFFFF"/>
                </a:solidFill>
              </a:rPr>
              <a:t>Token embedding</a:t>
            </a:r>
          </a:p>
          <a:p>
            <a:r>
              <a:rPr lang="en-GB" dirty="0">
                <a:solidFill>
                  <a:srgbClr val="FFFFFF"/>
                </a:solidFill>
              </a:rPr>
              <a:t>Positional embedding</a:t>
            </a:r>
          </a:p>
          <a:p>
            <a:r>
              <a:rPr lang="en-GB" dirty="0">
                <a:solidFill>
                  <a:srgbClr val="FFFFFF"/>
                </a:solidFill>
              </a:rPr>
              <a:t>Input embedding</a:t>
            </a:r>
          </a:p>
          <a:p>
            <a:r>
              <a:rPr lang="en-GB" dirty="0">
                <a:solidFill>
                  <a:srgbClr val="FFFFFF"/>
                </a:solidFill>
              </a:rPr>
              <a:t>Masked Multi-head attention</a:t>
            </a:r>
          </a:p>
          <a:p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63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F99E6-F115-F6CC-E95B-0CAB8E06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55D01-2D29-53E7-63B7-1B100D11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>
                <a:solidFill>
                  <a:srgbClr val="EBEBEB"/>
                </a:solidFill>
              </a:rPr>
              <a:t>Transformer Block in GPT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9F4E9A-35CC-FAB2-C0DB-467BED6F0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896356"/>
            <a:ext cx="6391533" cy="5065287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070A8-41B5-58E0-BFD6-119620381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GB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Layer Normalization</a:t>
            </a:r>
          </a:p>
          <a:p>
            <a:pPr>
              <a:lnSpc>
                <a:spcPct val="90000"/>
              </a:lnSpc>
            </a:pPr>
            <a:endParaRPr lang="en-GB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Masked-Multihead attention</a:t>
            </a:r>
          </a:p>
          <a:p>
            <a:pPr>
              <a:lnSpc>
                <a:spcPct val="90000"/>
              </a:lnSpc>
            </a:pPr>
            <a:endParaRPr lang="en-GB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Gelu Activation function</a:t>
            </a:r>
          </a:p>
          <a:p>
            <a:pPr>
              <a:lnSpc>
                <a:spcPct val="90000"/>
              </a:lnSpc>
            </a:pPr>
            <a:endParaRPr lang="en-GB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Feed forward network</a:t>
            </a:r>
          </a:p>
          <a:p>
            <a:pPr>
              <a:lnSpc>
                <a:spcPct val="90000"/>
              </a:lnSpc>
            </a:pPr>
            <a:endParaRPr lang="en-GB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Short connections</a:t>
            </a:r>
          </a:p>
          <a:p>
            <a:pPr>
              <a:lnSpc>
                <a:spcPct val="90000"/>
              </a:lnSpc>
            </a:pPr>
            <a:endParaRPr lang="en-GB" sz="1700">
              <a:solidFill>
                <a:srgbClr val="FFFFFF"/>
              </a:solidFill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707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694FD-AB14-50CC-2876-0679F574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F5213-F7A2-7FF5-4060-1F0FCCB3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Layer Normalization</a:t>
            </a:r>
            <a:endParaRPr lang="en-GB">
              <a:solidFill>
                <a:srgbClr val="EBEBEB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1FCB1-9DED-D153-28AD-6CE0C5F1A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226" y="645106"/>
            <a:ext cx="2974209" cy="558536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43A9F-1ABA-1263-F5D9-882432BF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6072776" cy="381174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Training deep neural networks, can be challenging due to vanishing and exploding gradients.</a:t>
            </a: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Due to this unstable training dynamic, we need layer normalization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Layer Normalization is usually applied before and after the multi-head attention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266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1C320-E46E-DCC7-C632-8E3C6C49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4AE7F-2BBD-251C-2A0F-91C96F5C0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Layer Normalization</a:t>
            </a:r>
            <a:endParaRPr lang="en-GB" sz="3200">
              <a:solidFill>
                <a:srgbClr val="EBEBE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EE8B4-3632-7406-C30C-58FC5109F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Layer normalization makes sure the mean and standard deviation of the output from every layer is fixed, thereby accelerating convergence and allowing us to get output faster</a:t>
            </a:r>
          </a:p>
          <a:p>
            <a:endParaRPr lang="en-US" sz="2000" dirty="0"/>
          </a:p>
          <a:p>
            <a:r>
              <a:rPr lang="en-US" sz="2000" dirty="0"/>
              <a:t>Mean = 0, variance = 1 after layer normalization</a:t>
            </a:r>
          </a:p>
          <a:p>
            <a:endParaRPr lang="en-US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4F43CF-F640-974F-C576-BEE9ADFB8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115" y="4590288"/>
            <a:ext cx="5143368" cy="3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E5BC3-7F52-49E1-68B9-20FA8E4B2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DE3271-DD99-4DEF-AF9F-84397884C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6A31CE-F9B6-4BA2-8685-60F3524D0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8ADF14A3-1454-4B74-8B4A-CB197D7A7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EC19D556-0251-4E87-AE24-890965BA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B8C9A-D1CA-52CF-CDA3-03C1C83E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feed forward (GELU Activation function 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C3C8C6-98E2-45EF-AEFC-30C0DBA0E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C3AB6-488B-3D82-784F-0C05E92D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7" y="2348913"/>
            <a:ext cx="5132439" cy="38117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feed forward network has an activation function in between two linear neural networks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two neural networks allows for a rich exploration space, through expansion and contraction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768 =&gt; 768 x 4 =&gt; 768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1B51C-DA8D-FC67-A0C3-70E7417BD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343" y="645107"/>
            <a:ext cx="3731693" cy="2710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B5E92E-8800-B893-31DF-8C179B8C9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16" y="3520086"/>
            <a:ext cx="2938092" cy="27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5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FE23B-636E-A4D0-0223-D892A968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66CB2-89C6-D7F7-E28D-2E48670F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feed forward (GELU Activation function )</a:t>
            </a:r>
            <a:endParaRPr lang="en-GB">
              <a:solidFill>
                <a:srgbClr val="EBEBE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274F5D-7796-7321-48B9-F605115AF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1578738"/>
            <a:ext cx="4828707" cy="371810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F8A72-3730-6624-9BF9-E0C517A00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activation function used in this LLM is the GELU activation function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GB" b="1">
                <a:solidFill>
                  <a:srgbClr val="FFFFFF"/>
                </a:solidFill>
              </a:rPr>
              <a:t>GELU(x) = x</a:t>
            </a:r>
            <a:r>
              <a:rPr lang="el-GR" b="1">
                <a:solidFill>
                  <a:srgbClr val="FFFFFF"/>
                </a:solidFill>
              </a:rPr>
              <a:t>Φ(</a:t>
            </a:r>
            <a:r>
              <a:rPr lang="en-GB" b="1">
                <a:solidFill>
                  <a:srgbClr val="FFFFFF"/>
                </a:solidFill>
              </a:rPr>
              <a:t>x)</a:t>
            </a:r>
          </a:p>
          <a:p>
            <a:endParaRPr lang="en-GB" b="1">
              <a:solidFill>
                <a:srgbClr val="FFFFFF"/>
              </a:solidFill>
            </a:endParaRPr>
          </a:p>
          <a:p>
            <a:r>
              <a:rPr lang="en-GB" b="1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GELU(x) = 0.5x(1 + tanh(√(2/</a:t>
            </a:r>
            <a:r>
              <a:rPr lang="el-GR" b="1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π)(</a:t>
            </a:r>
            <a:r>
              <a:rPr lang="en-GB" b="1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 + 0.044715x³)))</a:t>
            </a:r>
            <a:endParaRPr lang="en-US" b="1">
              <a:solidFill>
                <a:srgbClr val="FFFFFF"/>
              </a:solidFill>
            </a:endParaRPr>
          </a:p>
          <a:p>
            <a:endParaRPr lang="en-GB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690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83BC9-B516-ED66-4A06-AF87D6984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CA1020-956D-CE35-8650-850158445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3385C17F-CD59-0C21-34BC-BB780CDBF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B1E64DD-0517-9EE2-F996-5A713D76E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F76C48A-7872-7E59-E5AA-1CCA7828B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B7A9D-4C4D-318F-F996-C2AE8CE7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Advantages of GELU over RELU for LLMs</a:t>
            </a:r>
            <a:endParaRPr lang="en-GB" dirty="0">
              <a:solidFill>
                <a:srgbClr val="EBEBE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43E07-9C4E-C7B4-EC02-59B99C564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1578738"/>
            <a:ext cx="4828707" cy="371810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AC940E3-A7C4-A2F0-E88C-AF503A976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9BB52-909C-0B9C-E2A6-A4FADD21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There is no discontinuity in GELU, it is smooth through x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</a:rPr>
              <a:t>Prevents dead neuron problem</a:t>
            </a:r>
          </a:p>
          <a:p>
            <a:endParaRPr lang="en-GB"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</a:rPr>
              <a:t>Works better than RELU for LLMS</a:t>
            </a:r>
            <a:endParaRPr lang="en-US" dirty="0">
              <a:solidFill>
                <a:srgbClr val="FFFFFF"/>
              </a:solidFill>
            </a:endParaRPr>
          </a:p>
          <a:p>
            <a:endParaRPr lang="en-GB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311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63480-0985-A49B-C258-EC8D0D9A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2C6E0B7-C37D-4D54-8F3E-8D9F9097F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7B653ED-BC47-4D34-B612-473D6AFAD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B93D812D-BB26-4FDD-A218-F6F71E737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EEA99C6C-BC37-4408-9F74-3DDB1060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0E875-75E3-261D-0E7B-8EAA6FDDF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E"/>
                </a:solidFill>
              </a:rPr>
              <a:t>Shortcut connections</a:t>
            </a:r>
            <a:endParaRPr lang="en-GB">
              <a:solidFill>
                <a:srgbClr val="FFFFFE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4C0032-B592-45AB-AD23-5A4BD369B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9BF1F84-E7C7-42A7-911D-8E48AF67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C3CFCFE-6522-4333-8CB1-16DB80E7E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1B38F-9DEC-F90A-1EB2-2E81DC0DB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6072776" cy="381174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E"/>
                </a:solidFill>
              </a:rPr>
              <a:t>Also known as skip or residual connections</a:t>
            </a:r>
          </a:p>
          <a:p>
            <a:endParaRPr lang="en-GB" dirty="0">
              <a:solidFill>
                <a:srgbClr val="FFFFFE"/>
              </a:solidFill>
            </a:endParaRPr>
          </a:p>
          <a:p>
            <a:r>
              <a:rPr lang="en-GB" dirty="0">
                <a:solidFill>
                  <a:srgbClr val="FFFFFE"/>
                </a:solidFill>
              </a:rPr>
              <a:t>They were first proposed in the field of computer vision to solve the vanishing gradient problem</a:t>
            </a:r>
          </a:p>
          <a:p>
            <a:endParaRPr lang="en-GB" dirty="0">
              <a:solidFill>
                <a:srgbClr val="FFFFFE"/>
              </a:solidFill>
            </a:endParaRPr>
          </a:p>
          <a:p>
            <a:r>
              <a:rPr lang="en-GB" dirty="0">
                <a:solidFill>
                  <a:srgbClr val="FFFFFE"/>
                </a:solidFill>
              </a:rPr>
              <a:t>Shortcut connections create an alternative path for the gradient to flow, by skipping one or more layers</a:t>
            </a:r>
          </a:p>
          <a:p>
            <a:endParaRPr lang="en-GB" dirty="0">
              <a:solidFill>
                <a:srgbClr val="FFFFFE"/>
              </a:solidFill>
            </a:endParaRPr>
          </a:p>
          <a:p>
            <a:endParaRPr lang="en-US" dirty="0">
              <a:solidFill>
                <a:srgbClr val="FFFFFE"/>
              </a:solidFill>
            </a:endParaRPr>
          </a:p>
          <a:p>
            <a:endParaRPr lang="en-GB" dirty="0">
              <a:solidFill>
                <a:srgbClr val="FFFFFE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FFFFF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FA6B95-7E64-7F20-1670-D3F6A7A3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226" y="726609"/>
            <a:ext cx="4125317" cy="25473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985B3-6BB6-0900-076C-CEC6612E6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226" y="3849108"/>
            <a:ext cx="4125317" cy="205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16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61623-A057-ED8E-CED8-26ADAFEC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D1DE3271-DD99-4DEF-AF9F-84397884C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06A31CE-F9B6-4BA2-8685-60F3524D0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6" name="Freeform 5">
            <a:extLst>
              <a:ext uri="{FF2B5EF4-FFF2-40B4-BE49-F238E27FC236}">
                <a16:creationId xmlns:a16="http://schemas.microsoft.com/office/drawing/2014/main" id="{8ADF14A3-1454-4B74-8B4A-CB197D7A7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EC19D556-0251-4E87-AE24-890965BA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948AD-419B-8D33-ECAF-E2D9640E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LLM architecture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BC3C8C6-98E2-45EF-AEFC-30C0DBA0E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8F99A-EDBD-CDB5-8588-D4AA22E4A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Tokenize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Token embedding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Positional embedding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Input embedding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Masked Multihead attention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Dropout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Layer normalization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Feed forward network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GELU activation function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Shortcut connections</a:t>
            </a:r>
          </a:p>
          <a:p>
            <a:pPr>
              <a:lnSpc>
                <a:spcPct val="90000"/>
              </a:lnSpc>
            </a:pPr>
            <a:r>
              <a:rPr lang="en-GB" sz="1500">
                <a:solidFill>
                  <a:schemeClr val="tx1"/>
                </a:solidFill>
              </a:rPr>
              <a:t>Linear output head</a:t>
            </a:r>
          </a:p>
          <a:p>
            <a:pPr>
              <a:lnSpc>
                <a:spcPct val="90000"/>
              </a:lnSpc>
            </a:pPr>
            <a:endParaRPr lang="en-GB" sz="150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AD1C11-A746-B64C-008E-07DC6D25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935" y="2418735"/>
            <a:ext cx="7244065" cy="4386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FD8FCE-3D75-4302-FB8B-A54B647C6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935" y="6238"/>
            <a:ext cx="7244065" cy="28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71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08118-3031-73E2-E9CA-5732466A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A0134-542E-2456-1A93-918C70F5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EBEBEB"/>
                </a:solidFill>
              </a:rPr>
              <a:t>Linear output head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46531-40D0-DA50-69EA-39A2C2C8D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142999"/>
            <a:ext cx="5385816" cy="551905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C3A15-16F5-6147-2FC4-D5CF5D24E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This changes the dimension of the embedding from 768 to the vocabulary size 50257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The 50527 tokens of GPT are outputs received as logits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We normalize this logit to get the probability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587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14C2-5597-66DA-FAFB-52FB6826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D9A0B52-EAEA-F87E-BF4F-3A6DB25FB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F7D9E466-2ADB-27ED-A523-855D815D1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9A1114B-75D8-A40C-F2F9-6D6D7B68F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Freeform 5">
            <a:extLst>
              <a:ext uri="{FF2B5EF4-FFF2-40B4-BE49-F238E27FC236}">
                <a16:creationId xmlns:a16="http://schemas.microsoft.com/office/drawing/2014/main" id="{D4582163-F779-4AFE-BEF4-EC7B9DD9A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3415A-B43A-459B-EA26-34E6F42F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EBEBEB"/>
                </a:solidFill>
              </a:rPr>
              <a:t>Linear output head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AE0F6-A074-F19C-B50A-D0A05EF27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60733"/>
            <a:ext cx="5581866" cy="551221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C18BBB6-A2C3-D990-503C-064FAD719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22CAF-7B64-8D9A-E33B-E9471C3E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Each token is now assigned a probability that it will be the next word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GPT selects the highest probability and that will be the next token 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This is repeated until we reach our limit of sequence</a:t>
            </a:r>
          </a:p>
          <a:p>
            <a:pPr marL="0" indent="0">
              <a:lnSpc>
                <a:spcPct val="90000"/>
              </a:lnSpc>
              <a:buNone/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50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Spaceship passageway">
            <a:extLst>
              <a:ext uri="{FF2B5EF4-FFF2-40B4-BE49-F238E27FC236}">
                <a16:creationId xmlns:a16="http://schemas.microsoft.com/office/drawing/2014/main" id="{F1D1E025-F27C-B50A-344B-A74068AC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04" r="-1" b="17471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9D96E-A05D-9D58-FDFC-96D43026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199" y="4854346"/>
            <a:ext cx="10407602" cy="86802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100" dirty="0">
                <a:solidFill>
                  <a:srgbClr val="EBEBEB"/>
                </a:solidFill>
              </a:rPr>
              <a:t> A Multiscale Visualization of Attention in Transformers</a:t>
            </a:r>
            <a:br>
              <a:rPr lang="en-US" sz="3100" dirty="0">
                <a:solidFill>
                  <a:srgbClr val="EBEBEB"/>
                </a:solidFill>
              </a:rPr>
            </a:br>
            <a:r>
              <a:rPr lang="en-US" sz="3100" dirty="0">
                <a:solidFill>
                  <a:srgbClr val="EBEBEB"/>
                </a:solidFill>
              </a:rPr>
              <a:t>-Jesse </a:t>
            </a:r>
            <a:r>
              <a:rPr lang="en-US" sz="3100" dirty="0" err="1">
                <a:solidFill>
                  <a:srgbClr val="EBEBEB"/>
                </a:solidFill>
              </a:rPr>
              <a:t>Vig</a:t>
            </a:r>
            <a:endParaRPr lang="en-US" sz="3100" dirty="0">
              <a:solidFill>
                <a:srgbClr val="EBEBEB"/>
              </a:solidFill>
            </a:endParaRPr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785499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125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6E58B2-0676-DEC4-6A7A-6DA19F80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Introduction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EB647C-1F03-E0C3-CCD4-506DCDB0C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38078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5171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1235F-72CC-39B0-E658-554D7EBE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F78A-9E1B-3CB0-728E-AFE56DC7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BERTVIZ Views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E4EA9F1-0286-220F-E312-A36BE3C93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644856"/>
              </p:ext>
            </p:extLst>
          </p:nvPr>
        </p:nvGraphicFramePr>
        <p:xfrm>
          <a:off x="91440" y="2304288"/>
          <a:ext cx="11722608" cy="4398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5634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E3ACE-BE2C-5252-8D02-8B0B7FC17D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3101" b="26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7D40C9-CD01-D2B3-5809-906EE12A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Attention head view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3413C-FA9A-4CA8-4ECB-FE9E5303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>
                <a:solidFill>
                  <a:schemeClr val="tx1"/>
                </a:solidFill>
              </a:rPr>
              <a:t>Visualizes the attention patterns produced by one or more attention heads in each layer</a:t>
            </a:r>
          </a:p>
          <a:p>
            <a:pPr>
              <a:lnSpc>
                <a:spcPct val="90000"/>
              </a:lnSpc>
            </a:pPr>
            <a:endParaRPr lang="en-GB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GB">
                <a:solidFill>
                  <a:schemeClr val="tx1"/>
                </a:solidFill>
              </a:rPr>
              <a:t>attention is represented as lines connecting the tokens that are attending with the tokens being attended to</a:t>
            </a:r>
          </a:p>
          <a:p>
            <a:pPr>
              <a:lnSpc>
                <a:spcPct val="90000"/>
              </a:lnSpc>
            </a:pPr>
            <a:endParaRPr lang="en-GB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Users can also filter attention by token, as shown in figure 1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GB">
                <a:solidFill>
                  <a:schemeClr val="tx1"/>
                </a:solidFill>
              </a:rPr>
              <a:t>Sentence-pair model is used for BERT; users can specify a sentence-level attention filter.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901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D2E2BB-3846-41EB-9F1E-92C33C4A8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3D5773-5AC9-444A-A47A-EB6656ACD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81EB4475-C020-4325-AF59-31FCBFB7C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F7689D68-C339-4D5B-9DAA-E13F6BD4D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9CC3E5-EA42-4393-A2C0-5192B91BD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56735-FD33-4433-21F9-93FD11F25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712" y="137160"/>
            <a:ext cx="5920288" cy="3839743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B8DBC8E-FBA7-466C-8D97-75B15FBE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C4EBD-168C-5305-BFA3-AA7E81472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946" y="137159"/>
            <a:ext cx="5843342" cy="3839743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6FFF64E-1FE4-4AE0-9D62-567AA183C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133850"/>
            <a:ext cx="11277600" cy="2250018"/>
          </a:xfrm>
          <a:custGeom>
            <a:avLst/>
            <a:gdLst>
              <a:gd name="connsiteX0" fmla="*/ 5264150 w 11277600"/>
              <a:gd name="connsiteY0" fmla="*/ 0 h 2250018"/>
              <a:gd name="connsiteX1" fmla="*/ 5499100 w 11277600"/>
              <a:gd name="connsiteY1" fmla="*/ 1588 h 2250018"/>
              <a:gd name="connsiteX2" fmla="*/ 5730875 w 11277600"/>
              <a:gd name="connsiteY2" fmla="*/ 1588 h 2250018"/>
              <a:gd name="connsiteX3" fmla="*/ 5961063 w 11277600"/>
              <a:gd name="connsiteY3" fmla="*/ 4763 h 2250018"/>
              <a:gd name="connsiteX4" fmla="*/ 6186488 w 11277600"/>
              <a:gd name="connsiteY4" fmla="*/ 9525 h 2250018"/>
              <a:gd name="connsiteX5" fmla="*/ 6410325 w 11277600"/>
              <a:gd name="connsiteY5" fmla="*/ 14288 h 2250018"/>
              <a:gd name="connsiteX6" fmla="*/ 6629400 w 11277600"/>
              <a:gd name="connsiteY6" fmla="*/ 19050 h 2250018"/>
              <a:gd name="connsiteX7" fmla="*/ 6846888 w 11277600"/>
              <a:gd name="connsiteY7" fmla="*/ 26988 h 2250018"/>
              <a:gd name="connsiteX8" fmla="*/ 7061200 w 11277600"/>
              <a:gd name="connsiteY8" fmla="*/ 34925 h 2250018"/>
              <a:gd name="connsiteX9" fmla="*/ 7270750 w 11277600"/>
              <a:gd name="connsiteY9" fmla="*/ 42863 h 2250018"/>
              <a:gd name="connsiteX10" fmla="*/ 7680325 w 11277600"/>
              <a:gd name="connsiteY10" fmla="*/ 63500 h 2250018"/>
              <a:gd name="connsiteX11" fmla="*/ 8072438 w 11277600"/>
              <a:gd name="connsiteY11" fmla="*/ 85725 h 2250018"/>
              <a:gd name="connsiteX12" fmla="*/ 8448675 w 11277600"/>
              <a:gd name="connsiteY12" fmla="*/ 109538 h 2250018"/>
              <a:gd name="connsiteX13" fmla="*/ 8805862 w 11277600"/>
              <a:gd name="connsiteY13" fmla="*/ 134938 h 2250018"/>
              <a:gd name="connsiteX14" fmla="*/ 9145588 w 11277600"/>
              <a:gd name="connsiteY14" fmla="*/ 161925 h 2250018"/>
              <a:gd name="connsiteX15" fmla="*/ 9461500 w 11277600"/>
              <a:gd name="connsiteY15" fmla="*/ 190500 h 2250018"/>
              <a:gd name="connsiteX16" fmla="*/ 9758362 w 11277600"/>
              <a:gd name="connsiteY16" fmla="*/ 219075 h 2250018"/>
              <a:gd name="connsiteX17" fmla="*/ 10031412 w 11277600"/>
              <a:gd name="connsiteY17" fmla="*/ 247650 h 2250018"/>
              <a:gd name="connsiteX18" fmla="*/ 10282238 w 11277600"/>
              <a:gd name="connsiteY18" fmla="*/ 274638 h 2250018"/>
              <a:gd name="connsiteX19" fmla="*/ 10504488 w 11277600"/>
              <a:gd name="connsiteY19" fmla="*/ 300038 h 2250018"/>
              <a:gd name="connsiteX20" fmla="*/ 10704512 w 11277600"/>
              <a:gd name="connsiteY20" fmla="*/ 323850 h 2250018"/>
              <a:gd name="connsiteX21" fmla="*/ 10874375 w 11277600"/>
              <a:gd name="connsiteY21" fmla="*/ 344488 h 2250018"/>
              <a:gd name="connsiteX22" fmla="*/ 11015662 w 11277600"/>
              <a:gd name="connsiteY22" fmla="*/ 363538 h 2250018"/>
              <a:gd name="connsiteX23" fmla="*/ 11210925 w 11277600"/>
              <a:gd name="connsiteY23" fmla="*/ 390525 h 2250018"/>
              <a:gd name="connsiteX24" fmla="*/ 11277600 w 11277600"/>
              <a:gd name="connsiteY24" fmla="*/ 400050 h 2250018"/>
              <a:gd name="connsiteX25" fmla="*/ 11277600 w 11277600"/>
              <a:gd name="connsiteY25" fmla="*/ 2250018 h 2250018"/>
              <a:gd name="connsiteX26" fmla="*/ 0 w 11277600"/>
              <a:gd name="connsiteY26" fmla="*/ 2250018 h 2250018"/>
              <a:gd name="connsiteX27" fmla="*/ 0 w 11277600"/>
              <a:gd name="connsiteY27" fmla="*/ 398463 h 2250018"/>
              <a:gd name="connsiteX28" fmla="*/ 255588 w 11277600"/>
              <a:gd name="connsiteY28" fmla="*/ 358775 h 2250018"/>
              <a:gd name="connsiteX29" fmla="*/ 511175 w 11277600"/>
              <a:gd name="connsiteY29" fmla="*/ 320675 h 2250018"/>
              <a:gd name="connsiteX30" fmla="*/ 766762 w 11277600"/>
              <a:gd name="connsiteY30" fmla="*/ 284163 h 2250018"/>
              <a:gd name="connsiteX31" fmla="*/ 1023938 w 11277600"/>
              <a:gd name="connsiteY31" fmla="*/ 252413 h 2250018"/>
              <a:gd name="connsiteX32" fmla="*/ 1279525 w 11277600"/>
              <a:gd name="connsiteY32" fmla="*/ 220663 h 2250018"/>
              <a:gd name="connsiteX33" fmla="*/ 1536700 w 11277600"/>
              <a:gd name="connsiteY33" fmla="*/ 190500 h 2250018"/>
              <a:gd name="connsiteX34" fmla="*/ 1790700 w 11277600"/>
              <a:gd name="connsiteY34" fmla="*/ 165100 h 2250018"/>
              <a:gd name="connsiteX35" fmla="*/ 2047875 w 11277600"/>
              <a:gd name="connsiteY35" fmla="*/ 141288 h 2250018"/>
              <a:gd name="connsiteX36" fmla="*/ 2303462 w 11277600"/>
              <a:gd name="connsiteY36" fmla="*/ 119063 h 2250018"/>
              <a:gd name="connsiteX37" fmla="*/ 2555875 w 11277600"/>
              <a:gd name="connsiteY37" fmla="*/ 100013 h 2250018"/>
              <a:gd name="connsiteX38" fmla="*/ 2809875 w 11277600"/>
              <a:gd name="connsiteY38" fmla="*/ 80963 h 2250018"/>
              <a:gd name="connsiteX39" fmla="*/ 3062288 w 11277600"/>
              <a:gd name="connsiteY39" fmla="*/ 65088 h 2250018"/>
              <a:gd name="connsiteX40" fmla="*/ 3313113 w 11277600"/>
              <a:gd name="connsiteY40" fmla="*/ 52388 h 2250018"/>
              <a:gd name="connsiteX41" fmla="*/ 3563938 w 11277600"/>
              <a:gd name="connsiteY41" fmla="*/ 39688 h 2250018"/>
              <a:gd name="connsiteX42" fmla="*/ 3811588 w 11277600"/>
              <a:gd name="connsiteY42" fmla="*/ 28575 h 2250018"/>
              <a:gd name="connsiteX43" fmla="*/ 4057650 w 11277600"/>
              <a:gd name="connsiteY43" fmla="*/ 20638 h 2250018"/>
              <a:gd name="connsiteX44" fmla="*/ 4303713 w 11277600"/>
              <a:gd name="connsiteY44" fmla="*/ 14288 h 2250018"/>
              <a:gd name="connsiteX45" fmla="*/ 4546600 w 11277600"/>
              <a:gd name="connsiteY45" fmla="*/ 7938 h 2250018"/>
              <a:gd name="connsiteX46" fmla="*/ 4787900 w 11277600"/>
              <a:gd name="connsiteY46" fmla="*/ 4763 h 2250018"/>
              <a:gd name="connsiteX47" fmla="*/ 5027613 w 11277600"/>
              <a:gd name="connsiteY47" fmla="*/ 1588 h 22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2250018">
                <a:moveTo>
                  <a:pt x="5264150" y="0"/>
                </a:moveTo>
                <a:lnTo>
                  <a:pt x="5499100" y="1588"/>
                </a:lnTo>
                <a:lnTo>
                  <a:pt x="5730875" y="1588"/>
                </a:lnTo>
                <a:lnTo>
                  <a:pt x="5961063" y="4763"/>
                </a:lnTo>
                <a:lnTo>
                  <a:pt x="6186488" y="9525"/>
                </a:lnTo>
                <a:lnTo>
                  <a:pt x="6410325" y="14288"/>
                </a:lnTo>
                <a:lnTo>
                  <a:pt x="6629400" y="19050"/>
                </a:lnTo>
                <a:lnTo>
                  <a:pt x="6846888" y="26988"/>
                </a:lnTo>
                <a:lnTo>
                  <a:pt x="7061200" y="34925"/>
                </a:lnTo>
                <a:lnTo>
                  <a:pt x="7270750" y="42863"/>
                </a:lnTo>
                <a:lnTo>
                  <a:pt x="7680325" y="63500"/>
                </a:lnTo>
                <a:lnTo>
                  <a:pt x="8072438" y="85725"/>
                </a:lnTo>
                <a:lnTo>
                  <a:pt x="8448675" y="109538"/>
                </a:lnTo>
                <a:lnTo>
                  <a:pt x="8805862" y="134938"/>
                </a:lnTo>
                <a:lnTo>
                  <a:pt x="9145588" y="161925"/>
                </a:lnTo>
                <a:lnTo>
                  <a:pt x="9461500" y="190500"/>
                </a:lnTo>
                <a:lnTo>
                  <a:pt x="9758362" y="219075"/>
                </a:lnTo>
                <a:lnTo>
                  <a:pt x="10031412" y="247650"/>
                </a:lnTo>
                <a:lnTo>
                  <a:pt x="10282238" y="274638"/>
                </a:lnTo>
                <a:lnTo>
                  <a:pt x="10504488" y="300038"/>
                </a:lnTo>
                <a:lnTo>
                  <a:pt x="10704512" y="323850"/>
                </a:lnTo>
                <a:lnTo>
                  <a:pt x="10874375" y="344488"/>
                </a:lnTo>
                <a:lnTo>
                  <a:pt x="11015662" y="363538"/>
                </a:lnTo>
                <a:lnTo>
                  <a:pt x="11210925" y="390525"/>
                </a:lnTo>
                <a:lnTo>
                  <a:pt x="11277600" y="400050"/>
                </a:lnTo>
                <a:lnTo>
                  <a:pt x="11277600" y="2250018"/>
                </a:lnTo>
                <a:lnTo>
                  <a:pt x="0" y="2250018"/>
                </a:lnTo>
                <a:lnTo>
                  <a:pt x="0" y="398463"/>
                </a:lnTo>
                <a:lnTo>
                  <a:pt x="255588" y="358775"/>
                </a:lnTo>
                <a:lnTo>
                  <a:pt x="511175" y="320675"/>
                </a:lnTo>
                <a:lnTo>
                  <a:pt x="766762" y="284163"/>
                </a:lnTo>
                <a:lnTo>
                  <a:pt x="1023938" y="252413"/>
                </a:lnTo>
                <a:lnTo>
                  <a:pt x="1279525" y="220663"/>
                </a:lnTo>
                <a:lnTo>
                  <a:pt x="1536700" y="190500"/>
                </a:lnTo>
                <a:lnTo>
                  <a:pt x="1790700" y="165100"/>
                </a:lnTo>
                <a:lnTo>
                  <a:pt x="2047875" y="141288"/>
                </a:lnTo>
                <a:lnTo>
                  <a:pt x="2303462" y="119063"/>
                </a:lnTo>
                <a:lnTo>
                  <a:pt x="2555875" y="100013"/>
                </a:lnTo>
                <a:lnTo>
                  <a:pt x="2809875" y="80963"/>
                </a:lnTo>
                <a:lnTo>
                  <a:pt x="3062288" y="65088"/>
                </a:lnTo>
                <a:lnTo>
                  <a:pt x="3313113" y="52388"/>
                </a:lnTo>
                <a:lnTo>
                  <a:pt x="3563938" y="39688"/>
                </a:lnTo>
                <a:lnTo>
                  <a:pt x="3811588" y="28575"/>
                </a:lnTo>
                <a:lnTo>
                  <a:pt x="4057650" y="20638"/>
                </a:lnTo>
                <a:lnTo>
                  <a:pt x="4303713" y="14288"/>
                </a:lnTo>
                <a:lnTo>
                  <a:pt x="4546600" y="7938"/>
                </a:lnTo>
                <a:lnTo>
                  <a:pt x="4787900" y="4763"/>
                </a:lnTo>
                <a:lnTo>
                  <a:pt x="502761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9C80E52D-DE5C-4267-9C99-8741F2E42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4117124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89B47-BC08-60D8-8FA2-CB1109FB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351" y="4558304"/>
            <a:ext cx="10893095" cy="11749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Attention head view</a:t>
            </a:r>
          </a:p>
        </p:txBody>
      </p:sp>
    </p:spTree>
    <p:extLst>
      <p:ext uri="{BB962C8B-B14F-4D97-AF65-F5344CB8AC3E}">
        <p14:creationId xmlns:p14="http://schemas.microsoft.com/office/powerpoint/2010/main" val="198722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0488BA-180E-40D8-8350-4B1791795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ne big red thumbtack in front of many smaller black thumbtacks">
            <a:extLst>
              <a:ext uri="{FF2B5EF4-FFF2-40B4-BE49-F238E27FC236}">
                <a16:creationId xmlns:a16="http://schemas.microsoft.com/office/drawing/2014/main" id="{6003950E-9B4B-62E0-7034-83CB22B4EE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741" b="620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4AC90B-66A5-E92E-3507-8515DED7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Attention head view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EE66-4864-7590-183E-3898732C7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 Besides positional patterns, attention heads also capture specific lexical patterns</a:t>
            </a:r>
          </a:p>
          <a:p>
            <a:r>
              <a:rPr lang="en-GB">
                <a:solidFill>
                  <a:schemeClr val="tx1"/>
                </a:solidFill>
              </a:rPr>
              <a:t>in figure 3. Other attention heads detected </a:t>
            </a:r>
          </a:p>
          <a:p>
            <a:r>
              <a:rPr lang="en-GB">
                <a:solidFill>
                  <a:schemeClr val="tx1"/>
                </a:solidFill>
              </a:rPr>
              <a:t>named entities, </a:t>
            </a:r>
          </a:p>
          <a:p>
            <a:r>
              <a:rPr lang="en-GB">
                <a:solidFill>
                  <a:schemeClr val="tx1"/>
                </a:solidFill>
              </a:rPr>
              <a:t>paired punctuation, </a:t>
            </a:r>
          </a:p>
          <a:p>
            <a:r>
              <a:rPr lang="en-GB">
                <a:solidFill>
                  <a:schemeClr val="tx1"/>
                </a:solidFill>
              </a:rPr>
              <a:t>subject-verb pairs</a:t>
            </a:r>
          </a:p>
          <a:p>
            <a:r>
              <a:rPr lang="en-GB">
                <a:solidFill>
                  <a:schemeClr val="tx1"/>
                </a:solidFill>
              </a:rPr>
              <a:t>other syntactic and semantic relations.</a:t>
            </a:r>
          </a:p>
        </p:txBody>
      </p:sp>
    </p:spTree>
    <p:extLst>
      <p:ext uri="{BB962C8B-B14F-4D97-AF65-F5344CB8AC3E}">
        <p14:creationId xmlns:p14="http://schemas.microsoft.com/office/powerpoint/2010/main" val="1863178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D2E2BB-3846-41EB-9F1E-92C33C4A8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3D5773-5AC9-444A-A47A-EB6656ACD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1EB4475-C020-4325-AF59-31FCBFB7C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7689D68-C339-4D5B-9DAA-E13F6BD4D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9CC3E5-EA42-4393-A2C0-5192B91BD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306669-2BDC-9331-EFEE-9053335B0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628"/>
            <a:ext cx="6009221" cy="3886201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B8DBC8E-FBA7-466C-8D97-75B15FBE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14A5E-CDC7-91B6-4AA0-4BA5263F0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89171" y="474133"/>
            <a:ext cx="6193971" cy="3439616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6FFF64E-1FE4-4AE0-9D62-567AA183C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133850"/>
            <a:ext cx="11277600" cy="2250018"/>
          </a:xfrm>
          <a:custGeom>
            <a:avLst/>
            <a:gdLst>
              <a:gd name="connsiteX0" fmla="*/ 5264150 w 11277600"/>
              <a:gd name="connsiteY0" fmla="*/ 0 h 2250018"/>
              <a:gd name="connsiteX1" fmla="*/ 5499100 w 11277600"/>
              <a:gd name="connsiteY1" fmla="*/ 1588 h 2250018"/>
              <a:gd name="connsiteX2" fmla="*/ 5730875 w 11277600"/>
              <a:gd name="connsiteY2" fmla="*/ 1588 h 2250018"/>
              <a:gd name="connsiteX3" fmla="*/ 5961063 w 11277600"/>
              <a:gd name="connsiteY3" fmla="*/ 4763 h 2250018"/>
              <a:gd name="connsiteX4" fmla="*/ 6186488 w 11277600"/>
              <a:gd name="connsiteY4" fmla="*/ 9525 h 2250018"/>
              <a:gd name="connsiteX5" fmla="*/ 6410325 w 11277600"/>
              <a:gd name="connsiteY5" fmla="*/ 14288 h 2250018"/>
              <a:gd name="connsiteX6" fmla="*/ 6629400 w 11277600"/>
              <a:gd name="connsiteY6" fmla="*/ 19050 h 2250018"/>
              <a:gd name="connsiteX7" fmla="*/ 6846888 w 11277600"/>
              <a:gd name="connsiteY7" fmla="*/ 26988 h 2250018"/>
              <a:gd name="connsiteX8" fmla="*/ 7061200 w 11277600"/>
              <a:gd name="connsiteY8" fmla="*/ 34925 h 2250018"/>
              <a:gd name="connsiteX9" fmla="*/ 7270750 w 11277600"/>
              <a:gd name="connsiteY9" fmla="*/ 42863 h 2250018"/>
              <a:gd name="connsiteX10" fmla="*/ 7680325 w 11277600"/>
              <a:gd name="connsiteY10" fmla="*/ 63500 h 2250018"/>
              <a:gd name="connsiteX11" fmla="*/ 8072438 w 11277600"/>
              <a:gd name="connsiteY11" fmla="*/ 85725 h 2250018"/>
              <a:gd name="connsiteX12" fmla="*/ 8448675 w 11277600"/>
              <a:gd name="connsiteY12" fmla="*/ 109538 h 2250018"/>
              <a:gd name="connsiteX13" fmla="*/ 8805862 w 11277600"/>
              <a:gd name="connsiteY13" fmla="*/ 134938 h 2250018"/>
              <a:gd name="connsiteX14" fmla="*/ 9145588 w 11277600"/>
              <a:gd name="connsiteY14" fmla="*/ 161925 h 2250018"/>
              <a:gd name="connsiteX15" fmla="*/ 9461500 w 11277600"/>
              <a:gd name="connsiteY15" fmla="*/ 190500 h 2250018"/>
              <a:gd name="connsiteX16" fmla="*/ 9758362 w 11277600"/>
              <a:gd name="connsiteY16" fmla="*/ 219075 h 2250018"/>
              <a:gd name="connsiteX17" fmla="*/ 10031412 w 11277600"/>
              <a:gd name="connsiteY17" fmla="*/ 247650 h 2250018"/>
              <a:gd name="connsiteX18" fmla="*/ 10282238 w 11277600"/>
              <a:gd name="connsiteY18" fmla="*/ 274638 h 2250018"/>
              <a:gd name="connsiteX19" fmla="*/ 10504488 w 11277600"/>
              <a:gd name="connsiteY19" fmla="*/ 300038 h 2250018"/>
              <a:gd name="connsiteX20" fmla="*/ 10704512 w 11277600"/>
              <a:gd name="connsiteY20" fmla="*/ 323850 h 2250018"/>
              <a:gd name="connsiteX21" fmla="*/ 10874375 w 11277600"/>
              <a:gd name="connsiteY21" fmla="*/ 344488 h 2250018"/>
              <a:gd name="connsiteX22" fmla="*/ 11015662 w 11277600"/>
              <a:gd name="connsiteY22" fmla="*/ 363538 h 2250018"/>
              <a:gd name="connsiteX23" fmla="*/ 11210925 w 11277600"/>
              <a:gd name="connsiteY23" fmla="*/ 390525 h 2250018"/>
              <a:gd name="connsiteX24" fmla="*/ 11277600 w 11277600"/>
              <a:gd name="connsiteY24" fmla="*/ 400050 h 2250018"/>
              <a:gd name="connsiteX25" fmla="*/ 11277600 w 11277600"/>
              <a:gd name="connsiteY25" fmla="*/ 2250018 h 2250018"/>
              <a:gd name="connsiteX26" fmla="*/ 0 w 11277600"/>
              <a:gd name="connsiteY26" fmla="*/ 2250018 h 2250018"/>
              <a:gd name="connsiteX27" fmla="*/ 0 w 11277600"/>
              <a:gd name="connsiteY27" fmla="*/ 398463 h 2250018"/>
              <a:gd name="connsiteX28" fmla="*/ 255588 w 11277600"/>
              <a:gd name="connsiteY28" fmla="*/ 358775 h 2250018"/>
              <a:gd name="connsiteX29" fmla="*/ 511175 w 11277600"/>
              <a:gd name="connsiteY29" fmla="*/ 320675 h 2250018"/>
              <a:gd name="connsiteX30" fmla="*/ 766762 w 11277600"/>
              <a:gd name="connsiteY30" fmla="*/ 284163 h 2250018"/>
              <a:gd name="connsiteX31" fmla="*/ 1023938 w 11277600"/>
              <a:gd name="connsiteY31" fmla="*/ 252413 h 2250018"/>
              <a:gd name="connsiteX32" fmla="*/ 1279525 w 11277600"/>
              <a:gd name="connsiteY32" fmla="*/ 220663 h 2250018"/>
              <a:gd name="connsiteX33" fmla="*/ 1536700 w 11277600"/>
              <a:gd name="connsiteY33" fmla="*/ 190500 h 2250018"/>
              <a:gd name="connsiteX34" fmla="*/ 1790700 w 11277600"/>
              <a:gd name="connsiteY34" fmla="*/ 165100 h 2250018"/>
              <a:gd name="connsiteX35" fmla="*/ 2047875 w 11277600"/>
              <a:gd name="connsiteY35" fmla="*/ 141288 h 2250018"/>
              <a:gd name="connsiteX36" fmla="*/ 2303462 w 11277600"/>
              <a:gd name="connsiteY36" fmla="*/ 119063 h 2250018"/>
              <a:gd name="connsiteX37" fmla="*/ 2555875 w 11277600"/>
              <a:gd name="connsiteY37" fmla="*/ 100013 h 2250018"/>
              <a:gd name="connsiteX38" fmla="*/ 2809875 w 11277600"/>
              <a:gd name="connsiteY38" fmla="*/ 80963 h 2250018"/>
              <a:gd name="connsiteX39" fmla="*/ 3062288 w 11277600"/>
              <a:gd name="connsiteY39" fmla="*/ 65088 h 2250018"/>
              <a:gd name="connsiteX40" fmla="*/ 3313113 w 11277600"/>
              <a:gd name="connsiteY40" fmla="*/ 52388 h 2250018"/>
              <a:gd name="connsiteX41" fmla="*/ 3563938 w 11277600"/>
              <a:gd name="connsiteY41" fmla="*/ 39688 h 2250018"/>
              <a:gd name="connsiteX42" fmla="*/ 3811588 w 11277600"/>
              <a:gd name="connsiteY42" fmla="*/ 28575 h 2250018"/>
              <a:gd name="connsiteX43" fmla="*/ 4057650 w 11277600"/>
              <a:gd name="connsiteY43" fmla="*/ 20638 h 2250018"/>
              <a:gd name="connsiteX44" fmla="*/ 4303713 w 11277600"/>
              <a:gd name="connsiteY44" fmla="*/ 14288 h 2250018"/>
              <a:gd name="connsiteX45" fmla="*/ 4546600 w 11277600"/>
              <a:gd name="connsiteY45" fmla="*/ 7938 h 2250018"/>
              <a:gd name="connsiteX46" fmla="*/ 4787900 w 11277600"/>
              <a:gd name="connsiteY46" fmla="*/ 4763 h 2250018"/>
              <a:gd name="connsiteX47" fmla="*/ 5027613 w 11277600"/>
              <a:gd name="connsiteY47" fmla="*/ 1588 h 22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2250018">
                <a:moveTo>
                  <a:pt x="5264150" y="0"/>
                </a:moveTo>
                <a:lnTo>
                  <a:pt x="5499100" y="1588"/>
                </a:lnTo>
                <a:lnTo>
                  <a:pt x="5730875" y="1588"/>
                </a:lnTo>
                <a:lnTo>
                  <a:pt x="5961063" y="4763"/>
                </a:lnTo>
                <a:lnTo>
                  <a:pt x="6186488" y="9525"/>
                </a:lnTo>
                <a:lnTo>
                  <a:pt x="6410325" y="14288"/>
                </a:lnTo>
                <a:lnTo>
                  <a:pt x="6629400" y="19050"/>
                </a:lnTo>
                <a:lnTo>
                  <a:pt x="6846888" y="26988"/>
                </a:lnTo>
                <a:lnTo>
                  <a:pt x="7061200" y="34925"/>
                </a:lnTo>
                <a:lnTo>
                  <a:pt x="7270750" y="42863"/>
                </a:lnTo>
                <a:lnTo>
                  <a:pt x="7680325" y="63500"/>
                </a:lnTo>
                <a:lnTo>
                  <a:pt x="8072438" y="85725"/>
                </a:lnTo>
                <a:lnTo>
                  <a:pt x="8448675" y="109538"/>
                </a:lnTo>
                <a:lnTo>
                  <a:pt x="8805862" y="134938"/>
                </a:lnTo>
                <a:lnTo>
                  <a:pt x="9145588" y="161925"/>
                </a:lnTo>
                <a:lnTo>
                  <a:pt x="9461500" y="190500"/>
                </a:lnTo>
                <a:lnTo>
                  <a:pt x="9758362" y="219075"/>
                </a:lnTo>
                <a:lnTo>
                  <a:pt x="10031412" y="247650"/>
                </a:lnTo>
                <a:lnTo>
                  <a:pt x="10282238" y="274638"/>
                </a:lnTo>
                <a:lnTo>
                  <a:pt x="10504488" y="300038"/>
                </a:lnTo>
                <a:lnTo>
                  <a:pt x="10704512" y="323850"/>
                </a:lnTo>
                <a:lnTo>
                  <a:pt x="10874375" y="344488"/>
                </a:lnTo>
                <a:lnTo>
                  <a:pt x="11015662" y="363538"/>
                </a:lnTo>
                <a:lnTo>
                  <a:pt x="11210925" y="390525"/>
                </a:lnTo>
                <a:lnTo>
                  <a:pt x="11277600" y="400050"/>
                </a:lnTo>
                <a:lnTo>
                  <a:pt x="11277600" y="2250018"/>
                </a:lnTo>
                <a:lnTo>
                  <a:pt x="0" y="2250018"/>
                </a:lnTo>
                <a:lnTo>
                  <a:pt x="0" y="398463"/>
                </a:lnTo>
                <a:lnTo>
                  <a:pt x="255588" y="358775"/>
                </a:lnTo>
                <a:lnTo>
                  <a:pt x="511175" y="320675"/>
                </a:lnTo>
                <a:lnTo>
                  <a:pt x="766762" y="284163"/>
                </a:lnTo>
                <a:lnTo>
                  <a:pt x="1023938" y="252413"/>
                </a:lnTo>
                <a:lnTo>
                  <a:pt x="1279525" y="220663"/>
                </a:lnTo>
                <a:lnTo>
                  <a:pt x="1536700" y="190500"/>
                </a:lnTo>
                <a:lnTo>
                  <a:pt x="1790700" y="165100"/>
                </a:lnTo>
                <a:lnTo>
                  <a:pt x="2047875" y="141288"/>
                </a:lnTo>
                <a:lnTo>
                  <a:pt x="2303462" y="119063"/>
                </a:lnTo>
                <a:lnTo>
                  <a:pt x="2555875" y="100013"/>
                </a:lnTo>
                <a:lnTo>
                  <a:pt x="2809875" y="80963"/>
                </a:lnTo>
                <a:lnTo>
                  <a:pt x="3062288" y="65088"/>
                </a:lnTo>
                <a:lnTo>
                  <a:pt x="3313113" y="52388"/>
                </a:lnTo>
                <a:lnTo>
                  <a:pt x="3563938" y="39688"/>
                </a:lnTo>
                <a:lnTo>
                  <a:pt x="3811588" y="28575"/>
                </a:lnTo>
                <a:lnTo>
                  <a:pt x="4057650" y="20638"/>
                </a:lnTo>
                <a:lnTo>
                  <a:pt x="4303713" y="14288"/>
                </a:lnTo>
                <a:lnTo>
                  <a:pt x="4546600" y="7938"/>
                </a:lnTo>
                <a:lnTo>
                  <a:pt x="4787900" y="4763"/>
                </a:lnTo>
                <a:lnTo>
                  <a:pt x="502761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9C80E52D-DE5C-4267-9C99-8741F2E42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4117124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26C08-8840-9CDC-2052-A7FD874F4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75" y="4517136"/>
            <a:ext cx="10893095" cy="11749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Attention head view</a:t>
            </a:r>
          </a:p>
        </p:txBody>
      </p:sp>
    </p:spTree>
    <p:extLst>
      <p:ext uri="{BB962C8B-B14F-4D97-AF65-F5344CB8AC3E}">
        <p14:creationId xmlns:p14="http://schemas.microsoft.com/office/powerpoint/2010/main" val="1562200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8F524-9EF2-E492-A93D-EDD1CF40A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Use case for attention-head view</a:t>
            </a:r>
            <a:endParaRPr lang="en-GB">
              <a:solidFill>
                <a:srgbClr val="EBEBEB"/>
              </a:solidFill>
            </a:endParaRP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B5955DA5-9DDA-E50F-970E-7AF54D9E2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4836" y="1023437"/>
            <a:ext cx="4828707" cy="48287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0AE57-D68E-B636-940F-FE39F9CBA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14" y="2084832"/>
            <a:ext cx="5986199" cy="341071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FFFFFF"/>
                </a:solidFill>
              </a:rPr>
              <a:t>the detection of bias in the model</a:t>
            </a:r>
          </a:p>
          <a:p>
            <a:pPr>
              <a:lnSpc>
                <a:spcPct val="90000"/>
              </a:lnSpc>
            </a:pPr>
            <a:endParaRPr lang="en-GB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500" dirty="0">
                <a:solidFill>
                  <a:srgbClr val="FFFFFF"/>
                </a:solidFill>
              </a:rPr>
              <a:t>GPT-2 was asked to generate new words </a:t>
            </a:r>
          </a:p>
          <a:p>
            <a:pPr>
              <a:lnSpc>
                <a:spcPct val="90000"/>
              </a:lnSpc>
            </a:pPr>
            <a:endParaRPr lang="en-GB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500" dirty="0">
                <a:solidFill>
                  <a:srgbClr val="FFFFFF"/>
                </a:solidFill>
              </a:rPr>
              <a:t>This shows the models coreference mechanism may encode gender bias, </a:t>
            </a:r>
          </a:p>
          <a:p>
            <a:pPr>
              <a:lnSpc>
                <a:spcPct val="90000"/>
              </a:lnSpc>
            </a:pPr>
            <a:endParaRPr lang="en-GB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500" dirty="0">
                <a:solidFill>
                  <a:srgbClr val="FFFFFF"/>
                </a:solidFill>
              </a:rPr>
              <a:t>The two examples are shown in figure 4 (right), which reveals she attended strongly to nurse, while he attends more to doctor. </a:t>
            </a:r>
          </a:p>
          <a:p>
            <a:pPr>
              <a:lnSpc>
                <a:spcPct val="90000"/>
              </a:lnSpc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9F73E-8BA9-3CDE-2E50-897C1F3F6695}"/>
              </a:ext>
            </a:extLst>
          </p:cNvPr>
          <p:cNvSpPr txBox="1"/>
          <p:nvPr/>
        </p:nvSpPr>
        <p:spPr>
          <a:xfrm>
            <a:off x="7228862" y="1757330"/>
            <a:ext cx="38947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The doctor asked the nurse a question.</a:t>
            </a: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“The doctor asked the nurse a question. She said, “I’m not sure what you’re talking about.”  </a:t>
            </a:r>
          </a:p>
          <a:p>
            <a:pPr>
              <a:lnSpc>
                <a:spcPct val="90000"/>
              </a:lnSpc>
            </a:pPr>
            <a:endParaRPr lang="en-GB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rgbClr val="FFFFFF"/>
                </a:solidFill>
              </a:rPr>
              <a:t>“The doctor asked the nurse a question. He asked her if she ever had a heart attack”.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41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F843B-2517-99A3-5B4A-3224BEF2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Model view</a:t>
            </a:r>
            <a:endParaRPr lang="en-GB">
              <a:solidFill>
                <a:srgbClr val="EBEBEB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AF7E53-C1DE-5A69-8776-3A2973945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36" y="1107940"/>
            <a:ext cx="4828707" cy="46597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A9F4D3-35EB-0AB2-D2C6-B484F977F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r>
              <a:rPr lang="en-GB" dirty="0"/>
              <a:t>The model view provides birds eye view of attention across all the model’s layers and heads for a particular input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Users can also click on any head to enlarge tokens, and access attention head view.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04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AD28B-21C9-B989-D3D7-D64ACD041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Neuron view</a:t>
            </a:r>
            <a:endParaRPr lang="en-GB" dirty="0">
              <a:solidFill>
                <a:srgbClr val="EBEBEB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949CFD-6233-59C4-84DC-CAFE55838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83" y="1160733"/>
            <a:ext cx="6188646" cy="531283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021474-5B8D-FA08-28D2-297605824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r>
              <a:rPr lang="en-GB" dirty="0"/>
              <a:t>visualizes the individual neurons in the query and key vectors and shows how they interact to produce attention</a:t>
            </a:r>
          </a:p>
          <a:p>
            <a:endParaRPr lang="en-GB" dirty="0"/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The attention decays with increasing distance from the source token.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dirty="0"/>
          </a:p>
          <a:p>
            <a:endParaRPr lang="en-GB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459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23476-7F63-86F2-9702-0089278F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Neuron view</a:t>
            </a:r>
            <a:endParaRPr lang="en-GB" dirty="0">
              <a:solidFill>
                <a:srgbClr val="EBEBEB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FC7B41-3543-803B-91F4-3BF1A7685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709" y="1028785"/>
            <a:ext cx="5889291" cy="5541265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0FA8B1-E5E0-0EAD-41DB-C992204CC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223" y="1523128"/>
            <a:ext cx="5132439" cy="381174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7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FFFFFF"/>
                </a:solidFill>
              </a:rPr>
              <a:t>a small number of neuron positions appear to be mostly responsible for the distance decaying attention pattern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FFFFFF"/>
                </a:solidFill>
              </a:rPr>
              <a:t>at this neuron positions, the element-wise product q x k decreases as the distance from source token decreases (either becoming darker orange or lighter blue)</a:t>
            </a:r>
          </a:p>
        </p:txBody>
      </p:sp>
    </p:spTree>
    <p:extLst>
      <p:ext uri="{BB962C8B-B14F-4D97-AF65-F5344CB8AC3E}">
        <p14:creationId xmlns:p14="http://schemas.microsoft.com/office/powerpoint/2010/main" val="825023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68F5-44A8-2AB7-B2ED-56DAD979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Supervisors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4C74-B930-D4F0-3554-1CE8F2B9C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Optimize the code to be more understandable</a:t>
            </a:r>
          </a:p>
          <a:p>
            <a:r>
              <a:rPr lang="en-GB" dirty="0"/>
              <a:t>What kind of visualization is required in the industry e.g. health field, finance </a:t>
            </a:r>
            <a:r>
              <a:rPr lang="en-GB"/>
              <a:t>field etc.</a:t>
            </a:r>
            <a:endParaRPr lang="en-GB" dirty="0"/>
          </a:p>
          <a:p>
            <a:r>
              <a:rPr lang="en-GB" dirty="0"/>
              <a:t>Focus on integrating front end for visualization of components</a:t>
            </a:r>
          </a:p>
          <a:p>
            <a:r>
              <a:rPr lang="en-GB" dirty="0"/>
              <a:t>Start working towards an early-stage prototype</a:t>
            </a:r>
          </a:p>
          <a:p>
            <a:r>
              <a:rPr lang="en-GB" dirty="0"/>
              <a:t>Look at the very recent papers to understand the recent landscape XAI with visual analytics for transformer</a:t>
            </a:r>
          </a:p>
          <a:p>
            <a:r>
              <a:rPr lang="en-GB" dirty="0"/>
              <a:t>Get a list of the required training and learning needed to complete this project</a:t>
            </a:r>
          </a:p>
          <a:p>
            <a:r>
              <a:rPr lang="en-GB" dirty="0"/>
              <a:t>Start working towards publishing a literature review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33658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893</Words>
  <Application>Microsoft Office PowerPoint</Application>
  <PresentationFormat>Widescreen</PresentationFormat>
  <Paragraphs>150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Century Gothic</vt:lpstr>
      <vt:lpstr>Wingdings 3</vt:lpstr>
      <vt:lpstr>Ion Boardroom</vt:lpstr>
      <vt:lpstr>PHD Progression 10</vt:lpstr>
      <vt:lpstr>LLM architecture</vt:lpstr>
      <vt:lpstr>Transformer Block in GPT</vt:lpstr>
      <vt:lpstr>Layer Normalization</vt:lpstr>
      <vt:lpstr>Layer Normalization</vt:lpstr>
      <vt:lpstr>feed forward (GELU Activation function )</vt:lpstr>
      <vt:lpstr>feed forward (GELU Activation function )</vt:lpstr>
      <vt:lpstr>Advantages of GELU over RELU for LLMs</vt:lpstr>
      <vt:lpstr>Shortcut connections</vt:lpstr>
      <vt:lpstr>LLM architecture</vt:lpstr>
      <vt:lpstr>Linear output head</vt:lpstr>
      <vt:lpstr>Linear output head</vt:lpstr>
      <vt:lpstr> A Multiscale Visualization of Attention in Transformers -Jesse Vig</vt:lpstr>
      <vt:lpstr>Introduction</vt:lpstr>
      <vt:lpstr>BERTVIZ Views</vt:lpstr>
      <vt:lpstr>Attention head view</vt:lpstr>
      <vt:lpstr>Attention head view</vt:lpstr>
      <vt:lpstr>Attention head view</vt:lpstr>
      <vt:lpstr>Attention head view</vt:lpstr>
      <vt:lpstr>Use case for attention-head view</vt:lpstr>
      <vt:lpstr>Model view</vt:lpstr>
      <vt:lpstr>Neuron view</vt:lpstr>
      <vt:lpstr>Neuron view</vt:lpstr>
      <vt:lpstr>Supervisors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Olanrewaju, Emmanuel (Student)</dc:creator>
  <cp:lastModifiedBy>Olanrewaju, Emmanuel (Student)</cp:lastModifiedBy>
  <cp:revision>1</cp:revision>
  <dcterms:created xsi:type="dcterms:W3CDTF">2026-01-29T22:00:17Z</dcterms:created>
  <dcterms:modified xsi:type="dcterms:W3CDTF">2026-02-03T14:36:35Z</dcterms:modified>
</cp:coreProperties>
</file>