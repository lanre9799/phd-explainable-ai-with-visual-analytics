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8" r:id="rId12"/>
    <p:sldId id="269" r:id="rId13"/>
    <p:sldId id="270" r:id="rId14"/>
    <p:sldId id="271" r:id="rId15"/>
    <p:sldId id="272" r:id="rId16"/>
    <p:sldId id="274" r:id="rId17"/>
    <p:sldId id="273" r:id="rId18"/>
    <p:sldId id="276" r:id="rId19"/>
    <p:sldId id="275" r:id="rId20"/>
    <p:sldId id="277" r:id="rId21"/>
    <p:sldId id="278" r:id="rId22"/>
    <p:sldId id="279" r:id="rId23"/>
    <p:sldId id="280" r:id="rId24"/>
    <p:sldId id="281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anrewaju, Emmanuel (Student)" userId="856d88a3-a0f5-4502-a208-88adfba07448" providerId="ADAL" clId="{D34ADB89-9553-4F7A-AB9F-7E09DCC0A1DE}"/>
    <pc:docChg chg="custSel modSld sldOrd">
      <pc:chgData name="Olanrewaju, Emmanuel (Student)" userId="856d88a3-a0f5-4502-a208-88adfba07448" providerId="ADAL" clId="{D34ADB89-9553-4F7A-AB9F-7E09DCC0A1DE}" dt="2026-03-25T14:11:30.342" v="583" actId="1076"/>
      <pc:docMkLst>
        <pc:docMk/>
      </pc:docMkLst>
      <pc:sldChg chg="modSp mod">
        <pc:chgData name="Olanrewaju, Emmanuel (Student)" userId="856d88a3-a0f5-4502-a208-88adfba07448" providerId="ADAL" clId="{D34ADB89-9553-4F7A-AB9F-7E09DCC0A1DE}" dt="2026-03-25T14:11:30.342" v="583" actId="1076"/>
        <pc:sldMkLst>
          <pc:docMk/>
          <pc:sldMk cId="1987225625" sldId="273"/>
        </pc:sldMkLst>
        <pc:picChg chg="mod">
          <ac:chgData name="Olanrewaju, Emmanuel (Student)" userId="856d88a3-a0f5-4502-a208-88adfba07448" providerId="ADAL" clId="{D34ADB89-9553-4F7A-AB9F-7E09DCC0A1DE}" dt="2026-03-25T14:11:30.342" v="583" actId="1076"/>
          <ac:picMkLst>
            <pc:docMk/>
            <pc:sldMk cId="1987225625" sldId="273"/>
            <ac:picMk id="7" creationId="{4DCC4EBD-168C-5305-BFA3-AA7E8147204E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6A7E1D2-679A-4DBF-8934-865165B4CD7E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4C863A0-252F-4B85-B6C4-778B9FF8EB66}">
      <dgm:prSet/>
      <dgm:spPr/>
      <dgm:t>
        <a:bodyPr/>
        <a:lstStyle/>
        <a:p>
          <a:r>
            <a:rPr lang="en-GB"/>
            <a:t>Progress in NLP tasks since introducing the attention mechanism with the use of transformers</a:t>
          </a:r>
          <a:endParaRPr lang="en-US"/>
        </a:p>
      </dgm:t>
    </dgm:pt>
    <dgm:pt modelId="{4783C6AC-E0B2-4B44-93D1-1D0BBD54DC27}" type="parTrans" cxnId="{6290395A-4A28-40C4-B202-F04BC6429CF4}">
      <dgm:prSet/>
      <dgm:spPr/>
      <dgm:t>
        <a:bodyPr/>
        <a:lstStyle/>
        <a:p>
          <a:endParaRPr lang="en-US"/>
        </a:p>
      </dgm:t>
    </dgm:pt>
    <dgm:pt modelId="{8A0B25A6-7FBA-45CD-AC79-4E3D1459E06C}" type="sibTrans" cxnId="{6290395A-4A28-40C4-B202-F04BC6429CF4}">
      <dgm:prSet/>
      <dgm:spPr/>
      <dgm:t>
        <a:bodyPr/>
        <a:lstStyle/>
        <a:p>
          <a:endParaRPr lang="en-US"/>
        </a:p>
      </dgm:t>
    </dgm:pt>
    <dgm:pt modelId="{C3E7781F-433A-488F-BED5-6BD15EC64D55}">
      <dgm:prSet/>
      <dgm:spPr/>
      <dgm:t>
        <a:bodyPr/>
        <a:lstStyle/>
        <a:p>
          <a:r>
            <a:rPr lang="en-GB"/>
            <a:t>Recurrent networks were previously used, and lacked the ability to understand context, especially in longer sequences.</a:t>
          </a:r>
          <a:endParaRPr lang="en-US"/>
        </a:p>
      </dgm:t>
    </dgm:pt>
    <dgm:pt modelId="{0DDA9A6A-351C-4442-BBBF-E56E6FF812D8}" type="parTrans" cxnId="{30489AE6-3A3A-4C55-A9A0-2FBC4BAD2553}">
      <dgm:prSet/>
      <dgm:spPr/>
      <dgm:t>
        <a:bodyPr/>
        <a:lstStyle/>
        <a:p>
          <a:endParaRPr lang="en-US"/>
        </a:p>
      </dgm:t>
    </dgm:pt>
    <dgm:pt modelId="{5FEA93DD-F14D-414D-8916-1900EDF2741C}" type="sibTrans" cxnId="{30489AE6-3A3A-4C55-A9A0-2FBC4BAD2553}">
      <dgm:prSet/>
      <dgm:spPr/>
      <dgm:t>
        <a:bodyPr/>
        <a:lstStyle/>
        <a:p>
          <a:endParaRPr lang="en-US"/>
        </a:p>
      </dgm:t>
    </dgm:pt>
    <dgm:pt modelId="{3B87A489-2736-4196-B2EA-DE1FF5622702}">
      <dgm:prSet/>
      <dgm:spPr/>
      <dgm:t>
        <a:bodyPr/>
        <a:lstStyle/>
        <a:p>
          <a:r>
            <a:rPr lang="en-GB"/>
            <a:t>The major challenge visualizing attention now are multiple attention heads producing different patterns in multiple layers.</a:t>
          </a:r>
          <a:endParaRPr lang="en-US"/>
        </a:p>
      </dgm:t>
    </dgm:pt>
    <dgm:pt modelId="{775DC5C1-7B7D-44BA-B74E-5BEA4DE724CD}" type="parTrans" cxnId="{A7E2A462-68E1-46A3-B807-C547A569C7E7}">
      <dgm:prSet/>
      <dgm:spPr/>
      <dgm:t>
        <a:bodyPr/>
        <a:lstStyle/>
        <a:p>
          <a:endParaRPr lang="en-US"/>
        </a:p>
      </dgm:t>
    </dgm:pt>
    <dgm:pt modelId="{CAAAF675-B490-48C2-B5CD-CDA18AA6E8CC}" type="sibTrans" cxnId="{A7E2A462-68E1-46A3-B807-C547A569C7E7}">
      <dgm:prSet/>
      <dgm:spPr/>
      <dgm:t>
        <a:bodyPr/>
        <a:lstStyle/>
        <a:p>
          <a:endParaRPr lang="en-US"/>
        </a:p>
      </dgm:t>
    </dgm:pt>
    <dgm:pt modelId="{84FA0CF4-2B14-4475-A74A-F81E1019D68D}" type="pres">
      <dgm:prSet presAssocID="{26A7E1D2-679A-4DBF-8934-865165B4CD7E}" presName="linear" presStyleCnt="0">
        <dgm:presLayoutVars>
          <dgm:animLvl val="lvl"/>
          <dgm:resizeHandles val="exact"/>
        </dgm:presLayoutVars>
      </dgm:prSet>
      <dgm:spPr/>
    </dgm:pt>
    <dgm:pt modelId="{B66D7C7E-D1A4-432B-96AA-31C991273F14}" type="pres">
      <dgm:prSet presAssocID="{74C863A0-252F-4B85-B6C4-778B9FF8EB6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F168DE60-DC8D-4C57-85C4-F8FAE9717A5C}" type="pres">
      <dgm:prSet presAssocID="{8A0B25A6-7FBA-45CD-AC79-4E3D1459E06C}" presName="spacer" presStyleCnt="0"/>
      <dgm:spPr/>
    </dgm:pt>
    <dgm:pt modelId="{C42664AA-C504-4479-88B8-68CB6A294540}" type="pres">
      <dgm:prSet presAssocID="{C3E7781F-433A-488F-BED5-6BD15EC64D5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7EA5E3E4-3B07-47CD-89BB-05A0847E4FB9}" type="pres">
      <dgm:prSet presAssocID="{5FEA93DD-F14D-414D-8916-1900EDF2741C}" presName="spacer" presStyleCnt="0"/>
      <dgm:spPr/>
    </dgm:pt>
    <dgm:pt modelId="{4F2F4D80-1F00-4285-83B1-4736D5128015}" type="pres">
      <dgm:prSet presAssocID="{3B87A489-2736-4196-B2EA-DE1FF5622702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11E45E00-06C9-4C61-8A0B-8EC5A519A1D4}" type="presOf" srcId="{74C863A0-252F-4B85-B6C4-778B9FF8EB66}" destId="{B66D7C7E-D1A4-432B-96AA-31C991273F14}" srcOrd="0" destOrd="0" presId="urn:microsoft.com/office/officeart/2005/8/layout/vList2"/>
    <dgm:cxn modelId="{B56AAE05-4DCB-4CDB-870D-F4BAAA86C30A}" type="presOf" srcId="{26A7E1D2-679A-4DBF-8934-865165B4CD7E}" destId="{84FA0CF4-2B14-4475-A74A-F81E1019D68D}" srcOrd="0" destOrd="0" presId="urn:microsoft.com/office/officeart/2005/8/layout/vList2"/>
    <dgm:cxn modelId="{622D051F-267A-4F6B-8010-CC9E19FBC21C}" type="presOf" srcId="{C3E7781F-433A-488F-BED5-6BD15EC64D55}" destId="{C42664AA-C504-4479-88B8-68CB6A294540}" srcOrd="0" destOrd="0" presId="urn:microsoft.com/office/officeart/2005/8/layout/vList2"/>
    <dgm:cxn modelId="{A7E2A462-68E1-46A3-B807-C547A569C7E7}" srcId="{26A7E1D2-679A-4DBF-8934-865165B4CD7E}" destId="{3B87A489-2736-4196-B2EA-DE1FF5622702}" srcOrd="2" destOrd="0" parTransId="{775DC5C1-7B7D-44BA-B74E-5BEA4DE724CD}" sibTransId="{CAAAF675-B490-48C2-B5CD-CDA18AA6E8CC}"/>
    <dgm:cxn modelId="{6F234E56-5E27-4521-A17E-2E8B048E813B}" type="presOf" srcId="{3B87A489-2736-4196-B2EA-DE1FF5622702}" destId="{4F2F4D80-1F00-4285-83B1-4736D5128015}" srcOrd="0" destOrd="0" presId="urn:microsoft.com/office/officeart/2005/8/layout/vList2"/>
    <dgm:cxn modelId="{6290395A-4A28-40C4-B202-F04BC6429CF4}" srcId="{26A7E1D2-679A-4DBF-8934-865165B4CD7E}" destId="{74C863A0-252F-4B85-B6C4-778B9FF8EB66}" srcOrd="0" destOrd="0" parTransId="{4783C6AC-E0B2-4B44-93D1-1D0BBD54DC27}" sibTransId="{8A0B25A6-7FBA-45CD-AC79-4E3D1459E06C}"/>
    <dgm:cxn modelId="{30489AE6-3A3A-4C55-A9A0-2FBC4BAD2553}" srcId="{26A7E1D2-679A-4DBF-8934-865165B4CD7E}" destId="{C3E7781F-433A-488F-BED5-6BD15EC64D55}" srcOrd="1" destOrd="0" parTransId="{0DDA9A6A-351C-4442-BBBF-E56E6FF812D8}" sibTransId="{5FEA93DD-F14D-414D-8916-1900EDF2741C}"/>
    <dgm:cxn modelId="{09DC2F81-25AC-4BC1-99AA-2EFCBCD28CD1}" type="presParOf" srcId="{84FA0CF4-2B14-4475-A74A-F81E1019D68D}" destId="{B66D7C7E-D1A4-432B-96AA-31C991273F14}" srcOrd="0" destOrd="0" presId="urn:microsoft.com/office/officeart/2005/8/layout/vList2"/>
    <dgm:cxn modelId="{255A1B30-326C-4BEF-A875-A5CA88BAD706}" type="presParOf" srcId="{84FA0CF4-2B14-4475-A74A-F81E1019D68D}" destId="{F168DE60-DC8D-4C57-85C4-F8FAE9717A5C}" srcOrd="1" destOrd="0" presId="urn:microsoft.com/office/officeart/2005/8/layout/vList2"/>
    <dgm:cxn modelId="{00D7CC3C-A4F2-467D-B784-2979A83F2E08}" type="presParOf" srcId="{84FA0CF4-2B14-4475-A74A-F81E1019D68D}" destId="{C42664AA-C504-4479-88B8-68CB6A294540}" srcOrd="2" destOrd="0" presId="urn:microsoft.com/office/officeart/2005/8/layout/vList2"/>
    <dgm:cxn modelId="{87F4E70F-F611-4A7E-848A-25FE91C8D9A6}" type="presParOf" srcId="{84FA0CF4-2B14-4475-A74A-F81E1019D68D}" destId="{7EA5E3E4-3B07-47CD-89BB-05A0847E4FB9}" srcOrd="3" destOrd="0" presId="urn:microsoft.com/office/officeart/2005/8/layout/vList2"/>
    <dgm:cxn modelId="{F536C606-2C42-4C6D-B4DF-12F208AB7391}" type="presParOf" srcId="{84FA0CF4-2B14-4475-A74A-F81E1019D68D}" destId="{4F2F4D80-1F00-4285-83B1-4736D5128015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9FD519D-272D-4DF7-9710-D93CEF76AE06}" type="doc">
      <dgm:prSet loTypeId="urn:microsoft.com/office/officeart/2005/8/layout/vList5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550D740E-3EA6-46D7-813A-A365183EFBA5}">
      <dgm:prSet/>
      <dgm:spPr/>
      <dgm:t>
        <a:bodyPr/>
        <a:lstStyle/>
        <a:p>
          <a:r>
            <a:rPr lang="en-GB" dirty="0"/>
            <a:t>The three views used in this tool for GPT and BERT are</a:t>
          </a:r>
          <a:endParaRPr lang="en-US" dirty="0"/>
        </a:p>
      </dgm:t>
    </dgm:pt>
    <dgm:pt modelId="{2850938C-9210-46F1-A80C-AE773991FA6D}" type="parTrans" cxnId="{D72A338C-D88D-45B1-BD62-6F13BD566CE0}">
      <dgm:prSet/>
      <dgm:spPr/>
      <dgm:t>
        <a:bodyPr/>
        <a:lstStyle/>
        <a:p>
          <a:endParaRPr lang="en-US"/>
        </a:p>
      </dgm:t>
    </dgm:pt>
    <dgm:pt modelId="{90051B75-47F3-4160-A6BC-2B4D00203B1F}" type="sibTrans" cxnId="{D72A338C-D88D-45B1-BD62-6F13BD566CE0}">
      <dgm:prSet/>
      <dgm:spPr/>
      <dgm:t>
        <a:bodyPr/>
        <a:lstStyle/>
        <a:p>
          <a:endParaRPr lang="en-US"/>
        </a:p>
      </dgm:t>
    </dgm:pt>
    <dgm:pt modelId="{724F60D6-2DE3-45C0-A34B-C1948B4650C6}">
      <dgm:prSet/>
      <dgm:spPr/>
      <dgm:t>
        <a:bodyPr/>
        <a:lstStyle/>
        <a:p>
          <a:r>
            <a:rPr lang="en-GB" dirty="0"/>
            <a:t>attention-head view,</a:t>
          </a:r>
          <a:endParaRPr lang="en-US" dirty="0"/>
        </a:p>
      </dgm:t>
    </dgm:pt>
    <dgm:pt modelId="{567CD17D-7C20-4AEB-AC95-A3D94A0A84D6}" type="parTrans" cxnId="{B477318D-7FB2-40F5-9A4F-21C0AFE65D2D}">
      <dgm:prSet/>
      <dgm:spPr/>
      <dgm:t>
        <a:bodyPr/>
        <a:lstStyle/>
        <a:p>
          <a:endParaRPr lang="en-US"/>
        </a:p>
      </dgm:t>
    </dgm:pt>
    <dgm:pt modelId="{DBD21CDA-7F95-48BB-8DF4-AA7AD1CBBAFA}" type="sibTrans" cxnId="{B477318D-7FB2-40F5-9A4F-21C0AFE65D2D}">
      <dgm:prSet/>
      <dgm:spPr/>
      <dgm:t>
        <a:bodyPr/>
        <a:lstStyle/>
        <a:p>
          <a:endParaRPr lang="en-US"/>
        </a:p>
      </dgm:t>
    </dgm:pt>
    <dgm:pt modelId="{2839E5F2-5022-4F8F-AA9B-EE3C5E00883C}">
      <dgm:prSet/>
      <dgm:spPr/>
      <dgm:t>
        <a:bodyPr/>
        <a:lstStyle/>
        <a:p>
          <a:r>
            <a:rPr lang="en-GB"/>
            <a:t>model view, </a:t>
          </a:r>
          <a:endParaRPr lang="en-US"/>
        </a:p>
      </dgm:t>
    </dgm:pt>
    <dgm:pt modelId="{592A3EC1-1C77-4D09-8CCE-15FD7F40287D}" type="parTrans" cxnId="{EA356294-0D3B-4965-B707-9A792FCDADDC}">
      <dgm:prSet/>
      <dgm:spPr/>
      <dgm:t>
        <a:bodyPr/>
        <a:lstStyle/>
        <a:p>
          <a:endParaRPr lang="en-US"/>
        </a:p>
      </dgm:t>
    </dgm:pt>
    <dgm:pt modelId="{5A970FB6-0C16-4351-8960-71547962F1B4}" type="sibTrans" cxnId="{EA356294-0D3B-4965-B707-9A792FCDADDC}">
      <dgm:prSet/>
      <dgm:spPr/>
      <dgm:t>
        <a:bodyPr/>
        <a:lstStyle/>
        <a:p>
          <a:endParaRPr lang="en-US"/>
        </a:p>
      </dgm:t>
    </dgm:pt>
    <dgm:pt modelId="{D9CF9055-54D1-4A3E-8070-D6A4C9A2920E}">
      <dgm:prSet/>
      <dgm:spPr/>
      <dgm:t>
        <a:bodyPr/>
        <a:lstStyle/>
        <a:p>
          <a:r>
            <a:rPr lang="en-GB"/>
            <a:t>neuron view</a:t>
          </a:r>
          <a:endParaRPr lang="en-US"/>
        </a:p>
      </dgm:t>
    </dgm:pt>
    <dgm:pt modelId="{A61A7768-87EF-4E6D-B212-0BD08208F5D9}" type="parTrans" cxnId="{BFF82BC6-0338-4C4E-A380-5FBC8EEA086C}">
      <dgm:prSet/>
      <dgm:spPr/>
      <dgm:t>
        <a:bodyPr/>
        <a:lstStyle/>
        <a:p>
          <a:endParaRPr lang="en-US"/>
        </a:p>
      </dgm:t>
    </dgm:pt>
    <dgm:pt modelId="{37ACD781-621D-44E3-806D-2C0A03C20E29}" type="sibTrans" cxnId="{BFF82BC6-0338-4C4E-A380-5FBC8EEA086C}">
      <dgm:prSet/>
      <dgm:spPr/>
      <dgm:t>
        <a:bodyPr/>
        <a:lstStyle/>
        <a:p>
          <a:endParaRPr lang="en-US"/>
        </a:p>
      </dgm:t>
    </dgm:pt>
    <dgm:pt modelId="{AC22966F-1B97-481F-B57A-24878FE3E4BF}" type="pres">
      <dgm:prSet presAssocID="{69FD519D-272D-4DF7-9710-D93CEF76AE06}" presName="Name0" presStyleCnt="0">
        <dgm:presLayoutVars>
          <dgm:dir/>
          <dgm:animLvl val="lvl"/>
          <dgm:resizeHandles val="exact"/>
        </dgm:presLayoutVars>
      </dgm:prSet>
      <dgm:spPr/>
    </dgm:pt>
    <dgm:pt modelId="{94252CA2-3B5A-4CF7-BC84-75C332F6B895}" type="pres">
      <dgm:prSet presAssocID="{550D740E-3EA6-46D7-813A-A365183EFBA5}" presName="linNode" presStyleCnt="0"/>
      <dgm:spPr/>
    </dgm:pt>
    <dgm:pt modelId="{423F601B-4D43-49F4-9989-779A82C7A90C}" type="pres">
      <dgm:prSet presAssocID="{550D740E-3EA6-46D7-813A-A365183EFBA5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F4B00162-D606-47AC-BA37-1FDFA4845187}" type="pres">
      <dgm:prSet presAssocID="{90051B75-47F3-4160-A6BC-2B4D00203B1F}" presName="sp" presStyleCnt="0"/>
      <dgm:spPr/>
    </dgm:pt>
    <dgm:pt modelId="{4BBA3768-0FB0-4419-9C6A-C6DE169B605B}" type="pres">
      <dgm:prSet presAssocID="{724F60D6-2DE3-45C0-A34B-C1948B4650C6}" presName="linNode" presStyleCnt="0"/>
      <dgm:spPr/>
    </dgm:pt>
    <dgm:pt modelId="{A2DFC720-C5B9-41DF-A807-B69E453C75EB}" type="pres">
      <dgm:prSet presAssocID="{724F60D6-2DE3-45C0-A34B-C1948B4650C6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ECAB6362-F1FC-4940-A1C8-F67F892EB6A8}" type="pres">
      <dgm:prSet presAssocID="{DBD21CDA-7F95-48BB-8DF4-AA7AD1CBBAFA}" presName="sp" presStyleCnt="0"/>
      <dgm:spPr/>
    </dgm:pt>
    <dgm:pt modelId="{1DE8A252-E957-4723-A712-78FB264EC806}" type="pres">
      <dgm:prSet presAssocID="{2839E5F2-5022-4F8F-AA9B-EE3C5E00883C}" presName="linNode" presStyleCnt="0"/>
      <dgm:spPr/>
    </dgm:pt>
    <dgm:pt modelId="{ECD0033E-38B6-458B-A619-A3291FBDCE11}" type="pres">
      <dgm:prSet presAssocID="{2839E5F2-5022-4F8F-AA9B-EE3C5E00883C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F1D2222D-100C-448B-8309-65398AC15D63}" type="pres">
      <dgm:prSet presAssocID="{5A970FB6-0C16-4351-8960-71547962F1B4}" presName="sp" presStyleCnt="0"/>
      <dgm:spPr/>
    </dgm:pt>
    <dgm:pt modelId="{3E383D0A-EA81-4E24-B56E-99C7F497AA36}" type="pres">
      <dgm:prSet presAssocID="{D9CF9055-54D1-4A3E-8070-D6A4C9A2920E}" presName="linNode" presStyleCnt="0"/>
      <dgm:spPr/>
    </dgm:pt>
    <dgm:pt modelId="{82A7DD2C-826A-4DB3-A57F-1D51B8647468}" type="pres">
      <dgm:prSet presAssocID="{D9CF9055-54D1-4A3E-8070-D6A4C9A2920E}" presName="parentText" presStyleLbl="node1" presStyleIdx="3" presStyleCnt="4">
        <dgm:presLayoutVars>
          <dgm:chMax val="1"/>
          <dgm:bulletEnabled val="1"/>
        </dgm:presLayoutVars>
      </dgm:prSet>
      <dgm:spPr/>
    </dgm:pt>
  </dgm:ptLst>
  <dgm:cxnLst>
    <dgm:cxn modelId="{C1294053-A679-477D-9759-AD5AD402D94F}" type="presOf" srcId="{724F60D6-2DE3-45C0-A34B-C1948B4650C6}" destId="{A2DFC720-C5B9-41DF-A807-B69E453C75EB}" srcOrd="0" destOrd="0" presId="urn:microsoft.com/office/officeart/2005/8/layout/vList5"/>
    <dgm:cxn modelId="{C7B8E281-3833-4EED-A099-B21A20F5493C}" type="presOf" srcId="{550D740E-3EA6-46D7-813A-A365183EFBA5}" destId="{423F601B-4D43-49F4-9989-779A82C7A90C}" srcOrd="0" destOrd="0" presId="urn:microsoft.com/office/officeart/2005/8/layout/vList5"/>
    <dgm:cxn modelId="{D72A338C-D88D-45B1-BD62-6F13BD566CE0}" srcId="{69FD519D-272D-4DF7-9710-D93CEF76AE06}" destId="{550D740E-3EA6-46D7-813A-A365183EFBA5}" srcOrd="0" destOrd="0" parTransId="{2850938C-9210-46F1-A80C-AE773991FA6D}" sibTransId="{90051B75-47F3-4160-A6BC-2B4D00203B1F}"/>
    <dgm:cxn modelId="{B477318D-7FB2-40F5-9A4F-21C0AFE65D2D}" srcId="{69FD519D-272D-4DF7-9710-D93CEF76AE06}" destId="{724F60D6-2DE3-45C0-A34B-C1948B4650C6}" srcOrd="1" destOrd="0" parTransId="{567CD17D-7C20-4AEB-AC95-A3D94A0A84D6}" sibTransId="{DBD21CDA-7F95-48BB-8DF4-AA7AD1CBBAFA}"/>
    <dgm:cxn modelId="{EA356294-0D3B-4965-B707-9A792FCDADDC}" srcId="{69FD519D-272D-4DF7-9710-D93CEF76AE06}" destId="{2839E5F2-5022-4F8F-AA9B-EE3C5E00883C}" srcOrd="2" destOrd="0" parTransId="{592A3EC1-1C77-4D09-8CCE-15FD7F40287D}" sibTransId="{5A970FB6-0C16-4351-8960-71547962F1B4}"/>
    <dgm:cxn modelId="{F288E8A4-EE62-4FC2-A00E-0E7FDB4512CD}" type="presOf" srcId="{2839E5F2-5022-4F8F-AA9B-EE3C5E00883C}" destId="{ECD0033E-38B6-458B-A619-A3291FBDCE11}" srcOrd="0" destOrd="0" presId="urn:microsoft.com/office/officeart/2005/8/layout/vList5"/>
    <dgm:cxn modelId="{BFF82BC6-0338-4C4E-A380-5FBC8EEA086C}" srcId="{69FD519D-272D-4DF7-9710-D93CEF76AE06}" destId="{D9CF9055-54D1-4A3E-8070-D6A4C9A2920E}" srcOrd="3" destOrd="0" parTransId="{A61A7768-87EF-4E6D-B212-0BD08208F5D9}" sibTransId="{37ACD781-621D-44E3-806D-2C0A03C20E29}"/>
    <dgm:cxn modelId="{2E61EDCA-54C1-47D7-90E0-377956CA78BA}" type="presOf" srcId="{69FD519D-272D-4DF7-9710-D93CEF76AE06}" destId="{AC22966F-1B97-481F-B57A-24878FE3E4BF}" srcOrd="0" destOrd="0" presId="urn:microsoft.com/office/officeart/2005/8/layout/vList5"/>
    <dgm:cxn modelId="{934333F8-B412-4FDB-A65D-6EBE4F6945CF}" type="presOf" srcId="{D9CF9055-54D1-4A3E-8070-D6A4C9A2920E}" destId="{82A7DD2C-826A-4DB3-A57F-1D51B8647468}" srcOrd="0" destOrd="0" presId="urn:microsoft.com/office/officeart/2005/8/layout/vList5"/>
    <dgm:cxn modelId="{3DA91C7A-859C-4261-988B-AAE5063C996E}" type="presParOf" srcId="{AC22966F-1B97-481F-B57A-24878FE3E4BF}" destId="{94252CA2-3B5A-4CF7-BC84-75C332F6B895}" srcOrd="0" destOrd="0" presId="urn:microsoft.com/office/officeart/2005/8/layout/vList5"/>
    <dgm:cxn modelId="{CAC093BC-EF48-493F-A7B0-E9F3A2C9C998}" type="presParOf" srcId="{94252CA2-3B5A-4CF7-BC84-75C332F6B895}" destId="{423F601B-4D43-49F4-9989-779A82C7A90C}" srcOrd="0" destOrd="0" presId="urn:microsoft.com/office/officeart/2005/8/layout/vList5"/>
    <dgm:cxn modelId="{76798FF3-A143-4225-9CA6-EF78A7D827A2}" type="presParOf" srcId="{AC22966F-1B97-481F-B57A-24878FE3E4BF}" destId="{F4B00162-D606-47AC-BA37-1FDFA4845187}" srcOrd="1" destOrd="0" presId="urn:microsoft.com/office/officeart/2005/8/layout/vList5"/>
    <dgm:cxn modelId="{E8494221-B986-48B4-AF0E-5EBE8593C9EE}" type="presParOf" srcId="{AC22966F-1B97-481F-B57A-24878FE3E4BF}" destId="{4BBA3768-0FB0-4419-9C6A-C6DE169B605B}" srcOrd="2" destOrd="0" presId="urn:microsoft.com/office/officeart/2005/8/layout/vList5"/>
    <dgm:cxn modelId="{FF67EDAF-E7B8-409B-B528-E74D78B1F4CA}" type="presParOf" srcId="{4BBA3768-0FB0-4419-9C6A-C6DE169B605B}" destId="{A2DFC720-C5B9-41DF-A807-B69E453C75EB}" srcOrd="0" destOrd="0" presId="urn:microsoft.com/office/officeart/2005/8/layout/vList5"/>
    <dgm:cxn modelId="{E4D69857-99CA-4C17-943D-A0DDC571EB8A}" type="presParOf" srcId="{AC22966F-1B97-481F-B57A-24878FE3E4BF}" destId="{ECAB6362-F1FC-4940-A1C8-F67F892EB6A8}" srcOrd="3" destOrd="0" presId="urn:microsoft.com/office/officeart/2005/8/layout/vList5"/>
    <dgm:cxn modelId="{AC047CE9-8906-4A1F-9458-3215B2E90C81}" type="presParOf" srcId="{AC22966F-1B97-481F-B57A-24878FE3E4BF}" destId="{1DE8A252-E957-4723-A712-78FB264EC806}" srcOrd="4" destOrd="0" presId="urn:microsoft.com/office/officeart/2005/8/layout/vList5"/>
    <dgm:cxn modelId="{3901FB28-42B4-4190-A576-F10C228AC276}" type="presParOf" srcId="{1DE8A252-E957-4723-A712-78FB264EC806}" destId="{ECD0033E-38B6-458B-A619-A3291FBDCE11}" srcOrd="0" destOrd="0" presId="urn:microsoft.com/office/officeart/2005/8/layout/vList5"/>
    <dgm:cxn modelId="{E09B9C4E-005E-43B2-834E-73BAB44B8037}" type="presParOf" srcId="{AC22966F-1B97-481F-B57A-24878FE3E4BF}" destId="{F1D2222D-100C-448B-8309-65398AC15D63}" srcOrd="5" destOrd="0" presId="urn:microsoft.com/office/officeart/2005/8/layout/vList5"/>
    <dgm:cxn modelId="{5DEB402A-A87F-47B7-8B78-6E43B39335A2}" type="presParOf" srcId="{AC22966F-1B97-481F-B57A-24878FE3E4BF}" destId="{3E383D0A-EA81-4E24-B56E-99C7F497AA36}" srcOrd="6" destOrd="0" presId="urn:microsoft.com/office/officeart/2005/8/layout/vList5"/>
    <dgm:cxn modelId="{72B79988-F11D-480D-A907-3C145C4233C2}" type="presParOf" srcId="{3E383D0A-EA81-4E24-B56E-99C7F497AA36}" destId="{82A7DD2C-826A-4DB3-A57F-1D51B8647468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66D7C7E-D1A4-432B-96AA-31C991273F14}">
      <dsp:nvSpPr>
        <dsp:cNvPr id="0" name=""/>
        <dsp:cNvSpPr/>
      </dsp:nvSpPr>
      <dsp:spPr>
        <a:xfrm>
          <a:off x="0" y="74655"/>
          <a:ext cx="6391275" cy="165496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Progress in NLP tasks since introducing the attention mechanism with the use of transformers</a:t>
          </a:r>
          <a:endParaRPr lang="en-US" sz="2300" kern="1200"/>
        </a:p>
      </dsp:txBody>
      <dsp:txXfrm>
        <a:off x="80789" y="155444"/>
        <a:ext cx="6229697" cy="1493387"/>
      </dsp:txXfrm>
    </dsp:sp>
    <dsp:sp modelId="{C42664AA-C504-4479-88B8-68CB6A294540}">
      <dsp:nvSpPr>
        <dsp:cNvPr id="0" name=""/>
        <dsp:cNvSpPr/>
      </dsp:nvSpPr>
      <dsp:spPr>
        <a:xfrm>
          <a:off x="0" y="1795860"/>
          <a:ext cx="6391275" cy="1654965"/>
        </a:xfrm>
        <a:prstGeom prst="roundRect">
          <a:avLst/>
        </a:prstGeom>
        <a:solidFill>
          <a:schemeClr val="accent2">
            <a:hueOff val="-9882860"/>
            <a:satOff val="451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Recurrent networks were previously used, and lacked the ability to understand context, especially in longer sequences.</a:t>
          </a:r>
          <a:endParaRPr lang="en-US" sz="2300" kern="1200"/>
        </a:p>
      </dsp:txBody>
      <dsp:txXfrm>
        <a:off x="80789" y="1876649"/>
        <a:ext cx="6229697" cy="1493387"/>
      </dsp:txXfrm>
    </dsp:sp>
    <dsp:sp modelId="{4F2F4D80-1F00-4285-83B1-4736D5128015}">
      <dsp:nvSpPr>
        <dsp:cNvPr id="0" name=""/>
        <dsp:cNvSpPr/>
      </dsp:nvSpPr>
      <dsp:spPr>
        <a:xfrm>
          <a:off x="0" y="3517066"/>
          <a:ext cx="6391275" cy="1654965"/>
        </a:xfrm>
        <a:prstGeom prst="roundRect">
          <a:avLst/>
        </a:prstGeom>
        <a:solidFill>
          <a:schemeClr val="accent2">
            <a:hueOff val="-19765721"/>
            <a:satOff val="901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The major challenge visualizing attention now are multiple attention heads producing different patterns in multiple layers.</a:t>
          </a:r>
          <a:endParaRPr lang="en-US" sz="2300" kern="1200"/>
        </a:p>
      </dsp:txBody>
      <dsp:txXfrm>
        <a:off x="80789" y="3597855"/>
        <a:ext cx="6229697" cy="149338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23F601B-4D43-49F4-9989-779A82C7A90C}">
      <dsp:nvSpPr>
        <dsp:cNvPr id="0" name=""/>
        <dsp:cNvSpPr/>
      </dsp:nvSpPr>
      <dsp:spPr>
        <a:xfrm>
          <a:off x="3751234" y="2201"/>
          <a:ext cx="4220138" cy="1058761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 dirty="0"/>
            <a:t>The three views used in this tool for GPT and BERT are</a:t>
          </a:r>
          <a:endParaRPr lang="en-US" sz="2300" kern="1200" dirty="0"/>
        </a:p>
      </dsp:txBody>
      <dsp:txXfrm>
        <a:off x="3802918" y="53885"/>
        <a:ext cx="4116770" cy="955393"/>
      </dsp:txXfrm>
    </dsp:sp>
    <dsp:sp modelId="{A2DFC720-C5B9-41DF-A807-B69E453C75EB}">
      <dsp:nvSpPr>
        <dsp:cNvPr id="0" name=""/>
        <dsp:cNvSpPr/>
      </dsp:nvSpPr>
      <dsp:spPr>
        <a:xfrm>
          <a:off x="3751234" y="1113901"/>
          <a:ext cx="4220138" cy="1058761"/>
        </a:xfrm>
        <a:prstGeom prst="roundRect">
          <a:avLst/>
        </a:prstGeom>
        <a:gradFill rotWithShape="0">
          <a:gsLst>
            <a:gs pos="0">
              <a:schemeClr val="accent5">
                <a:hueOff val="812808"/>
                <a:satOff val="-6481"/>
                <a:lumOff val="-4902"/>
                <a:alphaOff val="0"/>
                <a:tint val="98000"/>
                <a:lumMod val="114000"/>
              </a:schemeClr>
            </a:gs>
            <a:gs pos="100000">
              <a:schemeClr val="accent5">
                <a:hueOff val="812808"/>
                <a:satOff val="-6481"/>
                <a:lumOff val="-4902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 dirty="0"/>
            <a:t>attention-head view,</a:t>
          </a:r>
          <a:endParaRPr lang="en-US" sz="2300" kern="1200" dirty="0"/>
        </a:p>
      </dsp:txBody>
      <dsp:txXfrm>
        <a:off x="3802918" y="1165585"/>
        <a:ext cx="4116770" cy="955393"/>
      </dsp:txXfrm>
    </dsp:sp>
    <dsp:sp modelId="{ECD0033E-38B6-458B-A619-A3291FBDCE11}">
      <dsp:nvSpPr>
        <dsp:cNvPr id="0" name=""/>
        <dsp:cNvSpPr/>
      </dsp:nvSpPr>
      <dsp:spPr>
        <a:xfrm>
          <a:off x="3751234" y="2225601"/>
          <a:ext cx="4220138" cy="1058761"/>
        </a:xfrm>
        <a:prstGeom prst="roundRect">
          <a:avLst/>
        </a:prstGeom>
        <a:gradFill rotWithShape="0">
          <a:gsLst>
            <a:gs pos="0">
              <a:schemeClr val="accent5">
                <a:hueOff val="1625617"/>
                <a:satOff val="-12962"/>
                <a:lumOff val="-9803"/>
                <a:alphaOff val="0"/>
                <a:tint val="98000"/>
                <a:lumMod val="114000"/>
              </a:schemeClr>
            </a:gs>
            <a:gs pos="100000">
              <a:schemeClr val="accent5">
                <a:hueOff val="1625617"/>
                <a:satOff val="-12962"/>
                <a:lumOff val="-9803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model view, </a:t>
          </a:r>
          <a:endParaRPr lang="en-US" sz="2300" kern="1200"/>
        </a:p>
      </dsp:txBody>
      <dsp:txXfrm>
        <a:off x="3802918" y="2277285"/>
        <a:ext cx="4116770" cy="955393"/>
      </dsp:txXfrm>
    </dsp:sp>
    <dsp:sp modelId="{82A7DD2C-826A-4DB3-A57F-1D51B8647468}">
      <dsp:nvSpPr>
        <dsp:cNvPr id="0" name=""/>
        <dsp:cNvSpPr/>
      </dsp:nvSpPr>
      <dsp:spPr>
        <a:xfrm>
          <a:off x="3751234" y="3337300"/>
          <a:ext cx="4220138" cy="1058761"/>
        </a:xfrm>
        <a:prstGeom prst="roundRect">
          <a:avLst/>
        </a:prstGeom>
        <a:gradFill rotWithShape="0">
          <a:gsLst>
            <a:gs pos="0">
              <a:schemeClr val="accent5">
                <a:hueOff val="2438425"/>
                <a:satOff val="-19443"/>
                <a:lumOff val="-14705"/>
                <a:alphaOff val="0"/>
                <a:tint val="98000"/>
                <a:lumMod val="114000"/>
              </a:schemeClr>
            </a:gs>
            <a:gs pos="100000">
              <a:schemeClr val="accent5">
                <a:hueOff val="2438425"/>
                <a:satOff val="-19443"/>
                <a:lumOff val="-1470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43815" rIns="87630" bIns="4381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neuron view</a:t>
          </a:r>
          <a:endParaRPr lang="en-US" sz="2300" kern="1200"/>
        </a:p>
      </dsp:txBody>
      <dsp:txXfrm>
        <a:off x="3802918" y="3388984"/>
        <a:ext cx="4116770" cy="95539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27690202-7898-431A-AD49-7C288020FC0D}" type="datetimeFigureOut">
              <a:rPr lang="en-GB" smtClean="0"/>
              <a:t>25/03/2026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F7D693C6-42EF-4350-B4BA-C98C467CB0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2075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90202-7898-431A-AD49-7C288020FC0D}" type="datetimeFigureOut">
              <a:rPr lang="en-GB" smtClean="0"/>
              <a:t>25/03/2026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93C6-42EF-4350-B4BA-C98C467CB0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5748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90202-7898-431A-AD49-7C288020FC0D}" type="datetimeFigureOut">
              <a:rPr lang="en-GB" smtClean="0"/>
              <a:t>25/03/2026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93C6-42EF-4350-B4BA-C98C467CB0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02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90202-7898-431A-AD49-7C288020FC0D}" type="datetimeFigureOut">
              <a:rPr lang="en-GB" smtClean="0"/>
              <a:t>25/03/2026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93C6-42EF-4350-B4BA-C98C467CB0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2242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90202-7898-431A-AD49-7C288020FC0D}" type="datetimeFigureOut">
              <a:rPr lang="en-GB" smtClean="0"/>
              <a:t>25/03/2026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93C6-42EF-4350-B4BA-C98C467CB0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2537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90202-7898-431A-AD49-7C288020FC0D}" type="datetimeFigureOut">
              <a:rPr lang="en-GB" smtClean="0"/>
              <a:t>25/03/2026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93C6-42EF-4350-B4BA-C98C467CB0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798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90202-7898-431A-AD49-7C288020FC0D}" type="datetimeFigureOut">
              <a:rPr lang="en-GB" smtClean="0"/>
              <a:t>25/03/2026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93C6-42EF-4350-B4BA-C98C467CB0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08435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90202-7898-431A-AD49-7C288020FC0D}" type="datetimeFigureOut">
              <a:rPr lang="en-GB" smtClean="0"/>
              <a:t>25/03/2026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93C6-42EF-4350-B4BA-C98C467CB0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626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90202-7898-431A-AD49-7C288020FC0D}" type="datetimeFigureOut">
              <a:rPr lang="en-GB" smtClean="0"/>
              <a:t>25/03/2026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93C6-42EF-4350-B4BA-C98C467CB0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061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90202-7898-431A-AD49-7C288020FC0D}" type="datetimeFigureOut">
              <a:rPr lang="en-GB" smtClean="0"/>
              <a:t>25/03/2026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93C6-42EF-4350-B4BA-C98C467CB0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18355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90202-7898-431A-AD49-7C288020FC0D}" type="datetimeFigureOut">
              <a:rPr lang="en-GB" smtClean="0"/>
              <a:t>25/03/2026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93C6-42EF-4350-B4BA-C98C467CB0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51741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90202-7898-431A-AD49-7C288020FC0D}" type="datetimeFigureOut">
              <a:rPr lang="en-GB" smtClean="0"/>
              <a:t>25/03/2026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93C6-42EF-4350-B4BA-C98C467CB0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84106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90202-7898-431A-AD49-7C288020FC0D}" type="datetimeFigureOut">
              <a:rPr lang="en-GB" smtClean="0"/>
              <a:t>25/03/2026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93C6-42EF-4350-B4BA-C98C467CB0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64899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90202-7898-431A-AD49-7C288020FC0D}" type="datetimeFigureOut">
              <a:rPr lang="en-GB" smtClean="0"/>
              <a:t>25/03/2026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93C6-42EF-4350-B4BA-C98C467CB0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01194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90202-7898-431A-AD49-7C288020FC0D}" type="datetimeFigureOut">
              <a:rPr lang="en-GB" smtClean="0"/>
              <a:t>25/03/2026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93C6-42EF-4350-B4BA-C98C467CB0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6263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27690202-7898-431A-AD49-7C288020FC0D}" type="datetimeFigureOut">
              <a:rPr lang="en-GB" smtClean="0"/>
              <a:t>25/03/2026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93C6-42EF-4350-B4BA-C98C467CB0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84795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27690202-7898-431A-AD49-7C288020FC0D}" type="datetimeFigureOut">
              <a:rPr lang="en-GB" smtClean="0"/>
              <a:t>25/03/2026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93C6-42EF-4350-B4BA-C98C467CB0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78387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7690202-7898-431A-AD49-7C288020FC0D}" type="datetimeFigureOut">
              <a:rPr lang="en-GB" smtClean="0"/>
              <a:t>25/03/2026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F7D693C6-42EF-4350-B4BA-C98C467CB0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6520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ing.com/ck/a?!&amp;&amp;p=4f6ba4e0f687c4c72af1a4dbe36f73fed3efa29cc0f1ef9ae304dabbe3be76f7JmltdHM9MTc2OTY0NDgwMA&amp;ptn=3&amp;ver=2&amp;hsh=4&amp;fclid=39fed3fd-bcb0-675a-0876-c553bd9d66ba&amp;psq=gelu+activation+function+formula&amp;u=a1aHR0cHM6Ly9kYXRhc2NpZW5jZS5zdGFja2V4Y2hhbmdlLmNvbS9xdWVzdGlvbnMvNDk1MjIvd2hhdC1pcy1nZWx1LWFjdGl2YXRpb24&amp;ntb=1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17DD2-BE30-DB9E-DA5E-5C656FF4EA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PHD Progression 10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4FC526-7366-226A-8E37-C3DA1B651D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Explainable AI with Visual analytics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5073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A56E2D-DE7A-F8EF-55E8-C085DECE8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F70C2B8F-6B1B-46D5-86E6-40F36C695F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7" name="Freeform 5">
            <a:extLst>
              <a:ext uri="{FF2B5EF4-FFF2-40B4-BE49-F238E27FC236}">
                <a16:creationId xmlns:a16="http://schemas.microsoft.com/office/drawing/2014/main" id="{DB521824-592C-476A-AB0A-CA0C6D1F34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469835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2749EFA-8EE4-4EB8-9424-8E593B9320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50898" y="638067"/>
            <a:ext cx="6053670" cy="5581866"/>
          </a:xfrm>
          <a:custGeom>
            <a:avLst/>
            <a:gdLst>
              <a:gd name="connsiteX0" fmla="*/ 6053670 w 6053670"/>
              <a:gd name="connsiteY0" fmla="*/ 1098 h 5581866"/>
              <a:gd name="connsiteX1" fmla="*/ 6053670 w 6053670"/>
              <a:gd name="connsiteY1" fmla="*/ 514028 h 5581866"/>
              <a:gd name="connsiteX2" fmla="*/ 6053670 w 6053670"/>
              <a:gd name="connsiteY2" fmla="*/ 1254558 h 5581866"/>
              <a:gd name="connsiteX3" fmla="*/ 6053670 w 6053670"/>
              <a:gd name="connsiteY3" fmla="*/ 5581866 h 5581866"/>
              <a:gd name="connsiteX4" fmla="*/ 0 w 6053670"/>
              <a:gd name="connsiteY4" fmla="*/ 5581866 h 5581866"/>
              <a:gd name="connsiteX5" fmla="*/ 0 w 6053670"/>
              <a:gd name="connsiteY5" fmla="*/ 1249853 h 5581866"/>
              <a:gd name="connsiteX6" fmla="*/ 0 w 6053670"/>
              <a:gd name="connsiteY6" fmla="*/ 514028 h 5581866"/>
              <a:gd name="connsiteX7" fmla="*/ 0 w 6053670"/>
              <a:gd name="connsiteY7" fmla="*/ 0 h 5581866"/>
              <a:gd name="connsiteX8" fmla="*/ 35717 w 6053670"/>
              <a:gd name="connsiteY8" fmla="*/ 5488 h 5581866"/>
              <a:gd name="connsiteX9" fmla="*/ 140445 w 6053670"/>
              <a:gd name="connsiteY9" fmla="*/ 21641 h 5581866"/>
              <a:gd name="connsiteX10" fmla="*/ 216722 w 6053670"/>
              <a:gd name="connsiteY10" fmla="*/ 32932 h 5581866"/>
              <a:gd name="connsiteX11" fmla="*/ 307527 w 6053670"/>
              <a:gd name="connsiteY11" fmla="*/ 44850 h 5581866"/>
              <a:gd name="connsiteX12" fmla="*/ 415282 w 6053670"/>
              <a:gd name="connsiteY12" fmla="*/ 59121 h 5581866"/>
              <a:gd name="connsiteX13" fmla="*/ 534539 w 6053670"/>
              <a:gd name="connsiteY13" fmla="*/ 74175 h 5581866"/>
              <a:gd name="connsiteX14" fmla="*/ 668931 w 6053670"/>
              <a:gd name="connsiteY14" fmla="*/ 90014 h 5581866"/>
              <a:gd name="connsiteX15" fmla="*/ 815430 w 6053670"/>
              <a:gd name="connsiteY15" fmla="*/ 106794 h 5581866"/>
              <a:gd name="connsiteX16" fmla="*/ 974641 w 6053670"/>
              <a:gd name="connsiteY16" fmla="*/ 123574 h 5581866"/>
              <a:gd name="connsiteX17" fmla="*/ 1144144 w 6053670"/>
              <a:gd name="connsiteY17" fmla="*/ 140667 h 5581866"/>
              <a:gd name="connsiteX18" fmla="*/ 1326965 w 6053670"/>
              <a:gd name="connsiteY18" fmla="*/ 156506 h 5581866"/>
              <a:gd name="connsiteX19" fmla="*/ 1518261 w 6053670"/>
              <a:gd name="connsiteY19" fmla="*/ 171717 h 5581866"/>
              <a:gd name="connsiteX20" fmla="*/ 1720453 w 6053670"/>
              <a:gd name="connsiteY20" fmla="*/ 185518 h 5581866"/>
              <a:gd name="connsiteX21" fmla="*/ 1931121 w 6053670"/>
              <a:gd name="connsiteY21" fmla="*/ 198690 h 5581866"/>
              <a:gd name="connsiteX22" fmla="*/ 2150869 w 6053670"/>
              <a:gd name="connsiteY22" fmla="*/ 211079 h 5581866"/>
              <a:gd name="connsiteX23" fmla="*/ 2263467 w 6053670"/>
              <a:gd name="connsiteY23" fmla="*/ 215470 h 5581866"/>
              <a:gd name="connsiteX24" fmla="*/ 2378487 w 6053670"/>
              <a:gd name="connsiteY24" fmla="*/ 220332 h 5581866"/>
              <a:gd name="connsiteX25" fmla="*/ 2495323 w 6053670"/>
              <a:gd name="connsiteY25" fmla="*/ 224879 h 5581866"/>
              <a:gd name="connsiteX26" fmla="*/ 2612764 w 6053670"/>
              <a:gd name="connsiteY26" fmla="*/ 227859 h 5581866"/>
              <a:gd name="connsiteX27" fmla="*/ 2732627 w 6053670"/>
              <a:gd name="connsiteY27" fmla="*/ 230525 h 5581866"/>
              <a:gd name="connsiteX28" fmla="*/ 2853700 w 6053670"/>
              <a:gd name="connsiteY28" fmla="*/ 233348 h 5581866"/>
              <a:gd name="connsiteX29" fmla="*/ 2977195 w 6053670"/>
              <a:gd name="connsiteY29" fmla="*/ 235229 h 5581866"/>
              <a:gd name="connsiteX30" fmla="*/ 3101900 w 6053670"/>
              <a:gd name="connsiteY30" fmla="*/ 235229 h 5581866"/>
              <a:gd name="connsiteX31" fmla="*/ 3227817 w 6053670"/>
              <a:gd name="connsiteY31" fmla="*/ 236170 h 5581866"/>
              <a:gd name="connsiteX32" fmla="*/ 3354944 w 6053670"/>
              <a:gd name="connsiteY32" fmla="*/ 235229 h 5581866"/>
              <a:gd name="connsiteX33" fmla="*/ 3483887 w 6053670"/>
              <a:gd name="connsiteY33" fmla="*/ 233348 h 5581866"/>
              <a:gd name="connsiteX34" fmla="*/ 3612830 w 6053670"/>
              <a:gd name="connsiteY34" fmla="*/ 231623 h 5581866"/>
              <a:gd name="connsiteX35" fmla="*/ 3743589 w 6053670"/>
              <a:gd name="connsiteY35" fmla="*/ 227859 h 5581866"/>
              <a:gd name="connsiteX36" fmla="*/ 3875559 w 6053670"/>
              <a:gd name="connsiteY36" fmla="*/ 223938 h 5581866"/>
              <a:gd name="connsiteX37" fmla="*/ 4007529 w 6053670"/>
              <a:gd name="connsiteY37" fmla="*/ 219391 h 5581866"/>
              <a:gd name="connsiteX38" fmla="*/ 4140710 w 6053670"/>
              <a:gd name="connsiteY38" fmla="*/ 212961 h 5581866"/>
              <a:gd name="connsiteX39" fmla="*/ 4275102 w 6053670"/>
              <a:gd name="connsiteY39" fmla="*/ 205277 h 5581866"/>
              <a:gd name="connsiteX40" fmla="*/ 4410098 w 6053670"/>
              <a:gd name="connsiteY40" fmla="*/ 197907 h 5581866"/>
              <a:gd name="connsiteX41" fmla="*/ 4545096 w 6053670"/>
              <a:gd name="connsiteY41" fmla="*/ 188498 h 5581866"/>
              <a:gd name="connsiteX42" fmla="*/ 4681909 w 6053670"/>
              <a:gd name="connsiteY42" fmla="*/ 177207 h 5581866"/>
              <a:gd name="connsiteX43" fmla="*/ 4816905 w 6053670"/>
              <a:gd name="connsiteY43" fmla="*/ 165916 h 5581866"/>
              <a:gd name="connsiteX44" fmla="*/ 4954323 w 6053670"/>
              <a:gd name="connsiteY44" fmla="*/ 152899 h 5581866"/>
              <a:gd name="connsiteX45" fmla="*/ 5092347 w 6053670"/>
              <a:gd name="connsiteY45" fmla="*/ 138629 h 5581866"/>
              <a:gd name="connsiteX46" fmla="*/ 5228555 w 6053670"/>
              <a:gd name="connsiteY46" fmla="*/ 123574 h 5581866"/>
              <a:gd name="connsiteX47" fmla="*/ 5366578 w 6053670"/>
              <a:gd name="connsiteY47" fmla="*/ 106010 h 5581866"/>
              <a:gd name="connsiteX48" fmla="*/ 5503997 w 6053670"/>
              <a:gd name="connsiteY48" fmla="*/ 87192 h 5581866"/>
              <a:gd name="connsiteX49" fmla="*/ 5642020 w 6053670"/>
              <a:gd name="connsiteY49" fmla="*/ 68530 h 5581866"/>
              <a:gd name="connsiteX50" fmla="*/ 5779438 w 6053670"/>
              <a:gd name="connsiteY50" fmla="*/ 46733 h 5581866"/>
              <a:gd name="connsiteX51" fmla="*/ 5916251 w 6053670"/>
              <a:gd name="connsiteY51" fmla="*/ 24464 h 5581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5581866">
                <a:moveTo>
                  <a:pt x="6053670" y="1098"/>
                </a:moveTo>
                <a:lnTo>
                  <a:pt x="6053670" y="514028"/>
                </a:lnTo>
                <a:lnTo>
                  <a:pt x="6053670" y="1254558"/>
                </a:lnTo>
                <a:lnTo>
                  <a:pt x="6053670" y="5581866"/>
                </a:lnTo>
                <a:lnTo>
                  <a:pt x="0" y="5581866"/>
                </a:lnTo>
                <a:lnTo>
                  <a:pt x="0" y="1249853"/>
                </a:lnTo>
                <a:lnTo>
                  <a:pt x="0" y="514028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9" name="Freeform 5">
            <a:extLst>
              <a:ext uri="{FF2B5EF4-FFF2-40B4-BE49-F238E27FC236}">
                <a16:creationId xmlns:a16="http://schemas.microsoft.com/office/drawing/2014/main" id="{B5C860C9-D4F9-4350-80DA-0D1CD36C77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6CB6CB-F1BD-A2D8-0115-A484E9E336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5132438" cy="1622322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rgbClr val="EBEBEB"/>
                </a:solidFill>
              </a:rPr>
              <a:t>LLM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DFCC10-DB46-0B20-1812-F6046521A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9886" y="131592"/>
            <a:ext cx="4303016" cy="6098885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538A90C8-AE0E-4EBA-9AF8-EEDB20602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D7BD4A-9D9D-8221-1344-F4AD81E2BA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98" y="2418735"/>
            <a:ext cx="5132439" cy="3811742"/>
          </a:xfrm>
        </p:spPr>
        <p:txBody>
          <a:bodyPr anchor="ctr">
            <a:normAutofit/>
          </a:bodyPr>
          <a:lstStyle/>
          <a:p>
            <a:r>
              <a:rPr lang="en-GB" dirty="0">
                <a:solidFill>
                  <a:srgbClr val="FFFFFF"/>
                </a:solidFill>
              </a:rPr>
              <a:t>We have previously looked at masked multi-head attention, we’ll now be looking at other components of the transformer</a:t>
            </a:r>
          </a:p>
          <a:p>
            <a:r>
              <a:rPr lang="en-GB" dirty="0">
                <a:solidFill>
                  <a:srgbClr val="FFFFFF"/>
                </a:solidFill>
              </a:rPr>
              <a:t>Tokenize</a:t>
            </a:r>
          </a:p>
          <a:p>
            <a:r>
              <a:rPr lang="en-GB" dirty="0">
                <a:solidFill>
                  <a:srgbClr val="FFFFFF"/>
                </a:solidFill>
              </a:rPr>
              <a:t>Token embedding</a:t>
            </a:r>
          </a:p>
          <a:p>
            <a:r>
              <a:rPr lang="en-GB" dirty="0">
                <a:solidFill>
                  <a:srgbClr val="FFFFFF"/>
                </a:solidFill>
              </a:rPr>
              <a:t>Positional embedding</a:t>
            </a:r>
          </a:p>
          <a:p>
            <a:r>
              <a:rPr lang="en-GB" dirty="0">
                <a:solidFill>
                  <a:srgbClr val="FFFFFF"/>
                </a:solidFill>
              </a:rPr>
              <a:t>Input embedding</a:t>
            </a:r>
          </a:p>
          <a:p>
            <a:r>
              <a:rPr lang="en-GB" dirty="0">
                <a:solidFill>
                  <a:srgbClr val="FFFFFF"/>
                </a:solidFill>
              </a:rPr>
              <a:t>Masked Multi-head attention</a:t>
            </a:r>
          </a:p>
          <a:p>
            <a:endParaRPr lang="en-GB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16329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BF99E6-F115-F6CC-E95B-0CAB8E06C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643780CE-2BE5-46F6-97B2-60DF30217E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61A87A49-68E6-459E-A5A6-46229FF421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171964" y="-140866"/>
            <a:ext cx="6053670" cy="7139732"/>
          </a:xfrm>
          <a:custGeom>
            <a:avLst/>
            <a:gdLst>
              <a:gd name="connsiteX0" fmla="*/ 6053670 w 6053670"/>
              <a:gd name="connsiteY0" fmla="*/ 1098 h 7139732"/>
              <a:gd name="connsiteX1" fmla="*/ 6053670 w 6053670"/>
              <a:gd name="connsiteY1" fmla="*/ 1084479 h 7139732"/>
              <a:gd name="connsiteX2" fmla="*/ 6053670 w 6053670"/>
              <a:gd name="connsiteY2" fmla="*/ 1254558 h 7139732"/>
              <a:gd name="connsiteX3" fmla="*/ 6053670 w 6053670"/>
              <a:gd name="connsiteY3" fmla="*/ 7139732 h 7139732"/>
              <a:gd name="connsiteX4" fmla="*/ 0 w 6053670"/>
              <a:gd name="connsiteY4" fmla="*/ 7139732 h 7139732"/>
              <a:gd name="connsiteX5" fmla="*/ 0 w 6053670"/>
              <a:gd name="connsiteY5" fmla="*/ 1249853 h 7139732"/>
              <a:gd name="connsiteX6" fmla="*/ 0 w 6053670"/>
              <a:gd name="connsiteY6" fmla="*/ 1084479 h 7139732"/>
              <a:gd name="connsiteX7" fmla="*/ 0 w 6053670"/>
              <a:gd name="connsiteY7" fmla="*/ 0 h 7139732"/>
              <a:gd name="connsiteX8" fmla="*/ 35717 w 6053670"/>
              <a:gd name="connsiteY8" fmla="*/ 5488 h 7139732"/>
              <a:gd name="connsiteX9" fmla="*/ 140445 w 6053670"/>
              <a:gd name="connsiteY9" fmla="*/ 21641 h 7139732"/>
              <a:gd name="connsiteX10" fmla="*/ 216722 w 6053670"/>
              <a:gd name="connsiteY10" fmla="*/ 32932 h 7139732"/>
              <a:gd name="connsiteX11" fmla="*/ 307527 w 6053670"/>
              <a:gd name="connsiteY11" fmla="*/ 44850 h 7139732"/>
              <a:gd name="connsiteX12" fmla="*/ 415282 w 6053670"/>
              <a:gd name="connsiteY12" fmla="*/ 59121 h 7139732"/>
              <a:gd name="connsiteX13" fmla="*/ 534539 w 6053670"/>
              <a:gd name="connsiteY13" fmla="*/ 74175 h 7139732"/>
              <a:gd name="connsiteX14" fmla="*/ 668931 w 6053670"/>
              <a:gd name="connsiteY14" fmla="*/ 90014 h 7139732"/>
              <a:gd name="connsiteX15" fmla="*/ 815430 w 6053670"/>
              <a:gd name="connsiteY15" fmla="*/ 106794 h 7139732"/>
              <a:gd name="connsiteX16" fmla="*/ 974641 w 6053670"/>
              <a:gd name="connsiteY16" fmla="*/ 123574 h 7139732"/>
              <a:gd name="connsiteX17" fmla="*/ 1144144 w 6053670"/>
              <a:gd name="connsiteY17" fmla="*/ 140667 h 7139732"/>
              <a:gd name="connsiteX18" fmla="*/ 1326965 w 6053670"/>
              <a:gd name="connsiteY18" fmla="*/ 156506 h 7139732"/>
              <a:gd name="connsiteX19" fmla="*/ 1518261 w 6053670"/>
              <a:gd name="connsiteY19" fmla="*/ 171717 h 7139732"/>
              <a:gd name="connsiteX20" fmla="*/ 1720453 w 6053670"/>
              <a:gd name="connsiteY20" fmla="*/ 185518 h 7139732"/>
              <a:gd name="connsiteX21" fmla="*/ 1931121 w 6053670"/>
              <a:gd name="connsiteY21" fmla="*/ 198690 h 7139732"/>
              <a:gd name="connsiteX22" fmla="*/ 2150869 w 6053670"/>
              <a:gd name="connsiteY22" fmla="*/ 211079 h 7139732"/>
              <a:gd name="connsiteX23" fmla="*/ 2263467 w 6053670"/>
              <a:gd name="connsiteY23" fmla="*/ 215470 h 7139732"/>
              <a:gd name="connsiteX24" fmla="*/ 2378487 w 6053670"/>
              <a:gd name="connsiteY24" fmla="*/ 220332 h 7139732"/>
              <a:gd name="connsiteX25" fmla="*/ 2495323 w 6053670"/>
              <a:gd name="connsiteY25" fmla="*/ 224879 h 7139732"/>
              <a:gd name="connsiteX26" fmla="*/ 2612764 w 6053670"/>
              <a:gd name="connsiteY26" fmla="*/ 227859 h 7139732"/>
              <a:gd name="connsiteX27" fmla="*/ 2732627 w 6053670"/>
              <a:gd name="connsiteY27" fmla="*/ 230525 h 7139732"/>
              <a:gd name="connsiteX28" fmla="*/ 2853700 w 6053670"/>
              <a:gd name="connsiteY28" fmla="*/ 233348 h 7139732"/>
              <a:gd name="connsiteX29" fmla="*/ 2977195 w 6053670"/>
              <a:gd name="connsiteY29" fmla="*/ 235229 h 7139732"/>
              <a:gd name="connsiteX30" fmla="*/ 3101901 w 6053670"/>
              <a:gd name="connsiteY30" fmla="*/ 235229 h 7139732"/>
              <a:gd name="connsiteX31" fmla="*/ 3227817 w 6053670"/>
              <a:gd name="connsiteY31" fmla="*/ 236170 h 7139732"/>
              <a:gd name="connsiteX32" fmla="*/ 3354944 w 6053670"/>
              <a:gd name="connsiteY32" fmla="*/ 235229 h 7139732"/>
              <a:gd name="connsiteX33" fmla="*/ 3483887 w 6053670"/>
              <a:gd name="connsiteY33" fmla="*/ 233348 h 7139732"/>
              <a:gd name="connsiteX34" fmla="*/ 3612830 w 6053670"/>
              <a:gd name="connsiteY34" fmla="*/ 231623 h 7139732"/>
              <a:gd name="connsiteX35" fmla="*/ 3743590 w 6053670"/>
              <a:gd name="connsiteY35" fmla="*/ 227859 h 7139732"/>
              <a:gd name="connsiteX36" fmla="*/ 3875560 w 6053670"/>
              <a:gd name="connsiteY36" fmla="*/ 223938 h 7139732"/>
              <a:gd name="connsiteX37" fmla="*/ 4007530 w 6053670"/>
              <a:gd name="connsiteY37" fmla="*/ 219391 h 7139732"/>
              <a:gd name="connsiteX38" fmla="*/ 4140710 w 6053670"/>
              <a:gd name="connsiteY38" fmla="*/ 212961 h 7139732"/>
              <a:gd name="connsiteX39" fmla="*/ 4275102 w 6053670"/>
              <a:gd name="connsiteY39" fmla="*/ 205277 h 7139732"/>
              <a:gd name="connsiteX40" fmla="*/ 4410098 w 6053670"/>
              <a:gd name="connsiteY40" fmla="*/ 197907 h 7139732"/>
              <a:gd name="connsiteX41" fmla="*/ 4545096 w 6053670"/>
              <a:gd name="connsiteY41" fmla="*/ 188498 h 7139732"/>
              <a:gd name="connsiteX42" fmla="*/ 4681909 w 6053670"/>
              <a:gd name="connsiteY42" fmla="*/ 177207 h 7139732"/>
              <a:gd name="connsiteX43" fmla="*/ 4816905 w 6053670"/>
              <a:gd name="connsiteY43" fmla="*/ 165916 h 7139732"/>
              <a:gd name="connsiteX44" fmla="*/ 4954323 w 6053670"/>
              <a:gd name="connsiteY44" fmla="*/ 152899 h 7139732"/>
              <a:gd name="connsiteX45" fmla="*/ 5092347 w 6053670"/>
              <a:gd name="connsiteY45" fmla="*/ 138629 h 7139732"/>
              <a:gd name="connsiteX46" fmla="*/ 5228555 w 6053670"/>
              <a:gd name="connsiteY46" fmla="*/ 123574 h 7139732"/>
              <a:gd name="connsiteX47" fmla="*/ 5366578 w 6053670"/>
              <a:gd name="connsiteY47" fmla="*/ 106010 h 7139732"/>
              <a:gd name="connsiteX48" fmla="*/ 5503997 w 6053670"/>
              <a:gd name="connsiteY48" fmla="*/ 87192 h 7139732"/>
              <a:gd name="connsiteX49" fmla="*/ 5642020 w 6053670"/>
              <a:gd name="connsiteY49" fmla="*/ 68530 h 7139732"/>
              <a:gd name="connsiteX50" fmla="*/ 5779438 w 6053670"/>
              <a:gd name="connsiteY50" fmla="*/ 46733 h 7139732"/>
              <a:gd name="connsiteX51" fmla="*/ 5916251 w 6053670"/>
              <a:gd name="connsiteY51" fmla="*/ 24464 h 7139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7139732">
                <a:moveTo>
                  <a:pt x="6053670" y="1098"/>
                </a:moveTo>
                <a:lnTo>
                  <a:pt x="6053670" y="1084479"/>
                </a:lnTo>
                <a:lnTo>
                  <a:pt x="6053670" y="1254558"/>
                </a:lnTo>
                <a:lnTo>
                  <a:pt x="6053670" y="7139732"/>
                </a:lnTo>
                <a:lnTo>
                  <a:pt x="0" y="7139732"/>
                </a:lnTo>
                <a:lnTo>
                  <a:pt x="0" y="1249853"/>
                </a:lnTo>
                <a:lnTo>
                  <a:pt x="0" y="1084479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1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90" y="227859"/>
                </a:lnTo>
                <a:lnTo>
                  <a:pt x="3875560" y="223938"/>
                </a:lnTo>
                <a:lnTo>
                  <a:pt x="4007530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4" name="Freeform 5">
            <a:extLst>
              <a:ext uri="{FF2B5EF4-FFF2-40B4-BE49-F238E27FC236}">
                <a16:creationId xmlns:a16="http://schemas.microsoft.com/office/drawing/2014/main" id="{F6ACD5FC-CAFE-48EB-B765-60EED2E052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A55D01-2D29-53E7-63B7-1B100D11D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8"/>
            <a:ext cx="2942210" cy="102023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sz="3300">
                <a:solidFill>
                  <a:srgbClr val="EBEBEB"/>
                </a:solidFill>
              </a:rPr>
              <a:t>Transformer Block in GPT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9F4E9A-35CC-FAB2-C0DB-467BED6F0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4607" y="896356"/>
            <a:ext cx="6391533" cy="5065287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9F33B405-D785-4738-B1C0-6A0AA5E982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4233DC0E-DE6C-4FB6-A529-51B162641A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11000"/>
                </a:schemeClr>
              </a:gs>
              <a:gs pos="75000">
                <a:schemeClr val="accent5">
                  <a:alpha val="0"/>
                </a:schemeClr>
              </a:gs>
              <a:gs pos="36000">
                <a:schemeClr val="accent5"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870477F-E451-4BC3-863F-0E2FC5728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8000"/>
                </a:schemeClr>
              </a:gs>
              <a:gs pos="72000">
                <a:schemeClr val="accent5">
                  <a:alpha val="0"/>
                </a:schemeClr>
              </a:gs>
              <a:gs pos="36000">
                <a:schemeClr val="accent5"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070A8-41B5-58E0-BFD6-119620381E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5" y="2120900"/>
            <a:ext cx="3133726" cy="38989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endParaRPr lang="en-GB" sz="170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GB" sz="1700">
                <a:solidFill>
                  <a:srgbClr val="FFFFFF"/>
                </a:solidFill>
              </a:rPr>
              <a:t>Layer Normalization</a:t>
            </a:r>
          </a:p>
          <a:p>
            <a:pPr>
              <a:lnSpc>
                <a:spcPct val="90000"/>
              </a:lnSpc>
            </a:pPr>
            <a:endParaRPr lang="en-GB" sz="170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GB" sz="1700">
                <a:solidFill>
                  <a:srgbClr val="FFFFFF"/>
                </a:solidFill>
              </a:rPr>
              <a:t>Masked-Multihead attention</a:t>
            </a:r>
          </a:p>
          <a:p>
            <a:pPr>
              <a:lnSpc>
                <a:spcPct val="90000"/>
              </a:lnSpc>
            </a:pPr>
            <a:endParaRPr lang="en-GB" sz="170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GB" sz="1700">
                <a:solidFill>
                  <a:srgbClr val="FFFFFF"/>
                </a:solidFill>
              </a:rPr>
              <a:t>Gelu Activation function</a:t>
            </a:r>
          </a:p>
          <a:p>
            <a:pPr>
              <a:lnSpc>
                <a:spcPct val="90000"/>
              </a:lnSpc>
            </a:pPr>
            <a:endParaRPr lang="en-GB" sz="170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GB" sz="1700">
                <a:solidFill>
                  <a:srgbClr val="FFFFFF"/>
                </a:solidFill>
              </a:rPr>
              <a:t>Feed forward network</a:t>
            </a:r>
          </a:p>
          <a:p>
            <a:pPr>
              <a:lnSpc>
                <a:spcPct val="90000"/>
              </a:lnSpc>
            </a:pPr>
            <a:endParaRPr lang="en-GB" sz="170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GB" sz="1700">
                <a:solidFill>
                  <a:srgbClr val="FFFFFF"/>
                </a:solidFill>
              </a:rPr>
              <a:t>Short connections</a:t>
            </a:r>
          </a:p>
          <a:p>
            <a:pPr>
              <a:lnSpc>
                <a:spcPct val="90000"/>
              </a:lnSpc>
            </a:pPr>
            <a:endParaRPr lang="en-GB" sz="1700">
              <a:solidFill>
                <a:srgbClr val="FFFFFF"/>
              </a:solidFill>
            </a:endParaRPr>
          </a:p>
        </p:txBody>
      </p:sp>
      <p:sp>
        <p:nvSpPr>
          <p:cNvPr id="52" name="Freeform 5">
            <a:extLst>
              <a:ext uri="{FF2B5EF4-FFF2-40B4-BE49-F238E27FC236}">
                <a16:creationId xmlns:a16="http://schemas.microsoft.com/office/drawing/2014/main" id="{B4A81DE1-E2BC-4A31-99EE-71350421B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3140485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67075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5694FD-AB14-50CC-2876-0679F5743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8ABDB68-E3D5-448E-97D3-06FFEF6801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B8DD7FEB-D9F3-4F5B-982C-36B0664D0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537676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96BA11E4-0636-4FA9-A836-2A4FB1764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BF5213-F7A2-7FF5-4060-1F0FCCB38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6072776" cy="1622322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Layer Normalization</a:t>
            </a:r>
            <a:endParaRPr lang="en-GB">
              <a:solidFill>
                <a:srgbClr val="EBEBEB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5681882E-BDD0-4311-AF62-E80196285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6290102" y="977273"/>
            <a:ext cx="6053670" cy="4903455"/>
          </a:xfrm>
          <a:custGeom>
            <a:avLst/>
            <a:gdLst>
              <a:gd name="connsiteX0" fmla="*/ 6053670 w 6053670"/>
              <a:gd name="connsiteY0" fmla="*/ 1098 h 4903455"/>
              <a:gd name="connsiteX1" fmla="*/ 6053670 w 6053670"/>
              <a:gd name="connsiteY1" fmla="*/ 424590 h 4903455"/>
              <a:gd name="connsiteX2" fmla="*/ 6053670 w 6053670"/>
              <a:gd name="connsiteY2" fmla="*/ 1254558 h 4903455"/>
              <a:gd name="connsiteX3" fmla="*/ 6053670 w 6053670"/>
              <a:gd name="connsiteY3" fmla="*/ 4903455 h 4903455"/>
              <a:gd name="connsiteX4" fmla="*/ 0 w 6053670"/>
              <a:gd name="connsiteY4" fmla="*/ 4903455 h 4903455"/>
              <a:gd name="connsiteX5" fmla="*/ 0 w 6053670"/>
              <a:gd name="connsiteY5" fmla="*/ 1249853 h 4903455"/>
              <a:gd name="connsiteX6" fmla="*/ 0 w 6053670"/>
              <a:gd name="connsiteY6" fmla="*/ 424590 h 4903455"/>
              <a:gd name="connsiteX7" fmla="*/ 0 w 6053670"/>
              <a:gd name="connsiteY7" fmla="*/ 0 h 4903455"/>
              <a:gd name="connsiteX8" fmla="*/ 35717 w 6053670"/>
              <a:gd name="connsiteY8" fmla="*/ 5488 h 4903455"/>
              <a:gd name="connsiteX9" fmla="*/ 140445 w 6053670"/>
              <a:gd name="connsiteY9" fmla="*/ 21641 h 4903455"/>
              <a:gd name="connsiteX10" fmla="*/ 216722 w 6053670"/>
              <a:gd name="connsiteY10" fmla="*/ 32932 h 4903455"/>
              <a:gd name="connsiteX11" fmla="*/ 307527 w 6053670"/>
              <a:gd name="connsiteY11" fmla="*/ 44850 h 4903455"/>
              <a:gd name="connsiteX12" fmla="*/ 415282 w 6053670"/>
              <a:gd name="connsiteY12" fmla="*/ 59121 h 4903455"/>
              <a:gd name="connsiteX13" fmla="*/ 534539 w 6053670"/>
              <a:gd name="connsiteY13" fmla="*/ 74175 h 4903455"/>
              <a:gd name="connsiteX14" fmla="*/ 668931 w 6053670"/>
              <a:gd name="connsiteY14" fmla="*/ 90014 h 4903455"/>
              <a:gd name="connsiteX15" fmla="*/ 815430 w 6053670"/>
              <a:gd name="connsiteY15" fmla="*/ 106794 h 4903455"/>
              <a:gd name="connsiteX16" fmla="*/ 974641 w 6053670"/>
              <a:gd name="connsiteY16" fmla="*/ 123574 h 4903455"/>
              <a:gd name="connsiteX17" fmla="*/ 1144144 w 6053670"/>
              <a:gd name="connsiteY17" fmla="*/ 140667 h 4903455"/>
              <a:gd name="connsiteX18" fmla="*/ 1326965 w 6053670"/>
              <a:gd name="connsiteY18" fmla="*/ 156506 h 4903455"/>
              <a:gd name="connsiteX19" fmla="*/ 1518261 w 6053670"/>
              <a:gd name="connsiteY19" fmla="*/ 171717 h 4903455"/>
              <a:gd name="connsiteX20" fmla="*/ 1720453 w 6053670"/>
              <a:gd name="connsiteY20" fmla="*/ 185518 h 4903455"/>
              <a:gd name="connsiteX21" fmla="*/ 1931121 w 6053670"/>
              <a:gd name="connsiteY21" fmla="*/ 198690 h 4903455"/>
              <a:gd name="connsiteX22" fmla="*/ 2150869 w 6053670"/>
              <a:gd name="connsiteY22" fmla="*/ 211079 h 4903455"/>
              <a:gd name="connsiteX23" fmla="*/ 2263467 w 6053670"/>
              <a:gd name="connsiteY23" fmla="*/ 215470 h 4903455"/>
              <a:gd name="connsiteX24" fmla="*/ 2378487 w 6053670"/>
              <a:gd name="connsiteY24" fmla="*/ 220332 h 4903455"/>
              <a:gd name="connsiteX25" fmla="*/ 2495323 w 6053670"/>
              <a:gd name="connsiteY25" fmla="*/ 224879 h 4903455"/>
              <a:gd name="connsiteX26" fmla="*/ 2612764 w 6053670"/>
              <a:gd name="connsiteY26" fmla="*/ 227859 h 4903455"/>
              <a:gd name="connsiteX27" fmla="*/ 2732627 w 6053670"/>
              <a:gd name="connsiteY27" fmla="*/ 230525 h 4903455"/>
              <a:gd name="connsiteX28" fmla="*/ 2853700 w 6053670"/>
              <a:gd name="connsiteY28" fmla="*/ 233348 h 4903455"/>
              <a:gd name="connsiteX29" fmla="*/ 2977195 w 6053670"/>
              <a:gd name="connsiteY29" fmla="*/ 235229 h 4903455"/>
              <a:gd name="connsiteX30" fmla="*/ 3101900 w 6053670"/>
              <a:gd name="connsiteY30" fmla="*/ 235229 h 4903455"/>
              <a:gd name="connsiteX31" fmla="*/ 3227817 w 6053670"/>
              <a:gd name="connsiteY31" fmla="*/ 236170 h 4903455"/>
              <a:gd name="connsiteX32" fmla="*/ 3354944 w 6053670"/>
              <a:gd name="connsiteY32" fmla="*/ 235229 h 4903455"/>
              <a:gd name="connsiteX33" fmla="*/ 3483887 w 6053670"/>
              <a:gd name="connsiteY33" fmla="*/ 233348 h 4903455"/>
              <a:gd name="connsiteX34" fmla="*/ 3612830 w 6053670"/>
              <a:gd name="connsiteY34" fmla="*/ 231623 h 4903455"/>
              <a:gd name="connsiteX35" fmla="*/ 3743589 w 6053670"/>
              <a:gd name="connsiteY35" fmla="*/ 227859 h 4903455"/>
              <a:gd name="connsiteX36" fmla="*/ 3875559 w 6053670"/>
              <a:gd name="connsiteY36" fmla="*/ 223938 h 4903455"/>
              <a:gd name="connsiteX37" fmla="*/ 4007529 w 6053670"/>
              <a:gd name="connsiteY37" fmla="*/ 219391 h 4903455"/>
              <a:gd name="connsiteX38" fmla="*/ 4140710 w 6053670"/>
              <a:gd name="connsiteY38" fmla="*/ 212961 h 4903455"/>
              <a:gd name="connsiteX39" fmla="*/ 4275102 w 6053670"/>
              <a:gd name="connsiteY39" fmla="*/ 205277 h 4903455"/>
              <a:gd name="connsiteX40" fmla="*/ 4410098 w 6053670"/>
              <a:gd name="connsiteY40" fmla="*/ 197907 h 4903455"/>
              <a:gd name="connsiteX41" fmla="*/ 4545096 w 6053670"/>
              <a:gd name="connsiteY41" fmla="*/ 188498 h 4903455"/>
              <a:gd name="connsiteX42" fmla="*/ 4681909 w 6053670"/>
              <a:gd name="connsiteY42" fmla="*/ 177207 h 4903455"/>
              <a:gd name="connsiteX43" fmla="*/ 4816905 w 6053670"/>
              <a:gd name="connsiteY43" fmla="*/ 165916 h 4903455"/>
              <a:gd name="connsiteX44" fmla="*/ 4954323 w 6053670"/>
              <a:gd name="connsiteY44" fmla="*/ 152899 h 4903455"/>
              <a:gd name="connsiteX45" fmla="*/ 5092347 w 6053670"/>
              <a:gd name="connsiteY45" fmla="*/ 138629 h 4903455"/>
              <a:gd name="connsiteX46" fmla="*/ 5228555 w 6053670"/>
              <a:gd name="connsiteY46" fmla="*/ 123574 h 4903455"/>
              <a:gd name="connsiteX47" fmla="*/ 5366578 w 6053670"/>
              <a:gd name="connsiteY47" fmla="*/ 106010 h 4903455"/>
              <a:gd name="connsiteX48" fmla="*/ 5503997 w 6053670"/>
              <a:gd name="connsiteY48" fmla="*/ 87192 h 4903455"/>
              <a:gd name="connsiteX49" fmla="*/ 5642020 w 6053670"/>
              <a:gd name="connsiteY49" fmla="*/ 68530 h 4903455"/>
              <a:gd name="connsiteX50" fmla="*/ 5779438 w 6053670"/>
              <a:gd name="connsiteY50" fmla="*/ 46733 h 4903455"/>
              <a:gd name="connsiteX51" fmla="*/ 5916251 w 6053670"/>
              <a:gd name="connsiteY51" fmla="*/ 24464 h 4903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4903455">
                <a:moveTo>
                  <a:pt x="6053670" y="1098"/>
                </a:moveTo>
                <a:lnTo>
                  <a:pt x="6053670" y="424590"/>
                </a:lnTo>
                <a:lnTo>
                  <a:pt x="6053670" y="1254558"/>
                </a:lnTo>
                <a:lnTo>
                  <a:pt x="6053670" y="4903455"/>
                </a:lnTo>
                <a:lnTo>
                  <a:pt x="0" y="4903455"/>
                </a:lnTo>
                <a:lnTo>
                  <a:pt x="0" y="1249853"/>
                </a:lnTo>
                <a:lnTo>
                  <a:pt x="0" y="424590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11FCB1-9DED-D153-28AD-6CE0C5F1A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226" y="645106"/>
            <a:ext cx="2974209" cy="5585369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ADD3260-4BDA-459B-A162-5E1B897E38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83DA7DD-CA37-4ED7-8710-48E56B063B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11000"/>
                </a:schemeClr>
              </a:gs>
              <a:gs pos="75000">
                <a:schemeClr val="accent5">
                  <a:alpha val="0"/>
                </a:schemeClr>
              </a:gs>
              <a:gs pos="36000">
                <a:schemeClr val="accent5"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92F2E3C-66CD-4DEB-BA14-2A5912B65A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8000"/>
                </a:schemeClr>
              </a:gs>
              <a:gs pos="72000">
                <a:schemeClr val="accent5">
                  <a:alpha val="0"/>
                </a:schemeClr>
              </a:gs>
              <a:gs pos="36000">
                <a:schemeClr val="accent5"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443A9F-1ABA-1263-F5D9-882432BF8B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98" y="2418735"/>
            <a:ext cx="6072776" cy="3811740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Training deep neural networks, can be challenging due to vanishing and exploding gradients.</a:t>
            </a:r>
          </a:p>
          <a:p>
            <a:pPr marL="0" indent="0">
              <a:buNone/>
            </a:pPr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Due to this unstable training dynamic, we need layer normalization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Layer Normalization is usually applied before and after the multi-head attention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FFFFFF"/>
              </a:solidFill>
            </a:endParaRPr>
          </a:p>
          <a:p>
            <a:endParaRPr lang="en-GB" dirty="0">
              <a:solidFill>
                <a:srgbClr val="FFFFFF"/>
              </a:solidFill>
            </a:endParaRPr>
          </a:p>
          <a:p>
            <a:endParaRPr lang="en-GB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026630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1C320-E46E-DCC7-C632-8E3C6C494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24E43EB-867C-4B35-9A5C-E435157C72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C0F5DA-B59F-4F13-8BB8-FFD8F2C572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9CEA1DEC-CC9E-4776-9E08-048A15BFA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3140485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CE399CF-F4B8-4832-A8CB-B93F6B1EF4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171964" y="-140866"/>
            <a:ext cx="6053670" cy="7139732"/>
          </a:xfrm>
          <a:custGeom>
            <a:avLst/>
            <a:gdLst>
              <a:gd name="connsiteX0" fmla="*/ 6053670 w 6053670"/>
              <a:gd name="connsiteY0" fmla="*/ 1098 h 7139732"/>
              <a:gd name="connsiteX1" fmla="*/ 6053670 w 6053670"/>
              <a:gd name="connsiteY1" fmla="*/ 1084479 h 7139732"/>
              <a:gd name="connsiteX2" fmla="*/ 6053670 w 6053670"/>
              <a:gd name="connsiteY2" fmla="*/ 1254558 h 7139732"/>
              <a:gd name="connsiteX3" fmla="*/ 6053670 w 6053670"/>
              <a:gd name="connsiteY3" fmla="*/ 7139732 h 7139732"/>
              <a:gd name="connsiteX4" fmla="*/ 0 w 6053670"/>
              <a:gd name="connsiteY4" fmla="*/ 7139732 h 7139732"/>
              <a:gd name="connsiteX5" fmla="*/ 0 w 6053670"/>
              <a:gd name="connsiteY5" fmla="*/ 1249853 h 7139732"/>
              <a:gd name="connsiteX6" fmla="*/ 0 w 6053670"/>
              <a:gd name="connsiteY6" fmla="*/ 1084479 h 7139732"/>
              <a:gd name="connsiteX7" fmla="*/ 0 w 6053670"/>
              <a:gd name="connsiteY7" fmla="*/ 0 h 7139732"/>
              <a:gd name="connsiteX8" fmla="*/ 35717 w 6053670"/>
              <a:gd name="connsiteY8" fmla="*/ 5488 h 7139732"/>
              <a:gd name="connsiteX9" fmla="*/ 140445 w 6053670"/>
              <a:gd name="connsiteY9" fmla="*/ 21641 h 7139732"/>
              <a:gd name="connsiteX10" fmla="*/ 216722 w 6053670"/>
              <a:gd name="connsiteY10" fmla="*/ 32932 h 7139732"/>
              <a:gd name="connsiteX11" fmla="*/ 307527 w 6053670"/>
              <a:gd name="connsiteY11" fmla="*/ 44850 h 7139732"/>
              <a:gd name="connsiteX12" fmla="*/ 415282 w 6053670"/>
              <a:gd name="connsiteY12" fmla="*/ 59121 h 7139732"/>
              <a:gd name="connsiteX13" fmla="*/ 534539 w 6053670"/>
              <a:gd name="connsiteY13" fmla="*/ 74175 h 7139732"/>
              <a:gd name="connsiteX14" fmla="*/ 668931 w 6053670"/>
              <a:gd name="connsiteY14" fmla="*/ 90014 h 7139732"/>
              <a:gd name="connsiteX15" fmla="*/ 815430 w 6053670"/>
              <a:gd name="connsiteY15" fmla="*/ 106794 h 7139732"/>
              <a:gd name="connsiteX16" fmla="*/ 974641 w 6053670"/>
              <a:gd name="connsiteY16" fmla="*/ 123574 h 7139732"/>
              <a:gd name="connsiteX17" fmla="*/ 1144144 w 6053670"/>
              <a:gd name="connsiteY17" fmla="*/ 140667 h 7139732"/>
              <a:gd name="connsiteX18" fmla="*/ 1326965 w 6053670"/>
              <a:gd name="connsiteY18" fmla="*/ 156506 h 7139732"/>
              <a:gd name="connsiteX19" fmla="*/ 1518261 w 6053670"/>
              <a:gd name="connsiteY19" fmla="*/ 171717 h 7139732"/>
              <a:gd name="connsiteX20" fmla="*/ 1720453 w 6053670"/>
              <a:gd name="connsiteY20" fmla="*/ 185518 h 7139732"/>
              <a:gd name="connsiteX21" fmla="*/ 1931121 w 6053670"/>
              <a:gd name="connsiteY21" fmla="*/ 198690 h 7139732"/>
              <a:gd name="connsiteX22" fmla="*/ 2150869 w 6053670"/>
              <a:gd name="connsiteY22" fmla="*/ 211079 h 7139732"/>
              <a:gd name="connsiteX23" fmla="*/ 2263467 w 6053670"/>
              <a:gd name="connsiteY23" fmla="*/ 215470 h 7139732"/>
              <a:gd name="connsiteX24" fmla="*/ 2378487 w 6053670"/>
              <a:gd name="connsiteY24" fmla="*/ 220332 h 7139732"/>
              <a:gd name="connsiteX25" fmla="*/ 2495323 w 6053670"/>
              <a:gd name="connsiteY25" fmla="*/ 224879 h 7139732"/>
              <a:gd name="connsiteX26" fmla="*/ 2612764 w 6053670"/>
              <a:gd name="connsiteY26" fmla="*/ 227859 h 7139732"/>
              <a:gd name="connsiteX27" fmla="*/ 2732627 w 6053670"/>
              <a:gd name="connsiteY27" fmla="*/ 230525 h 7139732"/>
              <a:gd name="connsiteX28" fmla="*/ 2853700 w 6053670"/>
              <a:gd name="connsiteY28" fmla="*/ 233348 h 7139732"/>
              <a:gd name="connsiteX29" fmla="*/ 2977195 w 6053670"/>
              <a:gd name="connsiteY29" fmla="*/ 235229 h 7139732"/>
              <a:gd name="connsiteX30" fmla="*/ 3101901 w 6053670"/>
              <a:gd name="connsiteY30" fmla="*/ 235229 h 7139732"/>
              <a:gd name="connsiteX31" fmla="*/ 3227817 w 6053670"/>
              <a:gd name="connsiteY31" fmla="*/ 236170 h 7139732"/>
              <a:gd name="connsiteX32" fmla="*/ 3354944 w 6053670"/>
              <a:gd name="connsiteY32" fmla="*/ 235229 h 7139732"/>
              <a:gd name="connsiteX33" fmla="*/ 3483887 w 6053670"/>
              <a:gd name="connsiteY33" fmla="*/ 233348 h 7139732"/>
              <a:gd name="connsiteX34" fmla="*/ 3612830 w 6053670"/>
              <a:gd name="connsiteY34" fmla="*/ 231623 h 7139732"/>
              <a:gd name="connsiteX35" fmla="*/ 3743590 w 6053670"/>
              <a:gd name="connsiteY35" fmla="*/ 227859 h 7139732"/>
              <a:gd name="connsiteX36" fmla="*/ 3875560 w 6053670"/>
              <a:gd name="connsiteY36" fmla="*/ 223938 h 7139732"/>
              <a:gd name="connsiteX37" fmla="*/ 4007530 w 6053670"/>
              <a:gd name="connsiteY37" fmla="*/ 219391 h 7139732"/>
              <a:gd name="connsiteX38" fmla="*/ 4140710 w 6053670"/>
              <a:gd name="connsiteY38" fmla="*/ 212961 h 7139732"/>
              <a:gd name="connsiteX39" fmla="*/ 4275102 w 6053670"/>
              <a:gd name="connsiteY39" fmla="*/ 205277 h 7139732"/>
              <a:gd name="connsiteX40" fmla="*/ 4410098 w 6053670"/>
              <a:gd name="connsiteY40" fmla="*/ 197907 h 7139732"/>
              <a:gd name="connsiteX41" fmla="*/ 4545096 w 6053670"/>
              <a:gd name="connsiteY41" fmla="*/ 188498 h 7139732"/>
              <a:gd name="connsiteX42" fmla="*/ 4681909 w 6053670"/>
              <a:gd name="connsiteY42" fmla="*/ 177207 h 7139732"/>
              <a:gd name="connsiteX43" fmla="*/ 4816905 w 6053670"/>
              <a:gd name="connsiteY43" fmla="*/ 165916 h 7139732"/>
              <a:gd name="connsiteX44" fmla="*/ 4954323 w 6053670"/>
              <a:gd name="connsiteY44" fmla="*/ 152899 h 7139732"/>
              <a:gd name="connsiteX45" fmla="*/ 5092347 w 6053670"/>
              <a:gd name="connsiteY45" fmla="*/ 138629 h 7139732"/>
              <a:gd name="connsiteX46" fmla="*/ 5228555 w 6053670"/>
              <a:gd name="connsiteY46" fmla="*/ 123574 h 7139732"/>
              <a:gd name="connsiteX47" fmla="*/ 5366578 w 6053670"/>
              <a:gd name="connsiteY47" fmla="*/ 106010 h 7139732"/>
              <a:gd name="connsiteX48" fmla="*/ 5503997 w 6053670"/>
              <a:gd name="connsiteY48" fmla="*/ 87192 h 7139732"/>
              <a:gd name="connsiteX49" fmla="*/ 5642020 w 6053670"/>
              <a:gd name="connsiteY49" fmla="*/ 68530 h 7139732"/>
              <a:gd name="connsiteX50" fmla="*/ 5779438 w 6053670"/>
              <a:gd name="connsiteY50" fmla="*/ 46733 h 7139732"/>
              <a:gd name="connsiteX51" fmla="*/ 5916251 w 6053670"/>
              <a:gd name="connsiteY51" fmla="*/ 24464 h 7139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7139732">
                <a:moveTo>
                  <a:pt x="6053670" y="1098"/>
                </a:moveTo>
                <a:lnTo>
                  <a:pt x="6053670" y="1084479"/>
                </a:lnTo>
                <a:lnTo>
                  <a:pt x="6053670" y="1254558"/>
                </a:lnTo>
                <a:lnTo>
                  <a:pt x="6053670" y="7139732"/>
                </a:lnTo>
                <a:lnTo>
                  <a:pt x="0" y="7139732"/>
                </a:lnTo>
                <a:lnTo>
                  <a:pt x="0" y="1249853"/>
                </a:lnTo>
                <a:lnTo>
                  <a:pt x="0" y="1084479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1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90" y="227859"/>
                </a:lnTo>
                <a:lnTo>
                  <a:pt x="3875560" y="223938"/>
                </a:lnTo>
                <a:lnTo>
                  <a:pt x="4007530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1F23E73A-FDC8-462C-83C1-3AA896144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04AE7F-2BBD-251C-2A0F-91C96F5C0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4087" y="1130603"/>
            <a:ext cx="3342442" cy="4596794"/>
          </a:xfrm>
        </p:spPr>
        <p:txBody>
          <a:bodyPr anchor="ctr">
            <a:normAutofit/>
          </a:bodyPr>
          <a:lstStyle/>
          <a:p>
            <a:r>
              <a:rPr lang="en-US" sz="3200">
                <a:solidFill>
                  <a:srgbClr val="EBEBEB"/>
                </a:solidFill>
              </a:rPr>
              <a:t>Layer Normalization</a:t>
            </a:r>
            <a:endParaRPr lang="en-GB" sz="3200">
              <a:solidFill>
                <a:srgbClr val="EBEBEB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EE8B4-3632-7406-C30C-58FC5109F3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0077" y="437513"/>
            <a:ext cx="5502614" cy="5954325"/>
          </a:xfrm>
        </p:spPr>
        <p:txBody>
          <a:bodyPr anchor="ctr">
            <a:normAutofit/>
          </a:bodyPr>
          <a:lstStyle/>
          <a:p>
            <a:r>
              <a:rPr lang="en-US" sz="2000" dirty="0"/>
              <a:t>Layer normalization makes sure the mean and standard deviation of the output from every layer is fixed, thereby accelerating convergence and allowing us to get output faster</a:t>
            </a:r>
          </a:p>
          <a:p>
            <a:endParaRPr lang="en-US" sz="2000" dirty="0"/>
          </a:p>
          <a:p>
            <a:r>
              <a:rPr lang="en-US" sz="2000" dirty="0"/>
              <a:t>Mean = 0, variance = 1 after layer normalization</a:t>
            </a:r>
          </a:p>
          <a:p>
            <a:endParaRPr lang="en-US" sz="2000" dirty="0"/>
          </a:p>
          <a:p>
            <a:endParaRPr lang="en-GB" sz="2000" dirty="0"/>
          </a:p>
          <a:p>
            <a:pPr marL="0" indent="0">
              <a:buNone/>
            </a:pPr>
            <a:endParaRPr lang="en-GB" sz="2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14F43CF-F640-974F-C576-BEE9ADFB8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115" y="4590288"/>
            <a:ext cx="5143368" cy="301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938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3E5BC3-7F52-49E1-68B9-20FA8E4B2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1DE3271-DD99-4DEF-AF9F-84397884C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06A31CE-F9B6-4BA2-8685-60F3524D07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50898" y="638067"/>
            <a:ext cx="6053670" cy="5581866"/>
          </a:xfrm>
          <a:custGeom>
            <a:avLst/>
            <a:gdLst>
              <a:gd name="connsiteX0" fmla="*/ 6053670 w 6053670"/>
              <a:gd name="connsiteY0" fmla="*/ 1098 h 5581866"/>
              <a:gd name="connsiteX1" fmla="*/ 6053670 w 6053670"/>
              <a:gd name="connsiteY1" fmla="*/ 514028 h 5581866"/>
              <a:gd name="connsiteX2" fmla="*/ 6053670 w 6053670"/>
              <a:gd name="connsiteY2" fmla="*/ 1254558 h 5581866"/>
              <a:gd name="connsiteX3" fmla="*/ 6053670 w 6053670"/>
              <a:gd name="connsiteY3" fmla="*/ 5581866 h 5581866"/>
              <a:gd name="connsiteX4" fmla="*/ 0 w 6053670"/>
              <a:gd name="connsiteY4" fmla="*/ 5581866 h 5581866"/>
              <a:gd name="connsiteX5" fmla="*/ 0 w 6053670"/>
              <a:gd name="connsiteY5" fmla="*/ 1249853 h 5581866"/>
              <a:gd name="connsiteX6" fmla="*/ 0 w 6053670"/>
              <a:gd name="connsiteY6" fmla="*/ 514028 h 5581866"/>
              <a:gd name="connsiteX7" fmla="*/ 0 w 6053670"/>
              <a:gd name="connsiteY7" fmla="*/ 0 h 5581866"/>
              <a:gd name="connsiteX8" fmla="*/ 35717 w 6053670"/>
              <a:gd name="connsiteY8" fmla="*/ 5488 h 5581866"/>
              <a:gd name="connsiteX9" fmla="*/ 140445 w 6053670"/>
              <a:gd name="connsiteY9" fmla="*/ 21641 h 5581866"/>
              <a:gd name="connsiteX10" fmla="*/ 216722 w 6053670"/>
              <a:gd name="connsiteY10" fmla="*/ 32932 h 5581866"/>
              <a:gd name="connsiteX11" fmla="*/ 307527 w 6053670"/>
              <a:gd name="connsiteY11" fmla="*/ 44850 h 5581866"/>
              <a:gd name="connsiteX12" fmla="*/ 415282 w 6053670"/>
              <a:gd name="connsiteY12" fmla="*/ 59121 h 5581866"/>
              <a:gd name="connsiteX13" fmla="*/ 534539 w 6053670"/>
              <a:gd name="connsiteY13" fmla="*/ 74175 h 5581866"/>
              <a:gd name="connsiteX14" fmla="*/ 668931 w 6053670"/>
              <a:gd name="connsiteY14" fmla="*/ 90014 h 5581866"/>
              <a:gd name="connsiteX15" fmla="*/ 815430 w 6053670"/>
              <a:gd name="connsiteY15" fmla="*/ 106794 h 5581866"/>
              <a:gd name="connsiteX16" fmla="*/ 974641 w 6053670"/>
              <a:gd name="connsiteY16" fmla="*/ 123574 h 5581866"/>
              <a:gd name="connsiteX17" fmla="*/ 1144144 w 6053670"/>
              <a:gd name="connsiteY17" fmla="*/ 140667 h 5581866"/>
              <a:gd name="connsiteX18" fmla="*/ 1326965 w 6053670"/>
              <a:gd name="connsiteY18" fmla="*/ 156506 h 5581866"/>
              <a:gd name="connsiteX19" fmla="*/ 1518261 w 6053670"/>
              <a:gd name="connsiteY19" fmla="*/ 171717 h 5581866"/>
              <a:gd name="connsiteX20" fmla="*/ 1720453 w 6053670"/>
              <a:gd name="connsiteY20" fmla="*/ 185518 h 5581866"/>
              <a:gd name="connsiteX21" fmla="*/ 1931121 w 6053670"/>
              <a:gd name="connsiteY21" fmla="*/ 198690 h 5581866"/>
              <a:gd name="connsiteX22" fmla="*/ 2150869 w 6053670"/>
              <a:gd name="connsiteY22" fmla="*/ 211079 h 5581866"/>
              <a:gd name="connsiteX23" fmla="*/ 2263467 w 6053670"/>
              <a:gd name="connsiteY23" fmla="*/ 215470 h 5581866"/>
              <a:gd name="connsiteX24" fmla="*/ 2378487 w 6053670"/>
              <a:gd name="connsiteY24" fmla="*/ 220332 h 5581866"/>
              <a:gd name="connsiteX25" fmla="*/ 2495323 w 6053670"/>
              <a:gd name="connsiteY25" fmla="*/ 224879 h 5581866"/>
              <a:gd name="connsiteX26" fmla="*/ 2612764 w 6053670"/>
              <a:gd name="connsiteY26" fmla="*/ 227859 h 5581866"/>
              <a:gd name="connsiteX27" fmla="*/ 2732627 w 6053670"/>
              <a:gd name="connsiteY27" fmla="*/ 230525 h 5581866"/>
              <a:gd name="connsiteX28" fmla="*/ 2853700 w 6053670"/>
              <a:gd name="connsiteY28" fmla="*/ 233348 h 5581866"/>
              <a:gd name="connsiteX29" fmla="*/ 2977195 w 6053670"/>
              <a:gd name="connsiteY29" fmla="*/ 235229 h 5581866"/>
              <a:gd name="connsiteX30" fmla="*/ 3101900 w 6053670"/>
              <a:gd name="connsiteY30" fmla="*/ 235229 h 5581866"/>
              <a:gd name="connsiteX31" fmla="*/ 3227817 w 6053670"/>
              <a:gd name="connsiteY31" fmla="*/ 236170 h 5581866"/>
              <a:gd name="connsiteX32" fmla="*/ 3354944 w 6053670"/>
              <a:gd name="connsiteY32" fmla="*/ 235229 h 5581866"/>
              <a:gd name="connsiteX33" fmla="*/ 3483887 w 6053670"/>
              <a:gd name="connsiteY33" fmla="*/ 233348 h 5581866"/>
              <a:gd name="connsiteX34" fmla="*/ 3612830 w 6053670"/>
              <a:gd name="connsiteY34" fmla="*/ 231623 h 5581866"/>
              <a:gd name="connsiteX35" fmla="*/ 3743589 w 6053670"/>
              <a:gd name="connsiteY35" fmla="*/ 227859 h 5581866"/>
              <a:gd name="connsiteX36" fmla="*/ 3875559 w 6053670"/>
              <a:gd name="connsiteY36" fmla="*/ 223938 h 5581866"/>
              <a:gd name="connsiteX37" fmla="*/ 4007529 w 6053670"/>
              <a:gd name="connsiteY37" fmla="*/ 219391 h 5581866"/>
              <a:gd name="connsiteX38" fmla="*/ 4140710 w 6053670"/>
              <a:gd name="connsiteY38" fmla="*/ 212961 h 5581866"/>
              <a:gd name="connsiteX39" fmla="*/ 4275102 w 6053670"/>
              <a:gd name="connsiteY39" fmla="*/ 205277 h 5581866"/>
              <a:gd name="connsiteX40" fmla="*/ 4410098 w 6053670"/>
              <a:gd name="connsiteY40" fmla="*/ 197907 h 5581866"/>
              <a:gd name="connsiteX41" fmla="*/ 4545096 w 6053670"/>
              <a:gd name="connsiteY41" fmla="*/ 188498 h 5581866"/>
              <a:gd name="connsiteX42" fmla="*/ 4681909 w 6053670"/>
              <a:gd name="connsiteY42" fmla="*/ 177207 h 5581866"/>
              <a:gd name="connsiteX43" fmla="*/ 4816905 w 6053670"/>
              <a:gd name="connsiteY43" fmla="*/ 165916 h 5581866"/>
              <a:gd name="connsiteX44" fmla="*/ 4954323 w 6053670"/>
              <a:gd name="connsiteY44" fmla="*/ 152899 h 5581866"/>
              <a:gd name="connsiteX45" fmla="*/ 5092347 w 6053670"/>
              <a:gd name="connsiteY45" fmla="*/ 138629 h 5581866"/>
              <a:gd name="connsiteX46" fmla="*/ 5228555 w 6053670"/>
              <a:gd name="connsiteY46" fmla="*/ 123574 h 5581866"/>
              <a:gd name="connsiteX47" fmla="*/ 5366578 w 6053670"/>
              <a:gd name="connsiteY47" fmla="*/ 106010 h 5581866"/>
              <a:gd name="connsiteX48" fmla="*/ 5503997 w 6053670"/>
              <a:gd name="connsiteY48" fmla="*/ 87192 h 5581866"/>
              <a:gd name="connsiteX49" fmla="*/ 5642020 w 6053670"/>
              <a:gd name="connsiteY49" fmla="*/ 68530 h 5581866"/>
              <a:gd name="connsiteX50" fmla="*/ 5779438 w 6053670"/>
              <a:gd name="connsiteY50" fmla="*/ 46733 h 5581866"/>
              <a:gd name="connsiteX51" fmla="*/ 5916251 w 6053670"/>
              <a:gd name="connsiteY51" fmla="*/ 24464 h 5581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5581866">
                <a:moveTo>
                  <a:pt x="6053670" y="1098"/>
                </a:moveTo>
                <a:lnTo>
                  <a:pt x="6053670" y="514028"/>
                </a:lnTo>
                <a:lnTo>
                  <a:pt x="6053670" y="1254558"/>
                </a:lnTo>
                <a:lnTo>
                  <a:pt x="6053670" y="5581866"/>
                </a:lnTo>
                <a:lnTo>
                  <a:pt x="0" y="5581866"/>
                </a:lnTo>
                <a:lnTo>
                  <a:pt x="0" y="1249853"/>
                </a:lnTo>
                <a:lnTo>
                  <a:pt x="0" y="514028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8ADF14A3-1454-4B74-8B4A-CB197D7A79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469835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EC19D556-0251-4E87-AE24-890965BAD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FB8C9A-D1CA-52CF-CDA3-03C1C83E9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5132438" cy="162232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feed forward (GELU Activation function )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C3C8C6-98E2-45EF-AEFC-30C0DBA0E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8C3AB6-488B-3D82-784F-0C05E92D2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7087" y="2348913"/>
            <a:ext cx="5132439" cy="38117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The feed forward network has an activation function in between two linear neural networks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This two neural networks allows for a rich exploration space, through expansion and contraction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768 =&gt; 768 x 4 =&gt; 768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GB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F1B51C-DA8D-FC67-A0C3-70E7417BDF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3343" y="645107"/>
            <a:ext cx="3731693" cy="27103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B5E92E-8800-B893-31DF-8C179B8C96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16" y="3520086"/>
            <a:ext cx="2938092" cy="271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257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AFE23B-636E-A4D0-0223-D892A9680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70C2B8F-6B1B-46D5-86E6-40F36C695F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DB521824-592C-476A-AB0A-CA0C6D1F34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469835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2749EFA-8EE4-4EB8-9424-8E593B9320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50898" y="638067"/>
            <a:ext cx="6053670" cy="5581866"/>
          </a:xfrm>
          <a:custGeom>
            <a:avLst/>
            <a:gdLst>
              <a:gd name="connsiteX0" fmla="*/ 6053670 w 6053670"/>
              <a:gd name="connsiteY0" fmla="*/ 1098 h 5581866"/>
              <a:gd name="connsiteX1" fmla="*/ 6053670 w 6053670"/>
              <a:gd name="connsiteY1" fmla="*/ 514028 h 5581866"/>
              <a:gd name="connsiteX2" fmla="*/ 6053670 w 6053670"/>
              <a:gd name="connsiteY2" fmla="*/ 1254558 h 5581866"/>
              <a:gd name="connsiteX3" fmla="*/ 6053670 w 6053670"/>
              <a:gd name="connsiteY3" fmla="*/ 5581866 h 5581866"/>
              <a:gd name="connsiteX4" fmla="*/ 0 w 6053670"/>
              <a:gd name="connsiteY4" fmla="*/ 5581866 h 5581866"/>
              <a:gd name="connsiteX5" fmla="*/ 0 w 6053670"/>
              <a:gd name="connsiteY5" fmla="*/ 1249853 h 5581866"/>
              <a:gd name="connsiteX6" fmla="*/ 0 w 6053670"/>
              <a:gd name="connsiteY6" fmla="*/ 514028 h 5581866"/>
              <a:gd name="connsiteX7" fmla="*/ 0 w 6053670"/>
              <a:gd name="connsiteY7" fmla="*/ 0 h 5581866"/>
              <a:gd name="connsiteX8" fmla="*/ 35717 w 6053670"/>
              <a:gd name="connsiteY8" fmla="*/ 5488 h 5581866"/>
              <a:gd name="connsiteX9" fmla="*/ 140445 w 6053670"/>
              <a:gd name="connsiteY9" fmla="*/ 21641 h 5581866"/>
              <a:gd name="connsiteX10" fmla="*/ 216722 w 6053670"/>
              <a:gd name="connsiteY10" fmla="*/ 32932 h 5581866"/>
              <a:gd name="connsiteX11" fmla="*/ 307527 w 6053670"/>
              <a:gd name="connsiteY11" fmla="*/ 44850 h 5581866"/>
              <a:gd name="connsiteX12" fmla="*/ 415282 w 6053670"/>
              <a:gd name="connsiteY12" fmla="*/ 59121 h 5581866"/>
              <a:gd name="connsiteX13" fmla="*/ 534539 w 6053670"/>
              <a:gd name="connsiteY13" fmla="*/ 74175 h 5581866"/>
              <a:gd name="connsiteX14" fmla="*/ 668931 w 6053670"/>
              <a:gd name="connsiteY14" fmla="*/ 90014 h 5581866"/>
              <a:gd name="connsiteX15" fmla="*/ 815430 w 6053670"/>
              <a:gd name="connsiteY15" fmla="*/ 106794 h 5581866"/>
              <a:gd name="connsiteX16" fmla="*/ 974641 w 6053670"/>
              <a:gd name="connsiteY16" fmla="*/ 123574 h 5581866"/>
              <a:gd name="connsiteX17" fmla="*/ 1144144 w 6053670"/>
              <a:gd name="connsiteY17" fmla="*/ 140667 h 5581866"/>
              <a:gd name="connsiteX18" fmla="*/ 1326965 w 6053670"/>
              <a:gd name="connsiteY18" fmla="*/ 156506 h 5581866"/>
              <a:gd name="connsiteX19" fmla="*/ 1518261 w 6053670"/>
              <a:gd name="connsiteY19" fmla="*/ 171717 h 5581866"/>
              <a:gd name="connsiteX20" fmla="*/ 1720453 w 6053670"/>
              <a:gd name="connsiteY20" fmla="*/ 185518 h 5581866"/>
              <a:gd name="connsiteX21" fmla="*/ 1931121 w 6053670"/>
              <a:gd name="connsiteY21" fmla="*/ 198690 h 5581866"/>
              <a:gd name="connsiteX22" fmla="*/ 2150869 w 6053670"/>
              <a:gd name="connsiteY22" fmla="*/ 211079 h 5581866"/>
              <a:gd name="connsiteX23" fmla="*/ 2263467 w 6053670"/>
              <a:gd name="connsiteY23" fmla="*/ 215470 h 5581866"/>
              <a:gd name="connsiteX24" fmla="*/ 2378487 w 6053670"/>
              <a:gd name="connsiteY24" fmla="*/ 220332 h 5581866"/>
              <a:gd name="connsiteX25" fmla="*/ 2495323 w 6053670"/>
              <a:gd name="connsiteY25" fmla="*/ 224879 h 5581866"/>
              <a:gd name="connsiteX26" fmla="*/ 2612764 w 6053670"/>
              <a:gd name="connsiteY26" fmla="*/ 227859 h 5581866"/>
              <a:gd name="connsiteX27" fmla="*/ 2732627 w 6053670"/>
              <a:gd name="connsiteY27" fmla="*/ 230525 h 5581866"/>
              <a:gd name="connsiteX28" fmla="*/ 2853700 w 6053670"/>
              <a:gd name="connsiteY28" fmla="*/ 233348 h 5581866"/>
              <a:gd name="connsiteX29" fmla="*/ 2977195 w 6053670"/>
              <a:gd name="connsiteY29" fmla="*/ 235229 h 5581866"/>
              <a:gd name="connsiteX30" fmla="*/ 3101900 w 6053670"/>
              <a:gd name="connsiteY30" fmla="*/ 235229 h 5581866"/>
              <a:gd name="connsiteX31" fmla="*/ 3227817 w 6053670"/>
              <a:gd name="connsiteY31" fmla="*/ 236170 h 5581866"/>
              <a:gd name="connsiteX32" fmla="*/ 3354944 w 6053670"/>
              <a:gd name="connsiteY32" fmla="*/ 235229 h 5581866"/>
              <a:gd name="connsiteX33" fmla="*/ 3483887 w 6053670"/>
              <a:gd name="connsiteY33" fmla="*/ 233348 h 5581866"/>
              <a:gd name="connsiteX34" fmla="*/ 3612830 w 6053670"/>
              <a:gd name="connsiteY34" fmla="*/ 231623 h 5581866"/>
              <a:gd name="connsiteX35" fmla="*/ 3743589 w 6053670"/>
              <a:gd name="connsiteY35" fmla="*/ 227859 h 5581866"/>
              <a:gd name="connsiteX36" fmla="*/ 3875559 w 6053670"/>
              <a:gd name="connsiteY36" fmla="*/ 223938 h 5581866"/>
              <a:gd name="connsiteX37" fmla="*/ 4007529 w 6053670"/>
              <a:gd name="connsiteY37" fmla="*/ 219391 h 5581866"/>
              <a:gd name="connsiteX38" fmla="*/ 4140710 w 6053670"/>
              <a:gd name="connsiteY38" fmla="*/ 212961 h 5581866"/>
              <a:gd name="connsiteX39" fmla="*/ 4275102 w 6053670"/>
              <a:gd name="connsiteY39" fmla="*/ 205277 h 5581866"/>
              <a:gd name="connsiteX40" fmla="*/ 4410098 w 6053670"/>
              <a:gd name="connsiteY40" fmla="*/ 197907 h 5581866"/>
              <a:gd name="connsiteX41" fmla="*/ 4545096 w 6053670"/>
              <a:gd name="connsiteY41" fmla="*/ 188498 h 5581866"/>
              <a:gd name="connsiteX42" fmla="*/ 4681909 w 6053670"/>
              <a:gd name="connsiteY42" fmla="*/ 177207 h 5581866"/>
              <a:gd name="connsiteX43" fmla="*/ 4816905 w 6053670"/>
              <a:gd name="connsiteY43" fmla="*/ 165916 h 5581866"/>
              <a:gd name="connsiteX44" fmla="*/ 4954323 w 6053670"/>
              <a:gd name="connsiteY44" fmla="*/ 152899 h 5581866"/>
              <a:gd name="connsiteX45" fmla="*/ 5092347 w 6053670"/>
              <a:gd name="connsiteY45" fmla="*/ 138629 h 5581866"/>
              <a:gd name="connsiteX46" fmla="*/ 5228555 w 6053670"/>
              <a:gd name="connsiteY46" fmla="*/ 123574 h 5581866"/>
              <a:gd name="connsiteX47" fmla="*/ 5366578 w 6053670"/>
              <a:gd name="connsiteY47" fmla="*/ 106010 h 5581866"/>
              <a:gd name="connsiteX48" fmla="*/ 5503997 w 6053670"/>
              <a:gd name="connsiteY48" fmla="*/ 87192 h 5581866"/>
              <a:gd name="connsiteX49" fmla="*/ 5642020 w 6053670"/>
              <a:gd name="connsiteY49" fmla="*/ 68530 h 5581866"/>
              <a:gd name="connsiteX50" fmla="*/ 5779438 w 6053670"/>
              <a:gd name="connsiteY50" fmla="*/ 46733 h 5581866"/>
              <a:gd name="connsiteX51" fmla="*/ 5916251 w 6053670"/>
              <a:gd name="connsiteY51" fmla="*/ 24464 h 5581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5581866">
                <a:moveTo>
                  <a:pt x="6053670" y="1098"/>
                </a:moveTo>
                <a:lnTo>
                  <a:pt x="6053670" y="514028"/>
                </a:lnTo>
                <a:lnTo>
                  <a:pt x="6053670" y="1254558"/>
                </a:lnTo>
                <a:lnTo>
                  <a:pt x="6053670" y="5581866"/>
                </a:lnTo>
                <a:lnTo>
                  <a:pt x="0" y="5581866"/>
                </a:lnTo>
                <a:lnTo>
                  <a:pt x="0" y="1249853"/>
                </a:lnTo>
                <a:lnTo>
                  <a:pt x="0" y="514028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Freeform 5">
            <a:extLst>
              <a:ext uri="{FF2B5EF4-FFF2-40B4-BE49-F238E27FC236}">
                <a16:creationId xmlns:a16="http://schemas.microsoft.com/office/drawing/2014/main" id="{B5C860C9-D4F9-4350-80DA-0D1CD36C77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866CB2-89C6-D7F7-E28D-2E48670FB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5132438" cy="1622322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feed forward (GELU Activation function )</a:t>
            </a:r>
            <a:endParaRPr lang="en-GB">
              <a:solidFill>
                <a:srgbClr val="EBEBEB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274F5D-7796-7321-48B9-F605115AF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836" y="1578738"/>
            <a:ext cx="4828707" cy="3718104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538A90C8-AE0E-4EBA-9AF8-EEDB20602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AF8A72-3730-6624-9BF9-E0C517A00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98" y="2418735"/>
            <a:ext cx="5132439" cy="3811742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The activation function used in this LLM is the GELU activation function</a:t>
            </a:r>
          </a:p>
          <a:p>
            <a:endParaRPr lang="en-US">
              <a:solidFill>
                <a:srgbClr val="FFFFFF"/>
              </a:solidFill>
            </a:endParaRPr>
          </a:p>
          <a:p>
            <a:r>
              <a:rPr lang="en-GB" b="1">
                <a:solidFill>
                  <a:srgbClr val="FFFFFF"/>
                </a:solidFill>
              </a:rPr>
              <a:t>GELU(x) = x</a:t>
            </a:r>
            <a:r>
              <a:rPr lang="el-GR" b="1">
                <a:solidFill>
                  <a:srgbClr val="FFFFFF"/>
                </a:solidFill>
              </a:rPr>
              <a:t>Φ(</a:t>
            </a:r>
            <a:r>
              <a:rPr lang="en-GB" b="1">
                <a:solidFill>
                  <a:srgbClr val="FFFFFF"/>
                </a:solidFill>
              </a:rPr>
              <a:t>x)</a:t>
            </a:r>
          </a:p>
          <a:p>
            <a:endParaRPr lang="en-GB" b="1">
              <a:solidFill>
                <a:srgbClr val="FFFFFF"/>
              </a:solidFill>
            </a:endParaRPr>
          </a:p>
          <a:p>
            <a:r>
              <a:rPr lang="en-GB" b="1">
                <a:solidFill>
                  <a:srgbClr val="FFFF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GELU(x) = 0.5x(1 + tanh(√(2/</a:t>
            </a:r>
            <a:r>
              <a:rPr lang="el-GR" b="1">
                <a:solidFill>
                  <a:srgbClr val="FFFF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π)(</a:t>
            </a:r>
            <a:r>
              <a:rPr lang="en-GB" b="1">
                <a:solidFill>
                  <a:srgbClr val="FFFF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 + 0.044715x³)))</a:t>
            </a:r>
            <a:endParaRPr lang="en-US" b="1">
              <a:solidFill>
                <a:srgbClr val="FFFFFF"/>
              </a:solidFill>
            </a:endParaRPr>
          </a:p>
          <a:p>
            <a:endParaRPr lang="en-GB">
              <a:solidFill>
                <a:srgbClr val="FFFFFF"/>
              </a:solidFill>
            </a:endParaRPr>
          </a:p>
          <a:p>
            <a:pPr marL="0" indent="0">
              <a:buNone/>
            </a:pPr>
            <a:endParaRPr lang="en-GB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6901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E83BC9-B516-ED66-4A06-AF87D6984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3CA1020-956D-CE35-8650-850158445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3" name="Freeform 5">
            <a:extLst>
              <a:ext uri="{FF2B5EF4-FFF2-40B4-BE49-F238E27FC236}">
                <a16:creationId xmlns:a16="http://schemas.microsoft.com/office/drawing/2014/main" id="{3385C17F-CD59-0C21-34BC-BB780CDBF5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469835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B1E64DD-0517-9EE2-F996-5A713D76E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50898" y="638067"/>
            <a:ext cx="6053670" cy="5581866"/>
          </a:xfrm>
          <a:custGeom>
            <a:avLst/>
            <a:gdLst>
              <a:gd name="connsiteX0" fmla="*/ 6053670 w 6053670"/>
              <a:gd name="connsiteY0" fmla="*/ 1098 h 5581866"/>
              <a:gd name="connsiteX1" fmla="*/ 6053670 w 6053670"/>
              <a:gd name="connsiteY1" fmla="*/ 514028 h 5581866"/>
              <a:gd name="connsiteX2" fmla="*/ 6053670 w 6053670"/>
              <a:gd name="connsiteY2" fmla="*/ 1254558 h 5581866"/>
              <a:gd name="connsiteX3" fmla="*/ 6053670 w 6053670"/>
              <a:gd name="connsiteY3" fmla="*/ 5581866 h 5581866"/>
              <a:gd name="connsiteX4" fmla="*/ 0 w 6053670"/>
              <a:gd name="connsiteY4" fmla="*/ 5581866 h 5581866"/>
              <a:gd name="connsiteX5" fmla="*/ 0 w 6053670"/>
              <a:gd name="connsiteY5" fmla="*/ 1249853 h 5581866"/>
              <a:gd name="connsiteX6" fmla="*/ 0 w 6053670"/>
              <a:gd name="connsiteY6" fmla="*/ 514028 h 5581866"/>
              <a:gd name="connsiteX7" fmla="*/ 0 w 6053670"/>
              <a:gd name="connsiteY7" fmla="*/ 0 h 5581866"/>
              <a:gd name="connsiteX8" fmla="*/ 35717 w 6053670"/>
              <a:gd name="connsiteY8" fmla="*/ 5488 h 5581866"/>
              <a:gd name="connsiteX9" fmla="*/ 140445 w 6053670"/>
              <a:gd name="connsiteY9" fmla="*/ 21641 h 5581866"/>
              <a:gd name="connsiteX10" fmla="*/ 216722 w 6053670"/>
              <a:gd name="connsiteY10" fmla="*/ 32932 h 5581866"/>
              <a:gd name="connsiteX11" fmla="*/ 307527 w 6053670"/>
              <a:gd name="connsiteY11" fmla="*/ 44850 h 5581866"/>
              <a:gd name="connsiteX12" fmla="*/ 415282 w 6053670"/>
              <a:gd name="connsiteY12" fmla="*/ 59121 h 5581866"/>
              <a:gd name="connsiteX13" fmla="*/ 534539 w 6053670"/>
              <a:gd name="connsiteY13" fmla="*/ 74175 h 5581866"/>
              <a:gd name="connsiteX14" fmla="*/ 668931 w 6053670"/>
              <a:gd name="connsiteY14" fmla="*/ 90014 h 5581866"/>
              <a:gd name="connsiteX15" fmla="*/ 815430 w 6053670"/>
              <a:gd name="connsiteY15" fmla="*/ 106794 h 5581866"/>
              <a:gd name="connsiteX16" fmla="*/ 974641 w 6053670"/>
              <a:gd name="connsiteY16" fmla="*/ 123574 h 5581866"/>
              <a:gd name="connsiteX17" fmla="*/ 1144144 w 6053670"/>
              <a:gd name="connsiteY17" fmla="*/ 140667 h 5581866"/>
              <a:gd name="connsiteX18" fmla="*/ 1326965 w 6053670"/>
              <a:gd name="connsiteY18" fmla="*/ 156506 h 5581866"/>
              <a:gd name="connsiteX19" fmla="*/ 1518261 w 6053670"/>
              <a:gd name="connsiteY19" fmla="*/ 171717 h 5581866"/>
              <a:gd name="connsiteX20" fmla="*/ 1720453 w 6053670"/>
              <a:gd name="connsiteY20" fmla="*/ 185518 h 5581866"/>
              <a:gd name="connsiteX21" fmla="*/ 1931121 w 6053670"/>
              <a:gd name="connsiteY21" fmla="*/ 198690 h 5581866"/>
              <a:gd name="connsiteX22" fmla="*/ 2150869 w 6053670"/>
              <a:gd name="connsiteY22" fmla="*/ 211079 h 5581866"/>
              <a:gd name="connsiteX23" fmla="*/ 2263467 w 6053670"/>
              <a:gd name="connsiteY23" fmla="*/ 215470 h 5581866"/>
              <a:gd name="connsiteX24" fmla="*/ 2378487 w 6053670"/>
              <a:gd name="connsiteY24" fmla="*/ 220332 h 5581866"/>
              <a:gd name="connsiteX25" fmla="*/ 2495323 w 6053670"/>
              <a:gd name="connsiteY25" fmla="*/ 224879 h 5581866"/>
              <a:gd name="connsiteX26" fmla="*/ 2612764 w 6053670"/>
              <a:gd name="connsiteY26" fmla="*/ 227859 h 5581866"/>
              <a:gd name="connsiteX27" fmla="*/ 2732627 w 6053670"/>
              <a:gd name="connsiteY27" fmla="*/ 230525 h 5581866"/>
              <a:gd name="connsiteX28" fmla="*/ 2853700 w 6053670"/>
              <a:gd name="connsiteY28" fmla="*/ 233348 h 5581866"/>
              <a:gd name="connsiteX29" fmla="*/ 2977195 w 6053670"/>
              <a:gd name="connsiteY29" fmla="*/ 235229 h 5581866"/>
              <a:gd name="connsiteX30" fmla="*/ 3101900 w 6053670"/>
              <a:gd name="connsiteY30" fmla="*/ 235229 h 5581866"/>
              <a:gd name="connsiteX31" fmla="*/ 3227817 w 6053670"/>
              <a:gd name="connsiteY31" fmla="*/ 236170 h 5581866"/>
              <a:gd name="connsiteX32" fmla="*/ 3354944 w 6053670"/>
              <a:gd name="connsiteY32" fmla="*/ 235229 h 5581866"/>
              <a:gd name="connsiteX33" fmla="*/ 3483887 w 6053670"/>
              <a:gd name="connsiteY33" fmla="*/ 233348 h 5581866"/>
              <a:gd name="connsiteX34" fmla="*/ 3612830 w 6053670"/>
              <a:gd name="connsiteY34" fmla="*/ 231623 h 5581866"/>
              <a:gd name="connsiteX35" fmla="*/ 3743589 w 6053670"/>
              <a:gd name="connsiteY35" fmla="*/ 227859 h 5581866"/>
              <a:gd name="connsiteX36" fmla="*/ 3875559 w 6053670"/>
              <a:gd name="connsiteY36" fmla="*/ 223938 h 5581866"/>
              <a:gd name="connsiteX37" fmla="*/ 4007529 w 6053670"/>
              <a:gd name="connsiteY37" fmla="*/ 219391 h 5581866"/>
              <a:gd name="connsiteX38" fmla="*/ 4140710 w 6053670"/>
              <a:gd name="connsiteY38" fmla="*/ 212961 h 5581866"/>
              <a:gd name="connsiteX39" fmla="*/ 4275102 w 6053670"/>
              <a:gd name="connsiteY39" fmla="*/ 205277 h 5581866"/>
              <a:gd name="connsiteX40" fmla="*/ 4410098 w 6053670"/>
              <a:gd name="connsiteY40" fmla="*/ 197907 h 5581866"/>
              <a:gd name="connsiteX41" fmla="*/ 4545096 w 6053670"/>
              <a:gd name="connsiteY41" fmla="*/ 188498 h 5581866"/>
              <a:gd name="connsiteX42" fmla="*/ 4681909 w 6053670"/>
              <a:gd name="connsiteY42" fmla="*/ 177207 h 5581866"/>
              <a:gd name="connsiteX43" fmla="*/ 4816905 w 6053670"/>
              <a:gd name="connsiteY43" fmla="*/ 165916 h 5581866"/>
              <a:gd name="connsiteX44" fmla="*/ 4954323 w 6053670"/>
              <a:gd name="connsiteY44" fmla="*/ 152899 h 5581866"/>
              <a:gd name="connsiteX45" fmla="*/ 5092347 w 6053670"/>
              <a:gd name="connsiteY45" fmla="*/ 138629 h 5581866"/>
              <a:gd name="connsiteX46" fmla="*/ 5228555 w 6053670"/>
              <a:gd name="connsiteY46" fmla="*/ 123574 h 5581866"/>
              <a:gd name="connsiteX47" fmla="*/ 5366578 w 6053670"/>
              <a:gd name="connsiteY47" fmla="*/ 106010 h 5581866"/>
              <a:gd name="connsiteX48" fmla="*/ 5503997 w 6053670"/>
              <a:gd name="connsiteY48" fmla="*/ 87192 h 5581866"/>
              <a:gd name="connsiteX49" fmla="*/ 5642020 w 6053670"/>
              <a:gd name="connsiteY49" fmla="*/ 68530 h 5581866"/>
              <a:gd name="connsiteX50" fmla="*/ 5779438 w 6053670"/>
              <a:gd name="connsiteY50" fmla="*/ 46733 h 5581866"/>
              <a:gd name="connsiteX51" fmla="*/ 5916251 w 6053670"/>
              <a:gd name="connsiteY51" fmla="*/ 24464 h 5581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5581866">
                <a:moveTo>
                  <a:pt x="6053670" y="1098"/>
                </a:moveTo>
                <a:lnTo>
                  <a:pt x="6053670" y="514028"/>
                </a:lnTo>
                <a:lnTo>
                  <a:pt x="6053670" y="1254558"/>
                </a:lnTo>
                <a:lnTo>
                  <a:pt x="6053670" y="5581866"/>
                </a:lnTo>
                <a:lnTo>
                  <a:pt x="0" y="5581866"/>
                </a:lnTo>
                <a:lnTo>
                  <a:pt x="0" y="1249853"/>
                </a:lnTo>
                <a:lnTo>
                  <a:pt x="0" y="514028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Freeform 5">
            <a:extLst>
              <a:ext uri="{FF2B5EF4-FFF2-40B4-BE49-F238E27FC236}">
                <a16:creationId xmlns:a16="http://schemas.microsoft.com/office/drawing/2014/main" id="{1F76C48A-7872-7E59-E5AA-1CCA7828BF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5B7A9D-4C4D-318F-F996-C2AE8CE77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5132438" cy="162232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EBEBEB"/>
                </a:solidFill>
              </a:rPr>
              <a:t>Advantages of GELU over RELU for LLMs</a:t>
            </a:r>
            <a:endParaRPr lang="en-GB" dirty="0">
              <a:solidFill>
                <a:srgbClr val="EBEBEB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843E07-9C4E-C7B4-EC02-59B99C564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836" y="1578738"/>
            <a:ext cx="4828707" cy="3718104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3AC940E3-A7C4-A2F0-E88C-AF503A976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9BB52-909C-0B9C-E2A6-A4FADD219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98" y="2418735"/>
            <a:ext cx="5132439" cy="3811742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There is no discontinuity in GELU, it is smooth through x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GB" dirty="0">
                <a:solidFill>
                  <a:srgbClr val="FFFFFF"/>
                </a:solidFill>
              </a:rPr>
              <a:t>Prevents dead neuron problem</a:t>
            </a:r>
          </a:p>
          <a:p>
            <a:endParaRPr lang="en-GB" dirty="0">
              <a:solidFill>
                <a:srgbClr val="FFFFFF"/>
              </a:solidFill>
            </a:endParaRPr>
          </a:p>
          <a:p>
            <a:r>
              <a:rPr lang="en-GB" dirty="0">
                <a:solidFill>
                  <a:srgbClr val="FFFFFF"/>
                </a:solidFill>
              </a:rPr>
              <a:t>Works better than RELU for LLMS</a:t>
            </a:r>
            <a:endParaRPr lang="en-US" dirty="0">
              <a:solidFill>
                <a:srgbClr val="FFFFFF"/>
              </a:solidFill>
            </a:endParaRPr>
          </a:p>
          <a:p>
            <a:endParaRPr lang="en-GB" dirty="0">
              <a:solidFill>
                <a:srgbClr val="FFFFFF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73111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063480-0985-A49B-C258-EC8D0D9A8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72C6E0B7-C37D-4D54-8F3E-8D9F9097F6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B7B653ED-BC47-4D34-B612-473D6AFAD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6290102" y="977273"/>
            <a:ext cx="6053670" cy="4903455"/>
          </a:xfrm>
          <a:custGeom>
            <a:avLst/>
            <a:gdLst>
              <a:gd name="connsiteX0" fmla="*/ 6053670 w 6053670"/>
              <a:gd name="connsiteY0" fmla="*/ 1098 h 4903455"/>
              <a:gd name="connsiteX1" fmla="*/ 6053670 w 6053670"/>
              <a:gd name="connsiteY1" fmla="*/ 424590 h 4903455"/>
              <a:gd name="connsiteX2" fmla="*/ 6053670 w 6053670"/>
              <a:gd name="connsiteY2" fmla="*/ 1254558 h 4903455"/>
              <a:gd name="connsiteX3" fmla="*/ 6053670 w 6053670"/>
              <a:gd name="connsiteY3" fmla="*/ 4903455 h 4903455"/>
              <a:gd name="connsiteX4" fmla="*/ 0 w 6053670"/>
              <a:gd name="connsiteY4" fmla="*/ 4903455 h 4903455"/>
              <a:gd name="connsiteX5" fmla="*/ 0 w 6053670"/>
              <a:gd name="connsiteY5" fmla="*/ 1249853 h 4903455"/>
              <a:gd name="connsiteX6" fmla="*/ 0 w 6053670"/>
              <a:gd name="connsiteY6" fmla="*/ 424590 h 4903455"/>
              <a:gd name="connsiteX7" fmla="*/ 0 w 6053670"/>
              <a:gd name="connsiteY7" fmla="*/ 0 h 4903455"/>
              <a:gd name="connsiteX8" fmla="*/ 35717 w 6053670"/>
              <a:gd name="connsiteY8" fmla="*/ 5488 h 4903455"/>
              <a:gd name="connsiteX9" fmla="*/ 140445 w 6053670"/>
              <a:gd name="connsiteY9" fmla="*/ 21641 h 4903455"/>
              <a:gd name="connsiteX10" fmla="*/ 216722 w 6053670"/>
              <a:gd name="connsiteY10" fmla="*/ 32932 h 4903455"/>
              <a:gd name="connsiteX11" fmla="*/ 307527 w 6053670"/>
              <a:gd name="connsiteY11" fmla="*/ 44850 h 4903455"/>
              <a:gd name="connsiteX12" fmla="*/ 415282 w 6053670"/>
              <a:gd name="connsiteY12" fmla="*/ 59121 h 4903455"/>
              <a:gd name="connsiteX13" fmla="*/ 534539 w 6053670"/>
              <a:gd name="connsiteY13" fmla="*/ 74175 h 4903455"/>
              <a:gd name="connsiteX14" fmla="*/ 668931 w 6053670"/>
              <a:gd name="connsiteY14" fmla="*/ 90014 h 4903455"/>
              <a:gd name="connsiteX15" fmla="*/ 815430 w 6053670"/>
              <a:gd name="connsiteY15" fmla="*/ 106794 h 4903455"/>
              <a:gd name="connsiteX16" fmla="*/ 974641 w 6053670"/>
              <a:gd name="connsiteY16" fmla="*/ 123574 h 4903455"/>
              <a:gd name="connsiteX17" fmla="*/ 1144144 w 6053670"/>
              <a:gd name="connsiteY17" fmla="*/ 140667 h 4903455"/>
              <a:gd name="connsiteX18" fmla="*/ 1326965 w 6053670"/>
              <a:gd name="connsiteY18" fmla="*/ 156506 h 4903455"/>
              <a:gd name="connsiteX19" fmla="*/ 1518261 w 6053670"/>
              <a:gd name="connsiteY19" fmla="*/ 171717 h 4903455"/>
              <a:gd name="connsiteX20" fmla="*/ 1720453 w 6053670"/>
              <a:gd name="connsiteY20" fmla="*/ 185518 h 4903455"/>
              <a:gd name="connsiteX21" fmla="*/ 1931121 w 6053670"/>
              <a:gd name="connsiteY21" fmla="*/ 198690 h 4903455"/>
              <a:gd name="connsiteX22" fmla="*/ 2150869 w 6053670"/>
              <a:gd name="connsiteY22" fmla="*/ 211079 h 4903455"/>
              <a:gd name="connsiteX23" fmla="*/ 2263467 w 6053670"/>
              <a:gd name="connsiteY23" fmla="*/ 215470 h 4903455"/>
              <a:gd name="connsiteX24" fmla="*/ 2378487 w 6053670"/>
              <a:gd name="connsiteY24" fmla="*/ 220332 h 4903455"/>
              <a:gd name="connsiteX25" fmla="*/ 2495323 w 6053670"/>
              <a:gd name="connsiteY25" fmla="*/ 224879 h 4903455"/>
              <a:gd name="connsiteX26" fmla="*/ 2612764 w 6053670"/>
              <a:gd name="connsiteY26" fmla="*/ 227859 h 4903455"/>
              <a:gd name="connsiteX27" fmla="*/ 2732627 w 6053670"/>
              <a:gd name="connsiteY27" fmla="*/ 230525 h 4903455"/>
              <a:gd name="connsiteX28" fmla="*/ 2853700 w 6053670"/>
              <a:gd name="connsiteY28" fmla="*/ 233348 h 4903455"/>
              <a:gd name="connsiteX29" fmla="*/ 2977195 w 6053670"/>
              <a:gd name="connsiteY29" fmla="*/ 235229 h 4903455"/>
              <a:gd name="connsiteX30" fmla="*/ 3101900 w 6053670"/>
              <a:gd name="connsiteY30" fmla="*/ 235229 h 4903455"/>
              <a:gd name="connsiteX31" fmla="*/ 3227817 w 6053670"/>
              <a:gd name="connsiteY31" fmla="*/ 236170 h 4903455"/>
              <a:gd name="connsiteX32" fmla="*/ 3354944 w 6053670"/>
              <a:gd name="connsiteY32" fmla="*/ 235229 h 4903455"/>
              <a:gd name="connsiteX33" fmla="*/ 3483887 w 6053670"/>
              <a:gd name="connsiteY33" fmla="*/ 233348 h 4903455"/>
              <a:gd name="connsiteX34" fmla="*/ 3612830 w 6053670"/>
              <a:gd name="connsiteY34" fmla="*/ 231623 h 4903455"/>
              <a:gd name="connsiteX35" fmla="*/ 3743589 w 6053670"/>
              <a:gd name="connsiteY35" fmla="*/ 227859 h 4903455"/>
              <a:gd name="connsiteX36" fmla="*/ 3875559 w 6053670"/>
              <a:gd name="connsiteY36" fmla="*/ 223938 h 4903455"/>
              <a:gd name="connsiteX37" fmla="*/ 4007529 w 6053670"/>
              <a:gd name="connsiteY37" fmla="*/ 219391 h 4903455"/>
              <a:gd name="connsiteX38" fmla="*/ 4140710 w 6053670"/>
              <a:gd name="connsiteY38" fmla="*/ 212961 h 4903455"/>
              <a:gd name="connsiteX39" fmla="*/ 4275102 w 6053670"/>
              <a:gd name="connsiteY39" fmla="*/ 205277 h 4903455"/>
              <a:gd name="connsiteX40" fmla="*/ 4410098 w 6053670"/>
              <a:gd name="connsiteY40" fmla="*/ 197907 h 4903455"/>
              <a:gd name="connsiteX41" fmla="*/ 4545096 w 6053670"/>
              <a:gd name="connsiteY41" fmla="*/ 188498 h 4903455"/>
              <a:gd name="connsiteX42" fmla="*/ 4681909 w 6053670"/>
              <a:gd name="connsiteY42" fmla="*/ 177207 h 4903455"/>
              <a:gd name="connsiteX43" fmla="*/ 4816905 w 6053670"/>
              <a:gd name="connsiteY43" fmla="*/ 165916 h 4903455"/>
              <a:gd name="connsiteX44" fmla="*/ 4954323 w 6053670"/>
              <a:gd name="connsiteY44" fmla="*/ 152899 h 4903455"/>
              <a:gd name="connsiteX45" fmla="*/ 5092347 w 6053670"/>
              <a:gd name="connsiteY45" fmla="*/ 138629 h 4903455"/>
              <a:gd name="connsiteX46" fmla="*/ 5228555 w 6053670"/>
              <a:gd name="connsiteY46" fmla="*/ 123574 h 4903455"/>
              <a:gd name="connsiteX47" fmla="*/ 5366578 w 6053670"/>
              <a:gd name="connsiteY47" fmla="*/ 106010 h 4903455"/>
              <a:gd name="connsiteX48" fmla="*/ 5503997 w 6053670"/>
              <a:gd name="connsiteY48" fmla="*/ 87192 h 4903455"/>
              <a:gd name="connsiteX49" fmla="*/ 5642020 w 6053670"/>
              <a:gd name="connsiteY49" fmla="*/ 68530 h 4903455"/>
              <a:gd name="connsiteX50" fmla="*/ 5779438 w 6053670"/>
              <a:gd name="connsiteY50" fmla="*/ 46733 h 4903455"/>
              <a:gd name="connsiteX51" fmla="*/ 5916251 w 6053670"/>
              <a:gd name="connsiteY51" fmla="*/ 24464 h 4903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4903455">
                <a:moveTo>
                  <a:pt x="6053670" y="1098"/>
                </a:moveTo>
                <a:lnTo>
                  <a:pt x="6053670" y="424590"/>
                </a:lnTo>
                <a:lnTo>
                  <a:pt x="6053670" y="1254558"/>
                </a:lnTo>
                <a:lnTo>
                  <a:pt x="6053670" y="4903455"/>
                </a:lnTo>
                <a:lnTo>
                  <a:pt x="0" y="4903455"/>
                </a:lnTo>
                <a:lnTo>
                  <a:pt x="0" y="1249853"/>
                </a:lnTo>
                <a:lnTo>
                  <a:pt x="0" y="424590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1" name="Freeform 5">
            <a:extLst>
              <a:ext uri="{FF2B5EF4-FFF2-40B4-BE49-F238E27FC236}">
                <a16:creationId xmlns:a16="http://schemas.microsoft.com/office/drawing/2014/main" id="{B93D812D-BB26-4FDD-A218-F6F71E737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3" name="Freeform 5">
            <a:extLst>
              <a:ext uri="{FF2B5EF4-FFF2-40B4-BE49-F238E27FC236}">
                <a16:creationId xmlns:a16="http://schemas.microsoft.com/office/drawing/2014/main" id="{EEA99C6C-BC37-4408-9F74-3DDB1060B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537676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E0E875-75E3-261D-0E7B-8EAA6FDDF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6072776" cy="1622322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E"/>
                </a:solidFill>
              </a:rPr>
              <a:t>Shortcut connections</a:t>
            </a:r>
            <a:endParaRPr lang="en-GB">
              <a:solidFill>
                <a:srgbClr val="FFFFFE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24C0032-B592-45AB-AD23-5A4BD369B6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9BF1F84-E7C7-42A7-911D-8E48AF671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11000"/>
                </a:schemeClr>
              </a:gs>
              <a:gs pos="75000">
                <a:schemeClr val="accent5">
                  <a:alpha val="0"/>
                </a:schemeClr>
              </a:gs>
              <a:gs pos="36000">
                <a:schemeClr val="accent5"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C3CFCFE-6522-4333-8CB1-16DB80E7E9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8000"/>
                </a:schemeClr>
              </a:gs>
              <a:gs pos="72000">
                <a:schemeClr val="accent5">
                  <a:alpha val="0"/>
                </a:schemeClr>
              </a:gs>
              <a:gs pos="36000">
                <a:schemeClr val="accent5"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41B38F-9DEC-F90A-1EB2-2E81DC0DBB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98" y="2418735"/>
            <a:ext cx="6072776" cy="3811740"/>
          </a:xfrm>
        </p:spPr>
        <p:txBody>
          <a:bodyPr anchor="ctr">
            <a:normAutofit/>
          </a:bodyPr>
          <a:lstStyle/>
          <a:p>
            <a:r>
              <a:rPr lang="en-GB" dirty="0">
                <a:solidFill>
                  <a:srgbClr val="FFFFFE"/>
                </a:solidFill>
              </a:rPr>
              <a:t>Also known as skip or residual connections</a:t>
            </a:r>
          </a:p>
          <a:p>
            <a:endParaRPr lang="en-GB" dirty="0">
              <a:solidFill>
                <a:srgbClr val="FFFFFE"/>
              </a:solidFill>
            </a:endParaRPr>
          </a:p>
          <a:p>
            <a:r>
              <a:rPr lang="en-GB" dirty="0">
                <a:solidFill>
                  <a:srgbClr val="FFFFFE"/>
                </a:solidFill>
              </a:rPr>
              <a:t>They were first proposed in the field of computer vision to solve the vanishing gradient problem</a:t>
            </a:r>
          </a:p>
          <a:p>
            <a:endParaRPr lang="en-GB" dirty="0">
              <a:solidFill>
                <a:srgbClr val="FFFFFE"/>
              </a:solidFill>
            </a:endParaRPr>
          </a:p>
          <a:p>
            <a:r>
              <a:rPr lang="en-GB" dirty="0">
                <a:solidFill>
                  <a:srgbClr val="FFFFFE"/>
                </a:solidFill>
              </a:rPr>
              <a:t>Shortcut connections create an alternative path for the gradient to flow, by skipping one or more layers</a:t>
            </a:r>
          </a:p>
          <a:p>
            <a:endParaRPr lang="en-GB" dirty="0">
              <a:solidFill>
                <a:srgbClr val="FFFFFE"/>
              </a:solidFill>
            </a:endParaRPr>
          </a:p>
          <a:p>
            <a:endParaRPr lang="en-US" dirty="0">
              <a:solidFill>
                <a:srgbClr val="FFFFFE"/>
              </a:solidFill>
            </a:endParaRPr>
          </a:p>
          <a:p>
            <a:endParaRPr lang="en-GB" dirty="0">
              <a:solidFill>
                <a:srgbClr val="FFFFFE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FFFFFE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FA6B95-7E64-7F20-1670-D3F6A7A3B5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226" y="726609"/>
            <a:ext cx="4125317" cy="254738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1985B3-6BB6-0900-076C-CEC6612E6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8226" y="3849108"/>
            <a:ext cx="4125317" cy="2052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1167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861623-A057-ED8E-CED8-26ADAFEC0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D1DE3271-DD99-4DEF-AF9F-84397884C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E06A31CE-F9B6-4BA2-8685-60F3524D07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50898" y="638067"/>
            <a:ext cx="6053670" cy="5581866"/>
          </a:xfrm>
          <a:custGeom>
            <a:avLst/>
            <a:gdLst>
              <a:gd name="connsiteX0" fmla="*/ 6053670 w 6053670"/>
              <a:gd name="connsiteY0" fmla="*/ 1098 h 5581866"/>
              <a:gd name="connsiteX1" fmla="*/ 6053670 w 6053670"/>
              <a:gd name="connsiteY1" fmla="*/ 514028 h 5581866"/>
              <a:gd name="connsiteX2" fmla="*/ 6053670 w 6053670"/>
              <a:gd name="connsiteY2" fmla="*/ 1254558 h 5581866"/>
              <a:gd name="connsiteX3" fmla="*/ 6053670 w 6053670"/>
              <a:gd name="connsiteY3" fmla="*/ 5581866 h 5581866"/>
              <a:gd name="connsiteX4" fmla="*/ 0 w 6053670"/>
              <a:gd name="connsiteY4" fmla="*/ 5581866 h 5581866"/>
              <a:gd name="connsiteX5" fmla="*/ 0 w 6053670"/>
              <a:gd name="connsiteY5" fmla="*/ 1249853 h 5581866"/>
              <a:gd name="connsiteX6" fmla="*/ 0 w 6053670"/>
              <a:gd name="connsiteY6" fmla="*/ 514028 h 5581866"/>
              <a:gd name="connsiteX7" fmla="*/ 0 w 6053670"/>
              <a:gd name="connsiteY7" fmla="*/ 0 h 5581866"/>
              <a:gd name="connsiteX8" fmla="*/ 35717 w 6053670"/>
              <a:gd name="connsiteY8" fmla="*/ 5488 h 5581866"/>
              <a:gd name="connsiteX9" fmla="*/ 140445 w 6053670"/>
              <a:gd name="connsiteY9" fmla="*/ 21641 h 5581866"/>
              <a:gd name="connsiteX10" fmla="*/ 216722 w 6053670"/>
              <a:gd name="connsiteY10" fmla="*/ 32932 h 5581866"/>
              <a:gd name="connsiteX11" fmla="*/ 307527 w 6053670"/>
              <a:gd name="connsiteY11" fmla="*/ 44850 h 5581866"/>
              <a:gd name="connsiteX12" fmla="*/ 415282 w 6053670"/>
              <a:gd name="connsiteY12" fmla="*/ 59121 h 5581866"/>
              <a:gd name="connsiteX13" fmla="*/ 534539 w 6053670"/>
              <a:gd name="connsiteY13" fmla="*/ 74175 h 5581866"/>
              <a:gd name="connsiteX14" fmla="*/ 668931 w 6053670"/>
              <a:gd name="connsiteY14" fmla="*/ 90014 h 5581866"/>
              <a:gd name="connsiteX15" fmla="*/ 815430 w 6053670"/>
              <a:gd name="connsiteY15" fmla="*/ 106794 h 5581866"/>
              <a:gd name="connsiteX16" fmla="*/ 974641 w 6053670"/>
              <a:gd name="connsiteY16" fmla="*/ 123574 h 5581866"/>
              <a:gd name="connsiteX17" fmla="*/ 1144144 w 6053670"/>
              <a:gd name="connsiteY17" fmla="*/ 140667 h 5581866"/>
              <a:gd name="connsiteX18" fmla="*/ 1326965 w 6053670"/>
              <a:gd name="connsiteY18" fmla="*/ 156506 h 5581866"/>
              <a:gd name="connsiteX19" fmla="*/ 1518261 w 6053670"/>
              <a:gd name="connsiteY19" fmla="*/ 171717 h 5581866"/>
              <a:gd name="connsiteX20" fmla="*/ 1720453 w 6053670"/>
              <a:gd name="connsiteY20" fmla="*/ 185518 h 5581866"/>
              <a:gd name="connsiteX21" fmla="*/ 1931121 w 6053670"/>
              <a:gd name="connsiteY21" fmla="*/ 198690 h 5581866"/>
              <a:gd name="connsiteX22" fmla="*/ 2150869 w 6053670"/>
              <a:gd name="connsiteY22" fmla="*/ 211079 h 5581866"/>
              <a:gd name="connsiteX23" fmla="*/ 2263467 w 6053670"/>
              <a:gd name="connsiteY23" fmla="*/ 215470 h 5581866"/>
              <a:gd name="connsiteX24" fmla="*/ 2378487 w 6053670"/>
              <a:gd name="connsiteY24" fmla="*/ 220332 h 5581866"/>
              <a:gd name="connsiteX25" fmla="*/ 2495323 w 6053670"/>
              <a:gd name="connsiteY25" fmla="*/ 224879 h 5581866"/>
              <a:gd name="connsiteX26" fmla="*/ 2612764 w 6053670"/>
              <a:gd name="connsiteY26" fmla="*/ 227859 h 5581866"/>
              <a:gd name="connsiteX27" fmla="*/ 2732627 w 6053670"/>
              <a:gd name="connsiteY27" fmla="*/ 230525 h 5581866"/>
              <a:gd name="connsiteX28" fmla="*/ 2853700 w 6053670"/>
              <a:gd name="connsiteY28" fmla="*/ 233348 h 5581866"/>
              <a:gd name="connsiteX29" fmla="*/ 2977195 w 6053670"/>
              <a:gd name="connsiteY29" fmla="*/ 235229 h 5581866"/>
              <a:gd name="connsiteX30" fmla="*/ 3101900 w 6053670"/>
              <a:gd name="connsiteY30" fmla="*/ 235229 h 5581866"/>
              <a:gd name="connsiteX31" fmla="*/ 3227817 w 6053670"/>
              <a:gd name="connsiteY31" fmla="*/ 236170 h 5581866"/>
              <a:gd name="connsiteX32" fmla="*/ 3354944 w 6053670"/>
              <a:gd name="connsiteY32" fmla="*/ 235229 h 5581866"/>
              <a:gd name="connsiteX33" fmla="*/ 3483887 w 6053670"/>
              <a:gd name="connsiteY33" fmla="*/ 233348 h 5581866"/>
              <a:gd name="connsiteX34" fmla="*/ 3612830 w 6053670"/>
              <a:gd name="connsiteY34" fmla="*/ 231623 h 5581866"/>
              <a:gd name="connsiteX35" fmla="*/ 3743589 w 6053670"/>
              <a:gd name="connsiteY35" fmla="*/ 227859 h 5581866"/>
              <a:gd name="connsiteX36" fmla="*/ 3875559 w 6053670"/>
              <a:gd name="connsiteY36" fmla="*/ 223938 h 5581866"/>
              <a:gd name="connsiteX37" fmla="*/ 4007529 w 6053670"/>
              <a:gd name="connsiteY37" fmla="*/ 219391 h 5581866"/>
              <a:gd name="connsiteX38" fmla="*/ 4140710 w 6053670"/>
              <a:gd name="connsiteY38" fmla="*/ 212961 h 5581866"/>
              <a:gd name="connsiteX39" fmla="*/ 4275102 w 6053670"/>
              <a:gd name="connsiteY39" fmla="*/ 205277 h 5581866"/>
              <a:gd name="connsiteX40" fmla="*/ 4410098 w 6053670"/>
              <a:gd name="connsiteY40" fmla="*/ 197907 h 5581866"/>
              <a:gd name="connsiteX41" fmla="*/ 4545096 w 6053670"/>
              <a:gd name="connsiteY41" fmla="*/ 188498 h 5581866"/>
              <a:gd name="connsiteX42" fmla="*/ 4681909 w 6053670"/>
              <a:gd name="connsiteY42" fmla="*/ 177207 h 5581866"/>
              <a:gd name="connsiteX43" fmla="*/ 4816905 w 6053670"/>
              <a:gd name="connsiteY43" fmla="*/ 165916 h 5581866"/>
              <a:gd name="connsiteX44" fmla="*/ 4954323 w 6053670"/>
              <a:gd name="connsiteY44" fmla="*/ 152899 h 5581866"/>
              <a:gd name="connsiteX45" fmla="*/ 5092347 w 6053670"/>
              <a:gd name="connsiteY45" fmla="*/ 138629 h 5581866"/>
              <a:gd name="connsiteX46" fmla="*/ 5228555 w 6053670"/>
              <a:gd name="connsiteY46" fmla="*/ 123574 h 5581866"/>
              <a:gd name="connsiteX47" fmla="*/ 5366578 w 6053670"/>
              <a:gd name="connsiteY47" fmla="*/ 106010 h 5581866"/>
              <a:gd name="connsiteX48" fmla="*/ 5503997 w 6053670"/>
              <a:gd name="connsiteY48" fmla="*/ 87192 h 5581866"/>
              <a:gd name="connsiteX49" fmla="*/ 5642020 w 6053670"/>
              <a:gd name="connsiteY49" fmla="*/ 68530 h 5581866"/>
              <a:gd name="connsiteX50" fmla="*/ 5779438 w 6053670"/>
              <a:gd name="connsiteY50" fmla="*/ 46733 h 5581866"/>
              <a:gd name="connsiteX51" fmla="*/ 5916251 w 6053670"/>
              <a:gd name="connsiteY51" fmla="*/ 24464 h 5581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5581866">
                <a:moveTo>
                  <a:pt x="6053670" y="1098"/>
                </a:moveTo>
                <a:lnTo>
                  <a:pt x="6053670" y="514028"/>
                </a:lnTo>
                <a:lnTo>
                  <a:pt x="6053670" y="1254558"/>
                </a:lnTo>
                <a:lnTo>
                  <a:pt x="6053670" y="5581866"/>
                </a:lnTo>
                <a:lnTo>
                  <a:pt x="0" y="5581866"/>
                </a:lnTo>
                <a:lnTo>
                  <a:pt x="0" y="1249853"/>
                </a:lnTo>
                <a:lnTo>
                  <a:pt x="0" y="514028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6" name="Freeform 5">
            <a:extLst>
              <a:ext uri="{FF2B5EF4-FFF2-40B4-BE49-F238E27FC236}">
                <a16:creationId xmlns:a16="http://schemas.microsoft.com/office/drawing/2014/main" id="{8ADF14A3-1454-4B74-8B4A-CB197D7A79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469835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58" name="Freeform 5">
            <a:extLst>
              <a:ext uri="{FF2B5EF4-FFF2-40B4-BE49-F238E27FC236}">
                <a16:creationId xmlns:a16="http://schemas.microsoft.com/office/drawing/2014/main" id="{EC19D556-0251-4E87-AE24-890965BAD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3948AD-419B-8D33-ECAF-E2D9640E7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5132438" cy="1622322"/>
          </a:xfrm>
        </p:spPr>
        <p:txBody>
          <a:bodyPr>
            <a:normAutofit/>
          </a:bodyPr>
          <a:lstStyle/>
          <a:p>
            <a:r>
              <a:rPr lang="en-GB">
                <a:solidFill>
                  <a:schemeClr val="tx1"/>
                </a:solidFill>
              </a:rPr>
              <a:t>LLM architecture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BC3C8C6-98E2-45EF-AEFC-30C0DBA0E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A8F99A-EDBD-CDB5-8588-D4AA22E4A5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98" y="2418735"/>
            <a:ext cx="5132439" cy="3811742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GB" sz="1500">
                <a:solidFill>
                  <a:schemeClr val="tx1"/>
                </a:solidFill>
              </a:rPr>
              <a:t>Tokenize</a:t>
            </a:r>
          </a:p>
          <a:p>
            <a:pPr>
              <a:lnSpc>
                <a:spcPct val="90000"/>
              </a:lnSpc>
            </a:pPr>
            <a:r>
              <a:rPr lang="en-GB" sz="1500">
                <a:solidFill>
                  <a:schemeClr val="tx1"/>
                </a:solidFill>
              </a:rPr>
              <a:t>Token embedding</a:t>
            </a:r>
          </a:p>
          <a:p>
            <a:pPr>
              <a:lnSpc>
                <a:spcPct val="90000"/>
              </a:lnSpc>
            </a:pPr>
            <a:r>
              <a:rPr lang="en-GB" sz="1500">
                <a:solidFill>
                  <a:schemeClr val="tx1"/>
                </a:solidFill>
              </a:rPr>
              <a:t>Positional embedding</a:t>
            </a:r>
          </a:p>
          <a:p>
            <a:pPr>
              <a:lnSpc>
                <a:spcPct val="90000"/>
              </a:lnSpc>
            </a:pPr>
            <a:r>
              <a:rPr lang="en-GB" sz="1500">
                <a:solidFill>
                  <a:schemeClr val="tx1"/>
                </a:solidFill>
              </a:rPr>
              <a:t>Input embedding</a:t>
            </a:r>
          </a:p>
          <a:p>
            <a:pPr>
              <a:lnSpc>
                <a:spcPct val="90000"/>
              </a:lnSpc>
            </a:pPr>
            <a:r>
              <a:rPr lang="en-GB" sz="1500">
                <a:solidFill>
                  <a:schemeClr val="tx1"/>
                </a:solidFill>
              </a:rPr>
              <a:t>Masked Multihead attention</a:t>
            </a:r>
          </a:p>
          <a:p>
            <a:pPr>
              <a:lnSpc>
                <a:spcPct val="90000"/>
              </a:lnSpc>
            </a:pPr>
            <a:r>
              <a:rPr lang="en-GB" sz="1500">
                <a:solidFill>
                  <a:schemeClr val="tx1"/>
                </a:solidFill>
              </a:rPr>
              <a:t>Dropout</a:t>
            </a:r>
          </a:p>
          <a:p>
            <a:pPr>
              <a:lnSpc>
                <a:spcPct val="90000"/>
              </a:lnSpc>
            </a:pPr>
            <a:r>
              <a:rPr lang="en-GB" sz="1500">
                <a:solidFill>
                  <a:schemeClr val="tx1"/>
                </a:solidFill>
              </a:rPr>
              <a:t>Layer normalization</a:t>
            </a:r>
          </a:p>
          <a:p>
            <a:pPr>
              <a:lnSpc>
                <a:spcPct val="90000"/>
              </a:lnSpc>
            </a:pPr>
            <a:r>
              <a:rPr lang="en-GB" sz="1500">
                <a:solidFill>
                  <a:schemeClr val="tx1"/>
                </a:solidFill>
              </a:rPr>
              <a:t>Feed forward network</a:t>
            </a:r>
          </a:p>
          <a:p>
            <a:pPr>
              <a:lnSpc>
                <a:spcPct val="90000"/>
              </a:lnSpc>
            </a:pPr>
            <a:r>
              <a:rPr lang="en-GB" sz="1500">
                <a:solidFill>
                  <a:schemeClr val="tx1"/>
                </a:solidFill>
              </a:rPr>
              <a:t>GELU activation function</a:t>
            </a:r>
          </a:p>
          <a:p>
            <a:pPr>
              <a:lnSpc>
                <a:spcPct val="90000"/>
              </a:lnSpc>
            </a:pPr>
            <a:r>
              <a:rPr lang="en-GB" sz="1500">
                <a:solidFill>
                  <a:schemeClr val="tx1"/>
                </a:solidFill>
              </a:rPr>
              <a:t>Shortcut connections</a:t>
            </a:r>
          </a:p>
          <a:p>
            <a:pPr>
              <a:lnSpc>
                <a:spcPct val="90000"/>
              </a:lnSpc>
            </a:pPr>
            <a:r>
              <a:rPr lang="en-GB" sz="1500">
                <a:solidFill>
                  <a:schemeClr val="tx1"/>
                </a:solidFill>
              </a:rPr>
              <a:t>Linear output head</a:t>
            </a:r>
          </a:p>
          <a:p>
            <a:pPr>
              <a:lnSpc>
                <a:spcPct val="90000"/>
              </a:lnSpc>
            </a:pPr>
            <a:endParaRPr lang="en-GB" sz="150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AD1C11-A746-B64C-008E-07DC6D25E0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7935" y="2418735"/>
            <a:ext cx="7244065" cy="43868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FD8FCE-3D75-4302-FB8B-A54B647C6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7935" y="6238"/>
            <a:ext cx="7244065" cy="2883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4717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908118-3031-73E2-E9CA-5732466AA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F70C2B8F-6B1B-46D5-86E6-40F36C695F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7" name="Freeform 5">
            <a:extLst>
              <a:ext uri="{FF2B5EF4-FFF2-40B4-BE49-F238E27FC236}">
                <a16:creationId xmlns:a16="http://schemas.microsoft.com/office/drawing/2014/main" id="{DB521824-592C-476A-AB0A-CA0C6D1F34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469835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A2749EFA-8EE4-4EB8-9424-8E593B9320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50898" y="638067"/>
            <a:ext cx="6053670" cy="5581866"/>
          </a:xfrm>
          <a:custGeom>
            <a:avLst/>
            <a:gdLst>
              <a:gd name="connsiteX0" fmla="*/ 6053670 w 6053670"/>
              <a:gd name="connsiteY0" fmla="*/ 1098 h 5581866"/>
              <a:gd name="connsiteX1" fmla="*/ 6053670 w 6053670"/>
              <a:gd name="connsiteY1" fmla="*/ 514028 h 5581866"/>
              <a:gd name="connsiteX2" fmla="*/ 6053670 w 6053670"/>
              <a:gd name="connsiteY2" fmla="*/ 1254558 h 5581866"/>
              <a:gd name="connsiteX3" fmla="*/ 6053670 w 6053670"/>
              <a:gd name="connsiteY3" fmla="*/ 5581866 h 5581866"/>
              <a:gd name="connsiteX4" fmla="*/ 0 w 6053670"/>
              <a:gd name="connsiteY4" fmla="*/ 5581866 h 5581866"/>
              <a:gd name="connsiteX5" fmla="*/ 0 w 6053670"/>
              <a:gd name="connsiteY5" fmla="*/ 1249853 h 5581866"/>
              <a:gd name="connsiteX6" fmla="*/ 0 w 6053670"/>
              <a:gd name="connsiteY6" fmla="*/ 514028 h 5581866"/>
              <a:gd name="connsiteX7" fmla="*/ 0 w 6053670"/>
              <a:gd name="connsiteY7" fmla="*/ 0 h 5581866"/>
              <a:gd name="connsiteX8" fmla="*/ 35717 w 6053670"/>
              <a:gd name="connsiteY8" fmla="*/ 5488 h 5581866"/>
              <a:gd name="connsiteX9" fmla="*/ 140445 w 6053670"/>
              <a:gd name="connsiteY9" fmla="*/ 21641 h 5581866"/>
              <a:gd name="connsiteX10" fmla="*/ 216722 w 6053670"/>
              <a:gd name="connsiteY10" fmla="*/ 32932 h 5581866"/>
              <a:gd name="connsiteX11" fmla="*/ 307527 w 6053670"/>
              <a:gd name="connsiteY11" fmla="*/ 44850 h 5581866"/>
              <a:gd name="connsiteX12" fmla="*/ 415282 w 6053670"/>
              <a:gd name="connsiteY12" fmla="*/ 59121 h 5581866"/>
              <a:gd name="connsiteX13" fmla="*/ 534539 w 6053670"/>
              <a:gd name="connsiteY13" fmla="*/ 74175 h 5581866"/>
              <a:gd name="connsiteX14" fmla="*/ 668931 w 6053670"/>
              <a:gd name="connsiteY14" fmla="*/ 90014 h 5581866"/>
              <a:gd name="connsiteX15" fmla="*/ 815430 w 6053670"/>
              <a:gd name="connsiteY15" fmla="*/ 106794 h 5581866"/>
              <a:gd name="connsiteX16" fmla="*/ 974641 w 6053670"/>
              <a:gd name="connsiteY16" fmla="*/ 123574 h 5581866"/>
              <a:gd name="connsiteX17" fmla="*/ 1144144 w 6053670"/>
              <a:gd name="connsiteY17" fmla="*/ 140667 h 5581866"/>
              <a:gd name="connsiteX18" fmla="*/ 1326965 w 6053670"/>
              <a:gd name="connsiteY18" fmla="*/ 156506 h 5581866"/>
              <a:gd name="connsiteX19" fmla="*/ 1518261 w 6053670"/>
              <a:gd name="connsiteY19" fmla="*/ 171717 h 5581866"/>
              <a:gd name="connsiteX20" fmla="*/ 1720453 w 6053670"/>
              <a:gd name="connsiteY20" fmla="*/ 185518 h 5581866"/>
              <a:gd name="connsiteX21" fmla="*/ 1931121 w 6053670"/>
              <a:gd name="connsiteY21" fmla="*/ 198690 h 5581866"/>
              <a:gd name="connsiteX22" fmla="*/ 2150869 w 6053670"/>
              <a:gd name="connsiteY22" fmla="*/ 211079 h 5581866"/>
              <a:gd name="connsiteX23" fmla="*/ 2263467 w 6053670"/>
              <a:gd name="connsiteY23" fmla="*/ 215470 h 5581866"/>
              <a:gd name="connsiteX24" fmla="*/ 2378487 w 6053670"/>
              <a:gd name="connsiteY24" fmla="*/ 220332 h 5581866"/>
              <a:gd name="connsiteX25" fmla="*/ 2495323 w 6053670"/>
              <a:gd name="connsiteY25" fmla="*/ 224879 h 5581866"/>
              <a:gd name="connsiteX26" fmla="*/ 2612764 w 6053670"/>
              <a:gd name="connsiteY26" fmla="*/ 227859 h 5581866"/>
              <a:gd name="connsiteX27" fmla="*/ 2732627 w 6053670"/>
              <a:gd name="connsiteY27" fmla="*/ 230525 h 5581866"/>
              <a:gd name="connsiteX28" fmla="*/ 2853700 w 6053670"/>
              <a:gd name="connsiteY28" fmla="*/ 233348 h 5581866"/>
              <a:gd name="connsiteX29" fmla="*/ 2977195 w 6053670"/>
              <a:gd name="connsiteY29" fmla="*/ 235229 h 5581866"/>
              <a:gd name="connsiteX30" fmla="*/ 3101900 w 6053670"/>
              <a:gd name="connsiteY30" fmla="*/ 235229 h 5581866"/>
              <a:gd name="connsiteX31" fmla="*/ 3227817 w 6053670"/>
              <a:gd name="connsiteY31" fmla="*/ 236170 h 5581866"/>
              <a:gd name="connsiteX32" fmla="*/ 3354944 w 6053670"/>
              <a:gd name="connsiteY32" fmla="*/ 235229 h 5581866"/>
              <a:gd name="connsiteX33" fmla="*/ 3483887 w 6053670"/>
              <a:gd name="connsiteY33" fmla="*/ 233348 h 5581866"/>
              <a:gd name="connsiteX34" fmla="*/ 3612830 w 6053670"/>
              <a:gd name="connsiteY34" fmla="*/ 231623 h 5581866"/>
              <a:gd name="connsiteX35" fmla="*/ 3743589 w 6053670"/>
              <a:gd name="connsiteY35" fmla="*/ 227859 h 5581866"/>
              <a:gd name="connsiteX36" fmla="*/ 3875559 w 6053670"/>
              <a:gd name="connsiteY36" fmla="*/ 223938 h 5581866"/>
              <a:gd name="connsiteX37" fmla="*/ 4007529 w 6053670"/>
              <a:gd name="connsiteY37" fmla="*/ 219391 h 5581866"/>
              <a:gd name="connsiteX38" fmla="*/ 4140710 w 6053670"/>
              <a:gd name="connsiteY38" fmla="*/ 212961 h 5581866"/>
              <a:gd name="connsiteX39" fmla="*/ 4275102 w 6053670"/>
              <a:gd name="connsiteY39" fmla="*/ 205277 h 5581866"/>
              <a:gd name="connsiteX40" fmla="*/ 4410098 w 6053670"/>
              <a:gd name="connsiteY40" fmla="*/ 197907 h 5581866"/>
              <a:gd name="connsiteX41" fmla="*/ 4545096 w 6053670"/>
              <a:gd name="connsiteY41" fmla="*/ 188498 h 5581866"/>
              <a:gd name="connsiteX42" fmla="*/ 4681909 w 6053670"/>
              <a:gd name="connsiteY42" fmla="*/ 177207 h 5581866"/>
              <a:gd name="connsiteX43" fmla="*/ 4816905 w 6053670"/>
              <a:gd name="connsiteY43" fmla="*/ 165916 h 5581866"/>
              <a:gd name="connsiteX44" fmla="*/ 4954323 w 6053670"/>
              <a:gd name="connsiteY44" fmla="*/ 152899 h 5581866"/>
              <a:gd name="connsiteX45" fmla="*/ 5092347 w 6053670"/>
              <a:gd name="connsiteY45" fmla="*/ 138629 h 5581866"/>
              <a:gd name="connsiteX46" fmla="*/ 5228555 w 6053670"/>
              <a:gd name="connsiteY46" fmla="*/ 123574 h 5581866"/>
              <a:gd name="connsiteX47" fmla="*/ 5366578 w 6053670"/>
              <a:gd name="connsiteY47" fmla="*/ 106010 h 5581866"/>
              <a:gd name="connsiteX48" fmla="*/ 5503997 w 6053670"/>
              <a:gd name="connsiteY48" fmla="*/ 87192 h 5581866"/>
              <a:gd name="connsiteX49" fmla="*/ 5642020 w 6053670"/>
              <a:gd name="connsiteY49" fmla="*/ 68530 h 5581866"/>
              <a:gd name="connsiteX50" fmla="*/ 5779438 w 6053670"/>
              <a:gd name="connsiteY50" fmla="*/ 46733 h 5581866"/>
              <a:gd name="connsiteX51" fmla="*/ 5916251 w 6053670"/>
              <a:gd name="connsiteY51" fmla="*/ 24464 h 5581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5581866">
                <a:moveTo>
                  <a:pt x="6053670" y="1098"/>
                </a:moveTo>
                <a:lnTo>
                  <a:pt x="6053670" y="514028"/>
                </a:lnTo>
                <a:lnTo>
                  <a:pt x="6053670" y="1254558"/>
                </a:lnTo>
                <a:lnTo>
                  <a:pt x="6053670" y="5581866"/>
                </a:lnTo>
                <a:lnTo>
                  <a:pt x="0" y="5581866"/>
                </a:lnTo>
                <a:lnTo>
                  <a:pt x="0" y="1249853"/>
                </a:lnTo>
                <a:lnTo>
                  <a:pt x="0" y="514028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1" name="Freeform 5">
            <a:extLst>
              <a:ext uri="{FF2B5EF4-FFF2-40B4-BE49-F238E27FC236}">
                <a16:creationId xmlns:a16="http://schemas.microsoft.com/office/drawing/2014/main" id="{B5C860C9-D4F9-4350-80DA-0D1CD36C77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9A0134-542E-2456-1A93-918C70F51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5132438" cy="1622322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rgbClr val="EBEBEB"/>
                </a:solidFill>
              </a:rPr>
              <a:t>Linear output head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146531-40D0-DA50-69EA-39A2C2C8D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3096" y="1142999"/>
            <a:ext cx="5385816" cy="5519057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538A90C8-AE0E-4EBA-9AF8-EEDB20602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8C3A15-16F5-6147-2FC4-D5CF5D24E1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98" y="2418735"/>
            <a:ext cx="5132439" cy="3811742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GB" dirty="0">
                <a:solidFill>
                  <a:srgbClr val="FFFFFF"/>
                </a:solidFill>
              </a:rPr>
              <a:t>This changes the dimension of the embedding from 768 to the vocabulary size 50257</a:t>
            </a:r>
          </a:p>
          <a:p>
            <a:pPr>
              <a:lnSpc>
                <a:spcPct val="90000"/>
              </a:lnSpc>
            </a:pPr>
            <a:endParaRPr lang="en-GB" dirty="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rgbClr val="FFFFFF"/>
                </a:solidFill>
              </a:rPr>
              <a:t>The 50527 tokens of GPT are outputs received as logits</a:t>
            </a:r>
          </a:p>
          <a:p>
            <a:pPr>
              <a:lnSpc>
                <a:spcPct val="90000"/>
              </a:lnSpc>
            </a:pPr>
            <a:endParaRPr lang="en-GB" dirty="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rgbClr val="FFFFFF"/>
                </a:solidFill>
              </a:rPr>
              <a:t>We normalize this logit to get the probability</a:t>
            </a:r>
          </a:p>
          <a:p>
            <a:pPr>
              <a:lnSpc>
                <a:spcPct val="90000"/>
              </a:lnSpc>
            </a:pPr>
            <a:endParaRPr lang="en-GB" dirty="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endParaRPr lang="en-GB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55874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1214C2-5597-66DA-FAFB-52FB6826E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4D9A0B52-EAEA-F87E-BF4F-3A6DB25FB5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7" name="Freeform 5">
            <a:extLst>
              <a:ext uri="{FF2B5EF4-FFF2-40B4-BE49-F238E27FC236}">
                <a16:creationId xmlns:a16="http://schemas.microsoft.com/office/drawing/2014/main" id="{F7D9E466-2ADB-27ED-A523-855D815D15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469835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29A1114B-75D8-A40C-F2F9-6D6D7B68FD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50898" y="638067"/>
            <a:ext cx="6053670" cy="5581866"/>
          </a:xfrm>
          <a:custGeom>
            <a:avLst/>
            <a:gdLst>
              <a:gd name="connsiteX0" fmla="*/ 6053670 w 6053670"/>
              <a:gd name="connsiteY0" fmla="*/ 1098 h 5581866"/>
              <a:gd name="connsiteX1" fmla="*/ 6053670 w 6053670"/>
              <a:gd name="connsiteY1" fmla="*/ 514028 h 5581866"/>
              <a:gd name="connsiteX2" fmla="*/ 6053670 w 6053670"/>
              <a:gd name="connsiteY2" fmla="*/ 1254558 h 5581866"/>
              <a:gd name="connsiteX3" fmla="*/ 6053670 w 6053670"/>
              <a:gd name="connsiteY3" fmla="*/ 5581866 h 5581866"/>
              <a:gd name="connsiteX4" fmla="*/ 0 w 6053670"/>
              <a:gd name="connsiteY4" fmla="*/ 5581866 h 5581866"/>
              <a:gd name="connsiteX5" fmla="*/ 0 w 6053670"/>
              <a:gd name="connsiteY5" fmla="*/ 1249853 h 5581866"/>
              <a:gd name="connsiteX6" fmla="*/ 0 w 6053670"/>
              <a:gd name="connsiteY6" fmla="*/ 514028 h 5581866"/>
              <a:gd name="connsiteX7" fmla="*/ 0 w 6053670"/>
              <a:gd name="connsiteY7" fmla="*/ 0 h 5581866"/>
              <a:gd name="connsiteX8" fmla="*/ 35717 w 6053670"/>
              <a:gd name="connsiteY8" fmla="*/ 5488 h 5581866"/>
              <a:gd name="connsiteX9" fmla="*/ 140445 w 6053670"/>
              <a:gd name="connsiteY9" fmla="*/ 21641 h 5581866"/>
              <a:gd name="connsiteX10" fmla="*/ 216722 w 6053670"/>
              <a:gd name="connsiteY10" fmla="*/ 32932 h 5581866"/>
              <a:gd name="connsiteX11" fmla="*/ 307527 w 6053670"/>
              <a:gd name="connsiteY11" fmla="*/ 44850 h 5581866"/>
              <a:gd name="connsiteX12" fmla="*/ 415282 w 6053670"/>
              <a:gd name="connsiteY12" fmla="*/ 59121 h 5581866"/>
              <a:gd name="connsiteX13" fmla="*/ 534539 w 6053670"/>
              <a:gd name="connsiteY13" fmla="*/ 74175 h 5581866"/>
              <a:gd name="connsiteX14" fmla="*/ 668931 w 6053670"/>
              <a:gd name="connsiteY14" fmla="*/ 90014 h 5581866"/>
              <a:gd name="connsiteX15" fmla="*/ 815430 w 6053670"/>
              <a:gd name="connsiteY15" fmla="*/ 106794 h 5581866"/>
              <a:gd name="connsiteX16" fmla="*/ 974641 w 6053670"/>
              <a:gd name="connsiteY16" fmla="*/ 123574 h 5581866"/>
              <a:gd name="connsiteX17" fmla="*/ 1144144 w 6053670"/>
              <a:gd name="connsiteY17" fmla="*/ 140667 h 5581866"/>
              <a:gd name="connsiteX18" fmla="*/ 1326965 w 6053670"/>
              <a:gd name="connsiteY18" fmla="*/ 156506 h 5581866"/>
              <a:gd name="connsiteX19" fmla="*/ 1518261 w 6053670"/>
              <a:gd name="connsiteY19" fmla="*/ 171717 h 5581866"/>
              <a:gd name="connsiteX20" fmla="*/ 1720453 w 6053670"/>
              <a:gd name="connsiteY20" fmla="*/ 185518 h 5581866"/>
              <a:gd name="connsiteX21" fmla="*/ 1931121 w 6053670"/>
              <a:gd name="connsiteY21" fmla="*/ 198690 h 5581866"/>
              <a:gd name="connsiteX22" fmla="*/ 2150869 w 6053670"/>
              <a:gd name="connsiteY22" fmla="*/ 211079 h 5581866"/>
              <a:gd name="connsiteX23" fmla="*/ 2263467 w 6053670"/>
              <a:gd name="connsiteY23" fmla="*/ 215470 h 5581866"/>
              <a:gd name="connsiteX24" fmla="*/ 2378487 w 6053670"/>
              <a:gd name="connsiteY24" fmla="*/ 220332 h 5581866"/>
              <a:gd name="connsiteX25" fmla="*/ 2495323 w 6053670"/>
              <a:gd name="connsiteY25" fmla="*/ 224879 h 5581866"/>
              <a:gd name="connsiteX26" fmla="*/ 2612764 w 6053670"/>
              <a:gd name="connsiteY26" fmla="*/ 227859 h 5581866"/>
              <a:gd name="connsiteX27" fmla="*/ 2732627 w 6053670"/>
              <a:gd name="connsiteY27" fmla="*/ 230525 h 5581866"/>
              <a:gd name="connsiteX28" fmla="*/ 2853700 w 6053670"/>
              <a:gd name="connsiteY28" fmla="*/ 233348 h 5581866"/>
              <a:gd name="connsiteX29" fmla="*/ 2977195 w 6053670"/>
              <a:gd name="connsiteY29" fmla="*/ 235229 h 5581866"/>
              <a:gd name="connsiteX30" fmla="*/ 3101900 w 6053670"/>
              <a:gd name="connsiteY30" fmla="*/ 235229 h 5581866"/>
              <a:gd name="connsiteX31" fmla="*/ 3227817 w 6053670"/>
              <a:gd name="connsiteY31" fmla="*/ 236170 h 5581866"/>
              <a:gd name="connsiteX32" fmla="*/ 3354944 w 6053670"/>
              <a:gd name="connsiteY32" fmla="*/ 235229 h 5581866"/>
              <a:gd name="connsiteX33" fmla="*/ 3483887 w 6053670"/>
              <a:gd name="connsiteY33" fmla="*/ 233348 h 5581866"/>
              <a:gd name="connsiteX34" fmla="*/ 3612830 w 6053670"/>
              <a:gd name="connsiteY34" fmla="*/ 231623 h 5581866"/>
              <a:gd name="connsiteX35" fmla="*/ 3743589 w 6053670"/>
              <a:gd name="connsiteY35" fmla="*/ 227859 h 5581866"/>
              <a:gd name="connsiteX36" fmla="*/ 3875559 w 6053670"/>
              <a:gd name="connsiteY36" fmla="*/ 223938 h 5581866"/>
              <a:gd name="connsiteX37" fmla="*/ 4007529 w 6053670"/>
              <a:gd name="connsiteY37" fmla="*/ 219391 h 5581866"/>
              <a:gd name="connsiteX38" fmla="*/ 4140710 w 6053670"/>
              <a:gd name="connsiteY38" fmla="*/ 212961 h 5581866"/>
              <a:gd name="connsiteX39" fmla="*/ 4275102 w 6053670"/>
              <a:gd name="connsiteY39" fmla="*/ 205277 h 5581866"/>
              <a:gd name="connsiteX40" fmla="*/ 4410098 w 6053670"/>
              <a:gd name="connsiteY40" fmla="*/ 197907 h 5581866"/>
              <a:gd name="connsiteX41" fmla="*/ 4545096 w 6053670"/>
              <a:gd name="connsiteY41" fmla="*/ 188498 h 5581866"/>
              <a:gd name="connsiteX42" fmla="*/ 4681909 w 6053670"/>
              <a:gd name="connsiteY42" fmla="*/ 177207 h 5581866"/>
              <a:gd name="connsiteX43" fmla="*/ 4816905 w 6053670"/>
              <a:gd name="connsiteY43" fmla="*/ 165916 h 5581866"/>
              <a:gd name="connsiteX44" fmla="*/ 4954323 w 6053670"/>
              <a:gd name="connsiteY44" fmla="*/ 152899 h 5581866"/>
              <a:gd name="connsiteX45" fmla="*/ 5092347 w 6053670"/>
              <a:gd name="connsiteY45" fmla="*/ 138629 h 5581866"/>
              <a:gd name="connsiteX46" fmla="*/ 5228555 w 6053670"/>
              <a:gd name="connsiteY46" fmla="*/ 123574 h 5581866"/>
              <a:gd name="connsiteX47" fmla="*/ 5366578 w 6053670"/>
              <a:gd name="connsiteY47" fmla="*/ 106010 h 5581866"/>
              <a:gd name="connsiteX48" fmla="*/ 5503997 w 6053670"/>
              <a:gd name="connsiteY48" fmla="*/ 87192 h 5581866"/>
              <a:gd name="connsiteX49" fmla="*/ 5642020 w 6053670"/>
              <a:gd name="connsiteY49" fmla="*/ 68530 h 5581866"/>
              <a:gd name="connsiteX50" fmla="*/ 5779438 w 6053670"/>
              <a:gd name="connsiteY50" fmla="*/ 46733 h 5581866"/>
              <a:gd name="connsiteX51" fmla="*/ 5916251 w 6053670"/>
              <a:gd name="connsiteY51" fmla="*/ 24464 h 5581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5581866">
                <a:moveTo>
                  <a:pt x="6053670" y="1098"/>
                </a:moveTo>
                <a:lnTo>
                  <a:pt x="6053670" y="514028"/>
                </a:lnTo>
                <a:lnTo>
                  <a:pt x="6053670" y="1254558"/>
                </a:lnTo>
                <a:lnTo>
                  <a:pt x="6053670" y="5581866"/>
                </a:lnTo>
                <a:lnTo>
                  <a:pt x="0" y="5581866"/>
                </a:lnTo>
                <a:lnTo>
                  <a:pt x="0" y="1249853"/>
                </a:lnTo>
                <a:lnTo>
                  <a:pt x="0" y="514028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1" name="Freeform 5">
            <a:extLst>
              <a:ext uri="{FF2B5EF4-FFF2-40B4-BE49-F238E27FC236}">
                <a16:creationId xmlns:a16="http://schemas.microsoft.com/office/drawing/2014/main" id="{D4582163-F779-4AFE-BEF4-EC7B9DD9A1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F3415A-B43A-459B-EA26-34E6F42F7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5132438" cy="1622322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rgbClr val="EBEBEB"/>
                </a:solidFill>
              </a:rPr>
              <a:t>Linear output head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3AE0F6-A074-F19C-B50A-D0A05EF27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160733"/>
            <a:ext cx="5581866" cy="5512210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6C18BBB6-A2C3-D990-503C-064FAD7192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822CAF-7B64-8D9A-E33B-E9471C3E88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98" y="2418735"/>
            <a:ext cx="5132439" cy="3811742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GB" dirty="0">
                <a:solidFill>
                  <a:srgbClr val="FFFFFF"/>
                </a:solidFill>
              </a:rPr>
              <a:t>Each token is now assigned a probability that it will be the next word</a:t>
            </a:r>
          </a:p>
          <a:p>
            <a:pPr>
              <a:lnSpc>
                <a:spcPct val="90000"/>
              </a:lnSpc>
            </a:pPr>
            <a:endParaRPr lang="en-GB" dirty="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rgbClr val="FFFFFF"/>
                </a:solidFill>
              </a:rPr>
              <a:t>GPT selects the highest probability and that will be the next token </a:t>
            </a:r>
          </a:p>
          <a:p>
            <a:pPr>
              <a:lnSpc>
                <a:spcPct val="90000"/>
              </a:lnSpc>
            </a:pPr>
            <a:endParaRPr lang="en-GB" dirty="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rgbClr val="FFFFFF"/>
                </a:solidFill>
              </a:rPr>
              <a:t>This is repeated until we reach our limit of sequence</a:t>
            </a:r>
          </a:p>
          <a:p>
            <a:pPr marL="0" indent="0">
              <a:lnSpc>
                <a:spcPct val="90000"/>
              </a:lnSpc>
              <a:buNone/>
            </a:pPr>
            <a:endParaRPr lang="en-GB" dirty="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endParaRPr lang="en-GB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6507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6503EB0F-2257-4A3E-A73B-E1DE769B4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7012B2A-0D78-433A-8C68-8889D3DCDD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119D0202-ED3F-47CC-90E9-4E963BCDAB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670D6F2B-93AF-47D6-9378-5E54BE0AC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5" name="Picture 4" descr="Spaceship passageway">
            <a:extLst>
              <a:ext uri="{FF2B5EF4-FFF2-40B4-BE49-F238E27FC236}">
                <a16:creationId xmlns:a16="http://schemas.microsoft.com/office/drawing/2014/main" id="{F1D1E025-F27C-B50A-344B-A74068ACA84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704" r="-1" b="17471"/>
          <a:stretch>
            <a:fillRect/>
          </a:stretch>
        </p:blipFill>
        <p:spPr>
          <a:xfrm>
            <a:off x="1" y="-5"/>
            <a:ext cx="12191695" cy="5020241"/>
          </a:xfrm>
          <a:custGeom>
            <a:avLst/>
            <a:gdLst/>
            <a:ahLst/>
            <a:cxnLst/>
            <a:rect l="l" t="t" r="r" b="b"/>
            <a:pathLst>
              <a:path w="12191695" h="5020241">
                <a:moveTo>
                  <a:pt x="0" y="0"/>
                </a:moveTo>
                <a:lnTo>
                  <a:pt x="12191695" y="0"/>
                </a:lnTo>
                <a:lnTo>
                  <a:pt x="12191695" y="4057991"/>
                </a:lnTo>
                <a:lnTo>
                  <a:pt x="11914945" y="4110187"/>
                </a:lnTo>
                <a:lnTo>
                  <a:pt x="11639412" y="4159931"/>
                </a:lnTo>
                <a:lnTo>
                  <a:pt x="11362661" y="4208624"/>
                </a:lnTo>
                <a:lnTo>
                  <a:pt x="11084690" y="4250310"/>
                </a:lnTo>
                <a:lnTo>
                  <a:pt x="10807939" y="4292347"/>
                </a:lnTo>
                <a:lnTo>
                  <a:pt x="10529968" y="4331582"/>
                </a:lnTo>
                <a:lnTo>
                  <a:pt x="10255655" y="4365211"/>
                </a:lnTo>
                <a:lnTo>
                  <a:pt x="9977684" y="4397089"/>
                </a:lnTo>
                <a:lnTo>
                  <a:pt x="9700933" y="4426165"/>
                </a:lnTo>
                <a:lnTo>
                  <a:pt x="9429058" y="4451387"/>
                </a:lnTo>
                <a:lnTo>
                  <a:pt x="9153526" y="4476609"/>
                </a:lnTo>
                <a:lnTo>
                  <a:pt x="8881651" y="4497628"/>
                </a:lnTo>
                <a:lnTo>
                  <a:pt x="8609776" y="4514092"/>
                </a:lnTo>
                <a:lnTo>
                  <a:pt x="8339121" y="4531258"/>
                </a:lnTo>
                <a:lnTo>
                  <a:pt x="8070903" y="4545620"/>
                </a:lnTo>
                <a:lnTo>
                  <a:pt x="7805124" y="4555779"/>
                </a:lnTo>
                <a:lnTo>
                  <a:pt x="7539345" y="4564537"/>
                </a:lnTo>
                <a:lnTo>
                  <a:pt x="7276005" y="4572944"/>
                </a:lnTo>
                <a:lnTo>
                  <a:pt x="7016322" y="4576798"/>
                </a:lnTo>
                <a:lnTo>
                  <a:pt x="6756639" y="4581001"/>
                </a:lnTo>
                <a:lnTo>
                  <a:pt x="6500613" y="4583103"/>
                </a:lnTo>
                <a:lnTo>
                  <a:pt x="6247026" y="4581001"/>
                </a:lnTo>
                <a:lnTo>
                  <a:pt x="5995877" y="4581001"/>
                </a:lnTo>
                <a:lnTo>
                  <a:pt x="5747167" y="4576798"/>
                </a:lnTo>
                <a:lnTo>
                  <a:pt x="5503333" y="4570492"/>
                </a:lnTo>
                <a:lnTo>
                  <a:pt x="5261938" y="4564537"/>
                </a:lnTo>
                <a:lnTo>
                  <a:pt x="5025418" y="4557881"/>
                </a:lnTo>
                <a:lnTo>
                  <a:pt x="4790118" y="4547722"/>
                </a:lnTo>
                <a:lnTo>
                  <a:pt x="4558477" y="4536862"/>
                </a:lnTo>
                <a:lnTo>
                  <a:pt x="4331710" y="4527054"/>
                </a:lnTo>
                <a:lnTo>
                  <a:pt x="3889152" y="4499379"/>
                </a:lnTo>
                <a:lnTo>
                  <a:pt x="3464881" y="4469954"/>
                </a:lnTo>
                <a:lnTo>
                  <a:pt x="3057678" y="4439126"/>
                </a:lnTo>
                <a:lnTo>
                  <a:pt x="2672421" y="4405147"/>
                </a:lnTo>
                <a:lnTo>
                  <a:pt x="2304232" y="4369765"/>
                </a:lnTo>
                <a:lnTo>
                  <a:pt x="1962864" y="4331582"/>
                </a:lnTo>
                <a:lnTo>
                  <a:pt x="1642223" y="4294099"/>
                </a:lnTo>
                <a:lnTo>
                  <a:pt x="1347183" y="4256616"/>
                </a:lnTo>
                <a:lnTo>
                  <a:pt x="1076528" y="4221235"/>
                </a:lnTo>
                <a:lnTo>
                  <a:pt x="836351" y="4187605"/>
                </a:lnTo>
                <a:lnTo>
                  <a:pt x="619339" y="4155727"/>
                </a:lnTo>
                <a:lnTo>
                  <a:pt x="436464" y="4129104"/>
                </a:lnTo>
                <a:lnTo>
                  <a:pt x="282848" y="4103881"/>
                </a:lnTo>
                <a:lnTo>
                  <a:pt x="71932" y="4067800"/>
                </a:lnTo>
                <a:lnTo>
                  <a:pt x="1" y="4055539"/>
                </a:lnTo>
                <a:lnTo>
                  <a:pt x="1" y="5020241"/>
                </a:lnTo>
                <a:lnTo>
                  <a:pt x="0" y="5020241"/>
                </a:lnTo>
                <a:close/>
              </a:path>
            </a:pathLst>
          </a:cu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36F3EEA-55D4-4677-80E7-92D00B8F34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55533"/>
            <a:ext cx="12192000" cy="2802467"/>
          </a:xfrm>
          <a:custGeom>
            <a:avLst/>
            <a:gdLst>
              <a:gd name="connsiteX0" fmla="*/ 1 w 12192000"/>
              <a:gd name="connsiteY0" fmla="*/ 0 h 2802467"/>
              <a:gd name="connsiteX1" fmla="*/ 71932 w 12192000"/>
              <a:gd name="connsiteY1" fmla="*/ 12261 h 2802467"/>
              <a:gd name="connsiteX2" fmla="*/ 282848 w 12192000"/>
              <a:gd name="connsiteY2" fmla="*/ 48342 h 2802467"/>
              <a:gd name="connsiteX3" fmla="*/ 436464 w 12192000"/>
              <a:gd name="connsiteY3" fmla="*/ 73565 h 2802467"/>
              <a:gd name="connsiteX4" fmla="*/ 619339 w 12192000"/>
              <a:gd name="connsiteY4" fmla="*/ 100188 h 2802467"/>
              <a:gd name="connsiteX5" fmla="*/ 836351 w 12192000"/>
              <a:gd name="connsiteY5" fmla="*/ 132066 h 2802467"/>
              <a:gd name="connsiteX6" fmla="*/ 1076528 w 12192000"/>
              <a:gd name="connsiteY6" fmla="*/ 165696 h 2802467"/>
              <a:gd name="connsiteX7" fmla="*/ 1347183 w 12192000"/>
              <a:gd name="connsiteY7" fmla="*/ 201077 h 2802467"/>
              <a:gd name="connsiteX8" fmla="*/ 1642223 w 12192000"/>
              <a:gd name="connsiteY8" fmla="*/ 238560 h 2802467"/>
              <a:gd name="connsiteX9" fmla="*/ 1962864 w 12192000"/>
              <a:gd name="connsiteY9" fmla="*/ 276043 h 2802467"/>
              <a:gd name="connsiteX10" fmla="*/ 2304232 w 12192000"/>
              <a:gd name="connsiteY10" fmla="*/ 314226 h 2802467"/>
              <a:gd name="connsiteX11" fmla="*/ 2672421 w 12192000"/>
              <a:gd name="connsiteY11" fmla="*/ 349608 h 2802467"/>
              <a:gd name="connsiteX12" fmla="*/ 3057678 w 12192000"/>
              <a:gd name="connsiteY12" fmla="*/ 383587 h 2802467"/>
              <a:gd name="connsiteX13" fmla="*/ 3464881 w 12192000"/>
              <a:gd name="connsiteY13" fmla="*/ 414415 h 2802467"/>
              <a:gd name="connsiteX14" fmla="*/ 3889152 w 12192000"/>
              <a:gd name="connsiteY14" fmla="*/ 443840 h 2802467"/>
              <a:gd name="connsiteX15" fmla="*/ 4331710 w 12192000"/>
              <a:gd name="connsiteY15" fmla="*/ 471515 h 2802467"/>
              <a:gd name="connsiteX16" fmla="*/ 4558476 w 12192000"/>
              <a:gd name="connsiteY16" fmla="*/ 481323 h 2802467"/>
              <a:gd name="connsiteX17" fmla="*/ 4790118 w 12192000"/>
              <a:gd name="connsiteY17" fmla="*/ 492183 h 2802467"/>
              <a:gd name="connsiteX18" fmla="*/ 5025418 w 12192000"/>
              <a:gd name="connsiteY18" fmla="*/ 502342 h 2802467"/>
              <a:gd name="connsiteX19" fmla="*/ 5261937 w 12192000"/>
              <a:gd name="connsiteY19" fmla="*/ 508998 h 2802467"/>
              <a:gd name="connsiteX20" fmla="*/ 5503332 w 12192000"/>
              <a:gd name="connsiteY20" fmla="*/ 514953 h 2802467"/>
              <a:gd name="connsiteX21" fmla="*/ 5747166 w 12192000"/>
              <a:gd name="connsiteY21" fmla="*/ 521259 h 2802467"/>
              <a:gd name="connsiteX22" fmla="*/ 5995877 w 12192000"/>
              <a:gd name="connsiteY22" fmla="*/ 525462 h 2802467"/>
              <a:gd name="connsiteX23" fmla="*/ 6247026 w 12192000"/>
              <a:gd name="connsiteY23" fmla="*/ 525462 h 2802467"/>
              <a:gd name="connsiteX24" fmla="*/ 6500613 w 12192000"/>
              <a:gd name="connsiteY24" fmla="*/ 527564 h 2802467"/>
              <a:gd name="connsiteX25" fmla="*/ 6756639 w 12192000"/>
              <a:gd name="connsiteY25" fmla="*/ 525462 h 2802467"/>
              <a:gd name="connsiteX26" fmla="*/ 7016322 w 12192000"/>
              <a:gd name="connsiteY26" fmla="*/ 521259 h 2802467"/>
              <a:gd name="connsiteX27" fmla="*/ 7276005 w 12192000"/>
              <a:gd name="connsiteY27" fmla="*/ 517405 h 2802467"/>
              <a:gd name="connsiteX28" fmla="*/ 7539345 w 12192000"/>
              <a:gd name="connsiteY28" fmla="*/ 508998 h 2802467"/>
              <a:gd name="connsiteX29" fmla="*/ 7805124 w 12192000"/>
              <a:gd name="connsiteY29" fmla="*/ 500240 h 2802467"/>
              <a:gd name="connsiteX30" fmla="*/ 8070903 w 12192000"/>
              <a:gd name="connsiteY30" fmla="*/ 490081 h 2802467"/>
              <a:gd name="connsiteX31" fmla="*/ 8339121 w 12192000"/>
              <a:gd name="connsiteY31" fmla="*/ 475719 h 2802467"/>
              <a:gd name="connsiteX32" fmla="*/ 8609776 w 12192000"/>
              <a:gd name="connsiteY32" fmla="*/ 458553 h 2802467"/>
              <a:gd name="connsiteX33" fmla="*/ 8881651 w 12192000"/>
              <a:gd name="connsiteY33" fmla="*/ 442089 h 2802467"/>
              <a:gd name="connsiteX34" fmla="*/ 9153526 w 12192000"/>
              <a:gd name="connsiteY34" fmla="*/ 421070 h 2802467"/>
              <a:gd name="connsiteX35" fmla="*/ 9429058 w 12192000"/>
              <a:gd name="connsiteY35" fmla="*/ 395848 h 2802467"/>
              <a:gd name="connsiteX36" fmla="*/ 9700933 w 12192000"/>
              <a:gd name="connsiteY36" fmla="*/ 370626 h 2802467"/>
              <a:gd name="connsiteX37" fmla="*/ 9977684 w 12192000"/>
              <a:gd name="connsiteY37" fmla="*/ 341550 h 2802467"/>
              <a:gd name="connsiteX38" fmla="*/ 10255655 w 12192000"/>
              <a:gd name="connsiteY38" fmla="*/ 309672 h 2802467"/>
              <a:gd name="connsiteX39" fmla="*/ 10529968 w 12192000"/>
              <a:gd name="connsiteY39" fmla="*/ 276043 h 2802467"/>
              <a:gd name="connsiteX40" fmla="*/ 10807939 w 12192000"/>
              <a:gd name="connsiteY40" fmla="*/ 236808 h 2802467"/>
              <a:gd name="connsiteX41" fmla="*/ 11084690 w 12192000"/>
              <a:gd name="connsiteY41" fmla="*/ 194771 h 2802467"/>
              <a:gd name="connsiteX42" fmla="*/ 11362661 w 12192000"/>
              <a:gd name="connsiteY42" fmla="*/ 153085 h 2802467"/>
              <a:gd name="connsiteX43" fmla="*/ 11639412 w 12192000"/>
              <a:gd name="connsiteY43" fmla="*/ 104392 h 2802467"/>
              <a:gd name="connsiteX44" fmla="*/ 11914945 w 12192000"/>
              <a:gd name="connsiteY44" fmla="*/ 54648 h 2802467"/>
              <a:gd name="connsiteX45" fmla="*/ 12191696 w 12192000"/>
              <a:gd name="connsiteY45" fmla="*/ 2452 h 2802467"/>
              <a:gd name="connsiteX46" fmla="*/ 12191696 w 12192000"/>
              <a:gd name="connsiteY46" fmla="*/ 2236410 h 2802467"/>
              <a:gd name="connsiteX47" fmla="*/ 12192000 w 12192000"/>
              <a:gd name="connsiteY47" fmla="*/ 2236410 h 2802467"/>
              <a:gd name="connsiteX48" fmla="*/ 12192000 w 12192000"/>
              <a:gd name="connsiteY48" fmla="*/ 2802467 h 2802467"/>
              <a:gd name="connsiteX49" fmla="*/ 12191696 w 12192000"/>
              <a:gd name="connsiteY49" fmla="*/ 2802467 h 2802467"/>
              <a:gd name="connsiteX50" fmla="*/ 0 w 12192000"/>
              <a:gd name="connsiteY50" fmla="*/ 2802467 h 2802467"/>
              <a:gd name="connsiteX51" fmla="*/ 0 w 12192000"/>
              <a:gd name="connsiteY51" fmla="*/ 2236410 h 2802467"/>
              <a:gd name="connsiteX52" fmla="*/ 1 w 12192000"/>
              <a:gd name="connsiteY52" fmla="*/ 2236410 h 2802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2192000" h="2802467">
                <a:moveTo>
                  <a:pt x="1" y="0"/>
                </a:moveTo>
                <a:lnTo>
                  <a:pt x="71932" y="12261"/>
                </a:lnTo>
                <a:lnTo>
                  <a:pt x="282848" y="48342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6"/>
                </a:lnTo>
                <a:lnTo>
                  <a:pt x="2672421" y="349608"/>
                </a:lnTo>
                <a:lnTo>
                  <a:pt x="3057678" y="383587"/>
                </a:lnTo>
                <a:lnTo>
                  <a:pt x="3464881" y="414415"/>
                </a:lnTo>
                <a:lnTo>
                  <a:pt x="3889152" y="443840"/>
                </a:lnTo>
                <a:lnTo>
                  <a:pt x="4331710" y="471515"/>
                </a:lnTo>
                <a:lnTo>
                  <a:pt x="4558476" y="481323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6" y="521259"/>
                </a:lnTo>
                <a:lnTo>
                  <a:pt x="5995877" y="525462"/>
                </a:lnTo>
                <a:lnTo>
                  <a:pt x="6247026" y="525462"/>
                </a:lnTo>
                <a:lnTo>
                  <a:pt x="6500613" y="527564"/>
                </a:lnTo>
                <a:lnTo>
                  <a:pt x="6756639" y="525462"/>
                </a:lnTo>
                <a:lnTo>
                  <a:pt x="7016322" y="521259"/>
                </a:lnTo>
                <a:lnTo>
                  <a:pt x="7276005" y="517405"/>
                </a:lnTo>
                <a:lnTo>
                  <a:pt x="7539345" y="508998"/>
                </a:lnTo>
                <a:lnTo>
                  <a:pt x="7805124" y="500240"/>
                </a:lnTo>
                <a:lnTo>
                  <a:pt x="8070903" y="490081"/>
                </a:lnTo>
                <a:lnTo>
                  <a:pt x="8339121" y="475719"/>
                </a:lnTo>
                <a:lnTo>
                  <a:pt x="8609776" y="458553"/>
                </a:lnTo>
                <a:lnTo>
                  <a:pt x="8881651" y="442089"/>
                </a:lnTo>
                <a:lnTo>
                  <a:pt x="9153526" y="421070"/>
                </a:lnTo>
                <a:lnTo>
                  <a:pt x="9429058" y="395848"/>
                </a:lnTo>
                <a:lnTo>
                  <a:pt x="9700933" y="370626"/>
                </a:lnTo>
                <a:lnTo>
                  <a:pt x="9977684" y="341550"/>
                </a:lnTo>
                <a:lnTo>
                  <a:pt x="10255655" y="309672"/>
                </a:lnTo>
                <a:lnTo>
                  <a:pt x="10529968" y="276043"/>
                </a:lnTo>
                <a:lnTo>
                  <a:pt x="10807939" y="236808"/>
                </a:lnTo>
                <a:lnTo>
                  <a:pt x="11084690" y="194771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236410"/>
                </a:lnTo>
                <a:lnTo>
                  <a:pt x="12192000" y="2236410"/>
                </a:lnTo>
                <a:lnTo>
                  <a:pt x="12192000" y="2802467"/>
                </a:lnTo>
                <a:lnTo>
                  <a:pt x="12191696" y="2802467"/>
                </a:lnTo>
                <a:lnTo>
                  <a:pt x="0" y="2802467"/>
                </a:lnTo>
                <a:lnTo>
                  <a:pt x="0" y="2236410"/>
                </a:lnTo>
                <a:lnTo>
                  <a:pt x="1" y="223641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5">
            <a:extLst>
              <a:ext uri="{FF2B5EF4-FFF2-40B4-BE49-F238E27FC236}">
                <a16:creationId xmlns:a16="http://schemas.microsoft.com/office/drawing/2014/main" id="{C91E93A7-6C7F-4F77-9CB0-280D958EF4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A9D96E-A05D-9D58-FDFC-96D43026E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199" y="4854346"/>
            <a:ext cx="10407602" cy="868026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>
              <a:lnSpc>
                <a:spcPct val="90000"/>
              </a:lnSpc>
            </a:pPr>
            <a:r>
              <a:rPr lang="en-US" sz="3100" dirty="0">
                <a:solidFill>
                  <a:srgbClr val="EBEBEB"/>
                </a:solidFill>
              </a:rPr>
              <a:t> A Multiscale Visualization of Attention in Transformers</a:t>
            </a:r>
            <a:br>
              <a:rPr lang="en-US" sz="3100" dirty="0">
                <a:solidFill>
                  <a:srgbClr val="EBEBEB"/>
                </a:solidFill>
              </a:rPr>
            </a:br>
            <a:r>
              <a:rPr lang="en-US" sz="3100" dirty="0">
                <a:solidFill>
                  <a:srgbClr val="EBEBEB"/>
                </a:solidFill>
              </a:rPr>
              <a:t>-Jesse </a:t>
            </a:r>
            <a:r>
              <a:rPr lang="en-US" sz="3100" dirty="0" err="1">
                <a:solidFill>
                  <a:srgbClr val="EBEBEB"/>
                </a:solidFill>
              </a:rPr>
              <a:t>Vig</a:t>
            </a:r>
            <a:endParaRPr lang="en-US" sz="3100" dirty="0">
              <a:solidFill>
                <a:srgbClr val="EBEBEB"/>
              </a:solidFill>
            </a:endParaRPr>
          </a:p>
        </p:txBody>
      </p:sp>
      <p:sp>
        <p:nvSpPr>
          <p:cNvPr id="19" name="Freeform 16">
            <a:extLst>
              <a:ext uri="{FF2B5EF4-FFF2-40B4-BE49-F238E27FC236}">
                <a16:creationId xmlns:a16="http://schemas.microsoft.com/office/drawing/2014/main" id="{E4F17063-EDA4-417B-946F-BA357F3B39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42856" y="3785499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2">
              <a:alpha val="4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01250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08BCF048-8940-4354-B9EC-5AD74E283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024C14A-78BD-44B0-82BE-6A0D0A2706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09F3D29-EDB1-4F1C-A0E0-36F28CE171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282F4AB-C7B8-4A86-9927-AA106AA27B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0B26874-5AFA-4D1E-94A9-53AF9790D7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A1DA6C95-40F8-4305-89F6-17F6167C0B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A2FA2D29-AEEE-4FFA-B233-94FBE84C9B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6DA5143E-FA8E-4EC1-99F7-35AE5AD4E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D6E58B2-0676-DEC4-6A7A-6DA19F806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5" y="973667"/>
            <a:ext cx="2942210" cy="4833745"/>
          </a:xfrm>
        </p:spPr>
        <p:txBody>
          <a:bodyPr>
            <a:normAutofit/>
          </a:bodyPr>
          <a:lstStyle/>
          <a:p>
            <a:r>
              <a:rPr lang="en-GB">
                <a:solidFill>
                  <a:srgbClr val="EBEBEB"/>
                </a:solidFill>
              </a:rPr>
              <a:t>Introduction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28BCC9-4093-4FD5-83EB-7EC297F513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2EB647C-1F03-E0C3-CCD4-506DCDB0C3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00380780"/>
              </p:ext>
            </p:extLst>
          </p:nvPr>
        </p:nvGraphicFramePr>
        <p:xfrm>
          <a:off x="5194300" y="808038"/>
          <a:ext cx="6391275" cy="52466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05171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61235F-72CC-39B0-E658-554D7EBEA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0F78A-9E1B-3CB0-728E-AFE56DC7D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GB">
                <a:solidFill>
                  <a:srgbClr val="EBEBEB"/>
                </a:solidFill>
              </a:rPr>
              <a:t>BERTVIZ Views</a:t>
            </a:r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1E4EA9F1-0286-220F-E312-A36BE3C930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04644856"/>
              </p:ext>
            </p:extLst>
          </p:nvPr>
        </p:nvGraphicFramePr>
        <p:xfrm>
          <a:off x="91440" y="2304288"/>
          <a:ext cx="11722608" cy="43982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256345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E0488BA-180E-40D8-8350-4B17917955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1E3ACE-BE2C-5252-8D02-8B0B7FC17D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3101" b="26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7D40C9-CD01-D2B3-5809-906EE12AD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Attention head view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3413C-FA9A-4CA8-4ECB-FE9E5303C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Visualizes the attention patterns produced by one or more attention heads in each layer</a:t>
            </a:r>
          </a:p>
          <a:p>
            <a:pPr>
              <a:lnSpc>
                <a:spcPct val="90000"/>
              </a:lnSpc>
            </a:pPr>
            <a:endParaRPr lang="en-GB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attention is represented as lines connecting the tokens that are attending with the tokens being attended to</a:t>
            </a:r>
          </a:p>
          <a:p>
            <a:pPr>
              <a:lnSpc>
                <a:spcPct val="90000"/>
              </a:lnSpc>
            </a:pPr>
            <a:endParaRPr lang="en-GB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dirty="0">
                <a:solidFill>
                  <a:schemeClr val="tx1"/>
                </a:solidFill>
              </a:rPr>
              <a:t>Users can also filter attention by token, as shown in figure 1</a:t>
            </a:r>
          </a:p>
          <a:p>
            <a:pPr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Sentence-pair model is used for BERT; users can specify a sentence-level attention filter.</a:t>
            </a:r>
            <a:endParaRPr lang="en-US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89010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EED2E2BB-3846-41EB-9F1E-92C33C4A8F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73D5773-5AC9-444A-A47A-EB6656ACDC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0" name="Freeform 5">
              <a:extLst>
                <a:ext uri="{FF2B5EF4-FFF2-40B4-BE49-F238E27FC236}">
                  <a16:creationId xmlns:a16="http://schemas.microsoft.com/office/drawing/2014/main" id="{81EB4475-C020-4325-AF59-31FCBFB7C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F7689D68-C339-4D5B-9DAA-E13F6BD4D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9CC3E5-EA42-4393-A2C0-5192B91BD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1E56735-FD33-4433-21F9-93FD11F256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5712" y="137160"/>
            <a:ext cx="5920288" cy="3839743"/>
          </a:xfrm>
          <a:prstGeom prst="roundRect">
            <a:avLst>
              <a:gd name="adj" fmla="val 0"/>
            </a:avLst>
          </a:prstGeom>
          <a:effectLst/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FB8DBC8E-FBA7-466C-8D97-75B15FBE90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CC4EBD-168C-5305-BFA3-AA7E81472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946" y="137160"/>
            <a:ext cx="5843342" cy="3839743"/>
          </a:xfrm>
          <a:prstGeom prst="roundRect">
            <a:avLst>
              <a:gd name="adj" fmla="val 0"/>
            </a:avLst>
          </a:prstGeom>
          <a:effectLst/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E6FFF64E-1FE4-4AE0-9D62-567AA183C1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4133850"/>
            <a:ext cx="11277600" cy="2250018"/>
          </a:xfrm>
          <a:custGeom>
            <a:avLst/>
            <a:gdLst>
              <a:gd name="connsiteX0" fmla="*/ 5264150 w 11277600"/>
              <a:gd name="connsiteY0" fmla="*/ 0 h 2250018"/>
              <a:gd name="connsiteX1" fmla="*/ 5499100 w 11277600"/>
              <a:gd name="connsiteY1" fmla="*/ 1588 h 2250018"/>
              <a:gd name="connsiteX2" fmla="*/ 5730875 w 11277600"/>
              <a:gd name="connsiteY2" fmla="*/ 1588 h 2250018"/>
              <a:gd name="connsiteX3" fmla="*/ 5961063 w 11277600"/>
              <a:gd name="connsiteY3" fmla="*/ 4763 h 2250018"/>
              <a:gd name="connsiteX4" fmla="*/ 6186488 w 11277600"/>
              <a:gd name="connsiteY4" fmla="*/ 9525 h 2250018"/>
              <a:gd name="connsiteX5" fmla="*/ 6410325 w 11277600"/>
              <a:gd name="connsiteY5" fmla="*/ 14288 h 2250018"/>
              <a:gd name="connsiteX6" fmla="*/ 6629400 w 11277600"/>
              <a:gd name="connsiteY6" fmla="*/ 19050 h 2250018"/>
              <a:gd name="connsiteX7" fmla="*/ 6846888 w 11277600"/>
              <a:gd name="connsiteY7" fmla="*/ 26988 h 2250018"/>
              <a:gd name="connsiteX8" fmla="*/ 7061200 w 11277600"/>
              <a:gd name="connsiteY8" fmla="*/ 34925 h 2250018"/>
              <a:gd name="connsiteX9" fmla="*/ 7270750 w 11277600"/>
              <a:gd name="connsiteY9" fmla="*/ 42863 h 2250018"/>
              <a:gd name="connsiteX10" fmla="*/ 7680325 w 11277600"/>
              <a:gd name="connsiteY10" fmla="*/ 63500 h 2250018"/>
              <a:gd name="connsiteX11" fmla="*/ 8072438 w 11277600"/>
              <a:gd name="connsiteY11" fmla="*/ 85725 h 2250018"/>
              <a:gd name="connsiteX12" fmla="*/ 8448675 w 11277600"/>
              <a:gd name="connsiteY12" fmla="*/ 109538 h 2250018"/>
              <a:gd name="connsiteX13" fmla="*/ 8805862 w 11277600"/>
              <a:gd name="connsiteY13" fmla="*/ 134938 h 2250018"/>
              <a:gd name="connsiteX14" fmla="*/ 9145588 w 11277600"/>
              <a:gd name="connsiteY14" fmla="*/ 161925 h 2250018"/>
              <a:gd name="connsiteX15" fmla="*/ 9461500 w 11277600"/>
              <a:gd name="connsiteY15" fmla="*/ 190500 h 2250018"/>
              <a:gd name="connsiteX16" fmla="*/ 9758362 w 11277600"/>
              <a:gd name="connsiteY16" fmla="*/ 219075 h 2250018"/>
              <a:gd name="connsiteX17" fmla="*/ 10031412 w 11277600"/>
              <a:gd name="connsiteY17" fmla="*/ 247650 h 2250018"/>
              <a:gd name="connsiteX18" fmla="*/ 10282238 w 11277600"/>
              <a:gd name="connsiteY18" fmla="*/ 274638 h 2250018"/>
              <a:gd name="connsiteX19" fmla="*/ 10504488 w 11277600"/>
              <a:gd name="connsiteY19" fmla="*/ 300038 h 2250018"/>
              <a:gd name="connsiteX20" fmla="*/ 10704512 w 11277600"/>
              <a:gd name="connsiteY20" fmla="*/ 323850 h 2250018"/>
              <a:gd name="connsiteX21" fmla="*/ 10874375 w 11277600"/>
              <a:gd name="connsiteY21" fmla="*/ 344488 h 2250018"/>
              <a:gd name="connsiteX22" fmla="*/ 11015662 w 11277600"/>
              <a:gd name="connsiteY22" fmla="*/ 363538 h 2250018"/>
              <a:gd name="connsiteX23" fmla="*/ 11210925 w 11277600"/>
              <a:gd name="connsiteY23" fmla="*/ 390525 h 2250018"/>
              <a:gd name="connsiteX24" fmla="*/ 11277600 w 11277600"/>
              <a:gd name="connsiteY24" fmla="*/ 400050 h 2250018"/>
              <a:gd name="connsiteX25" fmla="*/ 11277600 w 11277600"/>
              <a:gd name="connsiteY25" fmla="*/ 2250018 h 2250018"/>
              <a:gd name="connsiteX26" fmla="*/ 0 w 11277600"/>
              <a:gd name="connsiteY26" fmla="*/ 2250018 h 2250018"/>
              <a:gd name="connsiteX27" fmla="*/ 0 w 11277600"/>
              <a:gd name="connsiteY27" fmla="*/ 398463 h 2250018"/>
              <a:gd name="connsiteX28" fmla="*/ 255588 w 11277600"/>
              <a:gd name="connsiteY28" fmla="*/ 358775 h 2250018"/>
              <a:gd name="connsiteX29" fmla="*/ 511175 w 11277600"/>
              <a:gd name="connsiteY29" fmla="*/ 320675 h 2250018"/>
              <a:gd name="connsiteX30" fmla="*/ 766762 w 11277600"/>
              <a:gd name="connsiteY30" fmla="*/ 284163 h 2250018"/>
              <a:gd name="connsiteX31" fmla="*/ 1023938 w 11277600"/>
              <a:gd name="connsiteY31" fmla="*/ 252413 h 2250018"/>
              <a:gd name="connsiteX32" fmla="*/ 1279525 w 11277600"/>
              <a:gd name="connsiteY32" fmla="*/ 220663 h 2250018"/>
              <a:gd name="connsiteX33" fmla="*/ 1536700 w 11277600"/>
              <a:gd name="connsiteY33" fmla="*/ 190500 h 2250018"/>
              <a:gd name="connsiteX34" fmla="*/ 1790700 w 11277600"/>
              <a:gd name="connsiteY34" fmla="*/ 165100 h 2250018"/>
              <a:gd name="connsiteX35" fmla="*/ 2047875 w 11277600"/>
              <a:gd name="connsiteY35" fmla="*/ 141288 h 2250018"/>
              <a:gd name="connsiteX36" fmla="*/ 2303462 w 11277600"/>
              <a:gd name="connsiteY36" fmla="*/ 119063 h 2250018"/>
              <a:gd name="connsiteX37" fmla="*/ 2555875 w 11277600"/>
              <a:gd name="connsiteY37" fmla="*/ 100013 h 2250018"/>
              <a:gd name="connsiteX38" fmla="*/ 2809875 w 11277600"/>
              <a:gd name="connsiteY38" fmla="*/ 80963 h 2250018"/>
              <a:gd name="connsiteX39" fmla="*/ 3062288 w 11277600"/>
              <a:gd name="connsiteY39" fmla="*/ 65088 h 2250018"/>
              <a:gd name="connsiteX40" fmla="*/ 3313113 w 11277600"/>
              <a:gd name="connsiteY40" fmla="*/ 52388 h 2250018"/>
              <a:gd name="connsiteX41" fmla="*/ 3563938 w 11277600"/>
              <a:gd name="connsiteY41" fmla="*/ 39688 h 2250018"/>
              <a:gd name="connsiteX42" fmla="*/ 3811588 w 11277600"/>
              <a:gd name="connsiteY42" fmla="*/ 28575 h 2250018"/>
              <a:gd name="connsiteX43" fmla="*/ 4057650 w 11277600"/>
              <a:gd name="connsiteY43" fmla="*/ 20638 h 2250018"/>
              <a:gd name="connsiteX44" fmla="*/ 4303713 w 11277600"/>
              <a:gd name="connsiteY44" fmla="*/ 14288 h 2250018"/>
              <a:gd name="connsiteX45" fmla="*/ 4546600 w 11277600"/>
              <a:gd name="connsiteY45" fmla="*/ 7938 h 2250018"/>
              <a:gd name="connsiteX46" fmla="*/ 4787900 w 11277600"/>
              <a:gd name="connsiteY46" fmla="*/ 4763 h 2250018"/>
              <a:gd name="connsiteX47" fmla="*/ 5027613 w 11277600"/>
              <a:gd name="connsiteY47" fmla="*/ 1588 h 2250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11277600" h="2250018">
                <a:moveTo>
                  <a:pt x="5264150" y="0"/>
                </a:moveTo>
                <a:lnTo>
                  <a:pt x="5499100" y="1588"/>
                </a:lnTo>
                <a:lnTo>
                  <a:pt x="5730875" y="1588"/>
                </a:lnTo>
                <a:lnTo>
                  <a:pt x="5961063" y="4763"/>
                </a:lnTo>
                <a:lnTo>
                  <a:pt x="6186488" y="9525"/>
                </a:lnTo>
                <a:lnTo>
                  <a:pt x="6410325" y="14288"/>
                </a:lnTo>
                <a:lnTo>
                  <a:pt x="6629400" y="19050"/>
                </a:lnTo>
                <a:lnTo>
                  <a:pt x="6846888" y="26988"/>
                </a:lnTo>
                <a:lnTo>
                  <a:pt x="7061200" y="34925"/>
                </a:lnTo>
                <a:lnTo>
                  <a:pt x="7270750" y="42863"/>
                </a:lnTo>
                <a:lnTo>
                  <a:pt x="7680325" y="63500"/>
                </a:lnTo>
                <a:lnTo>
                  <a:pt x="8072438" y="85725"/>
                </a:lnTo>
                <a:lnTo>
                  <a:pt x="8448675" y="109538"/>
                </a:lnTo>
                <a:lnTo>
                  <a:pt x="8805862" y="134938"/>
                </a:lnTo>
                <a:lnTo>
                  <a:pt x="9145588" y="161925"/>
                </a:lnTo>
                <a:lnTo>
                  <a:pt x="9461500" y="190500"/>
                </a:lnTo>
                <a:lnTo>
                  <a:pt x="9758362" y="219075"/>
                </a:lnTo>
                <a:lnTo>
                  <a:pt x="10031412" y="247650"/>
                </a:lnTo>
                <a:lnTo>
                  <a:pt x="10282238" y="274638"/>
                </a:lnTo>
                <a:lnTo>
                  <a:pt x="10504488" y="300038"/>
                </a:lnTo>
                <a:lnTo>
                  <a:pt x="10704512" y="323850"/>
                </a:lnTo>
                <a:lnTo>
                  <a:pt x="10874375" y="344488"/>
                </a:lnTo>
                <a:lnTo>
                  <a:pt x="11015662" y="363538"/>
                </a:lnTo>
                <a:lnTo>
                  <a:pt x="11210925" y="390525"/>
                </a:lnTo>
                <a:lnTo>
                  <a:pt x="11277600" y="400050"/>
                </a:lnTo>
                <a:lnTo>
                  <a:pt x="11277600" y="2250018"/>
                </a:lnTo>
                <a:lnTo>
                  <a:pt x="0" y="2250018"/>
                </a:lnTo>
                <a:lnTo>
                  <a:pt x="0" y="398463"/>
                </a:lnTo>
                <a:lnTo>
                  <a:pt x="255588" y="358775"/>
                </a:lnTo>
                <a:lnTo>
                  <a:pt x="511175" y="320675"/>
                </a:lnTo>
                <a:lnTo>
                  <a:pt x="766762" y="284163"/>
                </a:lnTo>
                <a:lnTo>
                  <a:pt x="1023938" y="252413"/>
                </a:lnTo>
                <a:lnTo>
                  <a:pt x="1279525" y="220663"/>
                </a:lnTo>
                <a:lnTo>
                  <a:pt x="1536700" y="190500"/>
                </a:lnTo>
                <a:lnTo>
                  <a:pt x="1790700" y="165100"/>
                </a:lnTo>
                <a:lnTo>
                  <a:pt x="2047875" y="141288"/>
                </a:lnTo>
                <a:lnTo>
                  <a:pt x="2303462" y="119063"/>
                </a:lnTo>
                <a:lnTo>
                  <a:pt x="2555875" y="100013"/>
                </a:lnTo>
                <a:lnTo>
                  <a:pt x="2809875" y="80963"/>
                </a:lnTo>
                <a:lnTo>
                  <a:pt x="3062288" y="65088"/>
                </a:lnTo>
                <a:lnTo>
                  <a:pt x="3313113" y="52388"/>
                </a:lnTo>
                <a:lnTo>
                  <a:pt x="3563938" y="39688"/>
                </a:lnTo>
                <a:lnTo>
                  <a:pt x="3811588" y="28575"/>
                </a:lnTo>
                <a:lnTo>
                  <a:pt x="4057650" y="20638"/>
                </a:lnTo>
                <a:lnTo>
                  <a:pt x="4303713" y="14288"/>
                </a:lnTo>
                <a:lnTo>
                  <a:pt x="4546600" y="7938"/>
                </a:lnTo>
                <a:lnTo>
                  <a:pt x="4787900" y="4763"/>
                </a:lnTo>
                <a:lnTo>
                  <a:pt x="5027613" y="1588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 5">
            <a:extLst>
              <a:ext uri="{FF2B5EF4-FFF2-40B4-BE49-F238E27FC236}">
                <a16:creationId xmlns:a16="http://schemas.microsoft.com/office/drawing/2014/main" id="{9C80E52D-DE5C-4267-9C99-8741F2E42E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0371525">
            <a:off x="263767" y="4117124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389B47-BC08-60D8-8FA2-CB1109FB9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2351" y="4558304"/>
            <a:ext cx="10893095" cy="117494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b="0" i="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Attention head view</a:t>
            </a:r>
          </a:p>
        </p:txBody>
      </p:sp>
    </p:spTree>
    <p:extLst>
      <p:ext uri="{BB962C8B-B14F-4D97-AF65-F5344CB8AC3E}">
        <p14:creationId xmlns:p14="http://schemas.microsoft.com/office/powerpoint/2010/main" val="19872256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E0488BA-180E-40D8-8350-4B17917955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One big red thumbtack in front of many smaller black thumbtacks">
            <a:extLst>
              <a:ext uri="{FF2B5EF4-FFF2-40B4-BE49-F238E27FC236}">
                <a16:creationId xmlns:a16="http://schemas.microsoft.com/office/drawing/2014/main" id="{6003950E-9B4B-62E0-7034-83CB22B4EE4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6741" b="620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4AC90B-66A5-E92E-3507-8515DED7A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1"/>
                </a:solidFill>
              </a:rPr>
              <a:t>Attention head view</a:t>
            </a:r>
            <a:endParaRPr lang="en-GB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4EE66-4864-7590-183E-3898732C70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>
            <a:normAutofit/>
          </a:bodyPr>
          <a:lstStyle/>
          <a:p>
            <a:r>
              <a:rPr lang="en-GB">
                <a:solidFill>
                  <a:schemeClr val="tx1"/>
                </a:solidFill>
              </a:rPr>
              <a:t> Besides positional patterns, attention heads also capture specific lexical patterns</a:t>
            </a:r>
          </a:p>
          <a:p>
            <a:r>
              <a:rPr lang="en-GB">
                <a:solidFill>
                  <a:schemeClr val="tx1"/>
                </a:solidFill>
              </a:rPr>
              <a:t>in figure 3. Other attention heads detected </a:t>
            </a:r>
          </a:p>
          <a:p>
            <a:r>
              <a:rPr lang="en-GB">
                <a:solidFill>
                  <a:schemeClr val="tx1"/>
                </a:solidFill>
              </a:rPr>
              <a:t>named entities, </a:t>
            </a:r>
          </a:p>
          <a:p>
            <a:r>
              <a:rPr lang="en-GB">
                <a:solidFill>
                  <a:schemeClr val="tx1"/>
                </a:solidFill>
              </a:rPr>
              <a:t>paired punctuation, </a:t>
            </a:r>
          </a:p>
          <a:p>
            <a:r>
              <a:rPr lang="en-GB">
                <a:solidFill>
                  <a:schemeClr val="tx1"/>
                </a:solidFill>
              </a:rPr>
              <a:t>subject-verb pairs</a:t>
            </a:r>
          </a:p>
          <a:p>
            <a:r>
              <a:rPr lang="en-GB">
                <a:solidFill>
                  <a:schemeClr val="tx1"/>
                </a:solidFill>
              </a:rPr>
              <a:t>other syntactic and semantic relations.</a:t>
            </a:r>
          </a:p>
        </p:txBody>
      </p:sp>
    </p:spTree>
    <p:extLst>
      <p:ext uri="{BB962C8B-B14F-4D97-AF65-F5344CB8AC3E}">
        <p14:creationId xmlns:p14="http://schemas.microsoft.com/office/powerpoint/2010/main" val="18631787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EED2E2BB-3846-41EB-9F1E-92C33C4A8F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73D5773-5AC9-444A-A47A-EB6656ACDC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81EB4475-C020-4325-AF59-31FCBFB7C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7689D68-C339-4D5B-9DAA-E13F6BD4D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9CC3E5-EA42-4393-A2C0-5192B91BD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306669-2BDC-9331-EFEE-9053335B0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0628"/>
            <a:ext cx="6009221" cy="3886201"/>
          </a:xfrm>
          <a:prstGeom prst="roundRect">
            <a:avLst>
              <a:gd name="adj" fmla="val 0"/>
            </a:avLst>
          </a:prstGeom>
          <a:effectLst/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FB8DBC8E-FBA7-466C-8D97-75B15FBE90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A714A5E-CDC7-91B6-4AA0-4BA5263F0B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5889171" y="474133"/>
            <a:ext cx="6193971" cy="3439616"/>
          </a:xfrm>
          <a:prstGeom prst="roundRect">
            <a:avLst>
              <a:gd name="adj" fmla="val 0"/>
            </a:avLst>
          </a:prstGeom>
          <a:effectLst/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E6FFF64E-1FE4-4AE0-9D62-567AA183C1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4133850"/>
            <a:ext cx="11277600" cy="2250018"/>
          </a:xfrm>
          <a:custGeom>
            <a:avLst/>
            <a:gdLst>
              <a:gd name="connsiteX0" fmla="*/ 5264150 w 11277600"/>
              <a:gd name="connsiteY0" fmla="*/ 0 h 2250018"/>
              <a:gd name="connsiteX1" fmla="*/ 5499100 w 11277600"/>
              <a:gd name="connsiteY1" fmla="*/ 1588 h 2250018"/>
              <a:gd name="connsiteX2" fmla="*/ 5730875 w 11277600"/>
              <a:gd name="connsiteY2" fmla="*/ 1588 h 2250018"/>
              <a:gd name="connsiteX3" fmla="*/ 5961063 w 11277600"/>
              <a:gd name="connsiteY3" fmla="*/ 4763 h 2250018"/>
              <a:gd name="connsiteX4" fmla="*/ 6186488 w 11277600"/>
              <a:gd name="connsiteY4" fmla="*/ 9525 h 2250018"/>
              <a:gd name="connsiteX5" fmla="*/ 6410325 w 11277600"/>
              <a:gd name="connsiteY5" fmla="*/ 14288 h 2250018"/>
              <a:gd name="connsiteX6" fmla="*/ 6629400 w 11277600"/>
              <a:gd name="connsiteY6" fmla="*/ 19050 h 2250018"/>
              <a:gd name="connsiteX7" fmla="*/ 6846888 w 11277600"/>
              <a:gd name="connsiteY7" fmla="*/ 26988 h 2250018"/>
              <a:gd name="connsiteX8" fmla="*/ 7061200 w 11277600"/>
              <a:gd name="connsiteY8" fmla="*/ 34925 h 2250018"/>
              <a:gd name="connsiteX9" fmla="*/ 7270750 w 11277600"/>
              <a:gd name="connsiteY9" fmla="*/ 42863 h 2250018"/>
              <a:gd name="connsiteX10" fmla="*/ 7680325 w 11277600"/>
              <a:gd name="connsiteY10" fmla="*/ 63500 h 2250018"/>
              <a:gd name="connsiteX11" fmla="*/ 8072438 w 11277600"/>
              <a:gd name="connsiteY11" fmla="*/ 85725 h 2250018"/>
              <a:gd name="connsiteX12" fmla="*/ 8448675 w 11277600"/>
              <a:gd name="connsiteY12" fmla="*/ 109538 h 2250018"/>
              <a:gd name="connsiteX13" fmla="*/ 8805862 w 11277600"/>
              <a:gd name="connsiteY13" fmla="*/ 134938 h 2250018"/>
              <a:gd name="connsiteX14" fmla="*/ 9145588 w 11277600"/>
              <a:gd name="connsiteY14" fmla="*/ 161925 h 2250018"/>
              <a:gd name="connsiteX15" fmla="*/ 9461500 w 11277600"/>
              <a:gd name="connsiteY15" fmla="*/ 190500 h 2250018"/>
              <a:gd name="connsiteX16" fmla="*/ 9758362 w 11277600"/>
              <a:gd name="connsiteY16" fmla="*/ 219075 h 2250018"/>
              <a:gd name="connsiteX17" fmla="*/ 10031412 w 11277600"/>
              <a:gd name="connsiteY17" fmla="*/ 247650 h 2250018"/>
              <a:gd name="connsiteX18" fmla="*/ 10282238 w 11277600"/>
              <a:gd name="connsiteY18" fmla="*/ 274638 h 2250018"/>
              <a:gd name="connsiteX19" fmla="*/ 10504488 w 11277600"/>
              <a:gd name="connsiteY19" fmla="*/ 300038 h 2250018"/>
              <a:gd name="connsiteX20" fmla="*/ 10704512 w 11277600"/>
              <a:gd name="connsiteY20" fmla="*/ 323850 h 2250018"/>
              <a:gd name="connsiteX21" fmla="*/ 10874375 w 11277600"/>
              <a:gd name="connsiteY21" fmla="*/ 344488 h 2250018"/>
              <a:gd name="connsiteX22" fmla="*/ 11015662 w 11277600"/>
              <a:gd name="connsiteY22" fmla="*/ 363538 h 2250018"/>
              <a:gd name="connsiteX23" fmla="*/ 11210925 w 11277600"/>
              <a:gd name="connsiteY23" fmla="*/ 390525 h 2250018"/>
              <a:gd name="connsiteX24" fmla="*/ 11277600 w 11277600"/>
              <a:gd name="connsiteY24" fmla="*/ 400050 h 2250018"/>
              <a:gd name="connsiteX25" fmla="*/ 11277600 w 11277600"/>
              <a:gd name="connsiteY25" fmla="*/ 2250018 h 2250018"/>
              <a:gd name="connsiteX26" fmla="*/ 0 w 11277600"/>
              <a:gd name="connsiteY26" fmla="*/ 2250018 h 2250018"/>
              <a:gd name="connsiteX27" fmla="*/ 0 w 11277600"/>
              <a:gd name="connsiteY27" fmla="*/ 398463 h 2250018"/>
              <a:gd name="connsiteX28" fmla="*/ 255588 w 11277600"/>
              <a:gd name="connsiteY28" fmla="*/ 358775 h 2250018"/>
              <a:gd name="connsiteX29" fmla="*/ 511175 w 11277600"/>
              <a:gd name="connsiteY29" fmla="*/ 320675 h 2250018"/>
              <a:gd name="connsiteX30" fmla="*/ 766762 w 11277600"/>
              <a:gd name="connsiteY30" fmla="*/ 284163 h 2250018"/>
              <a:gd name="connsiteX31" fmla="*/ 1023938 w 11277600"/>
              <a:gd name="connsiteY31" fmla="*/ 252413 h 2250018"/>
              <a:gd name="connsiteX32" fmla="*/ 1279525 w 11277600"/>
              <a:gd name="connsiteY32" fmla="*/ 220663 h 2250018"/>
              <a:gd name="connsiteX33" fmla="*/ 1536700 w 11277600"/>
              <a:gd name="connsiteY33" fmla="*/ 190500 h 2250018"/>
              <a:gd name="connsiteX34" fmla="*/ 1790700 w 11277600"/>
              <a:gd name="connsiteY34" fmla="*/ 165100 h 2250018"/>
              <a:gd name="connsiteX35" fmla="*/ 2047875 w 11277600"/>
              <a:gd name="connsiteY35" fmla="*/ 141288 h 2250018"/>
              <a:gd name="connsiteX36" fmla="*/ 2303462 w 11277600"/>
              <a:gd name="connsiteY36" fmla="*/ 119063 h 2250018"/>
              <a:gd name="connsiteX37" fmla="*/ 2555875 w 11277600"/>
              <a:gd name="connsiteY37" fmla="*/ 100013 h 2250018"/>
              <a:gd name="connsiteX38" fmla="*/ 2809875 w 11277600"/>
              <a:gd name="connsiteY38" fmla="*/ 80963 h 2250018"/>
              <a:gd name="connsiteX39" fmla="*/ 3062288 w 11277600"/>
              <a:gd name="connsiteY39" fmla="*/ 65088 h 2250018"/>
              <a:gd name="connsiteX40" fmla="*/ 3313113 w 11277600"/>
              <a:gd name="connsiteY40" fmla="*/ 52388 h 2250018"/>
              <a:gd name="connsiteX41" fmla="*/ 3563938 w 11277600"/>
              <a:gd name="connsiteY41" fmla="*/ 39688 h 2250018"/>
              <a:gd name="connsiteX42" fmla="*/ 3811588 w 11277600"/>
              <a:gd name="connsiteY42" fmla="*/ 28575 h 2250018"/>
              <a:gd name="connsiteX43" fmla="*/ 4057650 w 11277600"/>
              <a:gd name="connsiteY43" fmla="*/ 20638 h 2250018"/>
              <a:gd name="connsiteX44" fmla="*/ 4303713 w 11277600"/>
              <a:gd name="connsiteY44" fmla="*/ 14288 h 2250018"/>
              <a:gd name="connsiteX45" fmla="*/ 4546600 w 11277600"/>
              <a:gd name="connsiteY45" fmla="*/ 7938 h 2250018"/>
              <a:gd name="connsiteX46" fmla="*/ 4787900 w 11277600"/>
              <a:gd name="connsiteY46" fmla="*/ 4763 h 2250018"/>
              <a:gd name="connsiteX47" fmla="*/ 5027613 w 11277600"/>
              <a:gd name="connsiteY47" fmla="*/ 1588 h 2250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11277600" h="2250018">
                <a:moveTo>
                  <a:pt x="5264150" y="0"/>
                </a:moveTo>
                <a:lnTo>
                  <a:pt x="5499100" y="1588"/>
                </a:lnTo>
                <a:lnTo>
                  <a:pt x="5730875" y="1588"/>
                </a:lnTo>
                <a:lnTo>
                  <a:pt x="5961063" y="4763"/>
                </a:lnTo>
                <a:lnTo>
                  <a:pt x="6186488" y="9525"/>
                </a:lnTo>
                <a:lnTo>
                  <a:pt x="6410325" y="14288"/>
                </a:lnTo>
                <a:lnTo>
                  <a:pt x="6629400" y="19050"/>
                </a:lnTo>
                <a:lnTo>
                  <a:pt x="6846888" y="26988"/>
                </a:lnTo>
                <a:lnTo>
                  <a:pt x="7061200" y="34925"/>
                </a:lnTo>
                <a:lnTo>
                  <a:pt x="7270750" y="42863"/>
                </a:lnTo>
                <a:lnTo>
                  <a:pt x="7680325" y="63500"/>
                </a:lnTo>
                <a:lnTo>
                  <a:pt x="8072438" y="85725"/>
                </a:lnTo>
                <a:lnTo>
                  <a:pt x="8448675" y="109538"/>
                </a:lnTo>
                <a:lnTo>
                  <a:pt x="8805862" y="134938"/>
                </a:lnTo>
                <a:lnTo>
                  <a:pt x="9145588" y="161925"/>
                </a:lnTo>
                <a:lnTo>
                  <a:pt x="9461500" y="190500"/>
                </a:lnTo>
                <a:lnTo>
                  <a:pt x="9758362" y="219075"/>
                </a:lnTo>
                <a:lnTo>
                  <a:pt x="10031412" y="247650"/>
                </a:lnTo>
                <a:lnTo>
                  <a:pt x="10282238" y="274638"/>
                </a:lnTo>
                <a:lnTo>
                  <a:pt x="10504488" y="300038"/>
                </a:lnTo>
                <a:lnTo>
                  <a:pt x="10704512" y="323850"/>
                </a:lnTo>
                <a:lnTo>
                  <a:pt x="10874375" y="344488"/>
                </a:lnTo>
                <a:lnTo>
                  <a:pt x="11015662" y="363538"/>
                </a:lnTo>
                <a:lnTo>
                  <a:pt x="11210925" y="390525"/>
                </a:lnTo>
                <a:lnTo>
                  <a:pt x="11277600" y="400050"/>
                </a:lnTo>
                <a:lnTo>
                  <a:pt x="11277600" y="2250018"/>
                </a:lnTo>
                <a:lnTo>
                  <a:pt x="0" y="2250018"/>
                </a:lnTo>
                <a:lnTo>
                  <a:pt x="0" y="398463"/>
                </a:lnTo>
                <a:lnTo>
                  <a:pt x="255588" y="358775"/>
                </a:lnTo>
                <a:lnTo>
                  <a:pt x="511175" y="320675"/>
                </a:lnTo>
                <a:lnTo>
                  <a:pt x="766762" y="284163"/>
                </a:lnTo>
                <a:lnTo>
                  <a:pt x="1023938" y="252413"/>
                </a:lnTo>
                <a:lnTo>
                  <a:pt x="1279525" y="220663"/>
                </a:lnTo>
                <a:lnTo>
                  <a:pt x="1536700" y="190500"/>
                </a:lnTo>
                <a:lnTo>
                  <a:pt x="1790700" y="165100"/>
                </a:lnTo>
                <a:lnTo>
                  <a:pt x="2047875" y="141288"/>
                </a:lnTo>
                <a:lnTo>
                  <a:pt x="2303462" y="119063"/>
                </a:lnTo>
                <a:lnTo>
                  <a:pt x="2555875" y="100013"/>
                </a:lnTo>
                <a:lnTo>
                  <a:pt x="2809875" y="80963"/>
                </a:lnTo>
                <a:lnTo>
                  <a:pt x="3062288" y="65088"/>
                </a:lnTo>
                <a:lnTo>
                  <a:pt x="3313113" y="52388"/>
                </a:lnTo>
                <a:lnTo>
                  <a:pt x="3563938" y="39688"/>
                </a:lnTo>
                <a:lnTo>
                  <a:pt x="3811588" y="28575"/>
                </a:lnTo>
                <a:lnTo>
                  <a:pt x="4057650" y="20638"/>
                </a:lnTo>
                <a:lnTo>
                  <a:pt x="4303713" y="14288"/>
                </a:lnTo>
                <a:lnTo>
                  <a:pt x="4546600" y="7938"/>
                </a:lnTo>
                <a:lnTo>
                  <a:pt x="4787900" y="4763"/>
                </a:lnTo>
                <a:lnTo>
                  <a:pt x="5027613" y="1588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 5">
            <a:extLst>
              <a:ext uri="{FF2B5EF4-FFF2-40B4-BE49-F238E27FC236}">
                <a16:creationId xmlns:a16="http://schemas.microsoft.com/office/drawing/2014/main" id="{9C80E52D-DE5C-4267-9C99-8741F2E42E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0371525">
            <a:off x="263767" y="4117124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426C08-8840-9CDC-2052-A7FD874F4A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975" y="4517136"/>
            <a:ext cx="10893095" cy="117494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b="0" i="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Attention head view</a:t>
            </a:r>
          </a:p>
        </p:txBody>
      </p:sp>
    </p:spTree>
    <p:extLst>
      <p:ext uri="{BB962C8B-B14F-4D97-AF65-F5344CB8AC3E}">
        <p14:creationId xmlns:p14="http://schemas.microsoft.com/office/powerpoint/2010/main" val="15622003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70C2B8F-6B1B-46D5-86E6-40F36C695F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DB521824-592C-476A-AB0A-CA0C6D1F34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469835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2749EFA-8EE4-4EB8-9424-8E593B9320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50898" y="638067"/>
            <a:ext cx="6053670" cy="5581866"/>
          </a:xfrm>
          <a:custGeom>
            <a:avLst/>
            <a:gdLst>
              <a:gd name="connsiteX0" fmla="*/ 6053670 w 6053670"/>
              <a:gd name="connsiteY0" fmla="*/ 1098 h 5581866"/>
              <a:gd name="connsiteX1" fmla="*/ 6053670 w 6053670"/>
              <a:gd name="connsiteY1" fmla="*/ 514028 h 5581866"/>
              <a:gd name="connsiteX2" fmla="*/ 6053670 w 6053670"/>
              <a:gd name="connsiteY2" fmla="*/ 1254558 h 5581866"/>
              <a:gd name="connsiteX3" fmla="*/ 6053670 w 6053670"/>
              <a:gd name="connsiteY3" fmla="*/ 5581866 h 5581866"/>
              <a:gd name="connsiteX4" fmla="*/ 0 w 6053670"/>
              <a:gd name="connsiteY4" fmla="*/ 5581866 h 5581866"/>
              <a:gd name="connsiteX5" fmla="*/ 0 w 6053670"/>
              <a:gd name="connsiteY5" fmla="*/ 1249853 h 5581866"/>
              <a:gd name="connsiteX6" fmla="*/ 0 w 6053670"/>
              <a:gd name="connsiteY6" fmla="*/ 514028 h 5581866"/>
              <a:gd name="connsiteX7" fmla="*/ 0 w 6053670"/>
              <a:gd name="connsiteY7" fmla="*/ 0 h 5581866"/>
              <a:gd name="connsiteX8" fmla="*/ 35717 w 6053670"/>
              <a:gd name="connsiteY8" fmla="*/ 5488 h 5581866"/>
              <a:gd name="connsiteX9" fmla="*/ 140445 w 6053670"/>
              <a:gd name="connsiteY9" fmla="*/ 21641 h 5581866"/>
              <a:gd name="connsiteX10" fmla="*/ 216722 w 6053670"/>
              <a:gd name="connsiteY10" fmla="*/ 32932 h 5581866"/>
              <a:gd name="connsiteX11" fmla="*/ 307527 w 6053670"/>
              <a:gd name="connsiteY11" fmla="*/ 44850 h 5581866"/>
              <a:gd name="connsiteX12" fmla="*/ 415282 w 6053670"/>
              <a:gd name="connsiteY12" fmla="*/ 59121 h 5581866"/>
              <a:gd name="connsiteX13" fmla="*/ 534539 w 6053670"/>
              <a:gd name="connsiteY13" fmla="*/ 74175 h 5581866"/>
              <a:gd name="connsiteX14" fmla="*/ 668931 w 6053670"/>
              <a:gd name="connsiteY14" fmla="*/ 90014 h 5581866"/>
              <a:gd name="connsiteX15" fmla="*/ 815430 w 6053670"/>
              <a:gd name="connsiteY15" fmla="*/ 106794 h 5581866"/>
              <a:gd name="connsiteX16" fmla="*/ 974641 w 6053670"/>
              <a:gd name="connsiteY16" fmla="*/ 123574 h 5581866"/>
              <a:gd name="connsiteX17" fmla="*/ 1144144 w 6053670"/>
              <a:gd name="connsiteY17" fmla="*/ 140667 h 5581866"/>
              <a:gd name="connsiteX18" fmla="*/ 1326965 w 6053670"/>
              <a:gd name="connsiteY18" fmla="*/ 156506 h 5581866"/>
              <a:gd name="connsiteX19" fmla="*/ 1518261 w 6053670"/>
              <a:gd name="connsiteY19" fmla="*/ 171717 h 5581866"/>
              <a:gd name="connsiteX20" fmla="*/ 1720453 w 6053670"/>
              <a:gd name="connsiteY20" fmla="*/ 185518 h 5581866"/>
              <a:gd name="connsiteX21" fmla="*/ 1931121 w 6053670"/>
              <a:gd name="connsiteY21" fmla="*/ 198690 h 5581866"/>
              <a:gd name="connsiteX22" fmla="*/ 2150869 w 6053670"/>
              <a:gd name="connsiteY22" fmla="*/ 211079 h 5581866"/>
              <a:gd name="connsiteX23" fmla="*/ 2263467 w 6053670"/>
              <a:gd name="connsiteY23" fmla="*/ 215470 h 5581866"/>
              <a:gd name="connsiteX24" fmla="*/ 2378487 w 6053670"/>
              <a:gd name="connsiteY24" fmla="*/ 220332 h 5581866"/>
              <a:gd name="connsiteX25" fmla="*/ 2495323 w 6053670"/>
              <a:gd name="connsiteY25" fmla="*/ 224879 h 5581866"/>
              <a:gd name="connsiteX26" fmla="*/ 2612764 w 6053670"/>
              <a:gd name="connsiteY26" fmla="*/ 227859 h 5581866"/>
              <a:gd name="connsiteX27" fmla="*/ 2732627 w 6053670"/>
              <a:gd name="connsiteY27" fmla="*/ 230525 h 5581866"/>
              <a:gd name="connsiteX28" fmla="*/ 2853700 w 6053670"/>
              <a:gd name="connsiteY28" fmla="*/ 233348 h 5581866"/>
              <a:gd name="connsiteX29" fmla="*/ 2977195 w 6053670"/>
              <a:gd name="connsiteY29" fmla="*/ 235229 h 5581866"/>
              <a:gd name="connsiteX30" fmla="*/ 3101900 w 6053670"/>
              <a:gd name="connsiteY30" fmla="*/ 235229 h 5581866"/>
              <a:gd name="connsiteX31" fmla="*/ 3227817 w 6053670"/>
              <a:gd name="connsiteY31" fmla="*/ 236170 h 5581866"/>
              <a:gd name="connsiteX32" fmla="*/ 3354944 w 6053670"/>
              <a:gd name="connsiteY32" fmla="*/ 235229 h 5581866"/>
              <a:gd name="connsiteX33" fmla="*/ 3483887 w 6053670"/>
              <a:gd name="connsiteY33" fmla="*/ 233348 h 5581866"/>
              <a:gd name="connsiteX34" fmla="*/ 3612830 w 6053670"/>
              <a:gd name="connsiteY34" fmla="*/ 231623 h 5581866"/>
              <a:gd name="connsiteX35" fmla="*/ 3743589 w 6053670"/>
              <a:gd name="connsiteY35" fmla="*/ 227859 h 5581866"/>
              <a:gd name="connsiteX36" fmla="*/ 3875559 w 6053670"/>
              <a:gd name="connsiteY36" fmla="*/ 223938 h 5581866"/>
              <a:gd name="connsiteX37" fmla="*/ 4007529 w 6053670"/>
              <a:gd name="connsiteY37" fmla="*/ 219391 h 5581866"/>
              <a:gd name="connsiteX38" fmla="*/ 4140710 w 6053670"/>
              <a:gd name="connsiteY38" fmla="*/ 212961 h 5581866"/>
              <a:gd name="connsiteX39" fmla="*/ 4275102 w 6053670"/>
              <a:gd name="connsiteY39" fmla="*/ 205277 h 5581866"/>
              <a:gd name="connsiteX40" fmla="*/ 4410098 w 6053670"/>
              <a:gd name="connsiteY40" fmla="*/ 197907 h 5581866"/>
              <a:gd name="connsiteX41" fmla="*/ 4545096 w 6053670"/>
              <a:gd name="connsiteY41" fmla="*/ 188498 h 5581866"/>
              <a:gd name="connsiteX42" fmla="*/ 4681909 w 6053670"/>
              <a:gd name="connsiteY42" fmla="*/ 177207 h 5581866"/>
              <a:gd name="connsiteX43" fmla="*/ 4816905 w 6053670"/>
              <a:gd name="connsiteY43" fmla="*/ 165916 h 5581866"/>
              <a:gd name="connsiteX44" fmla="*/ 4954323 w 6053670"/>
              <a:gd name="connsiteY44" fmla="*/ 152899 h 5581866"/>
              <a:gd name="connsiteX45" fmla="*/ 5092347 w 6053670"/>
              <a:gd name="connsiteY45" fmla="*/ 138629 h 5581866"/>
              <a:gd name="connsiteX46" fmla="*/ 5228555 w 6053670"/>
              <a:gd name="connsiteY46" fmla="*/ 123574 h 5581866"/>
              <a:gd name="connsiteX47" fmla="*/ 5366578 w 6053670"/>
              <a:gd name="connsiteY47" fmla="*/ 106010 h 5581866"/>
              <a:gd name="connsiteX48" fmla="*/ 5503997 w 6053670"/>
              <a:gd name="connsiteY48" fmla="*/ 87192 h 5581866"/>
              <a:gd name="connsiteX49" fmla="*/ 5642020 w 6053670"/>
              <a:gd name="connsiteY49" fmla="*/ 68530 h 5581866"/>
              <a:gd name="connsiteX50" fmla="*/ 5779438 w 6053670"/>
              <a:gd name="connsiteY50" fmla="*/ 46733 h 5581866"/>
              <a:gd name="connsiteX51" fmla="*/ 5916251 w 6053670"/>
              <a:gd name="connsiteY51" fmla="*/ 24464 h 5581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5581866">
                <a:moveTo>
                  <a:pt x="6053670" y="1098"/>
                </a:moveTo>
                <a:lnTo>
                  <a:pt x="6053670" y="514028"/>
                </a:lnTo>
                <a:lnTo>
                  <a:pt x="6053670" y="1254558"/>
                </a:lnTo>
                <a:lnTo>
                  <a:pt x="6053670" y="5581866"/>
                </a:lnTo>
                <a:lnTo>
                  <a:pt x="0" y="5581866"/>
                </a:lnTo>
                <a:lnTo>
                  <a:pt x="0" y="1249853"/>
                </a:lnTo>
                <a:lnTo>
                  <a:pt x="0" y="514028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" name="Freeform 5">
            <a:extLst>
              <a:ext uri="{FF2B5EF4-FFF2-40B4-BE49-F238E27FC236}">
                <a16:creationId xmlns:a16="http://schemas.microsoft.com/office/drawing/2014/main" id="{B5C860C9-D4F9-4350-80DA-0D1CD36C77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C8F524-9EF2-E492-A93D-EDD1CF40A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5132438" cy="1622322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Use case for attention-head view</a:t>
            </a:r>
            <a:endParaRPr lang="en-GB">
              <a:solidFill>
                <a:srgbClr val="EBEBEB"/>
              </a:solidFill>
            </a:endParaRPr>
          </a:p>
        </p:txBody>
      </p:sp>
      <p:pic>
        <p:nvPicPr>
          <p:cNvPr id="7" name="Graphic 6" descr="Chat">
            <a:extLst>
              <a:ext uri="{FF2B5EF4-FFF2-40B4-BE49-F238E27FC236}">
                <a16:creationId xmlns:a16="http://schemas.microsoft.com/office/drawing/2014/main" id="{B5955DA5-9DDA-E50F-970E-7AF54D9E2A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14836" y="1023437"/>
            <a:ext cx="4828707" cy="48287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538A90C8-AE0E-4EBA-9AF8-EEDB20602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0AE57-D68E-B636-940F-FE39F9CBAE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514" y="2084832"/>
            <a:ext cx="5986199" cy="3410712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500" dirty="0">
                <a:solidFill>
                  <a:srgbClr val="FFFFFF"/>
                </a:solidFill>
              </a:rPr>
              <a:t>the detection of bias in the model</a:t>
            </a:r>
          </a:p>
          <a:p>
            <a:pPr>
              <a:lnSpc>
                <a:spcPct val="90000"/>
              </a:lnSpc>
            </a:pPr>
            <a:endParaRPr lang="en-GB" sz="1500" dirty="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GB" sz="1500" dirty="0">
                <a:solidFill>
                  <a:srgbClr val="FFFFFF"/>
                </a:solidFill>
              </a:rPr>
              <a:t>GPT-2 was asked to generate new words </a:t>
            </a:r>
          </a:p>
          <a:p>
            <a:pPr>
              <a:lnSpc>
                <a:spcPct val="90000"/>
              </a:lnSpc>
            </a:pPr>
            <a:endParaRPr lang="en-GB" sz="1500" dirty="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GB" sz="1500" dirty="0">
                <a:solidFill>
                  <a:srgbClr val="FFFFFF"/>
                </a:solidFill>
              </a:rPr>
              <a:t>This shows the models coreference mechanism may encode gender bias, </a:t>
            </a:r>
          </a:p>
          <a:p>
            <a:pPr>
              <a:lnSpc>
                <a:spcPct val="90000"/>
              </a:lnSpc>
            </a:pPr>
            <a:endParaRPr lang="en-GB" sz="1500" dirty="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GB" sz="1500" dirty="0">
                <a:solidFill>
                  <a:srgbClr val="FFFFFF"/>
                </a:solidFill>
              </a:rPr>
              <a:t>The two examples are shown in figure 4 (right), which reveals she attended strongly to nurse, while he attends more to doctor. </a:t>
            </a:r>
          </a:p>
          <a:p>
            <a:pPr>
              <a:lnSpc>
                <a:spcPct val="90000"/>
              </a:lnSpc>
            </a:pPr>
            <a:endParaRPr lang="en-US" sz="1500" dirty="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F9F73E-8BA9-3CDE-2E50-897C1F3F6695}"/>
              </a:ext>
            </a:extLst>
          </p:cNvPr>
          <p:cNvSpPr txBox="1"/>
          <p:nvPr/>
        </p:nvSpPr>
        <p:spPr>
          <a:xfrm>
            <a:off x="7228862" y="1757330"/>
            <a:ext cx="389474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dirty="0">
                <a:solidFill>
                  <a:srgbClr val="FFFFFF"/>
                </a:solidFill>
              </a:rPr>
              <a:t>The doctor asked the nurse a question.</a:t>
            </a:r>
            <a:endParaRPr lang="en-GB" dirty="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endParaRPr lang="en-GB" dirty="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rgbClr val="FFFFFF"/>
                </a:solidFill>
              </a:rPr>
              <a:t>“The doctor asked the nurse a question. She said, “I’m not sure what you’re talking about.”  </a:t>
            </a:r>
          </a:p>
          <a:p>
            <a:pPr>
              <a:lnSpc>
                <a:spcPct val="90000"/>
              </a:lnSpc>
            </a:pPr>
            <a:endParaRPr lang="en-GB" dirty="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rgbClr val="FFFFFF"/>
                </a:solidFill>
              </a:rPr>
              <a:t>“The doctor asked the nurse a question. He asked her if she ever had a heart attack”. 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411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70C2B8F-6B1B-46D5-86E6-40F36C695F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DB521824-592C-476A-AB0A-CA0C6D1F34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469835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2749EFA-8EE4-4EB8-9424-8E593B9320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50898" y="638067"/>
            <a:ext cx="6053670" cy="5581866"/>
          </a:xfrm>
          <a:custGeom>
            <a:avLst/>
            <a:gdLst>
              <a:gd name="connsiteX0" fmla="*/ 6053670 w 6053670"/>
              <a:gd name="connsiteY0" fmla="*/ 1098 h 5581866"/>
              <a:gd name="connsiteX1" fmla="*/ 6053670 w 6053670"/>
              <a:gd name="connsiteY1" fmla="*/ 514028 h 5581866"/>
              <a:gd name="connsiteX2" fmla="*/ 6053670 w 6053670"/>
              <a:gd name="connsiteY2" fmla="*/ 1254558 h 5581866"/>
              <a:gd name="connsiteX3" fmla="*/ 6053670 w 6053670"/>
              <a:gd name="connsiteY3" fmla="*/ 5581866 h 5581866"/>
              <a:gd name="connsiteX4" fmla="*/ 0 w 6053670"/>
              <a:gd name="connsiteY4" fmla="*/ 5581866 h 5581866"/>
              <a:gd name="connsiteX5" fmla="*/ 0 w 6053670"/>
              <a:gd name="connsiteY5" fmla="*/ 1249853 h 5581866"/>
              <a:gd name="connsiteX6" fmla="*/ 0 w 6053670"/>
              <a:gd name="connsiteY6" fmla="*/ 514028 h 5581866"/>
              <a:gd name="connsiteX7" fmla="*/ 0 w 6053670"/>
              <a:gd name="connsiteY7" fmla="*/ 0 h 5581866"/>
              <a:gd name="connsiteX8" fmla="*/ 35717 w 6053670"/>
              <a:gd name="connsiteY8" fmla="*/ 5488 h 5581866"/>
              <a:gd name="connsiteX9" fmla="*/ 140445 w 6053670"/>
              <a:gd name="connsiteY9" fmla="*/ 21641 h 5581866"/>
              <a:gd name="connsiteX10" fmla="*/ 216722 w 6053670"/>
              <a:gd name="connsiteY10" fmla="*/ 32932 h 5581866"/>
              <a:gd name="connsiteX11" fmla="*/ 307527 w 6053670"/>
              <a:gd name="connsiteY11" fmla="*/ 44850 h 5581866"/>
              <a:gd name="connsiteX12" fmla="*/ 415282 w 6053670"/>
              <a:gd name="connsiteY12" fmla="*/ 59121 h 5581866"/>
              <a:gd name="connsiteX13" fmla="*/ 534539 w 6053670"/>
              <a:gd name="connsiteY13" fmla="*/ 74175 h 5581866"/>
              <a:gd name="connsiteX14" fmla="*/ 668931 w 6053670"/>
              <a:gd name="connsiteY14" fmla="*/ 90014 h 5581866"/>
              <a:gd name="connsiteX15" fmla="*/ 815430 w 6053670"/>
              <a:gd name="connsiteY15" fmla="*/ 106794 h 5581866"/>
              <a:gd name="connsiteX16" fmla="*/ 974641 w 6053670"/>
              <a:gd name="connsiteY16" fmla="*/ 123574 h 5581866"/>
              <a:gd name="connsiteX17" fmla="*/ 1144144 w 6053670"/>
              <a:gd name="connsiteY17" fmla="*/ 140667 h 5581866"/>
              <a:gd name="connsiteX18" fmla="*/ 1326965 w 6053670"/>
              <a:gd name="connsiteY18" fmla="*/ 156506 h 5581866"/>
              <a:gd name="connsiteX19" fmla="*/ 1518261 w 6053670"/>
              <a:gd name="connsiteY19" fmla="*/ 171717 h 5581866"/>
              <a:gd name="connsiteX20" fmla="*/ 1720453 w 6053670"/>
              <a:gd name="connsiteY20" fmla="*/ 185518 h 5581866"/>
              <a:gd name="connsiteX21" fmla="*/ 1931121 w 6053670"/>
              <a:gd name="connsiteY21" fmla="*/ 198690 h 5581866"/>
              <a:gd name="connsiteX22" fmla="*/ 2150869 w 6053670"/>
              <a:gd name="connsiteY22" fmla="*/ 211079 h 5581866"/>
              <a:gd name="connsiteX23" fmla="*/ 2263467 w 6053670"/>
              <a:gd name="connsiteY23" fmla="*/ 215470 h 5581866"/>
              <a:gd name="connsiteX24" fmla="*/ 2378487 w 6053670"/>
              <a:gd name="connsiteY24" fmla="*/ 220332 h 5581866"/>
              <a:gd name="connsiteX25" fmla="*/ 2495323 w 6053670"/>
              <a:gd name="connsiteY25" fmla="*/ 224879 h 5581866"/>
              <a:gd name="connsiteX26" fmla="*/ 2612764 w 6053670"/>
              <a:gd name="connsiteY26" fmla="*/ 227859 h 5581866"/>
              <a:gd name="connsiteX27" fmla="*/ 2732627 w 6053670"/>
              <a:gd name="connsiteY27" fmla="*/ 230525 h 5581866"/>
              <a:gd name="connsiteX28" fmla="*/ 2853700 w 6053670"/>
              <a:gd name="connsiteY28" fmla="*/ 233348 h 5581866"/>
              <a:gd name="connsiteX29" fmla="*/ 2977195 w 6053670"/>
              <a:gd name="connsiteY29" fmla="*/ 235229 h 5581866"/>
              <a:gd name="connsiteX30" fmla="*/ 3101900 w 6053670"/>
              <a:gd name="connsiteY30" fmla="*/ 235229 h 5581866"/>
              <a:gd name="connsiteX31" fmla="*/ 3227817 w 6053670"/>
              <a:gd name="connsiteY31" fmla="*/ 236170 h 5581866"/>
              <a:gd name="connsiteX32" fmla="*/ 3354944 w 6053670"/>
              <a:gd name="connsiteY32" fmla="*/ 235229 h 5581866"/>
              <a:gd name="connsiteX33" fmla="*/ 3483887 w 6053670"/>
              <a:gd name="connsiteY33" fmla="*/ 233348 h 5581866"/>
              <a:gd name="connsiteX34" fmla="*/ 3612830 w 6053670"/>
              <a:gd name="connsiteY34" fmla="*/ 231623 h 5581866"/>
              <a:gd name="connsiteX35" fmla="*/ 3743589 w 6053670"/>
              <a:gd name="connsiteY35" fmla="*/ 227859 h 5581866"/>
              <a:gd name="connsiteX36" fmla="*/ 3875559 w 6053670"/>
              <a:gd name="connsiteY36" fmla="*/ 223938 h 5581866"/>
              <a:gd name="connsiteX37" fmla="*/ 4007529 w 6053670"/>
              <a:gd name="connsiteY37" fmla="*/ 219391 h 5581866"/>
              <a:gd name="connsiteX38" fmla="*/ 4140710 w 6053670"/>
              <a:gd name="connsiteY38" fmla="*/ 212961 h 5581866"/>
              <a:gd name="connsiteX39" fmla="*/ 4275102 w 6053670"/>
              <a:gd name="connsiteY39" fmla="*/ 205277 h 5581866"/>
              <a:gd name="connsiteX40" fmla="*/ 4410098 w 6053670"/>
              <a:gd name="connsiteY40" fmla="*/ 197907 h 5581866"/>
              <a:gd name="connsiteX41" fmla="*/ 4545096 w 6053670"/>
              <a:gd name="connsiteY41" fmla="*/ 188498 h 5581866"/>
              <a:gd name="connsiteX42" fmla="*/ 4681909 w 6053670"/>
              <a:gd name="connsiteY42" fmla="*/ 177207 h 5581866"/>
              <a:gd name="connsiteX43" fmla="*/ 4816905 w 6053670"/>
              <a:gd name="connsiteY43" fmla="*/ 165916 h 5581866"/>
              <a:gd name="connsiteX44" fmla="*/ 4954323 w 6053670"/>
              <a:gd name="connsiteY44" fmla="*/ 152899 h 5581866"/>
              <a:gd name="connsiteX45" fmla="*/ 5092347 w 6053670"/>
              <a:gd name="connsiteY45" fmla="*/ 138629 h 5581866"/>
              <a:gd name="connsiteX46" fmla="*/ 5228555 w 6053670"/>
              <a:gd name="connsiteY46" fmla="*/ 123574 h 5581866"/>
              <a:gd name="connsiteX47" fmla="*/ 5366578 w 6053670"/>
              <a:gd name="connsiteY47" fmla="*/ 106010 h 5581866"/>
              <a:gd name="connsiteX48" fmla="*/ 5503997 w 6053670"/>
              <a:gd name="connsiteY48" fmla="*/ 87192 h 5581866"/>
              <a:gd name="connsiteX49" fmla="*/ 5642020 w 6053670"/>
              <a:gd name="connsiteY49" fmla="*/ 68530 h 5581866"/>
              <a:gd name="connsiteX50" fmla="*/ 5779438 w 6053670"/>
              <a:gd name="connsiteY50" fmla="*/ 46733 h 5581866"/>
              <a:gd name="connsiteX51" fmla="*/ 5916251 w 6053670"/>
              <a:gd name="connsiteY51" fmla="*/ 24464 h 5581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5581866">
                <a:moveTo>
                  <a:pt x="6053670" y="1098"/>
                </a:moveTo>
                <a:lnTo>
                  <a:pt x="6053670" y="514028"/>
                </a:lnTo>
                <a:lnTo>
                  <a:pt x="6053670" y="1254558"/>
                </a:lnTo>
                <a:lnTo>
                  <a:pt x="6053670" y="5581866"/>
                </a:lnTo>
                <a:lnTo>
                  <a:pt x="0" y="5581866"/>
                </a:lnTo>
                <a:lnTo>
                  <a:pt x="0" y="1249853"/>
                </a:lnTo>
                <a:lnTo>
                  <a:pt x="0" y="514028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B5C860C9-D4F9-4350-80DA-0D1CD36C77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6F843B-2517-99A3-5B4A-3224BEF2B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5132438" cy="1622322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Model view</a:t>
            </a:r>
            <a:endParaRPr lang="en-GB">
              <a:solidFill>
                <a:srgbClr val="EBEBEB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AAF7E53-C1DE-5A69-8776-3A2973945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836" y="1107940"/>
            <a:ext cx="4828707" cy="4659701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538A90C8-AE0E-4EBA-9AF8-EEDB20602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BA9F4D3-35EB-0AB2-D2C6-B484F977F7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98" y="2418735"/>
            <a:ext cx="5132439" cy="3811742"/>
          </a:xfrm>
        </p:spPr>
        <p:txBody>
          <a:bodyPr anchor="ctr">
            <a:normAutofit/>
          </a:bodyPr>
          <a:lstStyle/>
          <a:p>
            <a:r>
              <a:rPr lang="en-GB" dirty="0"/>
              <a:t>The model view provides birds eye view of attention across all the model’s layers and heads for a particular input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Users can also click on any head to enlarge tokens, and access attention head view.</a:t>
            </a:r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3043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70C2B8F-6B1B-46D5-86E6-40F36C695F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DB521824-592C-476A-AB0A-CA0C6D1F34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469835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2749EFA-8EE4-4EB8-9424-8E593B9320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50898" y="638067"/>
            <a:ext cx="6053670" cy="5581866"/>
          </a:xfrm>
          <a:custGeom>
            <a:avLst/>
            <a:gdLst>
              <a:gd name="connsiteX0" fmla="*/ 6053670 w 6053670"/>
              <a:gd name="connsiteY0" fmla="*/ 1098 h 5581866"/>
              <a:gd name="connsiteX1" fmla="*/ 6053670 w 6053670"/>
              <a:gd name="connsiteY1" fmla="*/ 514028 h 5581866"/>
              <a:gd name="connsiteX2" fmla="*/ 6053670 w 6053670"/>
              <a:gd name="connsiteY2" fmla="*/ 1254558 h 5581866"/>
              <a:gd name="connsiteX3" fmla="*/ 6053670 w 6053670"/>
              <a:gd name="connsiteY3" fmla="*/ 5581866 h 5581866"/>
              <a:gd name="connsiteX4" fmla="*/ 0 w 6053670"/>
              <a:gd name="connsiteY4" fmla="*/ 5581866 h 5581866"/>
              <a:gd name="connsiteX5" fmla="*/ 0 w 6053670"/>
              <a:gd name="connsiteY5" fmla="*/ 1249853 h 5581866"/>
              <a:gd name="connsiteX6" fmla="*/ 0 w 6053670"/>
              <a:gd name="connsiteY6" fmla="*/ 514028 h 5581866"/>
              <a:gd name="connsiteX7" fmla="*/ 0 w 6053670"/>
              <a:gd name="connsiteY7" fmla="*/ 0 h 5581866"/>
              <a:gd name="connsiteX8" fmla="*/ 35717 w 6053670"/>
              <a:gd name="connsiteY8" fmla="*/ 5488 h 5581866"/>
              <a:gd name="connsiteX9" fmla="*/ 140445 w 6053670"/>
              <a:gd name="connsiteY9" fmla="*/ 21641 h 5581866"/>
              <a:gd name="connsiteX10" fmla="*/ 216722 w 6053670"/>
              <a:gd name="connsiteY10" fmla="*/ 32932 h 5581866"/>
              <a:gd name="connsiteX11" fmla="*/ 307527 w 6053670"/>
              <a:gd name="connsiteY11" fmla="*/ 44850 h 5581866"/>
              <a:gd name="connsiteX12" fmla="*/ 415282 w 6053670"/>
              <a:gd name="connsiteY12" fmla="*/ 59121 h 5581866"/>
              <a:gd name="connsiteX13" fmla="*/ 534539 w 6053670"/>
              <a:gd name="connsiteY13" fmla="*/ 74175 h 5581866"/>
              <a:gd name="connsiteX14" fmla="*/ 668931 w 6053670"/>
              <a:gd name="connsiteY14" fmla="*/ 90014 h 5581866"/>
              <a:gd name="connsiteX15" fmla="*/ 815430 w 6053670"/>
              <a:gd name="connsiteY15" fmla="*/ 106794 h 5581866"/>
              <a:gd name="connsiteX16" fmla="*/ 974641 w 6053670"/>
              <a:gd name="connsiteY16" fmla="*/ 123574 h 5581866"/>
              <a:gd name="connsiteX17" fmla="*/ 1144144 w 6053670"/>
              <a:gd name="connsiteY17" fmla="*/ 140667 h 5581866"/>
              <a:gd name="connsiteX18" fmla="*/ 1326965 w 6053670"/>
              <a:gd name="connsiteY18" fmla="*/ 156506 h 5581866"/>
              <a:gd name="connsiteX19" fmla="*/ 1518261 w 6053670"/>
              <a:gd name="connsiteY19" fmla="*/ 171717 h 5581866"/>
              <a:gd name="connsiteX20" fmla="*/ 1720453 w 6053670"/>
              <a:gd name="connsiteY20" fmla="*/ 185518 h 5581866"/>
              <a:gd name="connsiteX21" fmla="*/ 1931121 w 6053670"/>
              <a:gd name="connsiteY21" fmla="*/ 198690 h 5581866"/>
              <a:gd name="connsiteX22" fmla="*/ 2150869 w 6053670"/>
              <a:gd name="connsiteY22" fmla="*/ 211079 h 5581866"/>
              <a:gd name="connsiteX23" fmla="*/ 2263467 w 6053670"/>
              <a:gd name="connsiteY23" fmla="*/ 215470 h 5581866"/>
              <a:gd name="connsiteX24" fmla="*/ 2378487 w 6053670"/>
              <a:gd name="connsiteY24" fmla="*/ 220332 h 5581866"/>
              <a:gd name="connsiteX25" fmla="*/ 2495323 w 6053670"/>
              <a:gd name="connsiteY25" fmla="*/ 224879 h 5581866"/>
              <a:gd name="connsiteX26" fmla="*/ 2612764 w 6053670"/>
              <a:gd name="connsiteY26" fmla="*/ 227859 h 5581866"/>
              <a:gd name="connsiteX27" fmla="*/ 2732627 w 6053670"/>
              <a:gd name="connsiteY27" fmla="*/ 230525 h 5581866"/>
              <a:gd name="connsiteX28" fmla="*/ 2853700 w 6053670"/>
              <a:gd name="connsiteY28" fmla="*/ 233348 h 5581866"/>
              <a:gd name="connsiteX29" fmla="*/ 2977195 w 6053670"/>
              <a:gd name="connsiteY29" fmla="*/ 235229 h 5581866"/>
              <a:gd name="connsiteX30" fmla="*/ 3101900 w 6053670"/>
              <a:gd name="connsiteY30" fmla="*/ 235229 h 5581866"/>
              <a:gd name="connsiteX31" fmla="*/ 3227817 w 6053670"/>
              <a:gd name="connsiteY31" fmla="*/ 236170 h 5581866"/>
              <a:gd name="connsiteX32" fmla="*/ 3354944 w 6053670"/>
              <a:gd name="connsiteY32" fmla="*/ 235229 h 5581866"/>
              <a:gd name="connsiteX33" fmla="*/ 3483887 w 6053670"/>
              <a:gd name="connsiteY33" fmla="*/ 233348 h 5581866"/>
              <a:gd name="connsiteX34" fmla="*/ 3612830 w 6053670"/>
              <a:gd name="connsiteY34" fmla="*/ 231623 h 5581866"/>
              <a:gd name="connsiteX35" fmla="*/ 3743589 w 6053670"/>
              <a:gd name="connsiteY35" fmla="*/ 227859 h 5581866"/>
              <a:gd name="connsiteX36" fmla="*/ 3875559 w 6053670"/>
              <a:gd name="connsiteY36" fmla="*/ 223938 h 5581866"/>
              <a:gd name="connsiteX37" fmla="*/ 4007529 w 6053670"/>
              <a:gd name="connsiteY37" fmla="*/ 219391 h 5581866"/>
              <a:gd name="connsiteX38" fmla="*/ 4140710 w 6053670"/>
              <a:gd name="connsiteY38" fmla="*/ 212961 h 5581866"/>
              <a:gd name="connsiteX39" fmla="*/ 4275102 w 6053670"/>
              <a:gd name="connsiteY39" fmla="*/ 205277 h 5581866"/>
              <a:gd name="connsiteX40" fmla="*/ 4410098 w 6053670"/>
              <a:gd name="connsiteY40" fmla="*/ 197907 h 5581866"/>
              <a:gd name="connsiteX41" fmla="*/ 4545096 w 6053670"/>
              <a:gd name="connsiteY41" fmla="*/ 188498 h 5581866"/>
              <a:gd name="connsiteX42" fmla="*/ 4681909 w 6053670"/>
              <a:gd name="connsiteY42" fmla="*/ 177207 h 5581866"/>
              <a:gd name="connsiteX43" fmla="*/ 4816905 w 6053670"/>
              <a:gd name="connsiteY43" fmla="*/ 165916 h 5581866"/>
              <a:gd name="connsiteX44" fmla="*/ 4954323 w 6053670"/>
              <a:gd name="connsiteY44" fmla="*/ 152899 h 5581866"/>
              <a:gd name="connsiteX45" fmla="*/ 5092347 w 6053670"/>
              <a:gd name="connsiteY45" fmla="*/ 138629 h 5581866"/>
              <a:gd name="connsiteX46" fmla="*/ 5228555 w 6053670"/>
              <a:gd name="connsiteY46" fmla="*/ 123574 h 5581866"/>
              <a:gd name="connsiteX47" fmla="*/ 5366578 w 6053670"/>
              <a:gd name="connsiteY47" fmla="*/ 106010 h 5581866"/>
              <a:gd name="connsiteX48" fmla="*/ 5503997 w 6053670"/>
              <a:gd name="connsiteY48" fmla="*/ 87192 h 5581866"/>
              <a:gd name="connsiteX49" fmla="*/ 5642020 w 6053670"/>
              <a:gd name="connsiteY49" fmla="*/ 68530 h 5581866"/>
              <a:gd name="connsiteX50" fmla="*/ 5779438 w 6053670"/>
              <a:gd name="connsiteY50" fmla="*/ 46733 h 5581866"/>
              <a:gd name="connsiteX51" fmla="*/ 5916251 w 6053670"/>
              <a:gd name="connsiteY51" fmla="*/ 24464 h 5581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5581866">
                <a:moveTo>
                  <a:pt x="6053670" y="1098"/>
                </a:moveTo>
                <a:lnTo>
                  <a:pt x="6053670" y="514028"/>
                </a:lnTo>
                <a:lnTo>
                  <a:pt x="6053670" y="1254558"/>
                </a:lnTo>
                <a:lnTo>
                  <a:pt x="6053670" y="5581866"/>
                </a:lnTo>
                <a:lnTo>
                  <a:pt x="0" y="5581866"/>
                </a:lnTo>
                <a:lnTo>
                  <a:pt x="0" y="1249853"/>
                </a:lnTo>
                <a:lnTo>
                  <a:pt x="0" y="514028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B5C860C9-D4F9-4350-80DA-0D1CD36C77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1AD28B-21C9-B989-D3D7-D64ACD041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5132438" cy="1622322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EBEBEB"/>
                </a:solidFill>
              </a:rPr>
              <a:t>Neuron view</a:t>
            </a:r>
            <a:endParaRPr lang="en-GB" dirty="0">
              <a:solidFill>
                <a:srgbClr val="EBEBEB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949CFD-6233-59C4-84DC-CAFE55838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5283" y="1160733"/>
            <a:ext cx="6188646" cy="5312835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538A90C8-AE0E-4EBA-9AF8-EEDB20602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3021474-5B8D-FA08-28D2-2976058242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098" y="2418735"/>
            <a:ext cx="5132439" cy="3811742"/>
          </a:xfrm>
        </p:spPr>
        <p:txBody>
          <a:bodyPr anchor="ctr">
            <a:normAutofit/>
          </a:bodyPr>
          <a:lstStyle/>
          <a:p>
            <a:r>
              <a:rPr lang="en-GB" dirty="0"/>
              <a:t>visualizes the individual neurons in the query and key vectors and shows how they interact to produce attention</a:t>
            </a:r>
          </a:p>
          <a:p>
            <a:endParaRPr lang="en-GB" dirty="0"/>
          </a:p>
          <a:p>
            <a:endParaRPr lang="en-US" dirty="0">
              <a:solidFill>
                <a:srgbClr val="FFFFFF"/>
              </a:solidFill>
            </a:endParaRPr>
          </a:p>
          <a:p>
            <a:r>
              <a:rPr lang="en-US" dirty="0">
                <a:solidFill>
                  <a:srgbClr val="FFFFFF"/>
                </a:solidFill>
              </a:rPr>
              <a:t>The attention decays with increasing distance from the source token.</a:t>
            </a:r>
          </a:p>
          <a:p>
            <a:endParaRPr lang="en-US" dirty="0">
              <a:solidFill>
                <a:srgbClr val="FFFFFF"/>
              </a:solidFill>
            </a:endParaRPr>
          </a:p>
          <a:p>
            <a:pPr marL="0" indent="0">
              <a:buNone/>
            </a:pPr>
            <a:endParaRPr lang="en-GB" dirty="0"/>
          </a:p>
          <a:p>
            <a:endParaRPr lang="en-GB" dirty="0">
              <a:solidFill>
                <a:srgbClr val="FFFFFF"/>
              </a:solidFill>
            </a:endParaRPr>
          </a:p>
          <a:p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74590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F70C2B8F-6B1B-46D5-86E6-40F36C695F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31" name="Freeform 5">
            <a:extLst>
              <a:ext uri="{FF2B5EF4-FFF2-40B4-BE49-F238E27FC236}">
                <a16:creationId xmlns:a16="http://schemas.microsoft.com/office/drawing/2014/main" id="{DB521824-592C-476A-AB0A-CA0C6D1F34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4698352" y="1826078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A2749EFA-8EE4-4EB8-9424-8E593B9320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50898" y="638067"/>
            <a:ext cx="6053670" cy="5581866"/>
          </a:xfrm>
          <a:custGeom>
            <a:avLst/>
            <a:gdLst>
              <a:gd name="connsiteX0" fmla="*/ 6053670 w 6053670"/>
              <a:gd name="connsiteY0" fmla="*/ 1098 h 5581866"/>
              <a:gd name="connsiteX1" fmla="*/ 6053670 w 6053670"/>
              <a:gd name="connsiteY1" fmla="*/ 514028 h 5581866"/>
              <a:gd name="connsiteX2" fmla="*/ 6053670 w 6053670"/>
              <a:gd name="connsiteY2" fmla="*/ 1254558 h 5581866"/>
              <a:gd name="connsiteX3" fmla="*/ 6053670 w 6053670"/>
              <a:gd name="connsiteY3" fmla="*/ 5581866 h 5581866"/>
              <a:gd name="connsiteX4" fmla="*/ 0 w 6053670"/>
              <a:gd name="connsiteY4" fmla="*/ 5581866 h 5581866"/>
              <a:gd name="connsiteX5" fmla="*/ 0 w 6053670"/>
              <a:gd name="connsiteY5" fmla="*/ 1249853 h 5581866"/>
              <a:gd name="connsiteX6" fmla="*/ 0 w 6053670"/>
              <a:gd name="connsiteY6" fmla="*/ 514028 h 5581866"/>
              <a:gd name="connsiteX7" fmla="*/ 0 w 6053670"/>
              <a:gd name="connsiteY7" fmla="*/ 0 h 5581866"/>
              <a:gd name="connsiteX8" fmla="*/ 35717 w 6053670"/>
              <a:gd name="connsiteY8" fmla="*/ 5488 h 5581866"/>
              <a:gd name="connsiteX9" fmla="*/ 140445 w 6053670"/>
              <a:gd name="connsiteY9" fmla="*/ 21641 h 5581866"/>
              <a:gd name="connsiteX10" fmla="*/ 216722 w 6053670"/>
              <a:gd name="connsiteY10" fmla="*/ 32932 h 5581866"/>
              <a:gd name="connsiteX11" fmla="*/ 307527 w 6053670"/>
              <a:gd name="connsiteY11" fmla="*/ 44850 h 5581866"/>
              <a:gd name="connsiteX12" fmla="*/ 415282 w 6053670"/>
              <a:gd name="connsiteY12" fmla="*/ 59121 h 5581866"/>
              <a:gd name="connsiteX13" fmla="*/ 534539 w 6053670"/>
              <a:gd name="connsiteY13" fmla="*/ 74175 h 5581866"/>
              <a:gd name="connsiteX14" fmla="*/ 668931 w 6053670"/>
              <a:gd name="connsiteY14" fmla="*/ 90014 h 5581866"/>
              <a:gd name="connsiteX15" fmla="*/ 815430 w 6053670"/>
              <a:gd name="connsiteY15" fmla="*/ 106794 h 5581866"/>
              <a:gd name="connsiteX16" fmla="*/ 974641 w 6053670"/>
              <a:gd name="connsiteY16" fmla="*/ 123574 h 5581866"/>
              <a:gd name="connsiteX17" fmla="*/ 1144144 w 6053670"/>
              <a:gd name="connsiteY17" fmla="*/ 140667 h 5581866"/>
              <a:gd name="connsiteX18" fmla="*/ 1326965 w 6053670"/>
              <a:gd name="connsiteY18" fmla="*/ 156506 h 5581866"/>
              <a:gd name="connsiteX19" fmla="*/ 1518261 w 6053670"/>
              <a:gd name="connsiteY19" fmla="*/ 171717 h 5581866"/>
              <a:gd name="connsiteX20" fmla="*/ 1720453 w 6053670"/>
              <a:gd name="connsiteY20" fmla="*/ 185518 h 5581866"/>
              <a:gd name="connsiteX21" fmla="*/ 1931121 w 6053670"/>
              <a:gd name="connsiteY21" fmla="*/ 198690 h 5581866"/>
              <a:gd name="connsiteX22" fmla="*/ 2150869 w 6053670"/>
              <a:gd name="connsiteY22" fmla="*/ 211079 h 5581866"/>
              <a:gd name="connsiteX23" fmla="*/ 2263467 w 6053670"/>
              <a:gd name="connsiteY23" fmla="*/ 215470 h 5581866"/>
              <a:gd name="connsiteX24" fmla="*/ 2378487 w 6053670"/>
              <a:gd name="connsiteY24" fmla="*/ 220332 h 5581866"/>
              <a:gd name="connsiteX25" fmla="*/ 2495323 w 6053670"/>
              <a:gd name="connsiteY25" fmla="*/ 224879 h 5581866"/>
              <a:gd name="connsiteX26" fmla="*/ 2612764 w 6053670"/>
              <a:gd name="connsiteY26" fmla="*/ 227859 h 5581866"/>
              <a:gd name="connsiteX27" fmla="*/ 2732627 w 6053670"/>
              <a:gd name="connsiteY27" fmla="*/ 230525 h 5581866"/>
              <a:gd name="connsiteX28" fmla="*/ 2853700 w 6053670"/>
              <a:gd name="connsiteY28" fmla="*/ 233348 h 5581866"/>
              <a:gd name="connsiteX29" fmla="*/ 2977195 w 6053670"/>
              <a:gd name="connsiteY29" fmla="*/ 235229 h 5581866"/>
              <a:gd name="connsiteX30" fmla="*/ 3101900 w 6053670"/>
              <a:gd name="connsiteY30" fmla="*/ 235229 h 5581866"/>
              <a:gd name="connsiteX31" fmla="*/ 3227817 w 6053670"/>
              <a:gd name="connsiteY31" fmla="*/ 236170 h 5581866"/>
              <a:gd name="connsiteX32" fmla="*/ 3354944 w 6053670"/>
              <a:gd name="connsiteY32" fmla="*/ 235229 h 5581866"/>
              <a:gd name="connsiteX33" fmla="*/ 3483887 w 6053670"/>
              <a:gd name="connsiteY33" fmla="*/ 233348 h 5581866"/>
              <a:gd name="connsiteX34" fmla="*/ 3612830 w 6053670"/>
              <a:gd name="connsiteY34" fmla="*/ 231623 h 5581866"/>
              <a:gd name="connsiteX35" fmla="*/ 3743589 w 6053670"/>
              <a:gd name="connsiteY35" fmla="*/ 227859 h 5581866"/>
              <a:gd name="connsiteX36" fmla="*/ 3875559 w 6053670"/>
              <a:gd name="connsiteY36" fmla="*/ 223938 h 5581866"/>
              <a:gd name="connsiteX37" fmla="*/ 4007529 w 6053670"/>
              <a:gd name="connsiteY37" fmla="*/ 219391 h 5581866"/>
              <a:gd name="connsiteX38" fmla="*/ 4140710 w 6053670"/>
              <a:gd name="connsiteY38" fmla="*/ 212961 h 5581866"/>
              <a:gd name="connsiteX39" fmla="*/ 4275102 w 6053670"/>
              <a:gd name="connsiteY39" fmla="*/ 205277 h 5581866"/>
              <a:gd name="connsiteX40" fmla="*/ 4410098 w 6053670"/>
              <a:gd name="connsiteY40" fmla="*/ 197907 h 5581866"/>
              <a:gd name="connsiteX41" fmla="*/ 4545096 w 6053670"/>
              <a:gd name="connsiteY41" fmla="*/ 188498 h 5581866"/>
              <a:gd name="connsiteX42" fmla="*/ 4681909 w 6053670"/>
              <a:gd name="connsiteY42" fmla="*/ 177207 h 5581866"/>
              <a:gd name="connsiteX43" fmla="*/ 4816905 w 6053670"/>
              <a:gd name="connsiteY43" fmla="*/ 165916 h 5581866"/>
              <a:gd name="connsiteX44" fmla="*/ 4954323 w 6053670"/>
              <a:gd name="connsiteY44" fmla="*/ 152899 h 5581866"/>
              <a:gd name="connsiteX45" fmla="*/ 5092347 w 6053670"/>
              <a:gd name="connsiteY45" fmla="*/ 138629 h 5581866"/>
              <a:gd name="connsiteX46" fmla="*/ 5228555 w 6053670"/>
              <a:gd name="connsiteY46" fmla="*/ 123574 h 5581866"/>
              <a:gd name="connsiteX47" fmla="*/ 5366578 w 6053670"/>
              <a:gd name="connsiteY47" fmla="*/ 106010 h 5581866"/>
              <a:gd name="connsiteX48" fmla="*/ 5503997 w 6053670"/>
              <a:gd name="connsiteY48" fmla="*/ 87192 h 5581866"/>
              <a:gd name="connsiteX49" fmla="*/ 5642020 w 6053670"/>
              <a:gd name="connsiteY49" fmla="*/ 68530 h 5581866"/>
              <a:gd name="connsiteX50" fmla="*/ 5779438 w 6053670"/>
              <a:gd name="connsiteY50" fmla="*/ 46733 h 5581866"/>
              <a:gd name="connsiteX51" fmla="*/ 5916251 w 6053670"/>
              <a:gd name="connsiteY51" fmla="*/ 24464 h 5581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5581866">
                <a:moveTo>
                  <a:pt x="6053670" y="1098"/>
                </a:moveTo>
                <a:lnTo>
                  <a:pt x="6053670" y="514028"/>
                </a:lnTo>
                <a:lnTo>
                  <a:pt x="6053670" y="1254558"/>
                </a:lnTo>
                <a:lnTo>
                  <a:pt x="6053670" y="5581866"/>
                </a:lnTo>
                <a:lnTo>
                  <a:pt x="0" y="5581866"/>
                </a:lnTo>
                <a:lnTo>
                  <a:pt x="0" y="1249853"/>
                </a:lnTo>
                <a:lnTo>
                  <a:pt x="0" y="514028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5" name="Freeform 5">
            <a:extLst>
              <a:ext uri="{FF2B5EF4-FFF2-40B4-BE49-F238E27FC236}">
                <a16:creationId xmlns:a16="http://schemas.microsoft.com/office/drawing/2014/main" id="{B5C860C9-D4F9-4350-80DA-0D1CD36C77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587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023476-7F63-86F2-9702-0089278FF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9098" y="629265"/>
            <a:ext cx="5132438" cy="1622322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EBEBEB"/>
                </a:solidFill>
              </a:rPr>
              <a:t>Neuron view</a:t>
            </a:r>
            <a:endParaRPr lang="en-GB" dirty="0">
              <a:solidFill>
                <a:srgbClr val="EBEBEB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0FC7B41-3543-803B-91F4-3BF1A76857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2709" y="1028785"/>
            <a:ext cx="5889291" cy="5541265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538A90C8-AE0E-4EBA-9AF8-EEDB206020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70FA8B1-E5E0-0EAD-41DB-C992204CC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7223" y="1523128"/>
            <a:ext cx="5132439" cy="3811742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endParaRPr lang="en-US" sz="1700" dirty="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rgbClr val="FFFFFF"/>
                </a:solidFill>
              </a:rPr>
              <a:t>a small number of neuron positions appear to be mostly responsible for the distance decaying attention pattern</a:t>
            </a:r>
          </a:p>
          <a:p>
            <a:pPr>
              <a:lnSpc>
                <a:spcPct val="90000"/>
              </a:lnSpc>
            </a:pPr>
            <a:endParaRPr lang="en-US" sz="1700" dirty="0">
              <a:solidFill>
                <a:srgbClr val="FFFFFF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700" dirty="0">
                <a:solidFill>
                  <a:srgbClr val="FFFFFF"/>
                </a:solidFill>
              </a:rPr>
              <a:t>at this neuron positions, the element-wise product q x k decreases as the distance from source token decreases (either becoming darker orange or lighter blue)</a:t>
            </a:r>
          </a:p>
        </p:txBody>
      </p:sp>
    </p:spTree>
    <p:extLst>
      <p:ext uri="{BB962C8B-B14F-4D97-AF65-F5344CB8AC3E}">
        <p14:creationId xmlns:p14="http://schemas.microsoft.com/office/powerpoint/2010/main" val="8250230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468F5-44A8-2AB7-B2ED-56DAD9795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Supervisors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84C74-B930-D4F0-3554-1CE8F2B9C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Optimize the code to be more understandable</a:t>
            </a:r>
          </a:p>
          <a:p>
            <a:r>
              <a:rPr lang="en-GB" dirty="0"/>
              <a:t>What kind of visualization is required in the industry e.g. health field, finance </a:t>
            </a:r>
            <a:r>
              <a:rPr lang="en-GB"/>
              <a:t>field etc.</a:t>
            </a:r>
            <a:endParaRPr lang="en-GB" dirty="0"/>
          </a:p>
          <a:p>
            <a:r>
              <a:rPr lang="en-GB" dirty="0"/>
              <a:t>Focus on integrating front end for visualization of components</a:t>
            </a:r>
          </a:p>
          <a:p>
            <a:r>
              <a:rPr lang="en-GB" dirty="0"/>
              <a:t>Start working towards an early-stage prototype</a:t>
            </a:r>
          </a:p>
          <a:p>
            <a:r>
              <a:rPr lang="en-GB" dirty="0"/>
              <a:t>Look at the very recent papers to understand the recent landscape XAI with visual analytics for transformer</a:t>
            </a:r>
          </a:p>
          <a:p>
            <a:r>
              <a:rPr lang="en-GB" dirty="0"/>
              <a:t>Get a list of the required training and learning needed to complete this project</a:t>
            </a:r>
          </a:p>
          <a:p>
            <a:r>
              <a:rPr lang="en-GB" dirty="0"/>
              <a:t>Start working towards publishing a literature review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336582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1238</TotalTime>
  <Words>893</Words>
  <Application>Microsoft Office PowerPoint</Application>
  <PresentationFormat>Widescreen</PresentationFormat>
  <Paragraphs>150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Century Gothic</vt:lpstr>
      <vt:lpstr>Wingdings 3</vt:lpstr>
      <vt:lpstr>Ion Boardroom</vt:lpstr>
      <vt:lpstr>PHD Progression 10</vt:lpstr>
      <vt:lpstr>LLM architecture</vt:lpstr>
      <vt:lpstr>Transformer Block in GPT</vt:lpstr>
      <vt:lpstr>Layer Normalization</vt:lpstr>
      <vt:lpstr>Layer Normalization</vt:lpstr>
      <vt:lpstr>feed forward (GELU Activation function )</vt:lpstr>
      <vt:lpstr>feed forward (GELU Activation function )</vt:lpstr>
      <vt:lpstr>Advantages of GELU over RELU for LLMs</vt:lpstr>
      <vt:lpstr>Shortcut connections</vt:lpstr>
      <vt:lpstr>LLM architecture</vt:lpstr>
      <vt:lpstr>Linear output head</vt:lpstr>
      <vt:lpstr>Linear output head</vt:lpstr>
      <vt:lpstr> A Multiscale Visualization of Attention in Transformers -Jesse Vig</vt:lpstr>
      <vt:lpstr>Introduction</vt:lpstr>
      <vt:lpstr>BERTVIZ Views</vt:lpstr>
      <vt:lpstr>Attention head view</vt:lpstr>
      <vt:lpstr>Attention head view</vt:lpstr>
      <vt:lpstr>Attention head view</vt:lpstr>
      <vt:lpstr>Attention head view</vt:lpstr>
      <vt:lpstr>Use case for attention-head view</vt:lpstr>
      <vt:lpstr>Model view</vt:lpstr>
      <vt:lpstr>Neuron view</vt:lpstr>
      <vt:lpstr>Neuron view</vt:lpstr>
      <vt:lpstr>Supervisors feedback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Olanrewaju, Emmanuel (Student)</dc:creator>
  <cp:lastModifiedBy>Olanrewaju, Emmanuel (Student)</cp:lastModifiedBy>
  <cp:revision>1</cp:revision>
  <dcterms:created xsi:type="dcterms:W3CDTF">2026-01-29T22:00:17Z</dcterms:created>
  <dcterms:modified xsi:type="dcterms:W3CDTF">2026-03-25T14:11:41Z</dcterms:modified>
</cp:coreProperties>
</file>