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8" r:id="rId4"/>
    <p:sldId id="269" r:id="rId5"/>
    <p:sldId id="270" r:id="rId6"/>
    <p:sldId id="258" r:id="rId7"/>
    <p:sldId id="260" r:id="rId8"/>
    <p:sldId id="261" r:id="rId9"/>
    <p:sldId id="262" r:id="rId10"/>
    <p:sldId id="263" r:id="rId11"/>
    <p:sldId id="264" r:id="rId12"/>
    <p:sldId id="266" r:id="rId13"/>
    <p:sldId id="265" r:id="rId14"/>
    <p:sldId id="267" r:id="rId15"/>
    <p:sldId id="25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3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80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94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0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9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00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61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87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35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26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04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85448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A8C8-5BDC-91D3-93B4-2608431B2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PHD Progression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9EC84-04A2-7814-ED19-6D76B9D6D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Explainable AI with Visual analytics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005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26727-E02B-C0B6-9C90-8F9A6500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1B1CBA-1918-412B-1AF1-545B64162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C2E154-1CD6-5DF6-613F-04FBCB3E9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RNN?</a:t>
            </a:r>
          </a:p>
          <a:p>
            <a:r>
              <a:rPr lang="en-US" dirty="0"/>
              <a:t>Data points independent</a:t>
            </a:r>
          </a:p>
          <a:p>
            <a:r>
              <a:rPr lang="en-US" dirty="0"/>
              <a:t>Input layer size is fixed</a:t>
            </a:r>
          </a:p>
          <a:p>
            <a:r>
              <a:rPr lang="en-GB" dirty="0"/>
              <a:t>Types of RNN</a:t>
            </a:r>
          </a:p>
          <a:p>
            <a:r>
              <a:rPr lang="en-GB" dirty="0"/>
              <a:t>One to one, one to many, many to one, many to many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00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3E56-66CE-1649-FBE3-7D4A5D5BF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5BBBAB-A696-2A30-7F2E-19842F29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EC6163-23EE-7794-D196-B3ACC2FBC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 that Occur in RNN?</a:t>
            </a:r>
          </a:p>
          <a:p>
            <a:r>
              <a:rPr lang="en-US" dirty="0"/>
              <a:t>Vanishing and exploding gradient</a:t>
            </a:r>
          </a:p>
          <a:p>
            <a:endParaRPr lang="en-US" dirty="0"/>
          </a:p>
          <a:p>
            <a:r>
              <a:rPr lang="en-US" dirty="0"/>
              <a:t>Solution for vanishing and exploding gradient</a:t>
            </a:r>
          </a:p>
          <a:p>
            <a:r>
              <a:rPr lang="en-US" dirty="0"/>
              <a:t>Use </a:t>
            </a:r>
            <a:r>
              <a:rPr lang="en-US" dirty="0" err="1"/>
              <a:t>Relu</a:t>
            </a:r>
            <a:r>
              <a:rPr lang="en-US" dirty="0"/>
              <a:t> activation function, </a:t>
            </a:r>
            <a:r>
              <a:rPr lang="en-US" dirty="0" err="1"/>
              <a:t>Rmsprop</a:t>
            </a:r>
            <a:r>
              <a:rPr lang="en-US" dirty="0"/>
              <a:t> optimizer</a:t>
            </a:r>
          </a:p>
          <a:p>
            <a:r>
              <a:rPr lang="en-US" dirty="0"/>
              <a:t>Use LSTM’s</a:t>
            </a:r>
          </a:p>
        </p:txBody>
      </p:sp>
    </p:spTree>
    <p:extLst>
      <p:ext uri="{BB962C8B-B14F-4D97-AF65-F5344CB8AC3E}">
        <p14:creationId xmlns:p14="http://schemas.microsoft.com/office/powerpoint/2010/main" val="319945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46D6F-4995-8091-250F-06B5915A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085605-19F5-8A5D-A6E6-43B34E42E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Pretrained models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A7BEF5-EAEF-2496-680F-9499D9CCA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VGG16</a:t>
            </a:r>
          </a:p>
          <a:p>
            <a:r>
              <a:rPr lang="en-US" dirty="0" err="1"/>
              <a:t>Mobilenet</a:t>
            </a:r>
            <a:endParaRPr lang="en-US" dirty="0"/>
          </a:p>
          <a:p>
            <a:r>
              <a:rPr lang="en-US" dirty="0"/>
              <a:t>Transfer learning</a:t>
            </a:r>
          </a:p>
        </p:txBody>
      </p:sp>
    </p:spTree>
    <p:extLst>
      <p:ext uri="{BB962C8B-B14F-4D97-AF65-F5344CB8AC3E}">
        <p14:creationId xmlns:p14="http://schemas.microsoft.com/office/powerpoint/2010/main" val="26854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ECD1-7751-08A7-A205-DDC67FC9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9D484-38AC-3241-5800-23E0C355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342A16-9754-F1C7-B79D-439600861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Field of study that enables computer to understand interpret and generate human languages</a:t>
            </a:r>
          </a:p>
          <a:p>
            <a:r>
              <a:rPr lang="en-US" dirty="0"/>
              <a:t>NLP Basics</a:t>
            </a:r>
          </a:p>
          <a:p>
            <a:r>
              <a:rPr lang="en-US" dirty="0"/>
              <a:t>NER</a:t>
            </a:r>
          </a:p>
          <a:p>
            <a:r>
              <a:rPr lang="en-US" dirty="0"/>
              <a:t>Machine Translation</a:t>
            </a:r>
          </a:p>
          <a:p>
            <a:r>
              <a:rPr lang="en-US" dirty="0"/>
              <a:t>Sentiment analysis</a:t>
            </a:r>
          </a:p>
          <a:p>
            <a:r>
              <a:rPr lang="en-US" dirty="0"/>
              <a:t>Question answering systems</a:t>
            </a:r>
          </a:p>
        </p:txBody>
      </p:sp>
    </p:spTree>
    <p:extLst>
      <p:ext uri="{BB962C8B-B14F-4D97-AF65-F5344CB8AC3E}">
        <p14:creationId xmlns:p14="http://schemas.microsoft.com/office/powerpoint/2010/main" val="138785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F0CE1-6AFD-CEB1-34B4-3D5E8387D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338FA4-6724-8A4F-B0A8-43279D403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LLM4vis: Explainable Visualization Recommendation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077230-398F-647F-37CC-5AA1A2302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LLM4Vis consists of several key steps</a:t>
            </a:r>
          </a:p>
          <a:p>
            <a:r>
              <a:rPr lang="en-US" sz="2400" dirty="0"/>
              <a:t>feature description</a:t>
            </a:r>
          </a:p>
          <a:p>
            <a:r>
              <a:rPr lang="en-US" sz="2400" dirty="0"/>
              <a:t>demonstration example selection</a:t>
            </a:r>
          </a:p>
          <a:p>
            <a:r>
              <a:rPr lang="en-US" sz="2400" dirty="0"/>
              <a:t>explanation generation bootstrapping</a:t>
            </a:r>
          </a:p>
          <a:p>
            <a:r>
              <a:rPr lang="en-US" sz="2400" dirty="0"/>
              <a:t>prompt construction</a:t>
            </a:r>
          </a:p>
          <a:p>
            <a:r>
              <a:rPr lang="en-US" sz="2400" dirty="0"/>
              <a:t>inference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725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6D71-46F4-9063-4BEC-4E704FE9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FFFF6F-2DDD-AF3F-B5FB-3C69A9AE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LLM4vis: Explainable Visualization Recommendation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8052C8-D79B-437A-EE8E-3F668EB1E2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90" y="1814732"/>
            <a:ext cx="11465168" cy="479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20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5DFF7-11AF-DC02-2082-3D0212F4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558D66-F37A-6C71-CC57-3BAC01DF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description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79FBC2-116B-E714-A272-713238927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first use predefined rules to transform it into sets of data features that quantitatively represent its characteristics</a:t>
            </a:r>
          </a:p>
          <a:p>
            <a:r>
              <a:rPr lang="en-US" dirty="0"/>
              <a:t>We categorize the data features related to columns into </a:t>
            </a:r>
          </a:p>
          <a:p>
            <a:r>
              <a:rPr lang="en-US" dirty="0"/>
              <a:t>Types</a:t>
            </a:r>
          </a:p>
          <a:p>
            <a:r>
              <a:rPr lang="en-US" dirty="0"/>
              <a:t>Values, </a:t>
            </a:r>
          </a:p>
          <a:p>
            <a:r>
              <a:rPr lang="en-US" dirty="0"/>
              <a:t>Names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5082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85BF-E111-214B-AF84-12E20393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EAD082-374F-14C6-FC96-108E6B92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Demonstration Example Selection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EA6D83-18EC-BAA8-549E-64D853FDD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ChatGPT prompt could only accommodate a small number of demonstration examples</a:t>
            </a:r>
          </a:p>
          <a:p>
            <a:r>
              <a:rPr lang="en-US" dirty="0"/>
              <a:t>We use a clustering algorithm to select a representative subset of examples from the labeled set</a:t>
            </a:r>
          </a:p>
          <a:p>
            <a:r>
              <a:rPr lang="en-US" dirty="0"/>
              <a:t>subset of size M =C×R as the retrieval set.</a:t>
            </a:r>
          </a:p>
          <a:p>
            <a:r>
              <a:rPr lang="en-US" dirty="0"/>
              <a:t>clustering algorithm creates C clusters</a:t>
            </a:r>
          </a:p>
          <a:p>
            <a:r>
              <a:rPr lang="en-US" dirty="0"/>
              <a:t>we choose R representative examples from each cluster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4736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053A7-D327-D5B2-3033-0E6C9C33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F503E7-C035-5572-8BF6-82ECA3E9D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Generation Bootstrapping 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5B64E5-51F5-C2DE-97B1-F55C46C8F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43861"/>
          </a:xfrm>
        </p:spPr>
        <p:txBody>
          <a:bodyPr>
            <a:normAutofit/>
          </a:bodyPr>
          <a:lstStyle/>
          <a:p>
            <a:r>
              <a:rPr lang="en-US" dirty="0"/>
              <a:t>Each labeled data example Xi comes with only one ground truth label Yi</a:t>
            </a:r>
          </a:p>
          <a:p>
            <a:r>
              <a:rPr lang="en-US" dirty="0"/>
              <a:t>leverage the built-in knowledge of ChatGPT to recommend the appropriate visualization</a:t>
            </a:r>
          </a:p>
          <a:p>
            <a:r>
              <a:rPr lang="en-US" dirty="0"/>
              <a:t>instructing ChatGPT to generate a response in a JSON format</a:t>
            </a:r>
          </a:p>
          <a:p>
            <a:r>
              <a:rPr lang="en-GB" dirty="0"/>
              <a:t>{YLC,YSP,YBC,YBP} (LC: line chart, SP: scatterplot, BC: bar chart, BP: Box plot) </a:t>
            </a:r>
          </a:p>
          <a:p>
            <a:r>
              <a:rPr lang="en-GB" dirty="0"/>
              <a:t> values are recommendation scores {SLC,SSP,SBC,SBP}</a:t>
            </a:r>
          </a:p>
          <a:p>
            <a:r>
              <a:rPr lang="en-US" dirty="0"/>
              <a:t>We prompt ChatGPT to generate explanations {</a:t>
            </a:r>
            <a:r>
              <a:rPr lang="en-US" dirty="0" err="1"/>
              <a:t>ExLC,ExSP,ExBC,ExBP</a:t>
            </a:r>
            <a:r>
              <a:rPr lang="en-US" dirty="0"/>
              <a:t>}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23230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E96A6-4265-D1D4-D673-28FB68CB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8D393B-9CBC-9977-C3EF-252CB27B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Construction and Inference </a:t>
            </a:r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3F6939-F72C-BB5B-4610-C268F8B3BF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32" y="2026480"/>
            <a:ext cx="6316092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242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6CFC-5245-895A-EC2D-44F59293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B29F3F-D1DE-A305-30E8-8FA7079A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Construction and Inference 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09EF8E-4150-E7BF-8083-C4EDDB65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 compare with strong visualization type recommendation baselines from </a:t>
            </a:r>
            <a:r>
              <a:rPr lang="en-US" dirty="0" err="1"/>
              <a:t>VizML</a:t>
            </a:r>
            <a:endParaRPr lang="en-US" dirty="0"/>
          </a:p>
          <a:p>
            <a:r>
              <a:rPr lang="en-US" dirty="0"/>
              <a:t>We also compare our method to a simple prompting technique named LLM-SP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396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88698-8481-A446-0AF1-83B19D3A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E909DA-2DC3-8BB4-398D-3F324010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 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654035-F687-5FEE-526B-2B8063ACC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 1 shows that our few-shot LLM4Vis outperforms all baselines</a:t>
            </a:r>
          </a:p>
          <a:p>
            <a:r>
              <a:rPr lang="en-US" dirty="0"/>
              <a:t>indicates that LLMs can effectively recommend appropriate visualization types by learning from limited demonstration examples </a:t>
            </a:r>
          </a:p>
          <a:p>
            <a:r>
              <a:rPr lang="en-US" dirty="0"/>
              <a:t>Note that even zero-shot LLM4Vis can outperform these strong baselines.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87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05F61-D4A9-887D-4A6B-A6DFFB8B5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705DAB-4F78-97E3-79DD-A9EB7737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each component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CDF11E-8194-CB4B-C7FB-C216347C5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514204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2 presents the comparison results of variants of LLM4Vis, wherein one component is either removed or replaced.</a:t>
            </a:r>
            <a:endParaRPr lang="en-GB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2D9E83E-5F21-8188-9F5C-20A661F27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692" y="2046234"/>
            <a:ext cx="3990975" cy="352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216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4F79-3722-FC41-2055-40994A96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BF26D1-7773-C2C2-406C-DFDED6B4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prototype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DE0F6A-C488-574F-2EAD-83599F967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10905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56</TotalTime>
  <Words>400</Words>
  <Application>Microsoft Office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Wingdings 2</vt:lpstr>
      <vt:lpstr>Dividend</vt:lpstr>
      <vt:lpstr>PHD Progression</vt:lpstr>
      <vt:lpstr>NLP</vt:lpstr>
      <vt:lpstr>NLP</vt:lpstr>
      <vt:lpstr>Pretrained models</vt:lpstr>
      <vt:lpstr>NLP</vt:lpstr>
      <vt:lpstr>LLM4vis: Explainable Visualization Recommendation</vt:lpstr>
      <vt:lpstr>LLM4vis: Explainable Visualization Recommendation</vt:lpstr>
      <vt:lpstr>Feature description</vt:lpstr>
      <vt:lpstr>Demonstration Example Selection</vt:lpstr>
      <vt:lpstr>Explanation Generation Bootstrapping </vt:lpstr>
      <vt:lpstr>Prompt Construction and Inference </vt:lpstr>
      <vt:lpstr>Prompt Construction and Inference </vt:lpstr>
      <vt:lpstr>Results </vt:lpstr>
      <vt:lpstr>Effect of each component</vt:lpstr>
      <vt:lpstr>Building the prototype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Olanrewaju</dc:creator>
  <cp:lastModifiedBy>Emmanuel Olanrewaju</cp:lastModifiedBy>
  <cp:revision>1</cp:revision>
  <dcterms:created xsi:type="dcterms:W3CDTF">2026-03-03T00:51:00Z</dcterms:created>
  <dcterms:modified xsi:type="dcterms:W3CDTF">2026-03-03T01:47:58Z</dcterms:modified>
</cp:coreProperties>
</file>