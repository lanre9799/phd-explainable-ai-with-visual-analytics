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19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16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90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71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76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23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74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57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19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85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597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066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958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01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15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553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74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AE2946B-5316-424A-A6B8-698FC549E69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043B4FD-B23C-4EBB-817A-F80420B8D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26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0D442-DA2E-3401-911E-FC6F3E5188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PHD Progression 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0FB42-8044-9BBE-6D25-15989D4B88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Explainable AI with visual analytics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100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9E26-DDAB-CF85-C2CF-C2C69F32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5FBA-6176-7CEB-ADA9-8F5C32DF2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LLMforceDirectedviz</a:t>
            </a:r>
            <a:r>
              <a:rPr lang="en-GB" dirty="0"/>
              <a:t> integrates a pipeline of analytical and interactive techniques drawn from the Visual Analytics, Information Visualisation, and Machine Learning literatures.</a:t>
            </a:r>
          </a:p>
          <a:p>
            <a:endParaRPr lang="en-GB" dirty="0"/>
          </a:p>
          <a:p>
            <a:r>
              <a:rPr lang="en-GB" dirty="0"/>
              <a:t>Dimensionality Reduction, PCA, t-SNE, Hierarchical Ward clustering</a:t>
            </a:r>
          </a:p>
        </p:txBody>
      </p:sp>
    </p:spTree>
    <p:extLst>
      <p:ext uri="{BB962C8B-B14F-4D97-AF65-F5344CB8AC3E}">
        <p14:creationId xmlns:p14="http://schemas.microsoft.com/office/powerpoint/2010/main" val="2033586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88D2-8F93-8728-89CE-3AB66075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Principal Component Analysis (PCA)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7E484-4022-2B5E-8F57-5F1B5EDA0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Pre-processing before t-SNE: reduces 64D vectors to at most 10 principal components, stabilising t-SNE convergence and accelerating computation.</a:t>
            </a:r>
          </a:p>
          <a:p>
            <a:pPr lvl="0"/>
            <a:r>
              <a:rPr lang="en-GB" dirty="0"/>
              <a:t>Standalone 2D projection: the user can switch to pure PCA mode, which projects directly to 2 components.</a:t>
            </a:r>
          </a:p>
          <a:p>
            <a:pPr lvl="0"/>
            <a:r>
              <a:rPr lang="en-GB" dirty="0"/>
              <a:t>Explained variance reporting: the sidebar displays the explained variance ratio for each principal component (PC1, PC2, PC3...), giving the user a quantitative measure of how faithfully the 2D layout represents the original 64D structure.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7032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5A3C-3773-BF05-3D4F-10D5604DF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Computational correctness (proxy evaluation)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1AEB2F-7E35-F310-5CD7-EDAA1F0B4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388191"/>
              </p:ext>
            </p:extLst>
          </p:nvPr>
        </p:nvGraphicFramePr>
        <p:xfrm>
          <a:off x="1651819" y="2172929"/>
          <a:ext cx="8761411" cy="33972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3122">
                  <a:extLst>
                    <a:ext uri="{9D8B030D-6E8A-4147-A177-3AD203B41FA5}">
                      <a16:colId xmlns:a16="http://schemas.microsoft.com/office/drawing/2014/main" val="1393250600"/>
                    </a:ext>
                  </a:extLst>
                </a:gridCol>
                <a:gridCol w="2067257">
                  <a:extLst>
                    <a:ext uri="{9D8B030D-6E8A-4147-A177-3AD203B41FA5}">
                      <a16:colId xmlns:a16="http://schemas.microsoft.com/office/drawing/2014/main" val="3335815859"/>
                    </a:ext>
                  </a:extLst>
                </a:gridCol>
                <a:gridCol w="4251032">
                  <a:extLst>
                    <a:ext uri="{9D8B030D-6E8A-4147-A177-3AD203B41FA5}">
                      <a16:colId xmlns:a16="http://schemas.microsoft.com/office/drawing/2014/main" val="1520797075"/>
                    </a:ext>
                  </a:extLst>
                </a:gridCol>
              </a:tblGrid>
              <a:tr h="332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What to check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Expected value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How to verify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50800" marB="50800"/>
                </a:tc>
                <a:extLst>
                  <a:ext uri="{0D108BD9-81ED-4DB2-BD59-A6C34878D82A}">
                    <a16:rowId xmlns:a16="http://schemas.microsoft.com/office/drawing/2014/main" val="2513821341"/>
                  </a:ext>
                </a:extLst>
              </a:tr>
              <a:tr h="51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Attention weight row sums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Each row sums to exactly 1.0 (softmax)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Assert np.allclose(attn.sum(axis=-1), 1.0) for all heads and layers.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extLst>
                  <a:ext uri="{0D108BD9-81ED-4DB2-BD59-A6C34878D82A}">
                    <a16:rowId xmlns:a16="http://schemas.microsoft.com/office/drawing/2014/main" val="1987106127"/>
                  </a:ext>
                </a:extLst>
              </a:tr>
              <a:tr h="51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Entropy range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0 ≤ H ≤ log₂(T) for T tokens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For 6 tokens: 0 ≤ H ≤ 2.585. Assert on all layer outputs.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extLst>
                  <a:ext uri="{0D108BD9-81ED-4DB2-BD59-A6C34878D82A}">
                    <a16:rowId xmlns:a16="http://schemas.microsoft.com/office/drawing/2014/main" val="3943371209"/>
                  </a:ext>
                </a:extLst>
              </a:tr>
              <a:tr h="51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PCA variance ratios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Each in [0,1]; sum ≤ 1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Assert all values non-negative and cumulative sum ≤ 1.0.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extLst>
                  <a:ext uri="{0D108BD9-81ED-4DB2-BD59-A6C34878D82A}">
                    <a16:rowId xmlns:a16="http://schemas.microsoft.com/office/drawing/2014/main" val="3670899501"/>
                  </a:ext>
                </a:extLst>
              </a:tr>
              <a:tr h="51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Cluster IDs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Integers 0 to k−1, no empty clusters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Assert min=0, max=k−1, all k values present.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extLst>
                  <a:ext uri="{0D108BD9-81ED-4DB2-BD59-A6C34878D82A}">
                    <a16:rowId xmlns:a16="http://schemas.microsoft.com/office/drawing/2014/main" val="4236481182"/>
                  </a:ext>
                </a:extLst>
              </a:tr>
              <a:tr h="51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Activation norm variation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Values differ across tokens and layers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Assert standard deviation &gt; 0 after the pre-norm fix.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extLst>
                  <a:ext uri="{0D108BD9-81ED-4DB2-BD59-A6C34878D82A}">
                    <a16:rowId xmlns:a16="http://schemas.microsoft.com/office/drawing/2014/main" val="3046737079"/>
                  </a:ext>
                </a:extLst>
              </a:tr>
              <a:tr h="51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Determinism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>
                          <a:effectLst/>
                        </a:rPr>
                        <a:t>Same sentence = same graph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50" dirty="0">
                          <a:effectLst/>
                        </a:rPr>
                        <a:t>Run analysis twice, assert identical graph JSON.</a:t>
                      </a:r>
                      <a:endParaRPr lang="en-GB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63500" marT="44450" marB="44450"/>
                </a:tc>
                <a:extLst>
                  <a:ext uri="{0D108BD9-81ED-4DB2-BD59-A6C34878D82A}">
                    <a16:rowId xmlns:a16="http://schemas.microsoft.com/office/drawing/2014/main" val="210051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9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1E6C-1653-878A-9930-4B311A60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t-SNE (t-distributed Stochastic Neighbour Embedding)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3108-9E09-F662-B48B-899184F9B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t-SNE is a non-linear dimensionality reduction technique that preserves local neighbourhood structure, placing similar points close together in the 2D embedding. Unlike PCA, it optimises directly for cluster separation rather than global variance.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1549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76FA-D9A6-E912-4CD5-83A70923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Hierarchical Ward Clustering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6195-FEA2-1931-D5F5-511D966F8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Ward clustering groups tokens by semantic similarity based on their 64-dimensional activation vectors. </a:t>
            </a:r>
          </a:p>
          <a:p>
            <a:endParaRPr lang="en-GB" dirty="0"/>
          </a:p>
          <a:p>
            <a:r>
              <a:rPr lang="en-GB" dirty="0"/>
              <a:t>The algorithm builds a complete merge tree (dendrogram) bottom-up; the cluster slider then cuts the tree at any level without recomputing.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521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DD90-2A49-1310-3FB0-EC64F2FC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Visualization Explained Simply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F2388-C95D-79BD-03CB-38821E793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LLMforceDirectedviz</a:t>
            </a:r>
            <a:r>
              <a:rPr lang="en-GB" dirty="0"/>
              <a:t> shows a simulated 4-layer transformer processing a sentence. </a:t>
            </a:r>
          </a:p>
          <a:p>
            <a:endParaRPr lang="en-GB" dirty="0"/>
          </a:p>
          <a:p>
            <a:r>
              <a:rPr lang="en-GB" dirty="0"/>
              <a:t>The following sections explain every component of the visualization in plain language.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005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F557-F7D8-33AA-ACF9-904E37C0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1ACD-B52C-ACBD-A162-7B365CEE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Visualization Explained Simply-Tokens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8049C-8EE4-8783-5624-A16048790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you type a sentence, it gets chopped into individual words called tokens. Each word becomes its own chip shown in the top-left sidebar. The app treats each word as a separate object it can track and analyse independently through all four layers.</a:t>
            </a:r>
          </a:p>
          <a:p>
            <a:endParaRPr lang="en-GB" i="1" dirty="0"/>
          </a:p>
          <a:p>
            <a:r>
              <a:rPr lang="en-GB" i="1" dirty="0"/>
              <a:t>Example: "the cat sat on the mat" becomes six tokens: the · cat · sat · on · the · mat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9914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E3AFA-3318-BA39-CF35-27FD2B34E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D17E-2438-C080-5D1F-0CBF50C6C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Visualization Explained Simply-Layers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5AE88-6F19-252A-13CE-BE667E4AD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7EAD5E-9CC3-7042-9217-228223638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412453"/>
              </p:ext>
            </p:extLst>
          </p:nvPr>
        </p:nvGraphicFramePr>
        <p:xfrm>
          <a:off x="1691147" y="2831690"/>
          <a:ext cx="7777317" cy="305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3273">
                  <a:extLst>
                    <a:ext uri="{9D8B030D-6E8A-4147-A177-3AD203B41FA5}">
                      <a16:colId xmlns:a16="http://schemas.microsoft.com/office/drawing/2014/main" val="3067394364"/>
                    </a:ext>
                  </a:extLst>
                </a:gridCol>
                <a:gridCol w="6614044">
                  <a:extLst>
                    <a:ext uri="{9D8B030D-6E8A-4147-A177-3AD203B41FA5}">
                      <a16:colId xmlns:a16="http://schemas.microsoft.com/office/drawing/2014/main" val="317047717"/>
                    </a:ext>
                  </a:extLst>
                </a:gridCol>
              </a:tblGrid>
              <a:tr h="763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Layer 1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Surface features — which words are next to each other, position in sentence, basic identity. Attention is broad and even.</a:t>
                      </a:r>
                      <a:endParaRPr lang="en-GB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96735837"/>
                  </a:ext>
                </a:extLst>
              </a:tr>
              <a:tr h="763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Layer 2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Syntax begins — grammatical links form. "The" links to "cat", "cat" links to "sat", "sat" links to "mat".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0589323"/>
                  </a:ext>
                </a:extLst>
              </a:tr>
              <a:tr h="763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Layer 3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Semantic roles emerge — subject, verb, and location clusters form. Colour groups become meaningful here.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34503663"/>
                  </a:ext>
                </a:extLst>
              </a:tr>
              <a:tr h="763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Layer 4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Full contextual meaning — the entire scene is understood. Activation norms are full. The model is ready to predict the next word.</a:t>
                      </a:r>
                      <a:endParaRPr lang="en-GB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18825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6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14A4-794B-56FD-25EF-0B52D1A3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148E-E569-FC93-30F2-FE45D710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Visualization Explained Simply- Layer hub diamonds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2718-BD2F-16BF-AF3A-562FB44BD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purple diamond shapes labelled Layer 1 through Layer 4 in the graph are bookmarks. </a:t>
            </a:r>
          </a:p>
          <a:p>
            <a:endParaRPr lang="en-GB" dirty="0"/>
          </a:p>
          <a:p>
            <a:r>
              <a:rPr lang="en-GB" dirty="0"/>
              <a:t>They organise which token nodes belong to each round of processing. </a:t>
            </a:r>
          </a:p>
          <a:p>
            <a:endParaRPr lang="en-GB" dirty="0"/>
          </a:p>
          <a:p>
            <a:r>
              <a:rPr lang="en-GB" dirty="0"/>
              <a:t>They are connected to each other by thick purple backbone lines running left to right.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039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7A33-763B-3C77-41BF-9E7E157D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F3D9-1D37-135A-685B-03658B3C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Visualization Explained Simply-The connecting lines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934B93-FB9D-FA00-5F0A-18B4DA6A5B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264033"/>
              </p:ext>
            </p:extLst>
          </p:nvPr>
        </p:nvGraphicFramePr>
        <p:xfrm>
          <a:off x="688257" y="2507226"/>
          <a:ext cx="10628671" cy="39329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1084">
                  <a:extLst>
                    <a:ext uri="{9D8B030D-6E8A-4147-A177-3AD203B41FA5}">
                      <a16:colId xmlns:a16="http://schemas.microsoft.com/office/drawing/2014/main" val="4273542963"/>
                    </a:ext>
                  </a:extLst>
                </a:gridCol>
                <a:gridCol w="8357587">
                  <a:extLst>
                    <a:ext uri="{9D8B030D-6E8A-4147-A177-3AD203B41FA5}">
                      <a16:colId xmlns:a16="http://schemas.microsoft.com/office/drawing/2014/main" val="3963694675"/>
                    </a:ext>
                  </a:extLst>
                </a:gridCol>
              </a:tblGrid>
              <a:tr h="898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Purple backbone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Connects the four layer diamonds in order (L1→L2→L3→L4). Shows the processing sequence.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90829411"/>
                  </a:ext>
                </a:extLst>
              </a:tr>
              <a:tr h="1236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Rose/pink attention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Connects words that are paying attention to each other. Thicker line = stronger connection. This is the most important line — it shows which words the model considers related.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12262902"/>
                  </a:ext>
                </a:extLst>
              </a:tr>
              <a:tr h="898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Green residual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Connects the same word across consecutive layers (e.g. "cat" in Layer 1 to "cat" in Layer 2). Shows memory being carried forward.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84148883"/>
                  </a:ext>
                </a:extLst>
              </a:tr>
              <a:tr h="898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Lavender spoke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Connects each layer hub to all of its token nodes. Thin, light — just structural scaffolding.</a:t>
                      </a:r>
                      <a:endParaRPr lang="en-GB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16308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3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0DB6-B34C-C7DA-18B3-5053EE3C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BDB9-0D1A-FB5B-1B97-CD24F7BA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Visualization Explained Simply-Node size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4FD3A6-3AFD-BC8E-699C-98D680276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token circle's radius scales with its attention entropy. A larger circle means the model is more uncertain about that word spreading its attention broadly. </a:t>
            </a:r>
          </a:p>
          <a:p>
            <a:endParaRPr lang="en-GB" dirty="0"/>
          </a:p>
          <a:p>
            <a:r>
              <a:rPr lang="en-GB" dirty="0"/>
              <a:t>A smaller circle means the model is more focused and confident about that word's role.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8112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B07F-ED28-B357-9729-9A2DD4EF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PCA Explained Variance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CC0269-1F60-0C06-092C-F3DB57B8E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964197"/>
              </p:ext>
            </p:extLst>
          </p:nvPr>
        </p:nvGraphicFramePr>
        <p:xfrm>
          <a:off x="766916" y="2635045"/>
          <a:ext cx="10451689" cy="34922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6593">
                  <a:extLst>
                    <a:ext uri="{9D8B030D-6E8A-4147-A177-3AD203B41FA5}">
                      <a16:colId xmlns:a16="http://schemas.microsoft.com/office/drawing/2014/main" val="1294698629"/>
                    </a:ext>
                  </a:extLst>
                </a:gridCol>
                <a:gridCol w="7995096">
                  <a:extLst>
                    <a:ext uri="{9D8B030D-6E8A-4147-A177-3AD203B41FA5}">
                      <a16:colId xmlns:a16="http://schemas.microsoft.com/office/drawing/2014/main" val="1144046881"/>
                    </a:ext>
                  </a:extLst>
                </a:gridCol>
              </a:tblGrid>
              <a:tr h="873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PC1 (39.6%)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The single most important direction in 64D space — the axis along which words differ most from each other.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32957321"/>
                  </a:ext>
                </a:extLst>
              </a:tr>
              <a:tr h="545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PC2 (24.7%)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The second most important direction, perpendicular to PC1.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16492803"/>
                  </a:ext>
                </a:extLst>
              </a:tr>
              <a:tr h="873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PC1 + PC2 = ~64%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The 2D graph you see preserves roughly two-thirds of the real differences between words.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90175863"/>
                  </a:ext>
                </a:extLst>
              </a:tr>
              <a:tr h="1200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What 64% means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Words appearing close together are probably genuinely similar. Fine distances should not be over-interpreted. At 95% the layout would be nearly perfect; at 20% it would be nearly meaningless.</a:t>
                      </a:r>
                      <a:endParaRPr lang="en-GB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1292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1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6C6F9-E58A-C335-7C19-FC75AE8A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</a:rPr>
              <a:t>Attention Entropy · per Head</a:t>
            </a:r>
            <a:endParaRPr lang="en-GB">
              <a:solidFill>
                <a:srgbClr val="EBEBEB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AB10B-5238-D4AE-6AFB-3BC2AC228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Entropy is a single number summarising how spread-out those scores are. Think of a spotlight dial: turned all the way to a tight beam, one word gets nearly all the attention and entropy is low. </a:t>
            </a:r>
          </a:p>
          <a:p>
            <a:endParaRPr lang="en-GB">
              <a:solidFill>
                <a:srgbClr val="FFFFFF"/>
              </a:solidFill>
            </a:endParaRPr>
          </a:p>
          <a:p>
            <a:r>
              <a:rPr lang="en-GB">
                <a:solidFill>
                  <a:srgbClr val="FFFFFF"/>
                </a:solidFill>
              </a:rPr>
              <a:t>Opened to a floodlight, all words get roughly equal attention and entropy is high. The maximum possible entropy for 6 words is approximately 1.79.</a:t>
            </a:r>
          </a:p>
          <a:p>
            <a:endParaRPr lang="en-GB">
              <a:solidFill>
                <a:srgbClr val="FFFF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4B121A-E9F2-750C-9B08-D77506E13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9931"/>
              </p:ext>
            </p:extLst>
          </p:nvPr>
        </p:nvGraphicFramePr>
        <p:xfrm>
          <a:off x="6714836" y="1823314"/>
          <a:ext cx="4828708" cy="3590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5725">
                  <a:extLst>
                    <a:ext uri="{9D8B030D-6E8A-4147-A177-3AD203B41FA5}">
                      <a16:colId xmlns:a16="http://schemas.microsoft.com/office/drawing/2014/main" val="3352680146"/>
                    </a:ext>
                  </a:extLst>
                </a:gridCol>
                <a:gridCol w="3312983">
                  <a:extLst>
                    <a:ext uri="{9D8B030D-6E8A-4147-A177-3AD203B41FA5}">
                      <a16:colId xmlns:a16="http://schemas.microsoft.com/office/drawing/2014/main" val="130430636"/>
                    </a:ext>
                  </a:extLst>
                </a:gridCol>
              </a:tblGrid>
              <a:tr h="80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Head 1 entropy ~1.781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3315" marR="103315" marT="68877" marB="6887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All four heads show near-maximum entropy for this sentence — attention is spread evenly across all words.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3315" marR="103315" marT="68877" marB="68877"/>
                </a:tc>
                <a:extLst>
                  <a:ext uri="{0D108BD9-81ED-4DB2-BD59-A6C34878D82A}">
                    <a16:rowId xmlns:a16="http://schemas.microsoft.com/office/drawing/2014/main" val="2151878815"/>
                  </a:ext>
                </a:extLst>
              </a:tr>
              <a:tr h="600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Head 2 entropy ~1.786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3315" marR="103315" marT="68877" marB="6887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Slightly more spread than Head 1 — almost identical behaviour.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3315" marR="103315" marT="68877" marB="68877"/>
                </a:tc>
                <a:extLst>
                  <a:ext uri="{0D108BD9-81ED-4DB2-BD59-A6C34878D82A}">
                    <a16:rowId xmlns:a16="http://schemas.microsoft.com/office/drawing/2014/main" val="842415895"/>
                  </a:ext>
                </a:extLst>
              </a:tr>
              <a:tr h="600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Head 3 entropy ~1.784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3315" marR="103315" marT="68877" marB="6887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Same pattern — all heads treating all words as roughly equally important.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3315" marR="103315" marT="68877" marB="68877"/>
                </a:tc>
                <a:extLst>
                  <a:ext uri="{0D108BD9-81ED-4DB2-BD59-A6C34878D82A}">
                    <a16:rowId xmlns:a16="http://schemas.microsoft.com/office/drawing/2014/main" val="3102562799"/>
                  </a:ext>
                </a:extLst>
              </a:tr>
              <a:tr h="122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Head 4 entropy ~1.784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3315" marR="103315" marT="68877" marB="6887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Why all similar? The sentence is short and unambiguous. Try a longer sentence with an ambiguous word and entropy would drop in deeper layers as the model focuses.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3315" marR="103315" marT="68877" marB="68877"/>
                </a:tc>
                <a:extLst>
                  <a:ext uri="{0D108BD9-81ED-4DB2-BD59-A6C34878D82A}">
                    <a16:rowId xmlns:a16="http://schemas.microsoft.com/office/drawing/2014/main" val="3693767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154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70A93-7B17-863E-1E76-BF053899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9DD2D-74D1-4CBA-D1C1-2EEE6076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</a:rPr>
              <a:t>Activation Norms · ‖h‖₂</a:t>
            </a:r>
            <a:endParaRPr lang="en-GB">
              <a:solidFill>
                <a:srgbClr val="EBEBE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9073BF-BD1F-51FD-F331-03E1B3287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activation norm is one single number that summarises the overall size of those 64 numbers. 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It is computed by squaring all 64 values, adding them up, and taking the square root, the same calculation as measuring the length of a line in 2D using Pythagoras, just extended to 64 dimensions. 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The subscript ₂ indicates the values are squared before summing.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C9D923-38D7-8FEC-46D7-E0A213595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143797"/>
              </p:ext>
            </p:extLst>
          </p:nvPr>
        </p:nvGraphicFramePr>
        <p:xfrm>
          <a:off x="6714836" y="1244936"/>
          <a:ext cx="4828707" cy="4385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0107">
                  <a:extLst>
                    <a:ext uri="{9D8B030D-6E8A-4147-A177-3AD203B41FA5}">
                      <a16:colId xmlns:a16="http://schemas.microsoft.com/office/drawing/2014/main" val="3886802390"/>
                    </a:ext>
                  </a:extLst>
                </a:gridCol>
                <a:gridCol w="3298600">
                  <a:extLst>
                    <a:ext uri="{9D8B030D-6E8A-4147-A177-3AD203B41FA5}">
                      <a16:colId xmlns:a16="http://schemas.microsoft.com/office/drawing/2014/main" val="2508370191"/>
                    </a:ext>
                  </a:extLst>
                </a:gridCol>
              </a:tblGrid>
              <a:tr h="91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Large norm (e.g. ~12)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The word has a strong, rich representation. The model has a lot of meaningful information packed into this word at this layer.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extLst>
                  <a:ext uri="{0D108BD9-81ED-4DB2-BD59-A6C34878D82A}">
                    <a16:rowId xmlns:a16="http://schemas.microsoft.com/office/drawing/2014/main" val="3818567630"/>
                  </a:ext>
                </a:extLst>
              </a:tr>
              <a:tr h="72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Small norm (e.g. ~9)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The word has a weaker representation. The model has less information or less certainty about this word's role.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extLst>
                  <a:ext uri="{0D108BD9-81ED-4DB2-BD59-A6C34878D82A}">
                    <a16:rowId xmlns:a16="http://schemas.microsoft.com/office/drawing/2014/main" val="1780559457"/>
                  </a:ext>
                </a:extLst>
              </a:tr>
              <a:tr h="72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"on" drops to 9.38 in Layer 2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A short function word with little semantic weight — the model invests less in it at that stage.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extLst>
                  <a:ext uri="{0D108BD9-81ED-4DB2-BD59-A6C34878D82A}">
                    <a16:rowId xmlns:a16="http://schemas.microsoft.com/office/drawing/2014/main" val="702295080"/>
                  </a:ext>
                </a:extLst>
              </a:tr>
              <a:tr h="72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"mat" consistently lower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Appears at the end of the sentence and carries less positional context than earlier words.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extLst>
                  <a:ext uri="{0D108BD9-81ED-4DB2-BD59-A6C34878D82A}">
                    <a16:rowId xmlns:a16="http://schemas.microsoft.com/office/drawing/2014/main" val="4193731028"/>
                  </a:ext>
                </a:extLst>
              </a:tr>
              <a:tr h="1287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Bug that was fixed</a:t>
                      </a:r>
                      <a:endParaRPr lang="en-GB" sz="13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The original code measured norms after </a:t>
                      </a:r>
                      <a:r>
                        <a:rPr lang="en-GB" sz="1200" dirty="0" err="1">
                          <a:effectLst/>
                        </a:rPr>
                        <a:t>layer_norm</a:t>
                      </a:r>
                      <a:r>
                        <a:rPr lang="en-GB" sz="1200" dirty="0">
                          <a:effectLst/>
                        </a:rPr>
                        <a:t> was applied. Layer normalisation mathematically locks every vector's norm to exactly √64 = 8.0. The fix stores the pre-normalisation residual stream, which shows genuine variation.</a:t>
                      </a:r>
                      <a:endParaRPr lang="en-GB" sz="13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3181" marR="93181" marT="62121" marB="62121"/>
                </a:tc>
                <a:extLst>
                  <a:ext uri="{0D108BD9-81ED-4DB2-BD59-A6C34878D82A}">
                    <a16:rowId xmlns:a16="http://schemas.microsoft.com/office/drawing/2014/main" val="2664795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478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9CFCA-A79E-01C3-ABBD-05968AE1B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196E8-20A6-9E41-4460-B47676564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</a:rPr>
              <a:t>The Cluster Slider</a:t>
            </a:r>
            <a:endParaRPr lang="en-GB">
              <a:solidFill>
                <a:srgbClr val="EBEBEB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FAF7A1-E7DA-A60C-B83A-380C360DD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The cluster slider sets how many colour groups the words are divided into across the graph. The app uses hierarchical Ward clustering: it starts by treating every word as its own group</a:t>
            </a:r>
          </a:p>
          <a:p>
            <a:r>
              <a:rPr lang="en-GB" dirty="0">
                <a:solidFill>
                  <a:srgbClr val="FFFFFF"/>
                </a:solidFill>
              </a:rPr>
              <a:t>then repeatedly merges the two most similar words based on their 64-number fingerprints, building a family tree of merges. The slider then cuts that tree at a chosen height.</a:t>
            </a:r>
          </a:p>
          <a:p>
            <a:pPr marL="0" indent="0"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4E0627-64E3-A3E9-0EC8-E5F5304DF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35537"/>
              </p:ext>
            </p:extLst>
          </p:nvPr>
        </p:nvGraphicFramePr>
        <p:xfrm>
          <a:off x="6714836" y="1672794"/>
          <a:ext cx="4828707" cy="40266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835">
                  <a:extLst>
                    <a:ext uri="{9D8B030D-6E8A-4147-A177-3AD203B41FA5}">
                      <a16:colId xmlns:a16="http://schemas.microsoft.com/office/drawing/2014/main" val="1324753001"/>
                    </a:ext>
                  </a:extLst>
                </a:gridCol>
                <a:gridCol w="3757872">
                  <a:extLst>
                    <a:ext uri="{9D8B030D-6E8A-4147-A177-3AD203B41FA5}">
                      <a16:colId xmlns:a16="http://schemas.microsoft.com/office/drawing/2014/main" val="3671604339"/>
                    </a:ext>
                  </a:extLst>
                </a:gridCol>
              </a:tblGrid>
              <a:tr h="829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Slider at 2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6155" marR="106155" marT="70770" marB="7077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Broadest split. Typically separates nouns from action/function words. Good for seeing the single biggest division the model makes.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6155" marR="106155" marT="70770" marB="70770"/>
                </a:tc>
                <a:extLst>
                  <a:ext uri="{0D108BD9-81ED-4DB2-BD59-A6C34878D82A}">
                    <a16:rowId xmlns:a16="http://schemas.microsoft.com/office/drawing/2014/main" val="2052477617"/>
                  </a:ext>
                </a:extLst>
              </a:tr>
              <a:tr h="1041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Slider at 3–4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6155" marR="106155" marT="70770" marB="7077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Sweet spot for a 6-word sentence. Meaningful grammatical roles emerge: articles, content words, and action words often separate.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6155" marR="106155" marT="70770" marB="70770"/>
                </a:tc>
                <a:extLst>
                  <a:ext uri="{0D108BD9-81ED-4DB2-BD59-A6C34878D82A}">
                    <a16:rowId xmlns:a16="http://schemas.microsoft.com/office/drawing/2014/main" val="1417588016"/>
                  </a:ext>
                </a:extLst>
              </a:tr>
              <a:tr h="829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Slider at 6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6155" marR="106155" marT="70770" marB="7077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Every word gets its own colour. Only useful for tracking one specific word across all layers without it sharing a colour.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6155" marR="106155" marT="70770" marB="70770"/>
                </a:tc>
                <a:extLst>
                  <a:ext uri="{0D108BD9-81ED-4DB2-BD59-A6C34878D82A}">
                    <a16:rowId xmlns:a16="http://schemas.microsoft.com/office/drawing/2014/main" val="3626981221"/>
                  </a:ext>
                </a:extLst>
              </a:tr>
              <a:tr h="829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Positions do not change</a:t>
                      </a:r>
                      <a:endParaRPr lang="en-GB" sz="15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6155" marR="106155" marT="70770" marB="7077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Moving the slider only recolours the nodes. Positions are fixed by t-SNE/PCA and only recalculate when Analyse is clicked.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6155" marR="106155" marT="70770" marB="70770"/>
                </a:tc>
                <a:extLst>
                  <a:ext uri="{0D108BD9-81ED-4DB2-BD59-A6C34878D82A}">
                    <a16:rowId xmlns:a16="http://schemas.microsoft.com/office/drawing/2014/main" val="1375804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60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0BF5-641A-0117-F010-60E56EEB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88E60-4F53-2562-2BE3-23F5DBF2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t-SNE vs PCA Toggle</a:t>
            </a:r>
            <a:endParaRPr lang="en-GB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A74EE4B-85AD-B284-B640-13D53C841F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437217"/>
              </p:ext>
            </p:extLst>
          </p:nvPr>
        </p:nvGraphicFramePr>
        <p:xfrm>
          <a:off x="1484671" y="2566218"/>
          <a:ext cx="8761413" cy="34511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7678">
                  <a:extLst>
                    <a:ext uri="{9D8B030D-6E8A-4147-A177-3AD203B41FA5}">
                      <a16:colId xmlns:a16="http://schemas.microsoft.com/office/drawing/2014/main" val="1282223507"/>
                    </a:ext>
                  </a:extLst>
                </a:gridCol>
                <a:gridCol w="7263735">
                  <a:extLst>
                    <a:ext uri="{9D8B030D-6E8A-4147-A177-3AD203B41FA5}">
                      <a16:colId xmlns:a16="http://schemas.microsoft.com/office/drawing/2014/main" val="2812460451"/>
                    </a:ext>
                  </a:extLst>
                </a:gridCol>
              </a:tblGrid>
              <a:tr h="99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PCA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Finds the mathematically optimal linear projection — the angle that preserves the most variance. Fast, deterministic, globally accurate. The PCA variance bars show how much information survived.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75863008"/>
                  </a:ext>
                </a:extLst>
              </a:tr>
              <a:tr h="99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t-SNE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A non-linear method that prioritises keeping similar words close together in the 2D layout. Often produces more visually intuitive clusters. Runs PCA first (to 10D) then applies t-SNE. Slower but can reveal structure PCA misses.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77523716"/>
                  </a:ext>
                </a:extLst>
              </a:tr>
              <a:tr h="726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When to use PCA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When you want to trust the absolute positions and distances in the graph.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83377957"/>
                  </a:ext>
                </a:extLst>
              </a:tr>
              <a:tr h="726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When to use t-SNE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When you want to see which words cluster together, even at the cost of global accuracy.</a:t>
                      </a:r>
                      <a:endParaRPr lang="en-GB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07444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754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95C85-94ED-C994-DE8B-C8AA0FBF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0B1E-7204-CC20-EA75-156DFB8CA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677" y="838200"/>
            <a:ext cx="8761413" cy="706964"/>
          </a:xfrm>
        </p:spPr>
        <p:txBody>
          <a:bodyPr/>
          <a:lstStyle/>
          <a:p>
            <a:r>
              <a:rPr lang="en-GB" b="1" dirty="0"/>
              <a:t>What Each Layer Focuses 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35110F-4533-6B1D-283F-4ABE9CF71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730D74-B502-1825-B6EF-B2FEF1BB1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140663"/>
              </p:ext>
            </p:extLst>
          </p:nvPr>
        </p:nvGraphicFramePr>
        <p:xfrm>
          <a:off x="1288026" y="2603499"/>
          <a:ext cx="8436077" cy="31385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2839">
                  <a:extLst>
                    <a:ext uri="{9D8B030D-6E8A-4147-A177-3AD203B41FA5}">
                      <a16:colId xmlns:a16="http://schemas.microsoft.com/office/drawing/2014/main" val="2591907391"/>
                    </a:ext>
                  </a:extLst>
                </a:gridCol>
                <a:gridCol w="6453238">
                  <a:extLst>
                    <a:ext uri="{9D8B030D-6E8A-4147-A177-3AD203B41FA5}">
                      <a16:colId xmlns:a16="http://schemas.microsoft.com/office/drawing/2014/main" val="2547962330"/>
                    </a:ext>
                  </a:extLst>
                </a:gridCol>
              </a:tblGrid>
              <a:tr h="612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Layer 1 — Surface</a:t>
                      </a:r>
                      <a:endParaRPr lang="en-GB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Basic features: position, word identity, immediate neighbours. Attention is broad and uniform. The model is getting its bearings.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16417673"/>
                  </a:ext>
                </a:extLst>
              </a:tr>
              <a:tr h="8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Layer 2 — Syntax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Grammatical connections form. Articles link to their nouns. Subjects link to their verbs. The attention lines in the graph become more selective here.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48403526"/>
                  </a:ext>
                </a:extLst>
              </a:tr>
              <a:tr h="8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Layer 3 — Semantics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Semantic roles are assigned. "Cat" is understood as the subject performing an action. "Mat" is understood as the location. Colour clusters in the graph become meaningful.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6340180"/>
                  </a:ext>
                </a:extLst>
              </a:tr>
              <a:tr h="8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Layer 4 — Context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effectLst/>
                        </a:rPr>
                        <a:t>Full contextual meaning is locked in. Every word's 64-number representation is now rich and complete. The model understands the whole scene and is ready to generate output.</a:t>
                      </a:r>
                      <a:endParaRPr lang="en-GB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5028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3385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63</TotalTime>
  <Words>1739</Words>
  <Application>Microsoft Office PowerPoint</Application>
  <PresentationFormat>Widescreen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 Boardroom</vt:lpstr>
      <vt:lpstr>PHD Progression 14</vt:lpstr>
      <vt:lpstr>Proof of concept</vt:lpstr>
      <vt:lpstr>Principal Component Analysis (PCA) </vt:lpstr>
      <vt:lpstr>Computational correctness (proxy evaluation)</vt:lpstr>
      <vt:lpstr>t-SNE (t-distributed Stochastic Neighbour Embedding) </vt:lpstr>
      <vt:lpstr>Hierarchical Ward Clustering</vt:lpstr>
      <vt:lpstr>The Visualization Explained Simply</vt:lpstr>
      <vt:lpstr>The Visualization Explained Simply-Tokens </vt:lpstr>
      <vt:lpstr>The Visualization Explained Simply-Layers</vt:lpstr>
      <vt:lpstr>The Visualization Explained Simply- Layer hub diamonds</vt:lpstr>
      <vt:lpstr>The Visualization Explained Simply-The connecting lines</vt:lpstr>
      <vt:lpstr>The Visualization Explained Simply-Node size</vt:lpstr>
      <vt:lpstr>PCA Explained Variance</vt:lpstr>
      <vt:lpstr>Attention Entropy · per Head</vt:lpstr>
      <vt:lpstr>Activation Norms · ‖h‖₂</vt:lpstr>
      <vt:lpstr>The Cluster Slider</vt:lpstr>
      <vt:lpstr>t-SNE vs PCA Toggle</vt:lpstr>
      <vt:lpstr>What Each Layer Focuses 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Olanrewaju, Emmanuel (Student)</dc:creator>
  <cp:lastModifiedBy>Olanrewaju, Emmanuel (Student)</cp:lastModifiedBy>
  <cp:revision>1</cp:revision>
  <dcterms:created xsi:type="dcterms:W3CDTF">2026-03-29T20:47:50Z</dcterms:created>
  <dcterms:modified xsi:type="dcterms:W3CDTF">2026-03-29T21:51:18Z</dcterms:modified>
</cp:coreProperties>
</file>