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7"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82" r:id="rId23"/>
    <p:sldId id="281" r:id="rId24"/>
    <p:sldId id="277" r:id="rId25"/>
    <p:sldId id="279" r:id="rId26"/>
    <p:sldId id="283" r:id="rId27"/>
    <p:sldId id="280" r:id="rId28"/>
    <p:sldId id="284" r:id="rId29"/>
    <p:sldId id="285" r:id="rId30"/>
    <p:sldId id="286" r:id="rId31"/>
    <p:sldId id="287" r:id="rId32"/>
    <p:sldId id="311" r:id="rId33"/>
    <p:sldId id="288" r:id="rId34"/>
    <p:sldId id="289" r:id="rId35"/>
    <p:sldId id="290" r:id="rId36"/>
    <p:sldId id="291" r:id="rId37"/>
    <p:sldId id="292" r:id="rId38"/>
    <p:sldId id="293" r:id="rId39"/>
    <p:sldId id="294" r:id="rId40"/>
    <p:sldId id="295"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2" r:id="rId56"/>
    <p:sldId id="313" r:id="rId57"/>
    <p:sldId id="314" r:id="rId58"/>
    <p:sldId id="317" r:id="rId59"/>
    <p:sldId id="318" r:id="rId60"/>
    <p:sldId id="315" r:id="rId61"/>
    <p:sldId id="316"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84" y="2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nrewaju, Emmanuel (Student)" userId="S::e.olanrewaju4233@student.leedsbeckett.ac.uk::856d88a3-a0f5-4502-a208-88adfba07448" providerId="AD" clId="Web-{17350AC5-749F-46F1-9BE1-B635BBB9C16C}"/>
    <pc:docChg chg="modSld">
      <pc:chgData name="Olanrewaju, Emmanuel (Student)" userId="S::e.olanrewaju4233@student.leedsbeckett.ac.uk::856d88a3-a0f5-4502-a208-88adfba07448" providerId="AD" clId="Web-{17350AC5-749F-46F1-9BE1-B635BBB9C16C}" dt="2026-04-13T14:54:48.612" v="3"/>
      <pc:docMkLst>
        <pc:docMk/>
      </pc:docMkLst>
      <pc:sldChg chg="addSp modSp mod setBg setClrOvrMap">
        <pc:chgData name="Olanrewaju, Emmanuel (Student)" userId="S::e.olanrewaju4233@student.leedsbeckett.ac.uk::856d88a3-a0f5-4502-a208-88adfba07448" providerId="AD" clId="Web-{17350AC5-749F-46F1-9BE1-B635BBB9C16C}" dt="2026-04-13T14:54:48.612" v="3"/>
        <pc:sldMkLst>
          <pc:docMk/>
          <pc:sldMk cId="1800194454" sldId="284"/>
        </pc:sldMkLst>
        <pc:spChg chg="mod">
          <ac:chgData name="Olanrewaju, Emmanuel (Student)" userId="S::e.olanrewaju4233@student.leedsbeckett.ac.uk::856d88a3-a0f5-4502-a208-88adfba07448" providerId="AD" clId="Web-{17350AC5-749F-46F1-9BE1-B635BBB9C16C}" dt="2026-04-13T14:54:48.612" v="3"/>
          <ac:spMkLst>
            <pc:docMk/>
            <pc:sldMk cId="1800194454" sldId="284"/>
            <ac:spMk id="2" creationId="{29D9A779-7E76-1050-794B-A09413D868AF}"/>
          </ac:spMkLst>
        </pc:spChg>
        <pc:spChg chg="mod">
          <ac:chgData name="Olanrewaju, Emmanuel (Student)" userId="S::e.olanrewaju4233@student.leedsbeckett.ac.uk::856d88a3-a0f5-4502-a208-88adfba07448" providerId="AD" clId="Web-{17350AC5-749F-46F1-9BE1-B635BBB9C16C}" dt="2026-04-13T14:54:48.612" v="3"/>
          <ac:spMkLst>
            <pc:docMk/>
            <pc:sldMk cId="1800194454" sldId="284"/>
            <ac:spMk id="3" creationId="{D87EC9DA-F826-C2EA-9908-96D7914328D5}"/>
          </ac:spMkLst>
        </pc:spChg>
        <pc:spChg chg="add">
          <ac:chgData name="Olanrewaju, Emmanuel (Student)" userId="S::e.olanrewaju4233@student.leedsbeckett.ac.uk::856d88a3-a0f5-4502-a208-88adfba07448" providerId="AD" clId="Web-{17350AC5-749F-46F1-9BE1-B635BBB9C16C}" dt="2026-04-13T14:54:48.612" v="3"/>
          <ac:spMkLst>
            <pc:docMk/>
            <pc:sldMk cId="1800194454" sldId="284"/>
            <ac:spMk id="9" creationId="{6E0488BA-180E-40D8-8350-4B179179556B}"/>
          </ac:spMkLst>
        </pc:spChg>
        <pc:picChg chg="add">
          <ac:chgData name="Olanrewaju, Emmanuel (Student)" userId="S::e.olanrewaju4233@student.leedsbeckett.ac.uk::856d88a3-a0f5-4502-a208-88adfba07448" providerId="AD" clId="Web-{17350AC5-749F-46F1-9BE1-B635BBB9C16C}" dt="2026-04-13T14:54:48.612" v="3"/>
          <ac:picMkLst>
            <pc:docMk/>
            <pc:sldMk cId="1800194454" sldId="284"/>
            <ac:picMk id="5" creationId="{BEEDC0C1-2F45-52E1-24BE-05A2D7EE311B}"/>
          </ac:picMkLst>
        </pc:picChg>
      </pc:sldChg>
      <pc:sldChg chg="addSp modSp mod setBg setClrOvrMap">
        <pc:chgData name="Olanrewaju, Emmanuel (Student)" userId="S::e.olanrewaju4233@student.leedsbeckett.ac.uk::856d88a3-a0f5-4502-a208-88adfba07448" providerId="AD" clId="Web-{17350AC5-749F-46F1-9BE1-B635BBB9C16C}" dt="2026-04-13T14:54:31.877" v="2"/>
        <pc:sldMkLst>
          <pc:docMk/>
          <pc:sldMk cId="3419891986" sldId="288"/>
        </pc:sldMkLst>
        <pc:spChg chg="mod">
          <ac:chgData name="Olanrewaju, Emmanuel (Student)" userId="S::e.olanrewaju4233@student.leedsbeckett.ac.uk::856d88a3-a0f5-4502-a208-88adfba07448" providerId="AD" clId="Web-{17350AC5-749F-46F1-9BE1-B635BBB9C16C}" dt="2026-04-13T14:54:31.877" v="2"/>
          <ac:spMkLst>
            <pc:docMk/>
            <pc:sldMk cId="3419891986" sldId="288"/>
            <ac:spMk id="2" creationId="{4FF36D02-8531-51E2-5622-8B70A6F8E9CA}"/>
          </ac:spMkLst>
        </pc:spChg>
        <pc:spChg chg="mod">
          <ac:chgData name="Olanrewaju, Emmanuel (Student)" userId="S::e.olanrewaju4233@student.leedsbeckett.ac.uk::856d88a3-a0f5-4502-a208-88adfba07448" providerId="AD" clId="Web-{17350AC5-749F-46F1-9BE1-B635BBB9C16C}" dt="2026-04-13T14:54:31.877" v="2"/>
          <ac:spMkLst>
            <pc:docMk/>
            <pc:sldMk cId="3419891986" sldId="288"/>
            <ac:spMk id="3" creationId="{10EB3C21-676E-8BE6-C81F-353F3FA48DE6}"/>
          </ac:spMkLst>
        </pc:spChg>
        <pc:spChg chg="add">
          <ac:chgData name="Olanrewaju, Emmanuel (Student)" userId="S::e.olanrewaju4233@student.leedsbeckett.ac.uk::856d88a3-a0f5-4502-a208-88adfba07448" providerId="AD" clId="Web-{17350AC5-749F-46F1-9BE1-B635BBB9C16C}" dt="2026-04-13T14:54:31.877" v="2"/>
          <ac:spMkLst>
            <pc:docMk/>
            <pc:sldMk cId="3419891986" sldId="288"/>
            <ac:spMk id="9" creationId="{6E0488BA-180E-40D8-8350-4B179179556B}"/>
          </ac:spMkLst>
        </pc:spChg>
        <pc:picChg chg="add">
          <ac:chgData name="Olanrewaju, Emmanuel (Student)" userId="S::e.olanrewaju4233@student.leedsbeckett.ac.uk::856d88a3-a0f5-4502-a208-88adfba07448" providerId="AD" clId="Web-{17350AC5-749F-46F1-9BE1-B635BBB9C16C}" dt="2026-04-13T14:54:31.877" v="2"/>
          <ac:picMkLst>
            <pc:docMk/>
            <pc:sldMk cId="3419891986" sldId="288"/>
            <ac:picMk id="5" creationId="{209200FD-4F2C-C098-3310-A6AAFBEBC72E}"/>
          </ac:picMkLst>
        </pc:picChg>
      </pc:sldChg>
      <pc:sldChg chg="addSp modSp mod setBg setClrOvrMap">
        <pc:chgData name="Olanrewaju, Emmanuel (Student)" userId="S::e.olanrewaju4233@student.leedsbeckett.ac.uk::856d88a3-a0f5-4502-a208-88adfba07448" providerId="AD" clId="Web-{17350AC5-749F-46F1-9BE1-B635BBB9C16C}" dt="2026-04-13T14:54:13.721" v="1"/>
        <pc:sldMkLst>
          <pc:docMk/>
          <pc:sldMk cId="3424554345" sldId="297"/>
        </pc:sldMkLst>
        <pc:spChg chg="mod">
          <ac:chgData name="Olanrewaju, Emmanuel (Student)" userId="S::e.olanrewaju4233@student.leedsbeckett.ac.uk::856d88a3-a0f5-4502-a208-88adfba07448" providerId="AD" clId="Web-{17350AC5-749F-46F1-9BE1-B635BBB9C16C}" dt="2026-04-13T14:54:13.721" v="1"/>
          <ac:spMkLst>
            <pc:docMk/>
            <pc:sldMk cId="3424554345" sldId="297"/>
            <ac:spMk id="2" creationId="{53F958FD-4102-3FC0-C309-91153A9FA5F9}"/>
          </ac:spMkLst>
        </pc:spChg>
        <pc:spChg chg="mod">
          <ac:chgData name="Olanrewaju, Emmanuel (Student)" userId="S::e.olanrewaju4233@student.leedsbeckett.ac.uk::856d88a3-a0f5-4502-a208-88adfba07448" providerId="AD" clId="Web-{17350AC5-749F-46F1-9BE1-B635BBB9C16C}" dt="2026-04-13T14:54:13.721" v="1"/>
          <ac:spMkLst>
            <pc:docMk/>
            <pc:sldMk cId="3424554345" sldId="297"/>
            <ac:spMk id="3" creationId="{0482DB00-9610-425F-8D85-E2263780A2FE}"/>
          </ac:spMkLst>
        </pc:spChg>
        <pc:spChg chg="add">
          <ac:chgData name="Olanrewaju, Emmanuel (Student)" userId="S::e.olanrewaju4233@student.leedsbeckett.ac.uk::856d88a3-a0f5-4502-a208-88adfba07448" providerId="AD" clId="Web-{17350AC5-749F-46F1-9BE1-B635BBB9C16C}" dt="2026-04-13T14:54:13.721" v="1"/>
          <ac:spMkLst>
            <pc:docMk/>
            <pc:sldMk cId="3424554345" sldId="297"/>
            <ac:spMk id="8" creationId="{C314C310-850D-4491-AA52-C75BEA68B68C}"/>
          </ac:spMkLst>
        </pc:spChg>
        <pc:grpChg chg="add">
          <ac:chgData name="Olanrewaju, Emmanuel (Student)" userId="S::e.olanrewaju4233@student.leedsbeckett.ac.uk::856d88a3-a0f5-4502-a208-88adfba07448" providerId="AD" clId="Web-{17350AC5-749F-46F1-9BE1-B635BBB9C16C}" dt="2026-04-13T14:54:13.721" v="1"/>
          <ac:grpSpMkLst>
            <pc:docMk/>
            <pc:sldMk cId="3424554345" sldId="297"/>
            <ac:grpSpMk id="10" creationId="{D4EC3799-3F52-48CE-85CC-83AED368EB42}"/>
          </ac:grpSpMkLst>
        </pc:grpChg>
        <pc:cxnChg chg="add">
          <ac:chgData name="Olanrewaju, Emmanuel (Student)" userId="S::e.olanrewaju4233@student.leedsbeckett.ac.uk::856d88a3-a0f5-4502-a208-88adfba07448" providerId="AD" clId="Web-{17350AC5-749F-46F1-9BE1-B635BBB9C16C}" dt="2026-04-13T14:54:13.721" v="1"/>
          <ac:cxnSpMkLst>
            <pc:docMk/>
            <pc:sldMk cId="3424554345" sldId="297"/>
            <ac:cxnSpMk id="14" creationId="{789E20C7-BB50-4317-93C7-90C8ED80B275}"/>
          </ac:cxnSpMkLst>
        </pc:cxnChg>
      </pc:sldChg>
      <pc:sldChg chg="addSp modSp mod setBg setClrOvrMap">
        <pc:chgData name="Olanrewaju, Emmanuel (Student)" userId="S::e.olanrewaju4233@student.leedsbeckett.ac.uk::856d88a3-a0f5-4502-a208-88adfba07448" providerId="AD" clId="Web-{17350AC5-749F-46F1-9BE1-B635BBB9C16C}" dt="2026-04-13T14:53:28.173" v="0"/>
        <pc:sldMkLst>
          <pc:docMk/>
          <pc:sldMk cId="2892390188" sldId="308"/>
        </pc:sldMkLst>
        <pc:spChg chg="mod">
          <ac:chgData name="Olanrewaju, Emmanuel (Student)" userId="S::e.olanrewaju4233@student.leedsbeckett.ac.uk::856d88a3-a0f5-4502-a208-88adfba07448" providerId="AD" clId="Web-{17350AC5-749F-46F1-9BE1-B635BBB9C16C}" dt="2026-04-13T14:53:28.173" v="0"/>
          <ac:spMkLst>
            <pc:docMk/>
            <pc:sldMk cId="2892390188" sldId="308"/>
            <ac:spMk id="2" creationId="{9B79DB8F-6EC4-B6B8-FCED-595BDB510335}"/>
          </ac:spMkLst>
        </pc:spChg>
        <pc:spChg chg="mod">
          <ac:chgData name="Olanrewaju, Emmanuel (Student)" userId="S::e.olanrewaju4233@student.leedsbeckett.ac.uk::856d88a3-a0f5-4502-a208-88adfba07448" providerId="AD" clId="Web-{17350AC5-749F-46F1-9BE1-B635BBB9C16C}" dt="2026-04-13T14:53:28.173" v="0"/>
          <ac:spMkLst>
            <pc:docMk/>
            <pc:sldMk cId="2892390188" sldId="308"/>
            <ac:spMk id="3" creationId="{30CDFF14-11DA-6233-4CD4-648A25F761A8}"/>
          </ac:spMkLst>
        </pc:spChg>
        <pc:spChg chg="add">
          <ac:chgData name="Olanrewaju, Emmanuel (Student)" userId="S::e.olanrewaju4233@student.leedsbeckett.ac.uk::856d88a3-a0f5-4502-a208-88adfba07448" providerId="AD" clId="Web-{17350AC5-749F-46F1-9BE1-B635BBB9C16C}" dt="2026-04-13T14:53:28.173" v="0"/>
          <ac:spMkLst>
            <pc:docMk/>
            <pc:sldMk cId="2892390188" sldId="308"/>
            <ac:spMk id="9" creationId="{6E0488BA-180E-40D8-8350-4B179179556B}"/>
          </ac:spMkLst>
        </pc:spChg>
        <pc:picChg chg="add">
          <ac:chgData name="Olanrewaju, Emmanuel (Student)" userId="S::e.olanrewaju4233@student.leedsbeckett.ac.uk::856d88a3-a0f5-4502-a208-88adfba07448" providerId="AD" clId="Web-{17350AC5-749F-46F1-9BE1-B635BBB9C16C}" dt="2026-04-13T14:53:28.173" v="0"/>
          <ac:picMkLst>
            <pc:docMk/>
            <pc:sldMk cId="2892390188" sldId="308"/>
            <ac:picMk id="5" creationId="{1F598878-95B6-7378-4137-B2F618EFA54B}"/>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DBCCF0B-5895-42CA-8DBB-D18A5932430B}" type="datetimeFigureOut">
              <a:rPr lang="en-GB" smtClean="0"/>
              <a:t>13/04/2026</a:t>
            </a:fld>
            <a:endParaRPr lang="en-GB"/>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GB"/>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Slide Number Placeholder 5"/>
          <p:cNvSpPr>
            <a:spLocks noGrp="1"/>
          </p:cNvSpPr>
          <p:nvPr>
            <p:ph type="sldNum" sz="quarter" idx="12"/>
          </p:nvPr>
        </p:nvSpPr>
        <p:spPr>
          <a:xfrm>
            <a:off x="10352540" y="295729"/>
            <a:ext cx="838199" cy="767687"/>
          </a:xfrm>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3852347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BCCF0B-5895-42CA-8DBB-D18A5932430B}" type="datetimeFigureOut">
              <a:rPr lang="en-GB" smtClean="0"/>
              <a:t>13/04/2026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207599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BCCF0B-5895-42CA-8DBB-D18A5932430B}" type="datetimeFigureOut">
              <a:rPr lang="en-GB" smtClean="0"/>
              <a:t>13/04/2026</a:t>
            </a:fld>
            <a:endParaRPr lang="en-GB"/>
          </a:p>
        </p:txBody>
      </p:sp>
      <p:sp>
        <p:nvSpPr>
          <p:cNvPr id="5" name="Footer Placeholder 4"/>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298468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BCCF0B-5895-42CA-8DBB-D18A5932430B}" type="datetimeFigureOut">
              <a:rPr lang="en-GB" smtClean="0"/>
              <a:t>13/04/2026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1665998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BCCF0B-5895-42CA-8DBB-D18A5932430B}" type="datetimeFigureOut">
              <a:rPr lang="en-GB" smtClean="0"/>
              <a:t>13/04/2026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1473461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BCCF0B-5895-42CA-8DBB-D18A5932430B}" type="datetimeFigureOut">
              <a:rPr lang="en-GB" smtClean="0"/>
              <a:t>13/04/2026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1874210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BCCF0B-5895-42CA-8DBB-D18A5932430B}" type="datetimeFigureOut">
              <a:rPr lang="en-GB" smtClean="0"/>
              <a:t>13/04/2026</a:t>
            </a:fld>
            <a:endParaRPr lang="en-GB"/>
          </a:p>
        </p:txBody>
      </p:sp>
      <p:sp>
        <p:nvSpPr>
          <p:cNvPr id="3" name="Footer Placeholder 2"/>
          <p:cNvSpPr>
            <a:spLocks noGrp="1"/>
          </p:cNvSpPr>
          <p:nvPr>
            <p:ph type="ftr" sz="quarter" idx="11"/>
          </p:nvPr>
        </p:nvSpPr>
        <p:spPr/>
        <p:txBody>
          <a:bodyPr/>
          <a:lstStyle/>
          <a:p>
            <a:endParaRPr lang="en-GB"/>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3334145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BCCF0B-5895-42CA-8DBB-D18A5932430B}" type="datetimeFigureOut">
              <a:rPr lang="en-GB" smtClean="0"/>
              <a:t>13/04/2026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1997321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BCCF0B-5895-42CA-8DBB-D18A5932430B}" type="datetimeFigureOut">
              <a:rPr lang="en-GB" smtClean="0"/>
              <a:t>13/04/2026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91263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BCCF0B-5895-42CA-8DBB-D18A5932430B}" type="datetimeFigureOut">
              <a:rPr lang="en-GB" smtClean="0"/>
              <a:t>13/04/2026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502634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DBCCF0B-5895-42CA-8DBB-D18A5932430B}" type="datetimeFigureOut">
              <a:rPr lang="en-GB" smtClean="0"/>
              <a:t>13/04/2026</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3988345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DBCCF0B-5895-42CA-8DBB-D18A5932430B}" type="datetimeFigureOut">
              <a:rPr lang="en-GB" smtClean="0"/>
              <a:t>13/04/2026</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1179878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BCCF0B-5895-42CA-8DBB-D18A5932430B}" type="datetimeFigureOut">
              <a:rPr lang="en-GB" smtClean="0"/>
              <a:t>13/04/2026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1454209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DBCCF0B-5895-42CA-8DBB-D18A5932430B}" type="datetimeFigureOut">
              <a:rPr lang="en-GB" smtClean="0"/>
              <a:t>13/04/2026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9169760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DBCCF0B-5895-42CA-8DBB-D18A5932430B}" type="datetimeFigureOut">
              <a:rPr lang="en-GB" smtClean="0"/>
              <a:t>13/04/2026</a:t>
            </a:fld>
            <a:endParaRPr lang="en-GB"/>
          </a:p>
        </p:txBody>
      </p:sp>
      <p:sp>
        <p:nvSpPr>
          <p:cNvPr id="8" name="Footer Placeholder 7"/>
          <p:cNvSpPr>
            <a:spLocks noGrp="1"/>
          </p:cNvSpPr>
          <p:nvPr>
            <p:ph type="ftr" sz="quarter" idx="11"/>
          </p:nvPr>
        </p:nvSpPr>
        <p:spPr>
          <a:xfrm>
            <a:off x="561111" y="6391838"/>
            <a:ext cx="3644282" cy="304801"/>
          </a:xfrm>
        </p:spPr>
        <p:txBody>
          <a:bodyPr/>
          <a:lstStyle/>
          <a:p>
            <a:endParaRPr lang="en-GB"/>
          </a:p>
        </p:txBody>
      </p:sp>
      <p:sp>
        <p:nvSpPr>
          <p:cNvPr id="9" name="Slide Number Placeholder 8"/>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26603782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DBCCF0B-5895-42CA-8DBB-D18A5932430B}" type="datetimeFigureOut">
              <a:rPr lang="en-GB" smtClean="0"/>
              <a:t>13/04/2026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37796266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BCCF0B-5895-42CA-8DBB-D18A5932430B}" type="datetimeFigureOut">
              <a:rPr lang="en-GB" smtClean="0"/>
              <a:t>13/04/2026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C59982E-F6BD-4AD9-86B9-78924406E3C1}" type="slidenum">
              <a:rPr lang="en-GB" smtClean="0"/>
              <a:t>‹#›</a:t>
            </a:fld>
            <a:endParaRPr lang="en-GB"/>
          </a:p>
        </p:txBody>
      </p:sp>
    </p:spTree>
    <p:extLst>
      <p:ext uri="{BB962C8B-B14F-4D97-AF65-F5344CB8AC3E}">
        <p14:creationId xmlns:p14="http://schemas.microsoft.com/office/powerpoint/2010/main" val="1479083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DBCCF0B-5895-42CA-8DBB-D18A5932430B}" type="datetimeFigureOut">
              <a:rPr lang="en-GB" smtClean="0"/>
              <a:t>13/04/2026</a:t>
            </a:fld>
            <a:endParaRPr lang="en-GB"/>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C59982E-F6BD-4AD9-86B9-78924406E3C1}" type="slidenum">
              <a:rPr lang="en-GB" smtClean="0"/>
              <a:t>‹#›</a:t>
            </a:fld>
            <a:endParaRPr lang="en-GB"/>
          </a:p>
        </p:txBody>
      </p:sp>
    </p:spTree>
    <p:extLst>
      <p:ext uri="{BB962C8B-B14F-4D97-AF65-F5344CB8AC3E}">
        <p14:creationId xmlns:p14="http://schemas.microsoft.com/office/powerpoint/2010/main" val="2580457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76FE7-1AB5-53D6-936B-E8A15737ED24}"/>
              </a:ext>
            </a:extLst>
          </p:cNvPr>
          <p:cNvSpPr>
            <a:spLocks noGrp="1"/>
          </p:cNvSpPr>
          <p:nvPr>
            <p:ph type="ctrTitle"/>
          </p:nvPr>
        </p:nvSpPr>
        <p:spPr/>
        <p:txBody>
          <a:bodyPr/>
          <a:lstStyle/>
          <a:p>
            <a:r>
              <a:rPr lang="en-GB" dirty="0"/>
              <a:t>PHD Progression 15</a:t>
            </a:r>
          </a:p>
        </p:txBody>
      </p:sp>
      <p:sp>
        <p:nvSpPr>
          <p:cNvPr id="3" name="Subtitle 2">
            <a:extLst>
              <a:ext uri="{FF2B5EF4-FFF2-40B4-BE49-F238E27FC236}">
                <a16:creationId xmlns:a16="http://schemas.microsoft.com/office/drawing/2014/main" id="{DC1B96CF-21A6-E98A-29AD-796AA800D87E}"/>
              </a:ext>
            </a:extLst>
          </p:cNvPr>
          <p:cNvSpPr>
            <a:spLocks noGrp="1"/>
          </p:cNvSpPr>
          <p:nvPr>
            <p:ph type="subTitle" idx="1"/>
          </p:nvPr>
        </p:nvSpPr>
        <p:spPr/>
        <p:txBody>
          <a:bodyPr/>
          <a:lstStyle/>
          <a:p>
            <a:r>
              <a:rPr lang="en-GB" dirty="0"/>
              <a:t>Explainable AI with visual analytics</a:t>
            </a:r>
          </a:p>
          <a:p>
            <a:endParaRPr lang="en-GB" dirty="0"/>
          </a:p>
        </p:txBody>
      </p:sp>
    </p:spTree>
    <p:extLst>
      <p:ext uri="{BB962C8B-B14F-4D97-AF65-F5344CB8AC3E}">
        <p14:creationId xmlns:p14="http://schemas.microsoft.com/office/powerpoint/2010/main" val="2073393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81295-EEDD-7215-4C31-25F791E15C10}"/>
              </a:ext>
            </a:extLst>
          </p:cNvPr>
          <p:cNvSpPr>
            <a:spLocks noGrp="1"/>
          </p:cNvSpPr>
          <p:nvPr>
            <p:ph type="title"/>
          </p:nvPr>
        </p:nvSpPr>
        <p:spPr/>
        <p:txBody>
          <a:bodyPr/>
          <a:lstStyle/>
          <a:p>
            <a:r>
              <a:rPr lang="en-GB" dirty="0"/>
              <a:t>Proof of concept</a:t>
            </a:r>
          </a:p>
        </p:txBody>
      </p:sp>
      <p:sp>
        <p:nvSpPr>
          <p:cNvPr id="3" name="Content Placeholder 2">
            <a:extLst>
              <a:ext uri="{FF2B5EF4-FFF2-40B4-BE49-F238E27FC236}">
                <a16:creationId xmlns:a16="http://schemas.microsoft.com/office/drawing/2014/main" id="{93CEDA76-C942-C4F9-C833-4E19B6D0AE75}"/>
              </a:ext>
            </a:extLst>
          </p:cNvPr>
          <p:cNvSpPr>
            <a:spLocks noGrp="1"/>
          </p:cNvSpPr>
          <p:nvPr>
            <p:ph idx="1"/>
          </p:nvPr>
        </p:nvSpPr>
        <p:spPr/>
        <p:txBody>
          <a:bodyPr/>
          <a:lstStyle/>
          <a:p>
            <a:r>
              <a:rPr lang="en-GB" b="1" dirty="0"/>
              <a:t>Attention Entropy as an Interpretability Signal</a:t>
            </a:r>
          </a:p>
          <a:p>
            <a:r>
              <a:rPr lang="en-GB" dirty="0"/>
              <a:t>Shannon entropy H = -Σ p log p measures the uncertainty or spread of a probability distribution. Applied to an attention weight distribution over T tokens, it quantifies how “focused” versus “diffuse” a head’s attention is:</a:t>
            </a:r>
          </a:p>
          <a:p>
            <a:pPr lvl="0"/>
            <a:r>
              <a:rPr lang="en-GB" dirty="0"/>
              <a:t>H = 0: the head attends entirely to one token (maximally focused, like a retrieval operation).</a:t>
            </a:r>
          </a:p>
          <a:p>
            <a:pPr lvl="0"/>
            <a:r>
              <a:rPr lang="en-GB" dirty="0"/>
              <a:t>H = log T: the head attends uniformly to all tokens (maximally diffuse, like a global average-pooling operation).</a:t>
            </a:r>
          </a:p>
          <a:p>
            <a:pPr lvl="0"/>
            <a:r>
              <a:rPr lang="en-GB" dirty="0"/>
              <a:t>Intermediate values: the head attends selectively to a subset of tokens.</a:t>
            </a:r>
          </a:p>
          <a:p>
            <a:pPr marL="0" indent="0">
              <a:buNone/>
            </a:pPr>
            <a:endParaRPr lang="en-GB" dirty="0"/>
          </a:p>
        </p:txBody>
      </p:sp>
    </p:spTree>
    <p:extLst>
      <p:ext uri="{BB962C8B-B14F-4D97-AF65-F5344CB8AC3E}">
        <p14:creationId xmlns:p14="http://schemas.microsoft.com/office/powerpoint/2010/main" val="2074804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DAB97-648C-BC2C-505F-EF160029E40F}"/>
              </a:ext>
            </a:extLst>
          </p:cNvPr>
          <p:cNvSpPr>
            <a:spLocks noGrp="1"/>
          </p:cNvSpPr>
          <p:nvPr>
            <p:ph type="title"/>
          </p:nvPr>
        </p:nvSpPr>
        <p:spPr/>
        <p:txBody>
          <a:bodyPr/>
          <a:lstStyle/>
          <a:p>
            <a:r>
              <a:rPr lang="en-GB" b="1" dirty="0"/>
              <a:t>Dimensionality Reduction for Neural Representations</a:t>
            </a:r>
            <a:endParaRPr lang="en-GB" dirty="0"/>
          </a:p>
        </p:txBody>
      </p:sp>
      <p:sp>
        <p:nvSpPr>
          <p:cNvPr id="3" name="Content Placeholder 2">
            <a:extLst>
              <a:ext uri="{FF2B5EF4-FFF2-40B4-BE49-F238E27FC236}">
                <a16:creationId xmlns:a16="http://schemas.microsoft.com/office/drawing/2014/main" id="{451D21E9-8652-0B0D-9003-5FFFF788C4D3}"/>
              </a:ext>
            </a:extLst>
          </p:cNvPr>
          <p:cNvSpPr>
            <a:spLocks noGrp="1"/>
          </p:cNvSpPr>
          <p:nvPr>
            <p:ph idx="1"/>
          </p:nvPr>
        </p:nvSpPr>
        <p:spPr/>
        <p:txBody>
          <a:bodyPr/>
          <a:lstStyle/>
          <a:p>
            <a:r>
              <a:rPr lang="en-GB" dirty="0"/>
              <a:t>PCA (Principal Component Analysis) finds the directions of maximum variance in the dataset. It is linear, deterministic, and preserves global structure (tokens far apart in 512D will be far apart in 2D). The explained variance ratio for each component is computable and displayed in the sidebar, giving the user a measure of how much information the projection retains.</a:t>
            </a:r>
          </a:p>
          <a:p>
            <a:r>
              <a:rPr lang="en-GB" dirty="0"/>
              <a:t>t-SNE (t-Distributed Stochastic Neighbour Embedding) is a non-linear technique that prioritises preserving local neighbourhoods. Tokens that are similar in 512D will be placed close together in 2D, even if this distorts global distances. t-SNE is better at revealing cluster structure but slower and non-deterministic without a fixed seed.</a:t>
            </a:r>
          </a:p>
          <a:p>
            <a:pPr marL="0" indent="0">
              <a:buNone/>
            </a:pPr>
            <a:endParaRPr lang="en-GB" dirty="0"/>
          </a:p>
        </p:txBody>
      </p:sp>
    </p:spTree>
    <p:extLst>
      <p:ext uri="{BB962C8B-B14F-4D97-AF65-F5344CB8AC3E}">
        <p14:creationId xmlns:p14="http://schemas.microsoft.com/office/powerpoint/2010/main" val="3051056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GB"/>
            </a:p>
          </p:txBody>
        </p:sp>
      </p:grpSp>
      <p:sp>
        <p:nvSpPr>
          <p:cNvPr id="2" name="Title 1">
            <a:extLst>
              <a:ext uri="{FF2B5EF4-FFF2-40B4-BE49-F238E27FC236}">
                <a16:creationId xmlns:a16="http://schemas.microsoft.com/office/drawing/2014/main" id="{C299DBEC-BD28-6923-612F-7D00481AEE72}"/>
              </a:ext>
            </a:extLst>
          </p:cNvPr>
          <p:cNvSpPr>
            <a:spLocks noGrp="1"/>
          </p:cNvSpPr>
          <p:nvPr>
            <p:ph type="title"/>
          </p:nvPr>
        </p:nvSpPr>
        <p:spPr>
          <a:xfrm>
            <a:off x="1154954" y="973668"/>
            <a:ext cx="8761413" cy="706964"/>
          </a:xfrm>
        </p:spPr>
        <p:txBody>
          <a:bodyPr>
            <a:normAutofit/>
          </a:bodyPr>
          <a:lstStyle/>
          <a:p>
            <a:endParaRPr lang="en-GB">
              <a:solidFill>
                <a:srgbClr val="FFFFFF"/>
              </a:solidFill>
            </a:endParaRP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4" name="Content Placeholder 3">
            <a:extLst>
              <a:ext uri="{FF2B5EF4-FFF2-40B4-BE49-F238E27FC236}">
                <a16:creationId xmlns:a16="http://schemas.microsoft.com/office/drawing/2014/main" id="{902F2DA3-57E3-80EE-3937-48EADB448778}"/>
              </a:ext>
            </a:extLst>
          </p:cNvPr>
          <p:cNvGraphicFramePr>
            <a:graphicFrameLocks noGrp="1"/>
          </p:cNvGraphicFramePr>
          <p:nvPr>
            <p:ph idx="1"/>
            <p:extLst>
              <p:ext uri="{D42A27DB-BD31-4B8C-83A1-F6EECF244321}">
                <p14:modId xmlns:p14="http://schemas.microsoft.com/office/powerpoint/2010/main" val="4209555543"/>
              </p:ext>
            </p:extLst>
          </p:nvPr>
        </p:nvGraphicFramePr>
        <p:xfrm>
          <a:off x="1286934" y="2384586"/>
          <a:ext cx="9625384" cy="3301714"/>
        </p:xfrm>
        <a:graphic>
          <a:graphicData uri="http://schemas.openxmlformats.org/drawingml/2006/table">
            <a:tbl>
              <a:tblPr firstRow="1" firstCol="1" bandRow="1">
                <a:tableStyleId>{5C22544A-7EE6-4342-B048-85BDC9FD1C3A}</a:tableStyleId>
              </a:tblPr>
              <a:tblGrid>
                <a:gridCol w="2456630">
                  <a:extLst>
                    <a:ext uri="{9D8B030D-6E8A-4147-A177-3AD203B41FA5}">
                      <a16:colId xmlns:a16="http://schemas.microsoft.com/office/drawing/2014/main" val="3175380854"/>
                    </a:ext>
                  </a:extLst>
                </a:gridCol>
                <a:gridCol w="3590774">
                  <a:extLst>
                    <a:ext uri="{9D8B030D-6E8A-4147-A177-3AD203B41FA5}">
                      <a16:colId xmlns:a16="http://schemas.microsoft.com/office/drawing/2014/main" val="3332285331"/>
                    </a:ext>
                  </a:extLst>
                </a:gridCol>
                <a:gridCol w="3577980">
                  <a:extLst>
                    <a:ext uri="{9D8B030D-6E8A-4147-A177-3AD203B41FA5}">
                      <a16:colId xmlns:a16="http://schemas.microsoft.com/office/drawing/2014/main" val="355296408"/>
                    </a:ext>
                  </a:extLst>
                </a:gridCol>
              </a:tblGrid>
              <a:tr h="468398">
                <a:tc>
                  <a:txBody>
                    <a:bodyPr/>
                    <a:lstStyle/>
                    <a:p>
                      <a:pPr>
                        <a:buNone/>
                      </a:pPr>
                      <a:r>
                        <a:rPr lang="en-GB" sz="1600">
                          <a:effectLst/>
                        </a:rPr>
                        <a:t>Property</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PCA</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t-SNE (default)</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extLst>
                  <a:ext uri="{0D108BD9-81ED-4DB2-BD59-A6C34878D82A}">
                    <a16:rowId xmlns:a16="http://schemas.microsoft.com/office/drawing/2014/main" val="3100819790"/>
                  </a:ext>
                </a:extLst>
              </a:tr>
              <a:tr h="468398">
                <a:tc>
                  <a:txBody>
                    <a:bodyPr/>
                    <a:lstStyle/>
                    <a:p>
                      <a:pPr>
                        <a:buNone/>
                      </a:pPr>
                      <a:r>
                        <a:rPr lang="en-GB" sz="1600">
                          <a:effectLst/>
                        </a:rPr>
                        <a:t>Preserves</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Global variance structure</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Local neighbourhood structure</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extLst>
                  <a:ext uri="{0D108BD9-81ED-4DB2-BD59-A6C34878D82A}">
                    <a16:rowId xmlns:a16="http://schemas.microsoft.com/office/drawing/2014/main" val="2509364162"/>
                  </a:ext>
                </a:extLst>
              </a:tr>
              <a:tr h="468398">
                <a:tc>
                  <a:txBody>
                    <a:bodyPr/>
                    <a:lstStyle/>
                    <a:p>
                      <a:pPr>
                        <a:buNone/>
                      </a:pPr>
                      <a:r>
                        <a:rPr lang="en-GB" sz="1600">
                          <a:effectLst/>
                        </a:rPr>
                        <a:t>Speed</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Very fast (&lt; 1ms)</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Slower (~100–500ms)</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extLst>
                  <a:ext uri="{0D108BD9-81ED-4DB2-BD59-A6C34878D82A}">
                    <a16:rowId xmlns:a16="http://schemas.microsoft.com/office/drawing/2014/main" val="2509106485"/>
                  </a:ext>
                </a:extLst>
              </a:tr>
              <a:tr h="714061">
                <a:tc>
                  <a:txBody>
                    <a:bodyPr/>
                    <a:lstStyle/>
                    <a:p>
                      <a:pPr>
                        <a:buNone/>
                      </a:pPr>
                      <a:r>
                        <a:rPr lang="en-GB" sz="1600">
                          <a:effectLst/>
                        </a:rPr>
                        <a:t>Interpretability</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Axes have meaning (PC1 = max variance)</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Axes have no inherent meaning</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extLst>
                  <a:ext uri="{0D108BD9-81ED-4DB2-BD59-A6C34878D82A}">
                    <a16:rowId xmlns:a16="http://schemas.microsoft.com/office/drawing/2014/main" val="1389448320"/>
                  </a:ext>
                </a:extLst>
              </a:tr>
              <a:tr h="714061">
                <a:tc>
                  <a:txBody>
                    <a:bodyPr/>
                    <a:lstStyle/>
                    <a:p>
                      <a:pPr>
                        <a:buNone/>
                      </a:pPr>
                      <a:r>
                        <a:rPr lang="en-GB" sz="1600">
                          <a:effectLst/>
                        </a:rPr>
                        <a:t>Best for</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Comparing layers (consistent projection)</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Revealing semantic clusters</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extLst>
                  <a:ext uri="{0D108BD9-81ED-4DB2-BD59-A6C34878D82A}">
                    <a16:rowId xmlns:a16="http://schemas.microsoft.com/office/drawing/2014/main" val="242249959"/>
                  </a:ext>
                </a:extLst>
              </a:tr>
              <a:tr h="468398">
                <a:tc>
                  <a:txBody>
                    <a:bodyPr/>
                    <a:lstStyle/>
                    <a:p>
                      <a:pPr>
                        <a:buNone/>
                      </a:pPr>
                      <a:r>
                        <a:rPr lang="en-GB" sz="1600">
                          <a:effectLst/>
                        </a:rPr>
                        <a:t>Implemented as</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a:effectLst/>
                        </a:rPr>
                        <a:t>StandardScaler → PCA</a:t>
                      </a:r>
                      <a:endParaRPr lang="en-GB" sz="1800">
                        <a:solidFill>
                          <a:srgbClr val="1E1030"/>
                        </a:solidFill>
                        <a:effectLst/>
                        <a:latin typeface="Arial" panose="020B0604020202020204" pitchFamily="34" charset="0"/>
                        <a:ea typeface="Arial" panose="020B0604020202020204" pitchFamily="34" charset="0"/>
                      </a:endParaRPr>
                    </a:p>
                  </a:txBody>
                  <a:tcPr marL="122831" marR="122831" marT="81888" marB="81888"/>
                </a:tc>
                <a:tc>
                  <a:txBody>
                    <a:bodyPr/>
                    <a:lstStyle/>
                    <a:p>
                      <a:pPr>
                        <a:buNone/>
                      </a:pPr>
                      <a:r>
                        <a:rPr lang="en-GB" sz="1600" dirty="0">
                          <a:effectLst/>
                        </a:rPr>
                        <a:t>PCA(10) pre-reduce → t-SNE</a:t>
                      </a:r>
                      <a:endParaRPr lang="en-GB" sz="1800" dirty="0">
                        <a:solidFill>
                          <a:srgbClr val="1E1030"/>
                        </a:solidFill>
                        <a:effectLst/>
                        <a:latin typeface="Arial" panose="020B0604020202020204" pitchFamily="34" charset="0"/>
                        <a:ea typeface="Arial" panose="020B0604020202020204" pitchFamily="34" charset="0"/>
                      </a:endParaRPr>
                    </a:p>
                  </a:txBody>
                  <a:tcPr marL="122831" marR="122831" marT="81888" marB="81888"/>
                </a:tc>
                <a:extLst>
                  <a:ext uri="{0D108BD9-81ED-4DB2-BD59-A6C34878D82A}">
                    <a16:rowId xmlns:a16="http://schemas.microsoft.com/office/drawing/2014/main" val="2083705649"/>
                  </a:ext>
                </a:extLst>
              </a:tr>
            </a:tbl>
          </a:graphicData>
        </a:graphic>
      </p:graphicFrame>
    </p:spTree>
    <p:extLst>
      <p:ext uri="{BB962C8B-B14F-4D97-AF65-F5344CB8AC3E}">
        <p14:creationId xmlns:p14="http://schemas.microsoft.com/office/powerpoint/2010/main" val="57781177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2A4D5-2039-CF95-A2DB-E870C53CE84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FAA8F138-0274-0228-635D-0E7ACB24FFA9}"/>
              </a:ext>
            </a:extLst>
          </p:cNvPr>
          <p:cNvSpPr>
            <a:spLocks noGrp="1"/>
          </p:cNvSpPr>
          <p:nvPr>
            <p:ph idx="1"/>
          </p:nvPr>
        </p:nvSpPr>
        <p:spPr/>
        <p:txBody>
          <a:bodyPr>
            <a:normAutofit lnSpcReduction="10000"/>
          </a:bodyPr>
          <a:lstStyle/>
          <a:p>
            <a:r>
              <a:rPr lang="en-GB" b="1" dirty="0"/>
              <a:t>Residual Stream as a Communication Channel</a:t>
            </a:r>
          </a:p>
          <a:p>
            <a:r>
              <a:rPr lang="en-GB" dirty="0"/>
              <a:t>Modern transformers use residual connections: the output of each sub-layer is added to its input rather than replacing it. This creates a “residual stream”  a running sum that accumulates information across all layers:</a:t>
            </a:r>
          </a:p>
          <a:p>
            <a:r>
              <a:rPr lang="en-GB" dirty="0"/>
              <a:t>h^{l+1} = </a:t>
            </a:r>
            <a:r>
              <a:rPr lang="en-GB" dirty="0" err="1"/>
              <a:t>h^l</a:t>
            </a:r>
            <a:r>
              <a:rPr lang="en-GB" dirty="0"/>
              <a:t> + Attention(</a:t>
            </a:r>
            <a:r>
              <a:rPr lang="en-GB" dirty="0" err="1"/>
              <a:t>h^l</a:t>
            </a:r>
            <a:r>
              <a:rPr lang="en-GB" dirty="0"/>
              <a:t>) + FFN(</a:t>
            </a:r>
            <a:r>
              <a:rPr lang="en-GB" dirty="0" err="1"/>
              <a:t>h^l</a:t>
            </a:r>
            <a:r>
              <a:rPr lang="en-GB" dirty="0"/>
              <a:t> + Attention(</a:t>
            </a:r>
            <a:r>
              <a:rPr lang="en-GB" dirty="0" err="1"/>
              <a:t>h^l</a:t>
            </a:r>
            <a:r>
              <a:rPr lang="en-GB" dirty="0"/>
              <a:t>))</a:t>
            </a:r>
          </a:p>
          <a:p>
            <a:r>
              <a:rPr lang="en-GB" dirty="0"/>
              <a:t>The residual stream is the primary object that mechanistic interpretability researchers study, because it is the medium through which all information in the model flows. The green “residual” edges in the visualisation represent this same-token cross-layer connection, making the stream’s continuity visible. The activation norm ||</a:t>
            </a:r>
            <a:r>
              <a:rPr lang="en-GB" dirty="0" err="1"/>
              <a:t>h^l_t</a:t>
            </a:r>
            <a:r>
              <a:rPr lang="en-GB" dirty="0"/>
              <a:t>||_2 measures how much information has been added to the stream for token t up to layer l.</a:t>
            </a:r>
          </a:p>
          <a:p>
            <a:endParaRPr lang="en-GB" dirty="0"/>
          </a:p>
        </p:txBody>
      </p:sp>
    </p:spTree>
    <p:extLst>
      <p:ext uri="{BB962C8B-B14F-4D97-AF65-F5344CB8AC3E}">
        <p14:creationId xmlns:p14="http://schemas.microsoft.com/office/powerpoint/2010/main" val="2691262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9D470-27DF-8242-EBCC-C2202C3D18E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D522FBD-6C78-527B-547E-AF34FCB93B00}"/>
              </a:ext>
            </a:extLst>
          </p:cNvPr>
          <p:cNvSpPr>
            <a:spLocks noGrp="1"/>
          </p:cNvSpPr>
          <p:nvPr>
            <p:ph idx="1"/>
          </p:nvPr>
        </p:nvSpPr>
        <p:spPr/>
        <p:txBody>
          <a:bodyPr/>
          <a:lstStyle/>
          <a:p>
            <a:r>
              <a:rPr lang="en-GB" b="1" dirty="0"/>
              <a:t>  Hierarchical Clustering in Representational Space</a:t>
            </a:r>
          </a:p>
          <a:p>
            <a:r>
              <a:rPr lang="en-GB" dirty="0"/>
              <a:t>Ward linkage hierarchical clustering groups tokens whose 512-dimensional representations are similar. In the context of language models, tokens from the same syntactic category (nouns, verbs, function words) tend to cluster together in the representation space, because the model has learned to encode part-of-speech information in the hidden states. </a:t>
            </a:r>
          </a:p>
        </p:txBody>
      </p:sp>
    </p:spTree>
    <p:extLst>
      <p:ext uri="{BB962C8B-B14F-4D97-AF65-F5344CB8AC3E}">
        <p14:creationId xmlns:p14="http://schemas.microsoft.com/office/powerpoint/2010/main" val="3956882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13" name="Freeform: Shape 12">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5"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4A501E0E-A05F-3B21-B856-DD7D6332CFFA}"/>
              </a:ext>
            </a:extLst>
          </p:cNvPr>
          <p:cNvSpPr>
            <a:spLocks noGrp="1"/>
          </p:cNvSpPr>
          <p:nvPr>
            <p:ph type="title"/>
          </p:nvPr>
        </p:nvSpPr>
        <p:spPr>
          <a:xfrm>
            <a:off x="639098" y="629265"/>
            <a:ext cx="5132438" cy="1622322"/>
          </a:xfrm>
        </p:spPr>
        <p:txBody>
          <a:bodyPr>
            <a:normAutofit/>
          </a:bodyPr>
          <a:lstStyle/>
          <a:p>
            <a:r>
              <a:rPr lang="en-GB" b="1">
                <a:solidFill>
                  <a:srgbClr val="EBEBEB"/>
                </a:solidFill>
              </a:rPr>
              <a:t>TinyStories-33M Architecture</a:t>
            </a:r>
            <a:endParaRPr lang="en-GB">
              <a:solidFill>
                <a:srgbClr val="EBEBEB"/>
              </a:solidFill>
            </a:endParaRPr>
          </a:p>
        </p:txBody>
      </p:sp>
      <p:sp>
        <p:nvSpPr>
          <p:cNvPr id="17" name="Rectangle 16">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71735C22-5988-FF31-4230-E39114AB1AD1}"/>
              </a:ext>
            </a:extLst>
          </p:cNvPr>
          <p:cNvSpPr>
            <a:spLocks noGrp="1"/>
          </p:cNvSpPr>
          <p:nvPr>
            <p:ph idx="1"/>
          </p:nvPr>
        </p:nvSpPr>
        <p:spPr>
          <a:xfrm>
            <a:off x="639098" y="2418735"/>
            <a:ext cx="5132439" cy="3811742"/>
          </a:xfrm>
        </p:spPr>
        <p:txBody>
          <a:bodyPr anchor="ctr">
            <a:normAutofit/>
          </a:bodyPr>
          <a:lstStyle/>
          <a:p>
            <a:r>
              <a:rPr lang="en-GB">
                <a:solidFill>
                  <a:srgbClr val="FFFFFF"/>
                </a:solidFill>
              </a:rPr>
              <a:t>TinyStories-33M (roneneldan/TinyStories-33M on HuggingFace) is a GPT-Neo variant trained on TinyStories. The verified architecture parameters, read directly from the live model config.json, are as follows:</a:t>
            </a:r>
          </a:p>
          <a:p>
            <a:endParaRPr lang="en-GB">
              <a:solidFill>
                <a:srgbClr val="FFFFFF"/>
              </a:solidFill>
            </a:endParaRPr>
          </a:p>
        </p:txBody>
      </p:sp>
      <p:graphicFrame>
        <p:nvGraphicFramePr>
          <p:cNvPr id="4" name="Table 3">
            <a:extLst>
              <a:ext uri="{FF2B5EF4-FFF2-40B4-BE49-F238E27FC236}">
                <a16:creationId xmlns:a16="http://schemas.microsoft.com/office/drawing/2014/main" id="{174DC304-BCD5-9A20-5A33-5B2A5BBB3ACA}"/>
              </a:ext>
            </a:extLst>
          </p:cNvPr>
          <p:cNvGraphicFramePr>
            <a:graphicFrameLocks noGrp="1"/>
          </p:cNvGraphicFramePr>
          <p:nvPr>
            <p:extLst>
              <p:ext uri="{D42A27DB-BD31-4B8C-83A1-F6EECF244321}">
                <p14:modId xmlns:p14="http://schemas.microsoft.com/office/powerpoint/2010/main" val="864623623"/>
              </p:ext>
            </p:extLst>
          </p:nvPr>
        </p:nvGraphicFramePr>
        <p:xfrm>
          <a:off x="6714836" y="1134531"/>
          <a:ext cx="4828708" cy="4755348"/>
        </p:xfrm>
        <a:graphic>
          <a:graphicData uri="http://schemas.openxmlformats.org/drawingml/2006/table">
            <a:tbl>
              <a:tblPr firstRow="1" firstCol="1" bandRow="1">
                <a:tableStyleId>{5C22544A-7EE6-4342-B048-85BDC9FD1C3A}</a:tableStyleId>
              </a:tblPr>
              <a:tblGrid>
                <a:gridCol w="1394785">
                  <a:extLst>
                    <a:ext uri="{9D8B030D-6E8A-4147-A177-3AD203B41FA5}">
                      <a16:colId xmlns:a16="http://schemas.microsoft.com/office/drawing/2014/main" val="1628323885"/>
                    </a:ext>
                  </a:extLst>
                </a:gridCol>
                <a:gridCol w="1137873">
                  <a:extLst>
                    <a:ext uri="{9D8B030D-6E8A-4147-A177-3AD203B41FA5}">
                      <a16:colId xmlns:a16="http://schemas.microsoft.com/office/drawing/2014/main" val="3029179896"/>
                    </a:ext>
                  </a:extLst>
                </a:gridCol>
                <a:gridCol w="2296050">
                  <a:extLst>
                    <a:ext uri="{9D8B030D-6E8A-4147-A177-3AD203B41FA5}">
                      <a16:colId xmlns:a16="http://schemas.microsoft.com/office/drawing/2014/main" val="3285620559"/>
                    </a:ext>
                  </a:extLst>
                </a:gridCol>
              </a:tblGrid>
              <a:tr h="379236">
                <a:tc>
                  <a:txBody>
                    <a:bodyPr/>
                    <a:lstStyle/>
                    <a:p>
                      <a:pPr>
                        <a:buNone/>
                      </a:pPr>
                      <a:r>
                        <a:rPr lang="en-GB" sz="1300">
                          <a:effectLst/>
                        </a:rPr>
                        <a:t>Parameter</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Value</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Notes</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extLst>
                  <a:ext uri="{0D108BD9-81ED-4DB2-BD59-A6C34878D82A}">
                    <a16:rowId xmlns:a16="http://schemas.microsoft.com/office/drawing/2014/main" val="3753789510"/>
                  </a:ext>
                </a:extLst>
              </a:tr>
              <a:tr h="578136">
                <a:tc>
                  <a:txBody>
                    <a:bodyPr/>
                    <a:lstStyle/>
                    <a:p>
                      <a:pPr>
                        <a:buNone/>
                      </a:pPr>
                      <a:r>
                        <a:rPr lang="en-GB" sz="1300">
                          <a:effectLst/>
                        </a:rPr>
                        <a:t>Architecture</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GPT-Neo</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EleutherAI decoder-only transformer</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extLst>
                  <a:ext uri="{0D108BD9-81ED-4DB2-BD59-A6C34878D82A}">
                    <a16:rowId xmlns:a16="http://schemas.microsoft.com/office/drawing/2014/main" val="1269754764"/>
                  </a:ext>
                </a:extLst>
              </a:tr>
              <a:tr h="379236">
                <a:tc>
                  <a:txBody>
                    <a:bodyPr/>
                    <a:lstStyle/>
                    <a:p>
                      <a:pPr>
                        <a:buNone/>
                      </a:pPr>
                      <a:r>
                        <a:rPr lang="en-GB" sz="1300">
                          <a:effectLst/>
                        </a:rPr>
                        <a:t>N_LAYERS</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4</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Transformer blocks</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extLst>
                  <a:ext uri="{0D108BD9-81ED-4DB2-BD59-A6C34878D82A}">
                    <a16:rowId xmlns:a16="http://schemas.microsoft.com/office/drawing/2014/main" val="1623405926"/>
                  </a:ext>
                </a:extLst>
              </a:tr>
              <a:tr h="578136">
                <a:tc>
                  <a:txBody>
                    <a:bodyPr/>
                    <a:lstStyle/>
                    <a:p>
                      <a:pPr>
                        <a:buNone/>
                      </a:pPr>
                      <a:r>
                        <a:rPr lang="en-GB" sz="1300">
                          <a:effectLst/>
                        </a:rPr>
                        <a:t>N_HEADS</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16</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Verified from live model config.json</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extLst>
                  <a:ext uri="{0D108BD9-81ED-4DB2-BD59-A6C34878D82A}">
                    <a16:rowId xmlns:a16="http://schemas.microsoft.com/office/drawing/2014/main" val="2359453944"/>
                  </a:ext>
                </a:extLst>
              </a:tr>
              <a:tr h="379236">
                <a:tc>
                  <a:txBody>
                    <a:bodyPr/>
                    <a:lstStyle/>
                    <a:p>
                      <a:pPr>
                        <a:buNone/>
                      </a:pPr>
                      <a:r>
                        <a:rPr lang="en-GB" sz="1300">
                          <a:effectLst/>
                        </a:rPr>
                        <a:t>D_MODEL</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512</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Hidden state dimension</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extLst>
                  <a:ext uri="{0D108BD9-81ED-4DB2-BD59-A6C34878D82A}">
                    <a16:rowId xmlns:a16="http://schemas.microsoft.com/office/drawing/2014/main" val="1140020780"/>
                  </a:ext>
                </a:extLst>
              </a:tr>
              <a:tr h="578136">
                <a:tc>
                  <a:txBody>
                    <a:bodyPr/>
                    <a:lstStyle/>
                    <a:p>
                      <a:pPr>
                        <a:buNone/>
                      </a:pPr>
                      <a:r>
                        <a:rPr lang="en-GB" sz="1300">
                          <a:effectLst/>
                        </a:rPr>
                        <a:t>HEAD_DIM</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32</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D_MODEL / N_HEADS = 512 / 16</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extLst>
                  <a:ext uri="{0D108BD9-81ED-4DB2-BD59-A6C34878D82A}">
                    <a16:rowId xmlns:a16="http://schemas.microsoft.com/office/drawing/2014/main" val="3235712991"/>
                  </a:ext>
                </a:extLst>
              </a:tr>
              <a:tr h="578136">
                <a:tc>
                  <a:txBody>
                    <a:bodyPr/>
                    <a:lstStyle/>
                    <a:p>
                      <a:pPr>
                        <a:buNone/>
                      </a:pPr>
                      <a:r>
                        <a:rPr lang="en-GB" sz="1300">
                          <a:effectLst/>
                        </a:rPr>
                        <a:t>Context length</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512 tokens</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Per paper; HF config reports 2048 (discrepancy)</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extLst>
                  <a:ext uri="{0D108BD9-81ED-4DB2-BD59-A6C34878D82A}">
                    <a16:rowId xmlns:a16="http://schemas.microsoft.com/office/drawing/2014/main" val="3091105743"/>
                  </a:ext>
                </a:extLst>
              </a:tr>
              <a:tr h="578136">
                <a:tc>
                  <a:txBody>
                    <a:bodyPr/>
                    <a:lstStyle/>
                    <a:p>
                      <a:pPr>
                        <a:buNone/>
                      </a:pPr>
                      <a:r>
                        <a:rPr lang="en-GB" sz="1300">
                          <a:effectLst/>
                        </a:rPr>
                        <a:t>Tokeniser</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GPT-Neo BPE</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50,257-token vocabulary</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extLst>
                  <a:ext uri="{0D108BD9-81ED-4DB2-BD59-A6C34878D82A}">
                    <a16:rowId xmlns:a16="http://schemas.microsoft.com/office/drawing/2014/main" val="3535921967"/>
                  </a:ext>
                </a:extLst>
              </a:tr>
              <a:tr h="578136">
                <a:tc>
                  <a:txBody>
                    <a:bodyPr/>
                    <a:lstStyle/>
                    <a:p>
                      <a:pPr>
                        <a:buNone/>
                      </a:pPr>
                      <a:r>
                        <a:rPr lang="en-GB" sz="1300">
                          <a:effectLst/>
                        </a:rPr>
                        <a:t>Norm range</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a:effectLst/>
                        </a:rPr>
                        <a:t>4.0–12.0</a:t>
                      </a:r>
                      <a:endParaRPr lang="en-GB" sz="1400">
                        <a:solidFill>
                          <a:srgbClr val="1E1030"/>
                        </a:solidFill>
                        <a:effectLst/>
                        <a:latin typeface="Arial" panose="020B0604020202020204" pitchFamily="34" charset="0"/>
                        <a:ea typeface="Arial" panose="020B0604020202020204" pitchFamily="34" charset="0"/>
                      </a:endParaRPr>
                    </a:p>
                  </a:txBody>
                  <a:tcPr marL="99450" marR="99450" marT="66300" marB="66300"/>
                </a:tc>
                <a:tc>
                  <a:txBody>
                    <a:bodyPr/>
                    <a:lstStyle/>
                    <a:p>
                      <a:pPr>
                        <a:buNone/>
                      </a:pPr>
                      <a:r>
                        <a:rPr lang="en-GB" sz="1300" dirty="0">
                          <a:effectLst/>
                        </a:rPr>
                        <a:t>Pre-LN residual stream, empirically verified</a:t>
                      </a:r>
                      <a:endParaRPr lang="en-GB" sz="1400" dirty="0">
                        <a:solidFill>
                          <a:srgbClr val="1E1030"/>
                        </a:solidFill>
                        <a:effectLst/>
                        <a:latin typeface="Arial" panose="020B0604020202020204" pitchFamily="34" charset="0"/>
                        <a:ea typeface="Arial" panose="020B0604020202020204" pitchFamily="34" charset="0"/>
                      </a:endParaRPr>
                    </a:p>
                  </a:txBody>
                  <a:tcPr marL="99450" marR="99450" marT="66300" marB="66300"/>
                </a:tc>
                <a:extLst>
                  <a:ext uri="{0D108BD9-81ED-4DB2-BD59-A6C34878D82A}">
                    <a16:rowId xmlns:a16="http://schemas.microsoft.com/office/drawing/2014/main" val="3866672373"/>
                  </a:ext>
                </a:extLst>
              </a:tr>
            </a:tbl>
          </a:graphicData>
        </a:graphic>
      </p:graphicFrame>
    </p:spTree>
    <p:extLst>
      <p:ext uri="{BB962C8B-B14F-4D97-AF65-F5344CB8AC3E}">
        <p14:creationId xmlns:p14="http://schemas.microsoft.com/office/powerpoint/2010/main" val="4071850812"/>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GB"/>
            </a:p>
          </p:txBody>
        </p:sp>
      </p:grpSp>
      <p:sp>
        <p:nvSpPr>
          <p:cNvPr id="2" name="Title 1">
            <a:extLst>
              <a:ext uri="{FF2B5EF4-FFF2-40B4-BE49-F238E27FC236}">
                <a16:creationId xmlns:a16="http://schemas.microsoft.com/office/drawing/2014/main" id="{1BC2E3E6-74ED-CCF4-B20F-234DBAEDF700}"/>
              </a:ext>
            </a:extLst>
          </p:cNvPr>
          <p:cNvSpPr>
            <a:spLocks noGrp="1"/>
          </p:cNvSpPr>
          <p:nvPr>
            <p:ph type="title"/>
          </p:nvPr>
        </p:nvSpPr>
        <p:spPr>
          <a:xfrm>
            <a:off x="1154954" y="973668"/>
            <a:ext cx="8761413" cy="706964"/>
          </a:xfrm>
        </p:spPr>
        <p:txBody>
          <a:bodyPr>
            <a:normAutofit/>
          </a:bodyPr>
          <a:lstStyle/>
          <a:p>
            <a:pPr>
              <a:lnSpc>
                <a:spcPct val="90000"/>
              </a:lnSpc>
            </a:pPr>
            <a:r>
              <a:rPr lang="en-GB" sz="2000" b="1">
                <a:solidFill>
                  <a:srgbClr val="FFFFFF"/>
                </a:solidFill>
              </a:rPr>
              <a:t>How to Evaluate This Proof of Concept</a:t>
            </a:r>
            <a:br>
              <a:rPr lang="en-GB" sz="2000" b="1">
                <a:solidFill>
                  <a:srgbClr val="FFFFFF"/>
                </a:solidFill>
              </a:rPr>
            </a:br>
            <a:endParaRPr lang="en-GB" sz="2000">
              <a:solidFill>
                <a:srgbClr val="FFFFFF"/>
              </a:solidFill>
            </a:endParaRP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4" name="Content Placeholder 3">
            <a:extLst>
              <a:ext uri="{FF2B5EF4-FFF2-40B4-BE49-F238E27FC236}">
                <a16:creationId xmlns:a16="http://schemas.microsoft.com/office/drawing/2014/main" id="{29CC7F26-2FC6-CEDB-3FA8-B8A2159EC27D}"/>
              </a:ext>
            </a:extLst>
          </p:cNvPr>
          <p:cNvGraphicFramePr>
            <a:graphicFrameLocks noGrp="1"/>
          </p:cNvGraphicFramePr>
          <p:nvPr>
            <p:ph idx="1"/>
            <p:extLst>
              <p:ext uri="{D42A27DB-BD31-4B8C-83A1-F6EECF244321}">
                <p14:modId xmlns:p14="http://schemas.microsoft.com/office/powerpoint/2010/main" val="1931206820"/>
              </p:ext>
            </p:extLst>
          </p:nvPr>
        </p:nvGraphicFramePr>
        <p:xfrm>
          <a:off x="1286934" y="2652408"/>
          <a:ext cx="9625384" cy="3050598"/>
        </p:xfrm>
        <a:graphic>
          <a:graphicData uri="http://schemas.openxmlformats.org/drawingml/2006/table">
            <a:tbl>
              <a:tblPr firstRow="1" firstCol="1" bandRow="1">
                <a:tableStyleId>{5C22544A-7EE6-4342-B048-85BDC9FD1C3A}</a:tableStyleId>
              </a:tblPr>
              <a:tblGrid>
                <a:gridCol w="2662519">
                  <a:extLst>
                    <a:ext uri="{9D8B030D-6E8A-4147-A177-3AD203B41FA5}">
                      <a16:colId xmlns:a16="http://schemas.microsoft.com/office/drawing/2014/main" val="1156287923"/>
                    </a:ext>
                  </a:extLst>
                </a:gridCol>
                <a:gridCol w="3670229">
                  <a:extLst>
                    <a:ext uri="{9D8B030D-6E8A-4147-A177-3AD203B41FA5}">
                      <a16:colId xmlns:a16="http://schemas.microsoft.com/office/drawing/2014/main" val="3477239031"/>
                    </a:ext>
                  </a:extLst>
                </a:gridCol>
                <a:gridCol w="3292636">
                  <a:extLst>
                    <a:ext uri="{9D8B030D-6E8A-4147-A177-3AD203B41FA5}">
                      <a16:colId xmlns:a16="http://schemas.microsoft.com/office/drawing/2014/main" val="2715925863"/>
                    </a:ext>
                  </a:extLst>
                </a:gridCol>
              </a:tblGrid>
              <a:tr h="343656">
                <a:tc>
                  <a:txBody>
                    <a:bodyPr/>
                    <a:lstStyle/>
                    <a:p>
                      <a:pPr>
                        <a:buNone/>
                      </a:pPr>
                      <a:r>
                        <a:rPr lang="en-GB" sz="1200">
                          <a:effectLst/>
                        </a:rPr>
                        <a:t>Test</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What it verifies</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Expected result</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extLst>
                  <a:ext uri="{0D108BD9-81ED-4DB2-BD59-A6C34878D82A}">
                    <a16:rowId xmlns:a16="http://schemas.microsoft.com/office/drawing/2014/main" val="4077991789"/>
                  </a:ext>
                </a:extLst>
              </a:tr>
              <a:tr h="343656">
                <a:tc>
                  <a:txBody>
                    <a:bodyPr/>
                    <a:lstStyle/>
                    <a:p>
                      <a:pPr>
                        <a:buNone/>
                      </a:pPr>
                      <a:r>
                        <a:rPr lang="en-GB" sz="1200">
                          <a:effectLst/>
                        </a:rPr>
                        <a:t>Attention row-sum</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Each row of every attention matrix sums to 1.0</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|sum - 1| &lt; 1e-5 for all layers, heads, tokens</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extLst>
                  <a:ext uri="{0D108BD9-81ED-4DB2-BD59-A6C34878D82A}">
                    <a16:rowId xmlns:a16="http://schemas.microsoft.com/office/drawing/2014/main" val="4079806645"/>
                  </a:ext>
                </a:extLst>
              </a:tr>
              <a:tr h="343656">
                <a:tc>
                  <a:txBody>
                    <a:bodyPr/>
                    <a:lstStyle/>
                    <a:p>
                      <a:pPr>
                        <a:buNone/>
                      </a:pPr>
                      <a:r>
                        <a:rPr lang="en-GB" sz="1200">
                          <a:effectLst/>
                        </a:rPr>
                        <a:t>Entropy bounds</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Per-head entropy H ∈ [0, log T] for all l, h</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0 ≤ H ≤ 2.485 for T=12 tokens</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extLst>
                  <a:ext uri="{0D108BD9-81ED-4DB2-BD59-A6C34878D82A}">
                    <a16:rowId xmlns:a16="http://schemas.microsoft.com/office/drawing/2014/main" val="776427964"/>
                  </a:ext>
                </a:extLst>
              </a:tr>
              <a:tr h="343656">
                <a:tc>
                  <a:txBody>
                    <a:bodyPr/>
                    <a:lstStyle/>
                    <a:p>
                      <a:pPr>
                        <a:buNone/>
                      </a:pPr>
                      <a:r>
                        <a:rPr lang="en-GB" sz="1200">
                          <a:effectLst/>
                        </a:rPr>
                        <a:t>Norm bounds (synthetic)</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||h^l_t||_2 ∈ [4.0, 12.0] for all layers and tokens</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Verified at startup; printed to console</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extLst>
                  <a:ext uri="{0D108BD9-81ED-4DB2-BD59-A6C34878D82A}">
                    <a16:rowId xmlns:a16="http://schemas.microsoft.com/office/drawing/2014/main" val="1789459751"/>
                  </a:ext>
                </a:extLst>
              </a:tr>
              <a:tr h="523895">
                <a:tc>
                  <a:txBody>
                    <a:bodyPr/>
                    <a:lstStyle/>
                    <a:p>
                      <a:pPr>
                        <a:buNone/>
                      </a:pPr>
                      <a:r>
                        <a:rPr lang="en-GB" sz="1200">
                          <a:effectLst/>
                        </a:rPr>
                        <a:t>Architecture match</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N_HEADS, N_LAYERS, D_MODEL match live model config</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Constants updated and logged at model load</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extLst>
                  <a:ext uri="{0D108BD9-81ED-4DB2-BD59-A6C34878D82A}">
                    <a16:rowId xmlns:a16="http://schemas.microsoft.com/office/drawing/2014/main" val="3697852818"/>
                  </a:ext>
                </a:extLst>
              </a:tr>
              <a:tr h="523895">
                <a:tc>
                  <a:txBody>
                    <a:bodyPr/>
                    <a:lstStyle/>
                    <a:p>
                      <a:pPr>
                        <a:buNone/>
                      </a:pPr>
                      <a:r>
                        <a:rPr lang="en-GB" sz="1200">
                          <a:effectLst/>
                        </a:rPr>
                        <a:t>Subword alignment</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Word-level attention rows sum to 1 after pooling</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Re-normalisation applied; same test as row-sum</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extLst>
                  <a:ext uri="{0D108BD9-81ED-4DB2-BD59-A6C34878D82A}">
                    <a16:rowId xmlns:a16="http://schemas.microsoft.com/office/drawing/2014/main" val="3261481210"/>
                  </a:ext>
                </a:extLst>
              </a:tr>
              <a:tr h="343656">
                <a:tc>
                  <a:txBody>
                    <a:bodyPr/>
                    <a:lstStyle/>
                    <a:p>
                      <a:pPr>
                        <a:buNone/>
                      </a:pPr>
                      <a:r>
                        <a:rPr lang="en-GB" sz="1200">
                          <a:effectLst/>
                        </a:rPr>
                        <a:t>Graph connectivity</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a:effectLst/>
                        </a:rPr>
                        <a:t>Every token node connected to its layer hub</a:t>
                      </a:r>
                      <a:endParaRPr lang="en-GB" sz="1300">
                        <a:solidFill>
                          <a:srgbClr val="1E1030"/>
                        </a:solidFill>
                        <a:effectLst/>
                        <a:latin typeface="Arial" panose="020B0604020202020204" pitchFamily="34" charset="0"/>
                        <a:ea typeface="Arial" panose="020B0604020202020204" pitchFamily="34" charset="0"/>
                      </a:endParaRPr>
                    </a:p>
                  </a:txBody>
                  <a:tcPr marL="90119" marR="90119" marT="60080" marB="60080"/>
                </a:tc>
                <a:tc>
                  <a:txBody>
                    <a:bodyPr/>
                    <a:lstStyle/>
                    <a:p>
                      <a:pPr>
                        <a:buNone/>
                      </a:pPr>
                      <a:r>
                        <a:rPr lang="en-GB" sz="1200" dirty="0">
                          <a:effectLst/>
                        </a:rPr>
                        <a:t>T × L spoke edges present in graph JSON</a:t>
                      </a:r>
                      <a:endParaRPr lang="en-GB" sz="1300" dirty="0">
                        <a:solidFill>
                          <a:srgbClr val="1E1030"/>
                        </a:solidFill>
                        <a:effectLst/>
                        <a:latin typeface="Arial" panose="020B0604020202020204" pitchFamily="34" charset="0"/>
                        <a:ea typeface="Arial" panose="020B0604020202020204" pitchFamily="34" charset="0"/>
                      </a:endParaRPr>
                    </a:p>
                  </a:txBody>
                  <a:tcPr marL="90119" marR="90119" marT="60080" marB="60080"/>
                </a:tc>
                <a:extLst>
                  <a:ext uri="{0D108BD9-81ED-4DB2-BD59-A6C34878D82A}">
                    <a16:rowId xmlns:a16="http://schemas.microsoft.com/office/drawing/2014/main" val="664774286"/>
                  </a:ext>
                </a:extLst>
              </a:tr>
            </a:tbl>
          </a:graphicData>
        </a:graphic>
      </p:graphicFrame>
    </p:spTree>
    <p:extLst>
      <p:ext uri="{BB962C8B-B14F-4D97-AF65-F5344CB8AC3E}">
        <p14:creationId xmlns:p14="http://schemas.microsoft.com/office/powerpoint/2010/main" val="121584747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E2F16-9000-FFAF-75E8-AD70F3DA4AFF}"/>
              </a:ext>
            </a:extLst>
          </p:cNvPr>
          <p:cNvSpPr>
            <a:spLocks noGrp="1"/>
          </p:cNvSpPr>
          <p:nvPr>
            <p:ph type="title"/>
          </p:nvPr>
        </p:nvSpPr>
        <p:spPr/>
        <p:txBody>
          <a:bodyPr/>
          <a:lstStyle/>
          <a:p>
            <a:r>
              <a:rPr lang="en-GB" b="1" dirty="0"/>
              <a:t>PCA Explained Variance Threshold</a:t>
            </a:r>
            <a:endParaRPr lang="en-GB" dirty="0"/>
          </a:p>
        </p:txBody>
      </p:sp>
      <p:sp>
        <p:nvSpPr>
          <p:cNvPr id="3" name="Content Placeholder 2">
            <a:extLst>
              <a:ext uri="{FF2B5EF4-FFF2-40B4-BE49-F238E27FC236}">
                <a16:creationId xmlns:a16="http://schemas.microsoft.com/office/drawing/2014/main" id="{140D8951-F1F5-3E1E-218E-3ABB1A7ECD7D}"/>
              </a:ext>
            </a:extLst>
          </p:cNvPr>
          <p:cNvSpPr>
            <a:spLocks noGrp="1"/>
          </p:cNvSpPr>
          <p:nvPr>
            <p:ph idx="1"/>
          </p:nvPr>
        </p:nvSpPr>
        <p:spPr/>
        <p:txBody>
          <a:bodyPr/>
          <a:lstStyle/>
          <a:p>
            <a:r>
              <a:rPr lang="en-GB" dirty="0"/>
              <a:t>If the top-2 PCA components explain less than 30% of variance, the 2D PCA projection is losing most of the representational information. For TinyStories-33M with 6-12 tokens, the system should show PC1 ≈ 20–30%, PC2 ≈ 12–18%, consistent with representations that lie on a low-dimensional manifold. Significantly lower values would suggest the representations are isotropic (no structure) or the tokenisation is producing degenerate representations.</a:t>
            </a:r>
          </a:p>
          <a:p>
            <a:pPr marL="0" indent="0">
              <a:buNone/>
            </a:pPr>
            <a:endParaRPr lang="en-GB" dirty="0"/>
          </a:p>
        </p:txBody>
      </p:sp>
    </p:spTree>
    <p:extLst>
      <p:ext uri="{BB962C8B-B14F-4D97-AF65-F5344CB8AC3E}">
        <p14:creationId xmlns:p14="http://schemas.microsoft.com/office/powerpoint/2010/main" val="923166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EFD0C-EADA-0230-3C75-5AF2F761954B}"/>
              </a:ext>
            </a:extLst>
          </p:cNvPr>
          <p:cNvSpPr>
            <a:spLocks noGrp="1"/>
          </p:cNvSpPr>
          <p:nvPr>
            <p:ph type="title"/>
          </p:nvPr>
        </p:nvSpPr>
        <p:spPr/>
        <p:txBody>
          <a:bodyPr/>
          <a:lstStyle/>
          <a:p>
            <a:r>
              <a:rPr lang="en-GB" b="1" dirty="0"/>
              <a:t>Human-Centred Evaluation</a:t>
            </a:r>
            <a:endParaRPr lang="en-GB" dirty="0"/>
          </a:p>
        </p:txBody>
      </p:sp>
      <p:sp>
        <p:nvSpPr>
          <p:cNvPr id="3" name="Content Placeholder 2">
            <a:extLst>
              <a:ext uri="{FF2B5EF4-FFF2-40B4-BE49-F238E27FC236}">
                <a16:creationId xmlns:a16="http://schemas.microsoft.com/office/drawing/2014/main" id="{2C2ADE2C-2B3F-2345-C699-04B8F8EA59A7}"/>
              </a:ext>
            </a:extLst>
          </p:cNvPr>
          <p:cNvSpPr>
            <a:spLocks noGrp="1"/>
          </p:cNvSpPr>
          <p:nvPr>
            <p:ph idx="1"/>
          </p:nvPr>
        </p:nvSpPr>
        <p:spPr/>
        <p:txBody>
          <a:bodyPr/>
          <a:lstStyle/>
          <a:p>
            <a:r>
              <a:rPr lang="en-GB" dirty="0"/>
              <a:t>Target participants: 12–16 researchers with backgrounds in NLP, machine learning, or computational linguistics, divided into two groups:</a:t>
            </a:r>
          </a:p>
          <a:p>
            <a:pPr lvl="0"/>
            <a:r>
              <a:rPr lang="en-GB" dirty="0"/>
              <a:t>Expert group (n=6-8): active transformer researchers with familiarity with attention mechanisms.</a:t>
            </a:r>
          </a:p>
          <a:p>
            <a:pPr lvl="0"/>
            <a:r>
              <a:rPr lang="en-GB" dirty="0"/>
              <a:t>Novice group (n=6-8): graduate students with ML background but limited transformer interpretability experience.</a:t>
            </a:r>
          </a:p>
          <a:p>
            <a:pPr marL="0" indent="0">
              <a:buNone/>
            </a:pPr>
            <a:endParaRPr lang="en-GB" dirty="0"/>
          </a:p>
        </p:txBody>
      </p:sp>
    </p:spTree>
    <p:extLst>
      <p:ext uri="{BB962C8B-B14F-4D97-AF65-F5344CB8AC3E}">
        <p14:creationId xmlns:p14="http://schemas.microsoft.com/office/powerpoint/2010/main" val="2786133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GB"/>
            </a:p>
          </p:txBody>
        </p:sp>
      </p:grpSp>
      <p:sp>
        <p:nvSpPr>
          <p:cNvPr id="2" name="Title 1">
            <a:extLst>
              <a:ext uri="{FF2B5EF4-FFF2-40B4-BE49-F238E27FC236}">
                <a16:creationId xmlns:a16="http://schemas.microsoft.com/office/drawing/2014/main" id="{98129108-04AE-5816-EEB5-99C3AD9F861A}"/>
              </a:ext>
            </a:extLst>
          </p:cNvPr>
          <p:cNvSpPr>
            <a:spLocks noGrp="1"/>
          </p:cNvSpPr>
          <p:nvPr>
            <p:ph type="title"/>
          </p:nvPr>
        </p:nvSpPr>
        <p:spPr>
          <a:xfrm>
            <a:off x="1154954" y="973668"/>
            <a:ext cx="8761413" cy="706964"/>
          </a:xfrm>
        </p:spPr>
        <p:txBody>
          <a:bodyPr>
            <a:normAutofit/>
          </a:bodyPr>
          <a:lstStyle/>
          <a:p>
            <a:endParaRPr lang="en-GB">
              <a:solidFill>
                <a:srgbClr val="FFFFFF"/>
              </a:solidFill>
            </a:endParaRP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4" name="Content Placeholder 3">
            <a:extLst>
              <a:ext uri="{FF2B5EF4-FFF2-40B4-BE49-F238E27FC236}">
                <a16:creationId xmlns:a16="http://schemas.microsoft.com/office/drawing/2014/main" id="{7F57B66E-30EA-513E-740E-F72B04DD52D5}"/>
              </a:ext>
            </a:extLst>
          </p:cNvPr>
          <p:cNvGraphicFramePr>
            <a:graphicFrameLocks noGrp="1"/>
          </p:cNvGraphicFramePr>
          <p:nvPr>
            <p:ph idx="1"/>
            <p:extLst>
              <p:ext uri="{D42A27DB-BD31-4B8C-83A1-F6EECF244321}">
                <p14:modId xmlns:p14="http://schemas.microsoft.com/office/powerpoint/2010/main" val="2509295836"/>
              </p:ext>
            </p:extLst>
          </p:nvPr>
        </p:nvGraphicFramePr>
        <p:xfrm>
          <a:off x="1286934" y="2603817"/>
          <a:ext cx="9625385" cy="2863252"/>
        </p:xfrm>
        <a:graphic>
          <a:graphicData uri="http://schemas.openxmlformats.org/drawingml/2006/table">
            <a:tbl>
              <a:tblPr firstRow="1" firstCol="1" bandRow="1">
                <a:tableStyleId>{5C22544A-7EE6-4342-B048-85BDC9FD1C3A}</a:tableStyleId>
              </a:tblPr>
              <a:tblGrid>
                <a:gridCol w="718666">
                  <a:extLst>
                    <a:ext uri="{9D8B030D-6E8A-4147-A177-3AD203B41FA5}">
                      <a16:colId xmlns:a16="http://schemas.microsoft.com/office/drawing/2014/main" val="3992760036"/>
                    </a:ext>
                  </a:extLst>
                </a:gridCol>
                <a:gridCol w="2552559">
                  <a:extLst>
                    <a:ext uri="{9D8B030D-6E8A-4147-A177-3AD203B41FA5}">
                      <a16:colId xmlns:a16="http://schemas.microsoft.com/office/drawing/2014/main" val="3175132178"/>
                    </a:ext>
                  </a:extLst>
                </a:gridCol>
                <a:gridCol w="4039621">
                  <a:extLst>
                    <a:ext uri="{9D8B030D-6E8A-4147-A177-3AD203B41FA5}">
                      <a16:colId xmlns:a16="http://schemas.microsoft.com/office/drawing/2014/main" val="243946671"/>
                    </a:ext>
                  </a:extLst>
                </a:gridCol>
                <a:gridCol w="2314539">
                  <a:extLst>
                    <a:ext uri="{9D8B030D-6E8A-4147-A177-3AD203B41FA5}">
                      <a16:colId xmlns:a16="http://schemas.microsoft.com/office/drawing/2014/main" val="3685075219"/>
                    </a:ext>
                  </a:extLst>
                </a:gridCol>
              </a:tblGrid>
              <a:tr h="332072">
                <a:tc>
                  <a:txBody>
                    <a:bodyPr/>
                    <a:lstStyle/>
                    <a:p>
                      <a:pPr>
                        <a:buNone/>
                      </a:pPr>
                      <a:r>
                        <a:rPr lang="en-GB" sz="1100">
                          <a:effectLst/>
                        </a:rPr>
                        <a:t>#</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Task</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What it tests</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Scoring</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extLst>
                  <a:ext uri="{0D108BD9-81ED-4DB2-BD59-A6C34878D82A}">
                    <a16:rowId xmlns:a16="http://schemas.microsoft.com/office/drawing/2014/main" val="1553655689"/>
                  </a:ext>
                </a:extLst>
              </a:tr>
              <a:tr h="506236">
                <a:tc>
                  <a:txBody>
                    <a:bodyPr/>
                    <a:lstStyle/>
                    <a:p>
                      <a:pPr>
                        <a:buNone/>
                      </a:pPr>
                      <a:r>
                        <a:rPr lang="en-GB" sz="1100">
                          <a:effectLst/>
                        </a:rPr>
                        <a:t>T1</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Identify the layer with highest attention entropy</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Reading the layer entropy bars in the sidebar</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Binary correct/incorrect</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extLst>
                  <a:ext uri="{0D108BD9-81ED-4DB2-BD59-A6C34878D82A}">
                    <a16:rowId xmlns:a16="http://schemas.microsoft.com/office/drawing/2014/main" val="3947668171"/>
                  </a:ext>
                </a:extLst>
              </a:tr>
              <a:tr h="506236">
                <a:tc>
                  <a:txBody>
                    <a:bodyPr/>
                    <a:lstStyle/>
                    <a:p>
                      <a:pPr>
                        <a:buNone/>
                      </a:pPr>
                      <a:r>
                        <a:rPr lang="en-GB" sz="1100">
                          <a:effectLst/>
                        </a:rPr>
                        <a:t>T2</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Find what token ‘she’ attends to most in Layer 2</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Reading the attention heatmap for a specific head</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Binary + time to answer</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extLst>
                  <a:ext uri="{0D108BD9-81ED-4DB2-BD59-A6C34878D82A}">
                    <a16:rowId xmlns:a16="http://schemas.microsoft.com/office/drawing/2014/main" val="2819547170"/>
                  </a:ext>
                </a:extLst>
              </a:tr>
              <a:tr h="506236">
                <a:tc>
                  <a:txBody>
                    <a:bodyPr/>
                    <a:lstStyle/>
                    <a:p>
                      <a:pPr>
                        <a:buNone/>
                      </a:pPr>
                      <a:r>
                        <a:rPr lang="en-GB" sz="1100">
                          <a:effectLst/>
                        </a:rPr>
                        <a:t>T3</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Do same-class tokens cluster together at Layer 4?</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Interpreting cluster colours in the graph</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Binary + justification</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extLst>
                  <a:ext uri="{0D108BD9-81ED-4DB2-BD59-A6C34878D82A}">
                    <a16:rowId xmlns:a16="http://schemas.microsoft.com/office/drawing/2014/main" val="2136610441"/>
                  </a:ext>
                </a:extLst>
              </a:tr>
              <a:tr h="506236">
                <a:tc>
                  <a:txBody>
                    <a:bodyPr/>
                    <a:lstStyle/>
                    <a:p>
                      <a:pPr>
                        <a:buNone/>
                      </a:pPr>
                      <a:r>
                        <a:rPr lang="en-GB" sz="1100">
                          <a:effectLst/>
                        </a:rPr>
                        <a:t>T4</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Which attention head is most focused (lowest entropy)?</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Reading the per-head entropy list in the Inspector</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Binary correct/incorrect</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extLst>
                  <a:ext uri="{0D108BD9-81ED-4DB2-BD59-A6C34878D82A}">
                    <a16:rowId xmlns:a16="http://schemas.microsoft.com/office/drawing/2014/main" val="598435525"/>
                  </a:ext>
                </a:extLst>
              </a:tr>
              <a:tr h="506236">
                <a:tc>
                  <a:txBody>
                    <a:bodyPr/>
                    <a:lstStyle/>
                    <a:p>
                      <a:pPr>
                        <a:buNone/>
                      </a:pPr>
                      <a:r>
                        <a:rPr lang="en-GB" sz="1100">
                          <a:effectLst/>
                        </a:rPr>
                        <a:t>T5</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Compare residual norms of first and last token across layers</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a:effectLst/>
                        </a:rPr>
                        <a:t>Reading the norm bars and switching between layers</a:t>
                      </a:r>
                      <a:endParaRPr lang="en-GB" sz="1300">
                        <a:solidFill>
                          <a:srgbClr val="1E1030"/>
                        </a:solidFill>
                        <a:effectLst/>
                        <a:latin typeface="Arial" panose="020B0604020202020204" pitchFamily="34" charset="0"/>
                        <a:ea typeface="Arial" panose="020B0604020202020204" pitchFamily="34" charset="0"/>
                      </a:endParaRPr>
                    </a:p>
                  </a:txBody>
                  <a:tcPr marL="87082" marR="87082" marT="58055" marB="58055"/>
                </a:tc>
                <a:tc>
                  <a:txBody>
                    <a:bodyPr/>
                    <a:lstStyle/>
                    <a:p>
                      <a:pPr>
                        <a:buNone/>
                      </a:pPr>
                      <a:r>
                        <a:rPr lang="en-GB" sz="1100" dirty="0">
                          <a:effectLst/>
                        </a:rPr>
                        <a:t>Directionally correct + explanation</a:t>
                      </a:r>
                      <a:endParaRPr lang="en-GB" sz="1300" dirty="0">
                        <a:solidFill>
                          <a:srgbClr val="1E1030"/>
                        </a:solidFill>
                        <a:effectLst/>
                        <a:latin typeface="Arial" panose="020B0604020202020204" pitchFamily="34" charset="0"/>
                        <a:ea typeface="Arial" panose="020B0604020202020204" pitchFamily="34" charset="0"/>
                      </a:endParaRPr>
                    </a:p>
                  </a:txBody>
                  <a:tcPr marL="87082" marR="87082" marT="58055" marB="58055"/>
                </a:tc>
                <a:extLst>
                  <a:ext uri="{0D108BD9-81ED-4DB2-BD59-A6C34878D82A}">
                    <a16:rowId xmlns:a16="http://schemas.microsoft.com/office/drawing/2014/main" val="709419949"/>
                  </a:ext>
                </a:extLst>
              </a:tr>
            </a:tbl>
          </a:graphicData>
        </a:graphic>
      </p:graphicFrame>
    </p:spTree>
    <p:extLst>
      <p:ext uri="{BB962C8B-B14F-4D97-AF65-F5344CB8AC3E}">
        <p14:creationId xmlns:p14="http://schemas.microsoft.com/office/powerpoint/2010/main" val="160260638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8ABDB68-E3D5-448E-97D3-06FFEF680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2" name="Freeform 5">
            <a:extLst>
              <a:ext uri="{FF2B5EF4-FFF2-40B4-BE49-F238E27FC236}">
                <a16:creationId xmlns:a16="http://schemas.microsoft.com/office/drawing/2014/main" id="{B8DD7FEB-D9F3-4F5B-982C-36B0664D0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537676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14" name="Freeform 5">
            <a:extLst>
              <a:ext uri="{FF2B5EF4-FFF2-40B4-BE49-F238E27FC236}">
                <a16:creationId xmlns:a16="http://schemas.microsoft.com/office/drawing/2014/main" id="{96BA11E4-0636-4FA9-A836-2A4FB1764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A9DAA085-C7FC-AB9F-10EF-5E0B27A85820}"/>
              </a:ext>
            </a:extLst>
          </p:cNvPr>
          <p:cNvSpPr>
            <a:spLocks noGrp="1"/>
          </p:cNvSpPr>
          <p:nvPr>
            <p:ph type="title"/>
          </p:nvPr>
        </p:nvSpPr>
        <p:spPr>
          <a:xfrm>
            <a:off x="639098" y="629265"/>
            <a:ext cx="6072776" cy="1622322"/>
          </a:xfrm>
        </p:spPr>
        <p:txBody>
          <a:bodyPr>
            <a:normAutofit/>
          </a:bodyPr>
          <a:lstStyle/>
          <a:p>
            <a:r>
              <a:rPr lang="en-GB" dirty="0">
                <a:solidFill>
                  <a:srgbClr val="EBEBEB"/>
                </a:solidFill>
              </a:rPr>
              <a:t>Why Language Models Hallucinate</a:t>
            </a:r>
          </a:p>
        </p:txBody>
      </p:sp>
      <p:sp>
        <p:nvSpPr>
          <p:cNvPr id="16" name="Freeform: Shape 15">
            <a:extLst>
              <a:ext uri="{FF2B5EF4-FFF2-40B4-BE49-F238E27FC236}">
                <a16:creationId xmlns:a16="http://schemas.microsoft.com/office/drawing/2014/main" id="{5681882E-BDD0-4311-AF62-E80196285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90102" y="977273"/>
            <a:ext cx="6053670" cy="4903455"/>
          </a:xfrm>
          <a:custGeom>
            <a:avLst/>
            <a:gdLst>
              <a:gd name="connsiteX0" fmla="*/ 6053670 w 6053670"/>
              <a:gd name="connsiteY0" fmla="*/ 1098 h 4903455"/>
              <a:gd name="connsiteX1" fmla="*/ 6053670 w 6053670"/>
              <a:gd name="connsiteY1" fmla="*/ 424590 h 4903455"/>
              <a:gd name="connsiteX2" fmla="*/ 6053670 w 6053670"/>
              <a:gd name="connsiteY2" fmla="*/ 1254558 h 4903455"/>
              <a:gd name="connsiteX3" fmla="*/ 6053670 w 6053670"/>
              <a:gd name="connsiteY3" fmla="*/ 4903455 h 4903455"/>
              <a:gd name="connsiteX4" fmla="*/ 0 w 6053670"/>
              <a:gd name="connsiteY4" fmla="*/ 4903455 h 4903455"/>
              <a:gd name="connsiteX5" fmla="*/ 0 w 6053670"/>
              <a:gd name="connsiteY5" fmla="*/ 1249853 h 4903455"/>
              <a:gd name="connsiteX6" fmla="*/ 0 w 6053670"/>
              <a:gd name="connsiteY6" fmla="*/ 424590 h 4903455"/>
              <a:gd name="connsiteX7" fmla="*/ 0 w 6053670"/>
              <a:gd name="connsiteY7" fmla="*/ 0 h 4903455"/>
              <a:gd name="connsiteX8" fmla="*/ 35717 w 6053670"/>
              <a:gd name="connsiteY8" fmla="*/ 5488 h 4903455"/>
              <a:gd name="connsiteX9" fmla="*/ 140445 w 6053670"/>
              <a:gd name="connsiteY9" fmla="*/ 21641 h 4903455"/>
              <a:gd name="connsiteX10" fmla="*/ 216722 w 6053670"/>
              <a:gd name="connsiteY10" fmla="*/ 32932 h 4903455"/>
              <a:gd name="connsiteX11" fmla="*/ 307527 w 6053670"/>
              <a:gd name="connsiteY11" fmla="*/ 44850 h 4903455"/>
              <a:gd name="connsiteX12" fmla="*/ 415282 w 6053670"/>
              <a:gd name="connsiteY12" fmla="*/ 59121 h 4903455"/>
              <a:gd name="connsiteX13" fmla="*/ 534539 w 6053670"/>
              <a:gd name="connsiteY13" fmla="*/ 74175 h 4903455"/>
              <a:gd name="connsiteX14" fmla="*/ 668931 w 6053670"/>
              <a:gd name="connsiteY14" fmla="*/ 90014 h 4903455"/>
              <a:gd name="connsiteX15" fmla="*/ 815430 w 6053670"/>
              <a:gd name="connsiteY15" fmla="*/ 106794 h 4903455"/>
              <a:gd name="connsiteX16" fmla="*/ 974641 w 6053670"/>
              <a:gd name="connsiteY16" fmla="*/ 123574 h 4903455"/>
              <a:gd name="connsiteX17" fmla="*/ 1144144 w 6053670"/>
              <a:gd name="connsiteY17" fmla="*/ 140667 h 4903455"/>
              <a:gd name="connsiteX18" fmla="*/ 1326965 w 6053670"/>
              <a:gd name="connsiteY18" fmla="*/ 156506 h 4903455"/>
              <a:gd name="connsiteX19" fmla="*/ 1518261 w 6053670"/>
              <a:gd name="connsiteY19" fmla="*/ 171717 h 4903455"/>
              <a:gd name="connsiteX20" fmla="*/ 1720453 w 6053670"/>
              <a:gd name="connsiteY20" fmla="*/ 185518 h 4903455"/>
              <a:gd name="connsiteX21" fmla="*/ 1931121 w 6053670"/>
              <a:gd name="connsiteY21" fmla="*/ 198690 h 4903455"/>
              <a:gd name="connsiteX22" fmla="*/ 2150869 w 6053670"/>
              <a:gd name="connsiteY22" fmla="*/ 211079 h 4903455"/>
              <a:gd name="connsiteX23" fmla="*/ 2263467 w 6053670"/>
              <a:gd name="connsiteY23" fmla="*/ 215470 h 4903455"/>
              <a:gd name="connsiteX24" fmla="*/ 2378487 w 6053670"/>
              <a:gd name="connsiteY24" fmla="*/ 220332 h 4903455"/>
              <a:gd name="connsiteX25" fmla="*/ 2495323 w 6053670"/>
              <a:gd name="connsiteY25" fmla="*/ 224879 h 4903455"/>
              <a:gd name="connsiteX26" fmla="*/ 2612764 w 6053670"/>
              <a:gd name="connsiteY26" fmla="*/ 227859 h 4903455"/>
              <a:gd name="connsiteX27" fmla="*/ 2732627 w 6053670"/>
              <a:gd name="connsiteY27" fmla="*/ 230525 h 4903455"/>
              <a:gd name="connsiteX28" fmla="*/ 2853700 w 6053670"/>
              <a:gd name="connsiteY28" fmla="*/ 233348 h 4903455"/>
              <a:gd name="connsiteX29" fmla="*/ 2977195 w 6053670"/>
              <a:gd name="connsiteY29" fmla="*/ 235229 h 4903455"/>
              <a:gd name="connsiteX30" fmla="*/ 3101900 w 6053670"/>
              <a:gd name="connsiteY30" fmla="*/ 235229 h 4903455"/>
              <a:gd name="connsiteX31" fmla="*/ 3227817 w 6053670"/>
              <a:gd name="connsiteY31" fmla="*/ 236170 h 4903455"/>
              <a:gd name="connsiteX32" fmla="*/ 3354944 w 6053670"/>
              <a:gd name="connsiteY32" fmla="*/ 235229 h 4903455"/>
              <a:gd name="connsiteX33" fmla="*/ 3483887 w 6053670"/>
              <a:gd name="connsiteY33" fmla="*/ 233348 h 4903455"/>
              <a:gd name="connsiteX34" fmla="*/ 3612830 w 6053670"/>
              <a:gd name="connsiteY34" fmla="*/ 231623 h 4903455"/>
              <a:gd name="connsiteX35" fmla="*/ 3743589 w 6053670"/>
              <a:gd name="connsiteY35" fmla="*/ 227859 h 4903455"/>
              <a:gd name="connsiteX36" fmla="*/ 3875559 w 6053670"/>
              <a:gd name="connsiteY36" fmla="*/ 223938 h 4903455"/>
              <a:gd name="connsiteX37" fmla="*/ 4007529 w 6053670"/>
              <a:gd name="connsiteY37" fmla="*/ 219391 h 4903455"/>
              <a:gd name="connsiteX38" fmla="*/ 4140710 w 6053670"/>
              <a:gd name="connsiteY38" fmla="*/ 212961 h 4903455"/>
              <a:gd name="connsiteX39" fmla="*/ 4275102 w 6053670"/>
              <a:gd name="connsiteY39" fmla="*/ 205277 h 4903455"/>
              <a:gd name="connsiteX40" fmla="*/ 4410098 w 6053670"/>
              <a:gd name="connsiteY40" fmla="*/ 197907 h 4903455"/>
              <a:gd name="connsiteX41" fmla="*/ 4545096 w 6053670"/>
              <a:gd name="connsiteY41" fmla="*/ 188498 h 4903455"/>
              <a:gd name="connsiteX42" fmla="*/ 4681909 w 6053670"/>
              <a:gd name="connsiteY42" fmla="*/ 177207 h 4903455"/>
              <a:gd name="connsiteX43" fmla="*/ 4816905 w 6053670"/>
              <a:gd name="connsiteY43" fmla="*/ 165916 h 4903455"/>
              <a:gd name="connsiteX44" fmla="*/ 4954323 w 6053670"/>
              <a:gd name="connsiteY44" fmla="*/ 152899 h 4903455"/>
              <a:gd name="connsiteX45" fmla="*/ 5092347 w 6053670"/>
              <a:gd name="connsiteY45" fmla="*/ 138629 h 4903455"/>
              <a:gd name="connsiteX46" fmla="*/ 5228555 w 6053670"/>
              <a:gd name="connsiteY46" fmla="*/ 123574 h 4903455"/>
              <a:gd name="connsiteX47" fmla="*/ 5366578 w 6053670"/>
              <a:gd name="connsiteY47" fmla="*/ 106010 h 4903455"/>
              <a:gd name="connsiteX48" fmla="*/ 5503997 w 6053670"/>
              <a:gd name="connsiteY48" fmla="*/ 87192 h 4903455"/>
              <a:gd name="connsiteX49" fmla="*/ 5642020 w 6053670"/>
              <a:gd name="connsiteY49" fmla="*/ 68530 h 4903455"/>
              <a:gd name="connsiteX50" fmla="*/ 5779438 w 6053670"/>
              <a:gd name="connsiteY50" fmla="*/ 46733 h 4903455"/>
              <a:gd name="connsiteX51" fmla="*/ 5916251 w 6053670"/>
              <a:gd name="connsiteY51" fmla="*/ 24464 h 490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4903455">
                <a:moveTo>
                  <a:pt x="6053670" y="1098"/>
                </a:moveTo>
                <a:lnTo>
                  <a:pt x="6053670" y="424590"/>
                </a:lnTo>
                <a:lnTo>
                  <a:pt x="6053670" y="1254558"/>
                </a:lnTo>
                <a:lnTo>
                  <a:pt x="6053670" y="4903455"/>
                </a:lnTo>
                <a:lnTo>
                  <a:pt x="0" y="4903455"/>
                </a:lnTo>
                <a:lnTo>
                  <a:pt x="0" y="1249853"/>
                </a:lnTo>
                <a:lnTo>
                  <a:pt x="0" y="424590"/>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pic>
        <p:nvPicPr>
          <p:cNvPr id="7" name="Graphic 6" descr="Error">
            <a:extLst>
              <a:ext uri="{FF2B5EF4-FFF2-40B4-BE49-F238E27FC236}">
                <a16:creationId xmlns:a16="http://schemas.microsoft.com/office/drawing/2014/main" id="{27D62CA6-11BF-5482-A874-0CFC003C711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18226" y="1375132"/>
            <a:ext cx="4125317" cy="4125317"/>
          </a:xfrm>
          <a:prstGeom prst="rect">
            <a:avLst/>
          </a:prstGeom>
        </p:spPr>
      </p:pic>
      <p:sp>
        <p:nvSpPr>
          <p:cNvPr id="18" name="Rectangle 17">
            <a:extLst>
              <a:ext uri="{FF2B5EF4-FFF2-40B4-BE49-F238E27FC236}">
                <a16:creationId xmlns:a16="http://schemas.microsoft.com/office/drawing/2014/main" id="{EADD3260-4BDA-459B-A162-5E1B897E3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Oval 19">
            <a:extLst>
              <a:ext uri="{FF2B5EF4-FFF2-40B4-BE49-F238E27FC236}">
                <a16:creationId xmlns:a16="http://schemas.microsoft.com/office/drawing/2014/main" id="{283DA7DD-CA37-4ED7-8710-48E56B063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2" name="Oval 21">
            <a:extLst>
              <a:ext uri="{FF2B5EF4-FFF2-40B4-BE49-F238E27FC236}">
                <a16:creationId xmlns:a16="http://schemas.microsoft.com/office/drawing/2014/main" id="{B92F2E3C-66CD-4DEB-BA14-2A5912B65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BD0E1F79-E4C2-9BF7-A9EC-03BC934F7116}"/>
              </a:ext>
            </a:extLst>
          </p:cNvPr>
          <p:cNvSpPr>
            <a:spLocks noGrp="1"/>
          </p:cNvSpPr>
          <p:nvPr>
            <p:ph idx="1"/>
          </p:nvPr>
        </p:nvSpPr>
        <p:spPr>
          <a:xfrm>
            <a:off x="639098" y="2418735"/>
            <a:ext cx="6072776" cy="3811740"/>
          </a:xfrm>
        </p:spPr>
        <p:txBody>
          <a:bodyPr anchor="ctr">
            <a:normAutofit/>
          </a:bodyPr>
          <a:lstStyle/>
          <a:p>
            <a:r>
              <a:rPr lang="en-GB">
                <a:solidFill>
                  <a:srgbClr val="FFFFFF"/>
                </a:solidFill>
              </a:rPr>
              <a:t>(1) Pretraining makes hallucinations statistically inevitable. Even if pretraining data were 100% correct, the cross‑entropy objective forces the model to approximate a distribution in a way that necessarily induces errors, analogous to errors in binary classification.</a:t>
            </a:r>
          </a:p>
          <a:p>
            <a:r>
              <a:rPr lang="en-GB">
                <a:solidFill>
                  <a:srgbClr val="FFFFFF"/>
                </a:solidFill>
              </a:rPr>
              <a:t>(2) Post-training </a:t>
            </a:r>
            <a:r>
              <a:rPr lang="en-GB" i="1">
                <a:solidFill>
                  <a:srgbClr val="FFFFFF"/>
                </a:solidFill>
              </a:rPr>
              <a:t>reinforces</a:t>
            </a:r>
            <a:r>
              <a:rPr lang="en-GB">
                <a:solidFill>
                  <a:srgbClr val="FFFFFF"/>
                </a:solidFill>
              </a:rPr>
              <a:t> hallucinations. Most benchmarks use binary accuracy metrics, where expressing uncertainty (“I don’t know”) is scored as zero, while guessing is sometimes rewarded. This pushes models toward overconfident falsehoods.</a:t>
            </a:r>
          </a:p>
          <a:p>
            <a:endParaRPr lang="en-GB">
              <a:solidFill>
                <a:srgbClr val="FFFFFF"/>
              </a:solidFill>
            </a:endParaRPr>
          </a:p>
        </p:txBody>
      </p:sp>
    </p:spTree>
    <p:extLst>
      <p:ext uri="{BB962C8B-B14F-4D97-AF65-F5344CB8AC3E}">
        <p14:creationId xmlns:p14="http://schemas.microsoft.com/office/powerpoint/2010/main" val="2526471491"/>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4A16A-C518-5152-3E8B-00799FB1B729}"/>
              </a:ext>
            </a:extLst>
          </p:cNvPr>
          <p:cNvSpPr>
            <a:spLocks noGrp="1"/>
          </p:cNvSpPr>
          <p:nvPr>
            <p:ph type="title"/>
          </p:nvPr>
        </p:nvSpPr>
        <p:spPr/>
        <p:txBody>
          <a:bodyPr/>
          <a:lstStyle/>
          <a:p>
            <a:r>
              <a:rPr lang="en-GB" b="1" dirty="0"/>
              <a:t>Why Pretraining Causes Hallucinations</a:t>
            </a:r>
            <a:br>
              <a:rPr lang="en-GB" dirty="0"/>
            </a:br>
            <a:endParaRPr lang="en-GB" dirty="0"/>
          </a:p>
        </p:txBody>
      </p:sp>
      <p:sp>
        <p:nvSpPr>
          <p:cNvPr id="3" name="Content Placeholder 2">
            <a:extLst>
              <a:ext uri="{FF2B5EF4-FFF2-40B4-BE49-F238E27FC236}">
                <a16:creationId xmlns:a16="http://schemas.microsoft.com/office/drawing/2014/main" id="{25914E5C-6F83-D446-43FE-990773BCFE85}"/>
              </a:ext>
            </a:extLst>
          </p:cNvPr>
          <p:cNvSpPr>
            <a:spLocks noGrp="1"/>
          </p:cNvSpPr>
          <p:nvPr>
            <p:ph idx="1"/>
          </p:nvPr>
        </p:nvSpPr>
        <p:spPr/>
        <p:txBody>
          <a:bodyPr/>
          <a:lstStyle/>
          <a:p>
            <a:pPr marL="0" indent="0">
              <a:buNone/>
            </a:pPr>
            <a:r>
              <a:rPr lang="en-GB" dirty="0"/>
              <a:t>The central technical contribution is a reduction from generative </a:t>
            </a:r>
            <a:r>
              <a:rPr lang="en-GB" dirty="0" err="1"/>
              <a:t>modeling</a:t>
            </a:r>
            <a:r>
              <a:rPr lang="en-GB" dirty="0"/>
              <a:t> to binary classification. The authors define an “Is‑It‑Valid” (IIV) classification problem and prove</a:t>
            </a:r>
            <a:r>
              <a:rPr lang="en-GB" b="1" dirty="0"/>
              <a:t>:</a:t>
            </a:r>
            <a:endParaRPr lang="en-GB" dirty="0"/>
          </a:p>
          <a:p>
            <a:endParaRPr lang="en-GB" dirty="0"/>
          </a:p>
          <a:p>
            <a:r>
              <a:rPr lang="en-GB" dirty="0"/>
              <a:t>This means:</a:t>
            </a:r>
          </a:p>
          <a:p>
            <a:pPr lvl="0"/>
            <a:r>
              <a:rPr lang="en-GB" dirty="0"/>
              <a:t>If the model cannot reliably classify valid vs. invalid outputs…</a:t>
            </a:r>
          </a:p>
          <a:p>
            <a:pPr lvl="0"/>
            <a:r>
              <a:rPr lang="en-GB" dirty="0"/>
              <a:t>…it cannot avoid generating invalid (hallucinatory) text.</a:t>
            </a:r>
          </a:p>
          <a:p>
            <a:endParaRPr lang="en-GB" dirty="0"/>
          </a:p>
        </p:txBody>
      </p:sp>
    </p:spTree>
    <p:extLst>
      <p:ext uri="{BB962C8B-B14F-4D97-AF65-F5344CB8AC3E}">
        <p14:creationId xmlns:p14="http://schemas.microsoft.com/office/powerpoint/2010/main" val="2587880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18F89-EBB7-099D-6B1A-AD2988208B7A}"/>
              </a:ext>
            </a:extLst>
          </p:cNvPr>
          <p:cNvSpPr>
            <a:spLocks noGrp="1"/>
          </p:cNvSpPr>
          <p:nvPr>
            <p:ph type="title"/>
          </p:nvPr>
        </p:nvSpPr>
        <p:spPr>
          <a:xfrm>
            <a:off x="1737360" y="1508760"/>
            <a:ext cx="8179007" cy="171872"/>
          </a:xfrm>
        </p:spPr>
        <p:txBody>
          <a:bodyPr/>
          <a:lstStyle/>
          <a:p>
            <a:r>
              <a:rPr lang="en-GB" b="1" dirty="0"/>
              <a:t>Why Post‑Training Fails to Remove Hallucinations</a:t>
            </a:r>
            <a:r>
              <a:rPr lang="en-GB" dirty="0"/>
              <a:t> </a:t>
            </a:r>
            <a:r>
              <a:rPr lang="en-GB" b="1" dirty="0"/>
              <a:t>Despite RLHF, DPO, RLAIF, etc., hallucinations persist.</a:t>
            </a:r>
            <a:br>
              <a:rPr lang="en-GB" dirty="0"/>
            </a:br>
            <a:endParaRPr lang="en-GB" dirty="0"/>
          </a:p>
        </p:txBody>
      </p:sp>
      <p:sp>
        <p:nvSpPr>
          <p:cNvPr id="3" name="Content Placeholder 2">
            <a:extLst>
              <a:ext uri="{FF2B5EF4-FFF2-40B4-BE49-F238E27FC236}">
                <a16:creationId xmlns:a16="http://schemas.microsoft.com/office/drawing/2014/main" id="{6E6C96C2-F2ED-4D42-B478-56E4BC607CDD}"/>
              </a:ext>
            </a:extLst>
          </p:cNvPr>
          <p:cNvSpPr>
            <a:spLocks noGrp="1"/>
          </p:cNvSpPr>
          <p:nvPr>
            <p:ph idx="1"/>
          </p:nvPr>
        </p:nvSpPr>
        <p:spPr/>
        <p:txBody>
          <a:bodyPr>
            <a:normAutofit/>
          </a:bodyPr>
          <a:lstStyle/>
          <a:p>
            <a:pPr marL="0" indent="0">
              <a:buNone/>
            </a:pPr>
            <a:r>
              <a:rPr lang="en-GB" dirty="0"/>
              <a:t>The authors argue this is because:</a:t>
            </a:r>
          </a:p>
          <a:p>
            <a:r>
              <a:rPr lang="en-GB" dirty="0"/>
              <a:t>Benchmarks overwhelmingly reward guessing.</a:t>
            </a:r>
          </a:p>
          <a:p>
            <a:r>
              <a:rPr lang="en-GB" dirty="0"/>
              <a:t>Most evaluations (MMLU, GPQA, MATH, SWE‑bench, etc.):</a:t>
            </a:r>
          </a:p>
          <a:p>
            <a:pPr lvl="0"/>
            <a:r>
              <a:rPr lang="en-GB" dirty="0"/>
              <a:t>score answers as correct/incorrect</a:t>
            </a:r>
          </a:p>
          <a:p>
            <a:pPr lvl="0"/>
            <a:r>
              <a:rPr lang="en-GB" dirty="0"/>
              <a:t>give zero credit for expressing uncertainty</a:t>
            </a:r>
          </a:p>
          <a:p>
            <a:pPr lvl="0"/>
            <a:r>
              <a:rPr lang="en-GB" dirty="0"/>
              <a:t>provide no incentive to output “I don’t know”</a:t>
            </a:r>
          </a:p>
          <a:p>
            <a:endParaRPr lang="en-GB" dirty="0"/>
          </a:p>
        </p:txBody>
      </p:sp>
    </p:spTree>
    <p:extLst>
      <p:ext uri="{BB962C8B-B14F-4D97-AF65-F5344CB8AC3E}">
        <p14:creationId xmlns:p14="http://schemas.microsoft.com/office/powerpoint/2010/main" val="5723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789CD-46A4-6623-30DC-02B08F19880E}"/>
              </a:ext>
            </a:extLst>
          </p:cNvPr>
          <p:cNvSpPr>
            <a:spLocks noGrp="1"/>
          </p:cNvSpPr>
          <p:nvPr>
            <p:ph type="title"/>
          </p:nvPr>
        </p:nvSpPr>
        <p:spPr/>
        <p:txBody>
          <a:bodyPr/>
          <a:lstStyle/>
          <a:p>
            <a:r>
              <a:rPr lang="en-GB" b="1" dirty="0"/>
              <a:t>Proposed Solution: Fix the Evaluations, Not the Models</a:t>
            </a:r>
            <a:endParaRPr lang="en-GB" dirty="0"/>
          </a:p>
        </p:txBody>
      </p:sp>
      <p:sp>
        <p:nvSpPr>
          <p:cNvPr id="3" name="Content Placeholder 2">
            <a:extLst>
              <a:ext uri="{FF2B5EF4-FFF2-40B4-BE49-F238E27FC236}">
                <a16:creationId xmlns:a16="http://schemas.microsoft.com/office/drawing/2014/main" id="{8E21B4F4-C202-D002-D8B6-6FE073DAF4C9}"/>
              </a:ext>
            </a:extLst>
          </p:cNvPr>
          <p:cNvSpPr>
            <a:spLocks noGrp="1"/>
          </p:cNvSpPr>
          <p:nvPr>
            <p:ph idx="1"/>
          </p:nvPr>
        </p:nvSpPr>
        <p:spPr/>
        <p:txBody>
          <a:bodyPr/>
          <a:lstStyle/>
          <a:p>
            <a:pPr marL="0" indent="0">
              <a:buNone/>
            </a:pPr>
            <a:r>
              <a:rPr lang="en-GB" dirty="0"/>
              <a:t>This aligns incentives so:</a:t>
            </a:r>
          </a:p>
          <a:p>
            <a:pPr lvl="0"/>
            <a:r>
              <a:rPr lang="en-GB" dirty="0"/>
              <a:t>With high thresholds, models learn to abstain more.</a:t>
            </a:r>
          </a:p>
          <a:p>
            <a:pPr lvl="0"/>
            <a:r>
              <a:rPr lang="en-GB" dirty="0"/>
              <a:t>Uncertainty becomes a valid strategic response.</a:t>
            </a:r>
          </a:p>
          <a:p>
            <a:pPr lvl="0"/>
            <a:r>
              <a:rPr lang="en-GB" dirty="0"/>
              <a:t>Leaderboards become hallucination‑aware.</a:t>
            </a:r>
          </a:p>
          <a:p>
            <a:endParaRPr lang="en-GB" dirty="0"/>
          </a:p>
        </p:txBody>
      </p:sp>
    </p:spTree>
    <p:extLst>
      <p:ext uri="{BB962C8B-B14F-4D97-AF65-F5344CB8AC3E}">
        <p14:creationId xmlns:p14="http://schemas.microsoft.com/office/powerpoint/2010/main" val="772809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ubes connected with a red line">
            <a:extLst>
              <a:ext uri="{FF2B5EF4-FFF2-40B4-BE49-F238E27FC236}">
                <a16:creationId xmlns:a16="http://schemas.microsoft.com/office/drawing/2014/main" id="{3401BAC9-6F0E-E9BF-BFB8-91250AAF0186}"/>
              </a:ext>
            </a:extLst>
          </p:cNvPr>
          <p:cNvPicPr>
            <a:picLocks noChangeAspect="1"/>
          </p:cNvPicPr>
          <p:nvPr/>
        </p:nvPicPr>
        <p:blipFill>
          <a:blip r:embed="rId2">
            <a:alphaModFix amt="40000"/>
          </a:blip>
          <a:srcRect t="18645" b="8303"/>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9ADE5A3-7DED-70AC-3AF2-81ADB0BD56F8}"/>
              </a:ext>
            </a:extLst>
          </p:cNvPr>
          <p:cNvSpPr>
            <a:spLocks noGrp="1"/>
          </p:cNvSpPr>
          <p:nvPr>
            <p:ph type="title"/>
          </p:nvPr>
        </p:nvSpPr>
        <p:spPr>
          <a:xfrm>
            <a:off x="1154954" y="973668"/>
            <a:ext cx="8761413" cy="706964"/>
          </a:xfrm>
        </p:spPr>
        <p:txBody>
          <a:bodyPr>
            <a:normAutofit/>
          </a:bodyPr>
          <a:lstStyle/>
          <a:p>
            <a:pPr>
              <a:lnSpc>
                <a:spcPct val="90000"/>
              </a:lnSpc>
            </a:pPr>
            <a:r>
              <a:rPr lang="en-GB" sz="2800" b="1">
                <a:solidFill>
                  <a:schemeClr val="tx1"/>
                </a:solidFill>
              </a:rPr>
              <a:t>A Geometric View of Transformer Representations</a:t>
            </a:r>
            <a:endParaRPr lang="en-GB" sz="2800">
              <a:solidFill>
                <a:schemeClr val="tx1"/>
              </a:solidFill>
            </a:endParaRPr>
          </a:p>
        </p:txBody>
      </p:sp>
      <p:sp>
        <p:nvSpPr>
          <p:cNvPr id="3" name="Content Placeholder 2">
            <a:extLst>
              <a:ext uri="{FF2B5EF4-FFF2-40B4-BE49-F238E27FC236}">
                <a16:creationId xmlns:a16="http://schemas.microsoft.com/office/drawing/2014/main" id="{53FFE406-F9B2-8A23-8A53-14DA40950224}"/>
              </a:ext>
            </a:extLst>
          </p:cNvPr>
          <p:cNvSpPr>
            <a:spLocks noGrp="1"/>
          </p:cNvSpPr>
          <p:nvPr>
            <p:ph idx="1"/>
          </p:nvPr>
        </p:nvSpPr>
        <p:spPr>
          <a:xfrm>
            <a:off x="1154954" y="2603500"/>
            <a:ext cx="8825659" cy="3416300"/>
          </a:xfrm>
        </p:spPr>
        <p:txBody>
          <a:bodyPr>
            <a:normAutofit/>
          </a:bodyPr>
          <a:lstStyle/>
          <a:p>
            <a:pPr marL="0" indent="0">
              <a:buNone/>
            </a:pPr>
            <a:r>
              <a:rPr lang="en-GB" dirty="0">
                <a:solidFill>
                  <a:schemeClr val="tx1"/>
                </a:solidFill>
              </a:rPr>
              <a:t>The authors characterize hidden representations using two complementary geometric tools:</a:t>
            </a:r>
          </a:p>
          <a:p>
            <a:pPr lvl="0"/>
            <a:r>
              <a:rPr lang="en-GB" dirty="0">
                <a:solidFill>
                  <a:schemeClr val="tx1"/>
                </a:solidFill>
              </a:rPr>
              <a:t>Intrinsic Dimension (ID): Measures the effective dimensionality of the data manifold embedded in the representation space.</a:t>
            </a:r>
          </a:p>
          <a:p>
            <a:pPr lvl="0"/>
            <a:endParaRPr lang="en-GB" dirty="0">
              <a:solidFill>
                <a:schemeClr val="tx1"/>
              </a:solidFill>
            </a:endParaRPr>
          </a:p>
          <a:p>
            <a:pPr lvl="0"/>
            <a:r>
              <a:rPr lang="en-GB" dirty="0" err="1">
                <a:solidFill>
                  <a:schemeClr val="tx1"/>
                </a:solidFill>
              </a:rPr>
              <a:t>Neighborhood</a:t>
            </a:r>
            <a:r>
              <a:rPr lang="en-GB" dirty="0">
                <a:solidFill>
                  <a:schemeClr val="tx1"/>
                </a:solidFill>
              </a:rPr>
              <a:t> Overlap: Tracks how local </a:t>
            </a:r>
            <a:r>
              <a:rPr lang="en-GB" dirty="0" err="1">
                <a:solidFill>
                  <a:schemeClr val="tx1"/>
                </a:solidFill>
              </a:rPr>
              <a:t>neighborhoods</a:t>
            </a:r>
            <a:r>
              <a:rPr lang="en-GB" dirty="0">
                <a:solidFill>
                  <a:schemeClr val="tx1"/>
                </a:solidFill>
              </a:rPr>
              <a:t> of data points rearrange across layers.</a:t>
            </a:r>
          </a:p>
          <a:p>
            <a:endParaRPr lang="en-GB" dirty="0">
              <a:solidFill>
                <a:schemeClr val="tx1"/>
              </a:solidFill>
            </a:endParaRPr>
          </a:p>
        </p:txBody>
      </p:sp>
    </p:spTree>
    <p:extLst>
      <p:ext uri="{BB962C8B-B14F-4D97-AF65-F5344CB8AC3E}">
        <p14:creationId xmlns:p14="http://schemas.microsoft.com/office/powerpoint/2010/main" val="1912147941"/>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4" name="Rectangle 23">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5"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7" name="Rectangle 26">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6588F97-83B9-53EF-903D-21F59CB0AB44}"/>
              </a:ext>
            </a:extLst>
          </p:cNvPr>
          <p:cNvSpPr>
            <a:spLocks noGrp="1"/>
          </p:cNvSpPr>
          <p:nvPr>
            <p:ph type="title"/>
          </p:nvPr>
        </p:nvSpPr>
        <p:spPr>
          <a:xfrm>
            <a:off x="8382055" y="1241266"/>
            <a:ext cx="3161016" cy="3153753"/>
          </a:xfrm>
        </p:spPr>
        <p:txBody>
          <a:bodyPr vert="horz" lIns="91440" tIns="45720" rIns="91440" bIns="45720" rtlCol="0" anchor="b">
            <a:normAutofit/>
          </a:bodyPr>
          <a:lstStyle/>
          <a:p>
            <a:pPr>
              <a:lnSpc>
                <a:spcPct val="90000"/>
              </a:lnSpc>
            </a:pPr>
            <a:r>
              <a:rPr lang="en-US" sz="3000" b="0" i="0" kern="1200">
                <a:solidFill>
                  <a:srgbClr val="EBEBEB"/>
                </a:solidFill>
                <a:latin typeface="+mj-lt"/>
                <a:ea typeface="+mj-ea"/>
                <a:cs typeface="+mj-cs"/>
              </a:rPr>
              <a:t>Universal Three‑Phase (or Four‑Phase) Representation Dynamics</a:t>
            </a:r>
          </a:p>
        </p:txBody>
      </p:sp>
      <p:grpSp>
        <p:nvGrpSpPr>
          <p:cNvPr id="29" name="Group 28">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30" name="Rectangle 29">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1"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a:p>
          </p:txBody>
        </p:sp>
        <p:sp>
          <p:nvSpPr>
            <p:cNvPr id="32"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grpSp>
      <p:pic>
        <p:nvPicPr>
          <p:cNvPr id="9" name="Content Placeholder 8">
            <a:extLst>
              <a:ext uri="{FF2B5EF4-FFF2-40B4-BE49-F238E27FC236}">
                <a16:creationId xmlns:a16="http://schemas.microsoft.com/office/drawing/2014/main" id="{A4F6825D-15C7-4E3A-3EEF-8E964F47DC98}"/>
              </a:ext>
            </a:extLst>
          </p:cNvPr>
          <p:cNvPicPr>
            <a:picLocks noGrp="1" noChangeAspect="1"/>
          </p:cNvPicPr>
          <p:nvPr>
            <p:ph idx="1"/>
          </p:nvPr>
        </p:nvPicPr>
        <p:blipFill>
          <a:blip r:embed="rId3"/>
          <a:stretch>
            <a:fillRect/>
          </a:stretch>
        </p:blipFill>
        <p:spPr>
          <a:xfrm>
            <a:off x="1109763" y="1214157"/>
            <a:ext cx="6443180" cy="4429686"/>
          </a:xfrm>
          <a:prstGeom prst="rect">
            <a:avLst/>
          </a:prstGeom>
        </p:spPr>
      </p:pic>
    </p:spTree>
    <p:extLst>
      <p:ext uri="{BB962C8B-B14F-4D97-AF65-F5344CB8AC3E}">
        <p14:creationId xmlns:p14="http://schemas.microsoft.com/office/powerpoint/2010/main" val="2362789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8B11E-BD27-977B-EF51-D443446A9BEB}"/>
              </a:ext>
            </a:extLst>
          </p:cNvPr>
          <p:cNvSpPr>
            <a:spLocks noGrp="1"/>
          </p:cNvSpPr>
          <p:nvPr>
            <p:ph type="title"/>
          </p:nvPr>
        </p:nvSpPr>
        <p:spPr/>
        <p:txBody>
          <a:bodyPr/>
          <a:lstStyle/>
          <a:p>
            <a:r>
              <a:rPr lang="en-GB" dirty="0"/>
              <a:t>Expansion phase (early layers)</a:t>
            </a:r>
            <a:br>
              <a:rPr lang="en-GB" dirty="0"/>
            </a:br>
            <a:endParaRPr lang="en-GB" dirty="0"/>
          </a:p>
        </p:txBody>
      </p:sp>
      <p:sp>
        <p:nvSpPr>
          <p:cNvPr id="3" name="Content Placeholder 2">
            <a:extLst>
              <a:ext uri="{FF2B5EF4-FFF2-40B4-BE49-F238E27FC236}">
                <a16:creationId xmlns:a16="http://schemas.microsoft.com/office/drawing/2014/main" id="{AAF7C1B6-1E99-8389-3DC4-5B9A66563518}"/>
              </a:ext>
            </a:extLst>
          </p:cNvPr>
          <p:cNvSpPr>
            <a:spLocks noGrp="1"/>
          </p:cNvSpPr>
          <p:nvPr>
            <p:ph idx="1"/>
          </p:nvPr>
        </p:nvSpPr>
        <p:spPr/>
        <p:txBody>
          <a:bodyPr/>
          <a:lstStyle/>
          <a:p>
            <a:r>
              <a:rPr lang="en-GB" dirty="0"/>
              <a:t>Rapid growth in intrinsic dimension</a:t>
            </a:r>
          </a:p>
          <a:p>
            <a:endParaRPr lang="en-GB" dirty="0"/>
          </a:p>
          <a:p>
            <a:r>
              <a:rPr lang="en-GB" dirty="0"/>
              <a:t>Strong reshuffling of nearest neighbours</a:t>
            </a:r>
          </a:p>
          <a:p>
            <a:endParaRPr lang="en-GB" dirty="0"/>
          </a:p>
          <a:p>
            <a:r>
              <a:rPr lang="en-GB" dirty="0"/>
              <a:t>Analogous to feature expansion in kernel methods</a:t>
            </a:r>
          </a:p>
          <a:p>
            <a:pPr marL="0" indent="0">
              <a:buNone/>
            </a:pPr>
            <a:endParaRPr lang="en-GB" dirty="0"/>
          </a:p>
        </p:txBody>
      </p:sp>
    </p:spTree>
    <p:extLst>
      <p:ext uri="{BB962C8B-B14F-4D97-AF65-F5344CB8AC3E}">
        <p14:creationId xmlns:p14="http://schemas.microsoft.com/office/powerpoint/2010/main" val="1776715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6683B-EA28-CB68-1877-2F6F0A2C43D2}"/>
              </a:ext>
            </a:extLst>
          </p:cNvPr>
          <p:cNvSpPr>
            <a:spLocks noGrp="1"/>
          </p:cNvSpPr>
          <p:nvPr>
            <p:ph type="title"/>
          </p:nvPr>
        </p:nvSpPr>
        <p:spPr/>
        <p:txBody>
          <a:bodyPr/>
          <a:lstStyle/>
          <a:p>
            <a:r>
              <a:rPr lang="en-GB" dirty="0"/>
              <a:t>Compression phase (intermediate layers)</a:t>
            </a:r>
            <a:br>
              <a:rPr lang="en-GB" dirty="0"/>
            </a:br>
            <a:endParaRPr lang="en-GB" dirty="0"/>
          </a:p>
        </p:txBody>
      </p:sp>
      <p:sp>
        <p:nvSpPr>
          <p:cNvPr id="3" name="Content Placeholder 2">
            <a:extLst>
              <a:ext uri="{FF2B5EF4-FFF2-40B4-BE49-F238E27FC236}">
                <a16:creationId xmlns:a16="http://schemas.microsoft.com/office/drawing/2014/main" id="{4F78F188-7795-3992-708F-6FCCC3231FDE}"/>
              </a:ext>
            </a:extLst>
          </p:cNvPr>
          <p:cNvSpPr>
            <a:spLocks noGrp="1"/>
          </p:cNvSpPr>
          <p:nvPr>
            <p:ph idx="1"/>
          </p:nvPr>
        </p:nvSpPr>
        <p:spPr/>
        <p:txBody>
          <a:bodyPr/>
          <a:lstStyle/>
          <a:p>
            <a:r>
              <a:rPr lang="en-GB" dirty="0"/>
              <a:t>Sharp decrease (or plateau) in intrinsic dimension</a:t>
            </a:r>
          </a:p>
          <a:p>
            <a:endParaRPr lang="en-GB" dirty="0"/>
          </a:p>
          <a:p>
            <a:r>
              <a:rPr lang="en-GB" dirty="0"/>
              <a:t>Representations become low‑dimensional and stable</a:t>
            </a:r>
          </a:p>
          <a:p>
            <a:endParaRPr lang="en-GB" dirty="0"/>
          </a:p>
          <a:p>
            <a:r>
              <a:rPr lang="en-GB" dirty="0"/>
              <a:t>Semantic information emerges here</a:t>
            </a:r>
          </a:p>
        </p:txBody>
      </p:sp>
    </p:spTree>
    <p:extLst>
      <p:ext uri="{BB962C8B-B14F-4D97-AF65-F5344CB8AC3E}">
        <p14:creationId xmlns:p14="http://schemas.microsoft.com/office/powerpoint/2010/main" val="3226466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11DCA-B193-D84B-CEF2-F008F309F48A}"/>
              </a:ext>
            </a:extLst>
          </p:cNvPr>
          <p:cNvSpPr>
            <a:spLocks noGrp="1"/>
          </p:cNvSpPr>
          <p:nvPr>
            <p:ph type="title"/>
          </p:nvPr>
        </p:nvSpPr>
        <p:spPr/>
        <p:txBody>
          <a:bodyPr/>
          <a:lstStyle/>
          <a:p>
            <a:r>
              <a:rPr lang="en-GB" dirty="0"/>
              <a:t>Decoding / reconstruction phase (late layers)</a:t>
            </a:r>
            <a:br>
              <a:rPr lang="en-GB" dirty="0"/>
            </a:br>
            <a:endParaRPr lang="en-GB" dirty="0"/>
          </a:p>
        </p:txBody>
      </p:sp>
      <p:sp>
        <p:nvSpPr>
          <p:cNvPr id="3" name="Content Placeholder 2">
            <a:extLst>
              <a:ext uri="{FF2B5EF4-FFF2-40B4-BE49-F238E27FC236}">
                <a16:creationId xmlns:a16="http://schemas.microsoft.com/office/drawing/2014/main" id="{802EAA2A-FC9F-C91D-0857-11A8827C584E}"/>
              </a:ext>
            </a:extLst>
          </p:cNvPr>
          <p:cNvSpPr>
            <a:spLocks noGrp="1"/>
          </p:cNvSpPr>
          <p:nvPr>
            <p:ph idx="1"/>
          </p:nvPr>
        </p:nvSpPr>
        <p:spPr/>
        <p:txBody>
          <a:bodyPr/>
          <a:lstStyle/>
          <a:p>
            <a:r>
              <a:rPr lang="en-GB" dirty="0"/>
              <a:t>Intrinsic dimension rises again</a:t>
            </a:r>
          </a:p>
          <a:p>
            <a:endParaRPr lang="en-GB" dirty="0"/>
          </a:p>
          <a:p>
            <a:r>
              <a:rPr lang="en-GB" dirty="0" err="1"/>
              <a:t>Neighborhoods</a:t>
            </a:r>
            <a:r>
              <a:rPr lang="en-GB" dirty="0"/>
              <a:t> rearrange to support the reconstruction objective</a:t>
            </a:r>
          </a:p>
          <a:p>
            <a:endParaRPr lang="en-GB" dirty="0"/>
          </a:p>
        </p:txBody>
      </p:sp>
    </p:spTree>
    <p:extLst>
      <p:ext uri="{BB962C8B-B14F-4D97-AF65-F5344CB8AC3E}">
        <p14:creationId xmlns:p14="http://schemas.microsoft.com/office/powerpoint/2010/main" val="2629035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18DD-CE0A-8280-6F21-F4010D34D183}"/>
              </a:ext>
            </a:extLst>
          </p:cNvPr>
          <p:cNvSpPr>
            <a:spLocks noGrp="1"/>
          </p:cNvSpPr>
          <p:nvPr>
            <p:ph type="title"/>
          </p:nvPr>
        </p:nvSpPr>
        <p:spPr/>
        <p:txBody>
          <a:bodyPr/>
          <a:lstStyle/>
          <a:p>
            <a:r>
              <a:rPr lang="en-GB" dirty="0"/>
              <a:t>(</a:t>
            </a:r>
            <a:r>
              <a:rPr lang="en-GB" dirty="0" err="1"/>
              <a:t>iGPT</a:t>
            </a:r>
            <a:r>
              <a:rPr lang="en-GB" dirty="0"/>
              <a:t> only) Second shallow peak</a:t>
            </a:r>
            <a:br>
              <a:rPr lang="en-GB" dirty="0"/>
            </a:br>
            <a:endParaRPr lang="en-GB" dirty="0"/>
          </a:p>
        </p:txBody>
      </p:sp>
      <p:sp>
        <p:nvSpPr>
          <p:cNvPr id="3" name="Content Placeholder 2">
            <a:extLst>
              <a:ext uri="{FF2B5EF4-FFF2-40B4-BE49-F238E27FC236}">
                <a16:creationId xmlns:a16="http://schemas.microsoft.com/office/drawing/2014/main" id="{9DB63696-9889-E6E4-FD32-9C48E85D7982}"/>
              </a:ext>
            </a:extLst>
          </p:cNvPr>
          <p:cNvSpPr>
            <a:spLocks noGrp="1"/>
          </p:cNvSpPr>
          <p:nvPr>
            <p:ph idx="1"/>
          </p:nvPr>
        </p:nvSpPr>
        <p:spPr/>
        <p:txBody>
          <a:bodyPr/>
          <a:lstStyle/>
          <a:p>
            <a:r>
              <a:rPr lang="en-GB" dirty="0"/>
              <a:t>Suggests an autoencoder‑like symmetry between encoding and decoding</a:t>
            </a:r>
            <a:r>
              <a:rPr lang="en-GB" b="1" u="sng" dirty="0"/>
              <a:t> </a:t>
            </a:r>
            <a:endParaRPr lang="en-GB" dirty="0"/>
          </a:p>
          <a:p>
            <a:pPr marL="0" indent="0">
              <a:buNone/>
            </a:pPr>
            <a:endParaRPr lang="en-GB" dirty="0"/>
          </a:p>
        </p:txBody>
      </p:sp>
    </p:spTree>
    <p:extLst>
      <p:ext uri="{BB962C8B-B14F-4D97-AF65-F5344CB8AC3E}">
        <p14:creationId xmlns:p14="http://schemas.microsoft.com/office/powerpoint/2010/main" val="1223350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4" name="Rectangle 13">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 name="Content Placeholder 4">
            <a:extLst>
              <a:ext uri="{FF2B5EF4-FFF2-40B4-BE49-F238E27FC236}">
                <a16:creationId xmlns:a16="http://schemas.microsoft.com/office/drawing/2014/main" id="{A2B5B200-A083-259F-465B-965A2AFE0C08}"/>
              </a:ext>
            </a:extLst>
          </p:cNvPr>
          <p:cNvPicPr>
            <a:picLocks noGrp="1" noChangeAspect="1"/>
          </p:cNvPicPr>
          <p:nvPr>
            <p:ph idx="1"/>
          </p:nvPr>
        </p:nvPicPr>
        <p:blipFill>
          <a:blip r:embed="rId2"/>
          <a:stretch>
            <a:fillRect/>
          </a:stretch>
        </p:blipFill>
        <p:spPr>
          <a:xfrm>
            <a:off x="2083806" y="1284394"/>
            <a:ext cx="8119557" cy="4283066"/>
          </a:xfrm>
          <a:prstGeom prst="rect">
            <a:avLst/>
          </a:prstGeom>
        </p:spPr>
      </p:pic>
    </p:spTree>
    <p:extLst>
      <p:ext uri="{BB962C8B-B14F-4D97-AF65-F5344CB8AC3E}">
        <p14:creationId xmlns:p14="http://schemas.microsoft.com/office/powerpoint/2010/main" val="4034423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4" name="Rectangle 13">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 name="Content Placeholder 4">
            <a:extLst>
              <a:ext uri="{FF2B5EF4-FFF2-40B4-BE49-F238E27FC236}">
                <a16:creationId xmlns:a16="http://schemas.microsoft.com/office/drawing/2014/main" id="{D38BB3B2-C51F-4719-AA42-9FAF0FF8DF88}"/>
              </a:ext>
            </a:extLst>
          </p:cNvPr>
          <p:cNvPicPr>
            <a:picLocks noGrp="1" noChangeAspect="1"/>
          </p:cNvPicPr>
          <p:nvPr>
            <p:ph idx="1"/>
          </p:nvPr>
        </p:nvPicPr>
        <p:blipFill>
          <a:blip r:embed="rId2"/>
          <a:stretch>
            <a:fillRect/>
          </a:stretch>
        </p:blipFill>
        <p:spPr>
          <a:xfrm>
            <a:off x="2232107" y="1284394"/>
            <a:ext cx="7822955" cy="4283066"/>
          </a:xfrm>
          <a:prstGeom prst="rect">
            <a:avLst/>
          </a:prstGeom>
        </p:spPr>
      </p:pic>
    </p:spTree>
    <p:extLst>
      <p:ext uri="{BB962C8B-B14F-4D97-AF65-F5344CB8AC3E}">
        <p14:creationId xmlns:p14="http://schemas.microsoft.com/office/powerpoint/2010/main" val="1052343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EAD82-DD9B-AE49-BCDA-8DF45ECFF140}"/>
              </a:ext>
            </a:extLst>
          </p:cNvPr>
          <p:cNvSpPr>
            <a:spLocks noGrp="1"/>
          </p:cNvSpPr>
          <p:nvPr>
            <p:ph type="title"/>
          </p:nvPr>
        </p:nvSpPr>
        <p:spPr/>
        <p:txBody>
          <a:bodyPr/>
          <a:lstStyle/>
          <a:p>
            <a:r>
              <a:rPr lang="en-GB" b="1" dirty="0"/>
              <a:t>Semantic Information Peaks at Low Intrinsic Dimension</a:t>
            </a:r>
            <a:endParaRPr lang="en-GB" dirty="0"/>
          </a:p>
        </p:txBody>
      </p:sp>
      <p:sp>
        <p:nvSpPr>
          <p:cNvPr id="3" name="Content Placeholder 2">
            <a:extLst>
              <a:ext uri="{FF2B5EF4-FFF2-40B4-BE49-F238E27FC236}">
                <a16:creationId xmlns:a16="http://schemas.microsoft.com/office/drawing/2014/main" id="{E8B00D79-A83B-EA29-5EFA-50864D43AD35}"/>
              </a:ext>
            </a:extLst>
          </p:cNvPr>
          <p:cNvSpPr>
            <a:spLocks noGrp="1"/>
          </p:cNvSpPr>
          <p:nvPr>
            <p:ph idx="1"/>
          </p:nvPr>
        </p:nvSpPr>
        <p:spPr/>
        <p:txBody>
          <a:bodyPr/>
          <a:lstStyle/>
          <a:p>
            <a:pPr lvl="0"/>
            <a:r>
              <a:rPr lang="en-GB" dirty="0"/>
              <a:t>Proteins:</a:t>
            </a:r>
            <a:br>
              <a:rPr lang="en-GB" dirty="0"/>
            </a:br>
            <a:r>
              <a:rPr lang="en-GB" dirty="0"/>
              <a:t>Remote homology information (</a:t>
            </a:r>
            <a:r>
              <a:rPr lang="en-GB" dirty="0" err="1"/>
              <a:t>SCOPe</a:t>
            </a:r>
            <a:r>
              <a:rPr lang="en-GB" dirty="0"/>
              <a:t> superfamilies) peaks in the low‑ID plateau, not the final layer.</a:t>
            </a:r>
          </a:p>
          <a:p>
            <a:pPr lvl="0"/>
            <a:endParaRPr lang="en-GB" dirty="0"/>
          </a:p>
          <a:p>
            <a:pPr lvl="0"/>
            <a:r>
              <a:rPr lang="en-GB" dirty="0"/>
              <a:t>Images:</a:t>
            </a:r>
            <a:br>
              <a:rPr lang="en-GB" dirty="0"/>
            </a:br>
            <a:r>
              <a:rPr lang="en-GB" dirty="0"/>
              <a:t>ImageNet class information peaks at the local minimum of the ID curve, around mid‑depth.</a:t>
            </a:r>
          </a:p>
          <a:p>
            <a:endParaRPr lang="en-GB" dirty="0"/>
          </a:p>
          <a:p>
            <a:r>
              <a:rPr lang="en-GB" dirty="0"/>
              <a:t>This holds consistently across model sizes, with stronger effects in larger models. 1</a:t>
            </a:r>
          </a:p>
          <a:p>
            <a:pPr marL="0" indent="0">
              <a:buNone/>
            </a:pPr>
            <a:endParaRPr lang="en-GB" dirty="0"/>
          </a:p>
        </p:txBody>
      </p:sp>
    </p:spTree>
    <p:extLst>
      <p:ext uri="{BB962C8B-B14F-4D97-AF65-F5344CB8AC3E}">
        <p14:creationId xmlns:p14="http://schemas.microsoft.com/office/powerpoint/2010/main" val="1987439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13935-4C0F-E916-1E43-B03A17445F69}"/>
              </a:ext>
            </a:extLst>
          </p:cNvPr>
          <p:cNvSpPr>
            <a:spLocks noGrp="1"/>
          </p:cNvSpPr>
          <p:nvPr>
            <p:ph type="title"/>
          </p:nvPr>
        </p:nvSpPr>
        <p:spPr/>
        <p:txBody>
          <a:bodyPr/>
          <a:lstStyle/>
          <a:p>
            <a:r>
              <a:rPr lang="en-GB" b="1" dirty="0"/>
              <a:t>Practical Implication: Unsupervised Layer Selection</a:t>
            </a:r>
            <a:endParaRPr lang="en-GB" dirty="0"/>
          </a:p>
        </p:txBody>
      </p:sp>
      <p:sp>
        <p:nvSpPr>
          <p:cNvPr id="3" name="Content Placeholder 2">
            <a:extLst>
              <a:ext uri="{FF2B5EF4-FFF2-40B4-BE49-F238E27FC236}">
                <a16:creationId xmlns:a16="http://schemas.microsoft.com/office/drawing/2014/main" id="{DE11DA1E-8AFB-C770-7F8A-E473E69E7C93}"/>
              </a:ext>
            </a:extLst>
          </p:cNvPr>
          <p:cNvSpPr>
            <a:spLocks noGrp="1"/>
          </p:cNvSpPr>
          <p:nvPr>
            <p:ph idx="1"/>
          </p:nvPr>
        </p:nvSpPr>
        <p:spPr/>
        <p:txBody>
          <a:bodyPr/>
          <a:lstStyle/>
          <a:p>
            <a:r>
              <a:rPr lang="en-GB" dirty="0"/>
              <a:t>The ID profile can be used as a model‑ and task‑agnostic criterion to:</a:t>
            </a:r>
          </a:p>
          <a:p>
            <a:pPr lvl="0"/>
            <a:endParaRPr lang="en-GB" dirty="0"/>
          </a:p>
          <a:p>
            <a:pPr lvl="0"/>
            <a:r>
              <a:rPr lang="en-GB" dirty="0"/>
              <a:t>Identify layers best suited for downstream tasks</a:t>
            </a:r>
          </a:p>
          <a:p>
            <a:pPr lvl="0"/>
            <a:endParaRPr lang="en-GB" dirty="0"/>
          </a:p>
          <a:p>
            <a:pPr lvl="0"/>
            <a:r>
              <a:rPr lang="en-GB" dirty="0"/>
              <a:t>Improve nearest‑</a:t>
            </a:r>
            <a:r>
              <a:rPr lang="en-GB" dirty="0" err="1"/>
              <a:t>neighbor</a:t>
            </a:r>
            <a:r>
              <a:rPr lang="en-GB" dirty="0"/>
              <a:t> search and linear probing without fine‑tuning</a:t>
            </a:r>
          </a:p>
          <a:p>
            <a:pPr lvl="0"/>
            <a:endParaRPr lang="en-GB" dirty="0"/>
          </a:p>
          <a:p>
            <a:pPr lvl="0"/>
            <a:r>
              <a:rPr lang="en-GB" dirty="0"/>
              <a:t>Outperform representations taken from the last hidden layer in tasks like protein homology search</a:t>
            </a:r>
          </a:p>
          <a:p>
            <a:pPr marL="0" indent="0">
              <a:buNone/>
            </a:pPr>
            <a:endParaRPr lang="en-GB" dirty="0"/>
          </a:p>
        </p:txBody>
      </p:sp>
    </p:spTree>
    <p:extLst>
      <p:ext uri="{BB962C8B-B14F-4D97-AF65-F5344CB8AC3E}">
        <p14:creationId xmlns:p14="http://schemas.microsoft.com/office/powerpoint/2010/main" val="1830714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4" name="Rectangle 13">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 name="Content Placeholder 4">
            <a:extLst>
              <a:ext uri="{FF2B5EF4-FFF2-40B4-BE49-F238E27FC236}">
                <a16:creationId xmlns:a16="http://schemas.microsoft.com/office/drawing/2014/main" id="{859D4ED4-904E-91C9-78B5-0A11C9D8635E}"/>
              </a:ext>
            </a:extLst>
          </p:cNvPr>
          <p:cNvPicPr>
            <a:picLocks noGrp="1" noChangeAspect="1"/>
          </p:cNvPicPr>
          <p:nvPr>
            <p:ph idx="1"/>
          </p:nvPr>
        </p:nvPicPr>
        <p:blipFill>
          <a:blip r:embed="rId2"/>
          <a:stretch>
            <a:fillRect/>
          </a:stretch>
        </p:blipFill>
        <p:spPr>
          <a:xfrm>
            <a:off x="1795292" y="1284394"/>
            <a:ext cx="8696584" cy="4283066"/>
          </a:xfrm>
          <a:prstGeom prst="rect">
            <a:avLst/>
          </a:prstGeom>
        </p:spPr>
      </p:pic>
    </p:spTree>
    <p:extLst>
      <p:ext uri="{BB962C8B-B14F-4D97-AF65-F5344CB8AC3E}">
        <p14:creationId xmlns:p14="http://schemas.microsoft.com/office/powerpoint/2010/main" val="2100930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4BAE-49FD-571F-E000-164231CEBF39}"/>
              </a:ext>
            </a:extLst>
          </p:cNvPr>
          <p:cNvSpPr>
            <a:spLocks noGrp="1"/>
          </p:cNvSpPr>
          <p:nvPr>
            <p:ph type="title"/>
          </p:nvPr>
        </p:nvSpPr>
        <p:spPr/>
        <p:txBody>
          <a:bodyPr/>
          <a:lstStyle/>
          <a:p>
            <a:r>
              <a:rPr lang="en-GB" b="1" dirty="0"/>
              <a:t>Conceptual Interpretation</a:t>
            </a:r>
            <a:br>
              <a:rPr lang="en-GB" dirty="0"/>
            </a:br>
            <a:endParaRPr lang="en-GB" dirty="0"/>
          </a:p>
        </p:txBody>
      </p:sp>
      <p:sp>
        <p:nvSpPr>
          <p:cNvPr id="3" name="Content Placeholder 2">
            <a:extLst>
              <a:ext uri="{FF2B5EF4-FFF2-40B4-BE49-F238E27FC236}">
                <a16:creationId xmlns:a16="http://schemas.microsoft.com/office/drawing/2014/main" id="{1A353581-C3F8-F904-3E2E-2205759E20AB}"/>
              </a:ext>
            </a:extLst>
          </p:cNvPr>
          <p:cNvSpPr>
            <a:spLocks noGrp="1"/>
          </p:cNvSpPr>
          <p:nvPr>
            <p:ph idx="1"/>
          </p:nvPr>
        </p:nvSpPr>
        <p:spPr/>
        <p:txBody>
          <a:bodyPr/>
          <a:lstStyle/>
          <a:p>
            <a:r>
              <a:rPr lang="en-GB" dirty="0"/>
              <a:t>The authors argue that large transformers behave like sophisticated autoencoders:</a:t>
            </a:r>
          </a:p>
          <a:p>
            <a:pPr lvl="0"/>
            <a:endParaRPr lang="en-GB" dirty="0"/>
          </a:p>
          <a:p>
            <a:pPr lvl="0"/>
            <a:r>
              <a:rPr lang="en-GB" dirty="0"/>
              <a:t>Encode: Expand then compress data into a low‑dimensional semantic manifold</a:t>
            </a:r>
          </a:p>
          <a:p>
            <a:pPr lvl="0"/>
            <a:endParaRPr lang="en-GB" dirty="0"/>
          </a:p>
          <a:p>
            <a:pPr lvl="0"/>
            <a:r>
              <a:rPr lang="en-GB" dirty="0"/>
              <a:t>Decode: Re‑expand representations to reconstruct the input</a:t>
            </a:r>
          </a:p>
          <a:p>
            <a:pPr marL="0" indent="0">
              <a:buNone/>
            </a:pPr>
            <a:endParaRPr lang="en-GB" dirty="0"/>
          </a:p>
        </p:txBody>
      </p:sp>
    </p:spTree>
    <p:extLst>
      <p:ext uri="{BB962C8B-B14F-4D97-AF65-F5344CB8AC3E}">
        <p14:creationId xmlns:p14="http://schemas.microsoft.com/office/powerpoint/2010/main" val="1151475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ubrics cubes in metallic reflections">
            <a:extLst>
              <a:ext uri="{FF2B5EF4-FFF2-40B4-BE49-F238E27FC236}">
                <a16:creationId xmlns:a16="http://schemas.microsoft.com/office/drawing/2014/main" id="{BEEDC0C1-2F45-52E1-24BE-05A2D7EE311B}"/>
              </a:ext>
            </a:extLst>
          </p:cNvPr>
          <p:cNvPicPr>
            <a:picLocks noChangeAspect="1"/>
          </p:cNvPicPr>
          <p:nvPr/>
        </p:nvPicPr>
        <p:blipFill>
          <a:blip r:embed="rId2">
            <a:alphaModFix amt="40000"/>
          </a:blip>
          <a:srcRect t="13519" r="-2" b="208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9D9A779-7E76-1050-794B-A09413D868AF}"/>
              </a:ext>
            </a:extLst>
          </p:cNvPr>
          <p:cNvSpPr>
            <a:spLocks noGrp="1"/>
          </p:cNvSpPr>
          <p:nvPr>
            <p:ph type="title"/>
          </p:nvPr>
        </p:nvSpPr>
        <p:spPr>
          <a:xfrm>
            <a:off x="1154954" y="973668"/>
            <a:ext cx="8761413" cy="706964"/>
          </a:xfrm>
        </p:spPr>
        <p:txBody>
          <a:bodyPr>
            <a:normAutofit/>
          </a:bodyPr>
          <a:lstStyle/>
          <a:p>
            <a:pPr>
              <a:lnSpc>
                <a:spcPct val="90000"/>
              </a:lnSpc>
            </a:pPr>
            <a:r>
              <a:rPr lang="en-GB" sz="1400" b="1">
                <a:solidFill>
                  <a:schemeClr val="tx1"/>
                </a:solidFill>
              </a:rPr>
              <a:t>From Black-Box to Glass-Box: A User‑Centric Framework for Explainable Visualization with LLMs</a:t>
            </a:r>
            <a:br>
              <a:rPr lang="en-GB" sz="1400">
                <a:solidFill>
                  <a:schemeClr val="tx1"/>
                </a:solidFill>
              </a:rPr>
            </a:br>
            <a:endParaRPr lang="en-GB" sz="1400">
              <a:solidFill>
                <a:schemeClr val="tx1"/>
              </a:solidFill>
            </a:endParaRPr>
          </a:p>
        </p:txBody>
      </p:sp>
      <p:sp>
        <p:nvSpPr>
          <p:cNvPr id="3" name="Content Placeholder 2">
            <a:extLst>
              <a:ext uri="{FF2B5EF4-FFF2-40B4-BE49-F238E27FC236}">
                <a16:creationId xmlns:a16="http://schemas.microsoft.com/office/drawing/2014/main" id="{D87EC9DA-F826-C2EA-9908-96D7914328D5}"/>
              </a:ext>
            </a:extLst>
          </p:cNvPr>
          <p:cNvSpPr>
            <a:spLocks noGrp="1"/>
          </p:cNvSpPr>
          <p:nvPr>
            <p:ph idx="1"/>
          </p:nvPr>
        </p:nvSpPr>
        <p:spPr>
          <a:xfrm>
            <a:off x="1154954" y="2603500"/>
            <a:ext cx="8825659" cy="3416300"/>
          </a:xfrm>
        </p:spPr>
        <p:txBody>
          <a:bodyPr>
            <a:normAutofit/>
          </a:bodyPr>
          <a:lstStyle/>
          <a:p>
            <a:r>
              <a:rPr lang="en-GB">
                <a:solidFill>
                  <a:schemeClr val="tx1"/>
                </a:solidFill>
              </a:rPr>
              <a:t>introduces a framework aimed at making LLM‑generated data visualizations more explainable and trustworthy. It expands the original LIDA system and proposes LIDA++, an enhanced, user‑centric version designed to solve interpretability issues in visualization recommendation systems.</a:t>
            </a:r>
          </a:p>
        </p:txBody>
      </p:sp>
    </p:spTree>
    <p:extLst>
      <p:ext uri="{BB962C8B-B14F-4D97-AF65-F5344CB8AC3E}">
        <p14:creationId xmlns:p14="http://schemas.microsoft.com/office/powerpoint/2010/main" val="1800194454"/>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B72F7-638C-C1F2-E6B5-5B344FC5D46C}"/>
              </a:ext>
            </a:extLst>
          </p:cNvPr>
          <p:cNvSpPr>
            <a:spLocks noGrp="1"/>
          </p:cNvSpPr>
          <p:nvPr>
            <p:ph type="title"/>
          </p:nvPr>
        </p:nvSpPr>
        <p:spPr/>
        <p:txBody>
          <a:bodyPr/>
          <a:lstStyle/>
          <a:p>
            <a:r>
              <a:rPr lang="en-GB" b="1" dirty="0"/>
              <a:t>Limitations of Previous Approaches</a:t>
            </a:r>
            <a:br>
              <a:rPr lang="en-GB" dirty="0"/>
            </a:br>
            <a:endParaRPr lang="en-GB" dirty="0"/>
          </a:p>
        </p:txBody>
      </p:sp>
      <p:sp>
        <p:nvSpPr>
          <p:cNvPr id="3" name="Content Placeholder 2">
            <a:extLst>
              <a:ext uri="{FF2B5EF4-FFF2-40B4-BE49-F238E27FC236}">
                <a16:creationId xmlns:a16="http://schemas.microsoft.com/office/drawing/2014/main" id="{E984990A-F349-3C72-81E8-8989A95E0867}"/>
              </a:ext>
            </a:extLst>
          </p:cNvPr>
          <p:cNvSpPr>
            <a:spLocks noGrp="1"/>
          </p:cNvSpPr>
          <p:nvPr>
            <p:ph idx="1"/>
          </p:nvPr>
        </p:nvSpPr>
        <p:spPr/>
        <p:txBody>
          <a:bodyPr/>
          <a:lstStyle/>
          <a:p>
            <a:pPr lvl="0"/>
            <a:r>
              <a:rPr lang="en-GB" b="1" dirty="0"/>
              <a:t>Rule‑based visualization systems</a:t>
            </a:r>
            <a:r>
              <a:rPr lang="en-GB" dirty="0"/>
              <a:t> → hard to maintain and don’t generalize well.</a:t>
            </a:r>
          </a:p>
          <a:p>
            <a:pPr lvl="0"/>
            <a:endParaRPr lang="en-GB" b="1" dirty="0"/>
          </a:p>
          <a:p>
            <a:pPr lvl="0"/>
            <a:r>
              <a:rPr lang="en-GB" b="1" dirty="0"/>
              <a:t>ML‑based systems</a:t>
            </a:r>
            <a:r>
              <a:rPr lang="en-GB" dirty="0"/>
              <a:t> (e.g., </a:t>
            </a:r>
            <a:r>
              <a:rPr lang="en-GB" dirty="0" err="1"/>
              <a:t>VizML</a:t>
            </a:r>
            <a:r>
              <a:rPr lang="en-GB" dirty="0"/>
              <a:t>, </a:t>
            </a:r>
            <a:r>
              <a:rPr lang="en-GB" dirty="0" err="1"/>
              <a:t>DeepEye</a:t>
            </a:r>
            <a:r>
              <a:rPr lang="en-GB" dirty="0"/>
              <a:t>) → high training cost, model bias, still black‑box.</a:t>
            </a:r>
          </a:p>
          <a:p>
            <a:endParaRPr lang="en-GB" b="1" dirty="0"/>
          </a:p>
          <a:p>
            <a:r>
              <a:rPr lang="en-GB" b="1" dirty="0"/>
              <a:t>XAI methods</a:t>
            </a:r>
            <a:r>
              <a:rPr lang="en-GB" dirty="0"/>
              <a:t> like LIME and SHAP → useful but computationally heavy and may provide unintuitive explanations. </a:t>
            </a:r>
          </a:p>
        </p:txBody>
      </p:sp>
    </p:spTree>
    <p:extLst>
      <p:ext uri="{BB962C8B-B14F-4D97-AF65-F5344CB8AC3E}">
        <p14:creationId xmlns:p14="http://schemas.microsoft.com/office/powerpoint/2010/main" val="2931268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1910-1FC4-8145-9E06-B4C85F267B75}"/>
              </a:ext>
            </a:extLst>
          </p:cNvPr>
          <p:cNvSpPr>
            <a:spLocks noGrp="1"/>
          </p:cNvSpPr>
          <p:nvPr>
            <p:ph type="title"/>
          </p:nvPr>
        </p:nvSpPr>
        <p:spPr/>
        <p:txBody>
          <a:bodyPr/>
          <a:lstStyle/>
          <a:p>
            <a:r>
              <a:rPr lang="en-GB" dirty="0"/>
              <a:t>What LIDA++ Improves</a:t>
            </a:r>
          </a:p>
        </p:txBody>
      </p:sp>
      <p:sp>
        <p:nvSpPr>
          <p:cNvPr id="3" name="Content Placeholder 2">
            <a:extLst>
              <a:ext uri="{FF2B5EF4-FFF2-40B4-BE49-F238E27FC236}">
                <a16:creationId xmlns:a16="http://schemas.microsoft.com/office/drawing/2014/main" id="{263D5DDA-82F6-1D0D-B41C-F24336C00EFD}"/>
              </a:ext>
            </a:extLst>
          </p:cNvPr>
          <p:cNvSpPr>
            <a:spLocks noGrp="1"/>
          </p:cNvSpPr>
          <p:nvPr>
            <p:ph idx="1"/>
          </p:nvPr>
        </p:nvSpPr>
        <p:spPr>
          <a:xfrm>
            <a:off x="786384" y="2295144"/>
            <a:ext cx="10186416" cy="4142232"/>
          </a:xfrm>
        </p:spPr>
        <p:txBody>
          <a:bodyPr>
            <a:normAutofit fontScale="92500"/>
          </a:bodyPr>
          <a:lstStyle/>
          <a:p>
            <a:r>
              <a:rPr lang="en-GB" dirty="0"/>
              <a:t>Goal Explorer &amp; Goal Analyzer — separates goal generation into more transparent modules.</a:t>
            </a:r>
            <a:br>
              <a:rPr lang="en-GB" dirty="0"/>
            </a:br>
            <a:r>
              <a:rPr lang="en-GB" dirty="0"/>
              <a:t> </a:t>
            </a:r>
          </a:p>
          <a:p>
            <a:r>
              <a:rPr lang="en-GB" dirty="0"/>
              <a:t>Improved data summarization — reduces token usage and hallucinations; supports wider datasets.</a:t>
            </a:r>
            <a:br>
              <a:rPr lang="en-GB" dirty="0"/>
            </a:br>
            <a:endParaRPr lang="en-GB" dirty="0"/>
          </a:p>
          <a:p>
            <a:r>
              <a:rPr lang="en-GB" dirty="0"/>
              <a:t>Visualization Evaluator — a new scoring mechanism evaluating charts more reliably.</a:t>
            </a:r>
            <a:br>
              <a:rPr lang="en-GB" dirty="0"/>
            </a:br>
            <a:endParaRPr lang="en-GB" dirty="0"/>
          </a:p>
          <a:p>
            <a:r>
              <a:rPr lang="en-GB" dirty="0" err="1"/>
              <a:t>ImageEvaluator</a:t>
            </a:r>
            <a:r>
              <a:rPr lang="en-GB" dirty="0"/>
              <a:t> (multimodal LLM) — evaluates charts on clarity, accuracy, insightfulness, compliance, etc.</a:t>
            </a:r>
          </a:p>
          <a:p>
            <a:r>
              <a:rPr lang="en-GB" dirty="0"/>
              <a:t>More consistent scoring (SEVQ modifications) — replaces free‑text scoring with logic‑based, structured evaluation.</a:t>
            </a:r>
          </a:p>
          <a:p>
            <a:r>
              <a:rPr lang="en-GB" dirty="0"/>
              <a:t>Interface improvements — landing module, playground module, and improved user guidance. </a:t>
            </a:r>
          </a:p>
        </p:txBody>
      </p:sp>
    </p:spTree>
    <p:extLst>
      <p:ext uri="{BB962C8B-B14F-4D97-AF65-F5344CB8AC3E}">
        <p14:creationId xmlns:p14="http://schemas.microsoft.com/office/powerpoint/2010/main" val="26725290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616407-3E4D-4469-BDAF-3837EBF9F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 name="Content Placeholder 4">
            <a:extLst>
              <a:ext uri="{FF2B5EF4-FFF2-40B4-BE49-F238E27FC236}">
                <a16:creationId xmlns:a16="http://schemas.microsoft.com/office/drawing/2014/main" id="{2BFDDBC7-2743-326F-E42A-D0CE9B481ED2}"/>
              </a:ext>
            </a:extLst>
          </p:cNvPr>
          <p:cNvPicPr>
            <a:picLocks noGrp="1" noChangeAspect="1"/>
          </p:cNvPicPr>
          <p:nvPr>
            <p:ph idx="1"/>
          </p:nvPr>
        </p:nvPicPr>
        <p:blipFill>
          <a:blip r:embed="rId2"/>
          <a:srcRect l="3005" r="1885" b="1"/>
          <a:stretch>
            <a:fillRect/>
          </a:stretch>
        </p:blipFill>
        <p:spPr>
          <a:xfrm>
            <a:off x="20" y="10"/>
            <a:ext cx="12191980" cy="6857990"/>
          </a:xfrm>
          <a:prstGeom prst="rect">
            <a:avLst/>
          </a:prstGeom>
        </p:spPr>
      </p:pic>
    </p:spTree>
    <p:extLst>
      <p:ext uri="{BB962C8B-B14F-4D97-AF65-F5344CB8AC3E}">
        <p14:creationId xmlns:p14="http://schemas.microsoft.com/office/powerpoint/2010/main" val="201888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616407-3E4D-4469-BDAF-3837EBF9F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 name="Content Placeholder 4">
            <a:extLst>
              <a:ext uri="{FF2B5EF4-FFF2-40B4-BE49-F238E27FC236}">
                <a16:creationId xmlns:a16="http://schemas.microsoft.com/office/drawing/2014/main" id="{3CF84820-8853-ACB0-8569-4331744DB676}"/>
              </a:ext>
            </a:extLst>
          </p:cNvPr>
          <p:cNvPicPr>
            <a:picLocks noGrp="1" noChangeAspect="1"/>
          </p:cNvPicPr>
          <p:nvPr>
            <p:ph idx="1"/>
          </p:nvPr>
        </p:nvPicPr>
        <p:blipFill>
          <a:blip r:embed="rId2"/>
          <a:srcRect t="35897"/>
          <a:stretch>
            <a:fillRect/>
          </a:stretch>
        </p:blipFill>
        <p:spPr>
          <a:xfrm>
            <a:off x="20" y="10"/>
            <a:ext cx="12191980" cy="6857990"/>
          </a:xfrm>
          <a:prstGeom prst="rect">
            <a:avLst/>
          </a:prstGeom>
        </p:spPr>
      </p:pic>
    </p:spTree>
    <p:extLst>
      <p:ext uri="{BB962C8B-B14F-4D97-AF65-F5344CB8AC3E}">
        <p14:creationId xmlns:p14="http://schemas.microsoft.com/office/powerpoint/2010/main" val="2273152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obot with human face">
            <a:extLst>
              <a:ext uri="{FF2B5EF4-FFF2-40B4-BE49-F238E27FC236}">
                <a16:creationId xmlns:a16="http://schemas.microsoft.com/office/drawing/2014/main" id="{209200FD-4F2C-C098-3310-A6AAFBEBC72E}"/>
              </a:ext>
            </a:extLst>
          </p:cNvPr>
          <p:cNvPicPr>
            <a:picLocks noChangeAspect="1"/>
          </p:cNvPicPr>
          <p:nvPr/>
        </p:nvPicPr>
        <p:blipFill>
          <a:blip r:embed="rId2">
            <a:alphaModFix amt="40000"/>
          </a:blip>
          <a:srcRect r="-2" b="15603"/>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4FF36D02-8531-51E2-5622-8B70A6F8E9CA}"/>
              </a:ext>
            </a:extLst>
          </p:cNvPr>
          <p:cNvSpPr>
            <a:spLocks noGrp="1"/>
          </p:cNvSpPr>
          <p:nvPr>
            <p:ph type="title"/>
          </p:nvPr>
        </p:nvSpPr>
        <p:spPr>
          <a:xfrm>
            <a:off x="1154954" y="973668"/>
            <a:ext cx="8761413" cy="706964"/>
          </a:xfrm>
        </p:spPr>
        <p:txBody>
          <a:bodyPr>
            <a:normAutofit/>
          </a:bodyPr>
          <a:lstStyle/>
          <a:p>
            <a:pPr>
              <a:lnSpc>
                <a:spcPct val="90000"/>
              </a:lnSpc>
            </a:pPr>
            <a:r>
              <a:rPr lang="en-GB" sz="1700" b="1">
                <a:solidFill>
                  <a:schemeClr val="tx1"/>
                </a:solidFill>
              </a:rPr>
              <a:t>A Comprehensive Guide to Explainable AI: From Classical Models to LLMs</a:t>
            </a:r>
            <a:br>
              <a:rPr lang="en-GB" sz="1700">
                <a:solidFill>
                  <a:schemeClr val="tx1"/>
                </a:solidFill>
              </a:rPr>
            </a:br>
            <a:endParaRPr lang="en-GB" sz="1700">
              <a:solidFill>
                <a:schemeClr val="tx1"/>
              </a:solidFill>
            </a:endParaRPr>
          </a:p>
        </p:txBody>
      </p:sp>
      <p:sp>
        <p:nvSpPr>
          <p:cNvPr id="3" name="Content Placeholder 2">
            <a:extLst>
              <a:ext uri="{FF2B5EF4-FFF2-40B4-BE49-F238E27FC236}">
                <a16:creationId xmlns:a16="http://schemas.microsoft.com/office/drawing/2014/main" id="{10EB3C21-676E-8BE6-C81F-353F3FA48DE6}"/>
              </a:ext>
            </a:extLst>
          </p:cNvPr>
          <p:cNvSpPr>
            <a:spLocks noGrp="1"/>
          </p:cNvSpPr>
          <p:nvPr>
            <p:ph idx="1"/>
          </p:nvPr>
        </p:nvSpPr>
        <p:spPr>
          <a:xfrm>
            <a:off x="1154954" y="2603500"/>
            <a:ext cx="8825659" cy="3416300"/>
          </a:xfrm>
        </p:spPr>
        <p:txBody>
          <a:bodyPr>
            <a:normAutofit/>
          </a:bodyPr>
          <a:lstStyle/>
          <a:p>
            <a:pPr marL="0" indent="0">
              <a:lnSpc>
                <a:spcPct val="90000"/>
              </a:lnSpc>
              <a:buNone/>
            </a:pPr>
            <a:r>
              <a:rPr lang="en-GB" sz="1500">
                <a:solidFill>
                  <a:schemeClr val="tx1"/>
                </a:solidFill>
              </a:rPr>
              <a:t>Evolution and Key Models</a:t>
            </a:r>
          </a:p>
          <a:p>
            <a:pPr>
              <a:lnSpc>
                <a:spcPct val="90000"/>
              </a:lnSpc>
            </a:pPr>
            <a:r>
              <a:rPr lang="en-GB" sz="1500">
                <a:solidFill>
                  <a:schemeClr val="tx1"/>
                </a:solidFill>
              </a:rPr>
              <a:t>The sources trace the development of LLMs from early milestones to modern state-of-the-art systems:</a:t>
            </a:r>
          </a:p>
          <a:p>
            <a:pPr lvl="0">
              <a:lnSpc>
                <a:spcPct val="90000"/>
              </a:lnSpc>
            </a:pPr>
            <a:r>
              <a:rPr lang="en-GB" sz="1500">
                <a:solidFill>
                  <a:schemeClr val="tx1"/>
                </a:solidFill>
              </a:rPr>
              <a:t>BERT (2018): Introduced a bidirectional approach and novel training objectives like Masked Language Modeling (MLM) to capture deep contextual representations.</a:t>
            </a:r>
          </a:p>
          <a:p>
            <a:pPr lvl="0">
              <a:lnSpc>
                <a:spcPct val="90000"/>
              </a:lnSpc>
            </a:pPr>
            <a:r>
              <a:rPr lang="en-GB" sz="1500">
                <a:solidFill>
                  <a:schemeClr val="tx1"/>
                </a:solidFill>
              </a:rPr>
              <a:t>GPT Series (2018–2023): Emphasized generative, autoregressive capabilities, moving from GPT-2's fluency to GPT-3's few-shot learning and GPT-4's multimodality.</a:t>
            </a:r>
          </a:p>
          <a:p>
            <a:pPr lvl="0">
              <a:lnSpc>
                <a:spcPct val="90000"/>
              </a:lnSpc>
            </a:pPr>
            <a:r>
              <a:rPr lang="en-GB" sz="1500">
                <a:solidFill>
                  <a:schemeClr val="tx1"/>
                </a:solidFill>
              </a:rPr>
              <a:t>T5 (2019): Unified various NLP tasks into a single text-to-text framework.</a:t>
            </a:r>
          </a:p>
          <a:p>
            <a:pPr lvl="0">
              <a:lnSpc>
                <a:spcPct val="90000"/>
              </a:lnSpc>
            </a:pPr>
            <a:r>
              <a:rPr lang="en-GB" sz="1500">
                <a:solidFill>
                  <a:schemeClr val="tx1"/>
                </a:solidFill>
              </a:rPr>
              <a:t>LLaMA (2023): Focused on creating efficient, smaller-scale models to improve research accessibility.</a:t>
            </a:r>
          </a:p>
          <a:p>
            <a:pPr>
              <a:lnSpc>
                <a:spcPct val="90000"/>
              </a:lnSpc>
            </a:pPr>
            <a:endParaRPr lang="en-GB" sz="1500">
              <a:solidFill>
                <a:schemeClr val="tx1"/>
              </a:solidFill>
            </a:endParaRPr>
          </a:p>
        </p:txBody>
      </p:sp>
    </p:spTree>
    <p:extLst>
      <p:ext uri="{BB962C8B-B14F-4D97-AF65-F5344CB8AC3E}">
        <p14:creationId xmlns:p14="http://schemas.microsoft.com/office/powerpoint/2010/main" val="3419891986"/>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CA91B-4EB4-CC23-9039-3F4454C8B34E}"/>
              </a:ext>
            </a:extLst>
          </p:cNvPr>
          <p:cNvSpPr>
            <a:spLocks noGrp="1"/>
          </p:cNvSpPr>
          <p:nvPr>
            <p:ph type="title"/>
          </p:nvPr>
        </p:nvSpPr>
        <p:spPr/>
        <p:txBody>
          <a:bodyPr/>
          <a:lstStyle/>
          <a:p>
            <a:r>
              <a:rPr lang="en-GB" dirty="0"/>
              <a:t>The Transformer Architecture</a:t>
            </a:r>
          </a:p>
        </p:txBody>
      </p:sp>
      <p:sp>
        <p:nvSpPr>
          <p:cNvPr id="3" name="Content Placeholder 2">
            <a:extLst>
              <a:ext uri="{FF2B5EF4-FFF2-40B4-BE49-F238E27FC236}">
                <a16:creationId xmlns:a16="http://schemas.microsoft.com/office/drawing/2014/main" id="{881D07AB-6059-1458-5E19-BFACDF622372}"/>
              </a:ext>
            </a:extLst>
          </p:cNvPr>
          <p:cNvSpPr>
            <a:spLocks noGrp="1"/>
          </p:cNvSpPr>
          <p:nvPr>
            <p:ph idx="1"/>
          </p:nvPr>
        </p:nvSpPr>
        <p:spPr/>
        <p:txBody>
          <a:bodyPr/>
          <a:lstStyle/>
          <a:p>
            <a:pPr lvl="0"/>
            <a:r>
              <a:rPr lang="en-GB" dirty="0"/>
              <a:t>Self-Attention &amp; Multi-head Attention: Dynamically weighs the relevance of different tokens in a sequence.</a:t>
            </a:r>
          </a:p>
          <a:p>
            <a:pPr lvl="0"/>
            <a:endParaRPr lang="en-GB" dirty="0"/>
          </a:p>
          <a:p>
            <a:pPr lvl="0"/>
            <a:r>
              <a:rPr lang="en-GB" dirty="0"/>
              <a:t>Positional Encodings: Provides necessary sequential information since the model processes tokens in parallel.</a:t>
            </a:r>
          </a:p>
          <a:p>
            <a:pPr lvl="0"/>
            <a:endParaRPr lang="en-GB" dirty="0"/>
          </a:p>
          <a:p>
            <a:pPr lvl="0"/>
            <a:r>
              <a:rPr lang="en-GB" dirty="0"/>
              <a:t>Encoder-Decoder Structure: The encoder generates contextual representations, while the decoder enables autoregressive generation.</a:t>
            </a:r>
          </a:p>
          <a:p>
            <a:endParaRPr lang="en-GB" dirty="0"/>
          </a:p>
        </p:txBody>
      </p:sp>
    </p:spTree>
    <p:extLst>
      <p:ext uri="{BB962C8B-B14F-4D97-AF65-F5344CB8AC3E}">
        <p14:creationId xmlns:p14="http://schemas.microsoft.com/office/powerpoint/2010/main" val="9157716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AE700-6F47-CE39-3C14-7D047726029A}"/>
              </a:ext>
            </a:extLst>
          </p:cNvPr>
          <p:cNvSpPr>
            <a:spLocks noGrp="1"/>
          </p:cNvSpPr>
          <p:nvPr>
            <p:ph type="title"/>
          </p:nvPr>
        </p:nvSpPr>
        <p:spPr/>
        <p:txBody>
          <a:bodyPr/>
          <a:lstStyle/>
          <a:p>
            <a:r>
              <a:rPr lang="en-GB" dirty="0"/>
              <a:t>The "Black Box" Problem</a:t>
            </a:r>
          </a:p>
        </p:txBody>
      </p:sp>
      <p:sp>
        <p:nvSpPr>
          <p:cNvPr id="3" name="Content Placeholder 2">
            <a:extLst>
              <a:ext uri="{FF2B5EF4-FFF2-40B4-BE49-F238E27FC236}">
                <a16:creationId xmlns:a16="http://schemas.microsoft.com/office/drawing/2014/main" id="{9636EDA6-B5DC-929C-D163-3CA81F06EBBA}"/>
              </a:ext>
            </a:extLst>
          </p:cNvPr>
          <p:cNvSpPr>
            <a:spLocks noGrp="1"/>
          </p:cNvSpPr>
          <p:nvPr>
            <p:ph idx="1"/>
          </p:nvPr>
        </p:nvSpPr>
        <p:spPr/>
        <p:txBody>
          <a:bodyPr/>
          <a:lstStyle/>
          <a:p>
            <a:r>
              <a:rPr lang="en-GB" dirty="0"/>
              <a:t>Despite their success, LLMs are often "black boxes" because their high dimensionality and billions of parameters make it difficult to trace how inputs are transformed into outputs. This lack of transparency creates difficulties in debugging and raises ethical concerns regarding hidden biases in sensitive applications like medical diagnostics or legal decisions.</a:t>
            </a:r>
          </a:p>
          <a:p>
            <a:pPr marL="0" indent="0">
              <a:buNone/>
            </a:pPr>
            <a:endParaRPr lang="en-GB" dirty="0"/>
          </a:p>
        </p:txBody>
      </p:sp>
    </p:spTree>
    <p:extLst>
      <p:ext uri="{BB962C8B-B14F-4D97-AF65-F5344CB8AC3E}">
        <p14:creationId xmlns:p14="http://schemas.microsoft.com/office/powerpoint/2010/main" val="284304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8F4AA-ABB9-C9DB-938A-C5832E3BBB1B}"/>
              </a:ext>
            </a:extLst>
          </p:cNvPr>
          <p:cNvSpPr>
            <a:spLocks noGrp="1"/>
          </p:cNvSpPr>
          <p:nvPr>
            <p:ph type="title"/>
          </p:nvPr>
        </p:nvSpPr>
        <p:spPr/>
        <p:txBody>
          <a:bodyPr/>
          <a:lstStyle/>
          <a:p>
            <a:r>
              <a:rPr lang="en-GB" dirty="0"/>
              <a:t>Interpretability vs. Explainability</a:t>
            </a:r>
          </a:p>
        </p:txBody>
      </p:sp>
      <p:sp>
        <p:nvSpPr>
          <p:cNvPr id="3" name="Content Placeholder 2">
            <a:extLst>
              <a:ext uri="{FF2B5EF4-FFF2-40B4-BE49-F238E27FC236}">
                <a16:creationId xmlns:a16="http://schemas.microsoft.com/office/drawing/2014/main" id="{7253F9E8-0B6A-FAA2-F33E-CDAB9FA2EF8F}"/>
              </a:ext>
            </a:extLst>
          </p:cNvPr>
          <p:cNvSpPr>
            <a:spLocks noGrp="1"/>
          </p:cNvSpPr>
          <p:nvPr>
            <p:ph idx="1"/>
          </p:nvPr>
        </p:nvSpPr>
        <p:spPr/>
        <p:txBody>
          <a:bodyPr/>
          <a:lstStyle/>
          <a:p>
            <a:pPr lvl="0"/>
            <a:r>
              <a:rPr lang="en-GB" dirty="0"/>
              <a:t>Interpretability: Understanding the model's internal workings, such as specific neural activations or layer roles.</a:t>
            </a:r>
          </a:p>
          <a:p>
            <a:pPr lvl="0"/>
            <a:endParaRPr lang="en-GB" dirty="0"/>
          </a:p>
          <a:p>
            <a:pPr lvl="0"/>
            <a:r>
              <a:rPr lang="en-GB" dirty="0"/>
              <a:t>Explainability: Providing human-understandable reasons (like visualizations or feature importance) for a model's specific prediction.</a:t>
            </a:r>
          </a:p>
          <a:p>
            <a:pPr marL="0" indent="0">
              <a:buNone/>
            </a:pPr>
            <a:endParaRPr lang="en-GB" dirty="0"/>
          </a:p>
        </p:txBody>
      </p:sp>
    </p:spTree>
    <p:extLst>
      <p:ext uri="{BB962C8B-B14F-4D97-AF65-F5344CB8AC3E}">
        <p14:creationId xmlns:p14="http://schemas.microsoft.com/office/powerpoint/2010/main" val="1081710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3FD41-ACDF-CA6B-AD7E-A86A2FFBDE7D}"/>
              </a:ext>
            </a:extLst>
          </p:cNvPr>
          <p:cNvSpPr>
            <a:spLocks noGrp="1"/>
          </p:cNvSpPr>
          <p:nvPr>
            <p:ph type="title"/>
          </p:nvPr>
        </p:nvSpPr>
        <p:spPr/>
        <p:txBody>
          <a:bodyPr/>
          <a:lstStyle/>
          <a:p>
            <a:r>
              <a:rPr lang="en-GB" dirty="0"/>
              <a:t>Advanced Interpretability Techniques</a:t>
            </a:r>
          </a:p>
        </p:txBody>
      </p:sp>
      <p:sp>
        <p:nvSpPr>
          <p:cNvPr id="3" name="Content Placeholder 2">
            <a:extLst>
              <a:ext uri="{FF2B5EF4-FFF2-40B4-BE49-F238E27FC236}">
                <a16:creationId xmlns:a16="http://schemas.microsoft.com/office/drawing/2014/main" id="{459853A5-17F8-C44F-3147-EA6F0D5CA6E4}"/>
              </a:ext>
            </a:extLst>
          </p:cNvPr>
          <p:cNvSpPr>
            <a:spLocks noGrp="1"/>
          </p:cNvSpPr>
          <p:nvPr>
            <p:ph idx="1"/>
          </p:nvPr>
        </p:nvSpPr>
        <p:spPr/>
        <p:txBody>
          <a:bodyPr/>
          <a:lstStyle/>
          <a:p>
            <a:pPr lvl="0"/>
            <a:r>
              <a:rPr lang="en-GB" dirty="0"/>
              <a:t>Gradient-based Methods: Techniques like Integrated Gradients and Saliency Maps identify which input tokens most influence a prediction.</a:t>
            </a:r>
          </a:p>
          <a:p>
            <a:pPr lvl="0"/>
            <a:endParaRPr lang="en-GB" dirty="0"/>
          </a:p>
          <a:p>
            <a:pPr lvl="0"/>
            <a:r>
              <a:rPr lang="en-GB" dirty="0"/>
              <a:t>Embedding and Probing Analysis: Using dimensionality reduction (PCA/t-SNE) or "probing classifiers" to see if embeddings capture linguistic features like gender, syntax, or parts of speech.</a:t>
            </a:r>
          </a:p>
          <a:p>
            <a:pPr lvl="0"/>
            <a:endParaRPr lang="en-GB" dirty="0"/>
          </a:p>
          <a:p>
            <a:pPr lvl="0"/>
            <a:r>
              <a:rPr lang="en-GB" dirty="0"/>
              <a:t>Layer-wise Analysis: Research shows a functional hierarchy where early layers capture surface-level features, middle layers handle syntax, and late layers encode high-level semantic and task-specific information.</a:t>
            </a:r>
          </a:p>
          <a:p>
            <a:endParaRPr lang="en-GB" dirty="0"/>
          </a:p>
        </p:txBody>
      </p:sp>
    </p:spTree>
    <p:extLst>
      <p:ext uri="{BB962C8B-B14F-4D97-AF65-F5344CB8AC3E}">
        <p14:creationId xmlns:p14="http://schemas.microsoft.com/office/powerpoint/2010/main" val="42520674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FFB19-247A-43C1-623B-E3C008534D88}"/>
              </a:ext>
            </a:extLst>
          </p:cNvPr>
          <p:cNvSpPr>
            <a:spLocks noGrp="1"/>
          </p:cNvSpPr>
          <p:nvPr>
            <p:ph type="title"/>
          </p:nvPr>
        </p:nvSpPr>
        <p:spPr/>
        <p:txBody>
          <a:bodyPr/>
          <a:lstStyle/>
          <a:p>
            <a:r>
              <a:rPr lang="en-GB" b="1" dirty="0"/>
              <a:t>Core Evaluation Metrics</a:t>
            </a:r>
            <a:br>
              <a:rPr lang="en-GB" dirty="0"/>
            </a:br>
            <a:endParaRPr lang="en-GB" dirty="0"/>
          </a:p>
        </p:txBody>
      </p:sp>
      <p:sp>
        <p:nvSpPr>
          <p:cNvPr id="3" name="Content Placeholder 2">
            <a:extLst>
              <a:ext uri="{FF2B5EF4-FFF2-40B4-BE49-F238E27FC236}">
                <a16:creationId xmlns:a16="http://schemas.microsoft.com/office/drawing/2014/main" id="{A1718717-8828-5526-45DA-FEAE3ED1BB58}"/>
              </a:ext>
            </a:extLst>
          </p:cNvPr>
          <p:cNvSpPr>
            <a:spLocks noGrp="1"/>
          </p:cNvSpPr>
          <p:nvPr>
            <p:ph idx="1"/>
          </p:nvPr>
        </p:nvSpPr>
        <p:spPr/>
        <p:txBody>
          <a:bodyPr/>
          <a:lstStyle/>
          <a:p>
            <a:r>
              <a:rPr lang="en-GB" b="1" dirty="0"/>
              <a:t>Fidelity and Faithfulness:</a:t>
            </a:r>
            <a:r>
              <a:rPr lang="en-GB" dirty="0"/>
              <a:t> </a:t>
            </a:r>
            <a:r>
              <a:rPr lang="en-GB" b="1" dirty="0"/>
              <a:t>Fidelity</a:t>
            </a:r>
            <a:r>
              <a:rPr lang="en-GB" dirty="0"/>
              <a:t> measures how accurately an explanation reflects the underlying model's predictions. It is quantified by a "Fidelity Score," which tracks the agreement between the model's output and the explanation model's output. </a:t>
            </a:r>
          </a:p>
          <a:p>
            <a:endParaRPr lang="en-GB" dirty="0"/>
          </a:p>
          <a:p>
            <a:r>
              <a:rPr lang="en-GB" b="1" dirty="0"/>
              <a:t>Stability and Consistency:</a:t>
            </a:r>
            <a:r>
              <a:rPr lang="en-GB" dirty="0"/>
              <a:t> </a:t>
            </a:r>
            <a:r>
              <a:rPr lang="en-GB" b="1" dirty="0"/>
              <a:t>Stability</a:t>
            </a:r>
            <a:r>
              <a:rPr lang="en-GB" dirty="0"/>
              <a:t> refers to the consistency of explanations when an input undergoes slight perturbations (e.g., typos or minor image changes), ensuring that explanations do not fluctuate wildly for similar data points. </a:t>
            </a:r>
          </a:p>
        </p:txBody>
      </p:sp>
    </p:spTree>
    <p:extLst>
      <p:ext uri="{BB962C8B-B14F-4D97-AF65-F5344CB8AC3E}">
        <p14:creationId xmlns:p14="http://schemas.microsoft.com/office/powerpoint/2010/main" val="199134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B909C-4222-2B85-316D-652BA94B381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6C45B11-E209-92B3-4262-213F0E2F281D}"/>
              </a:ext>
            </a:extLst>
          </p:cNvPr>
          <p:cNvSpPr>
            <a:spLocks noGrp="1"/>
          </p:cNvSpPr>
          <p:nvPr>
            <p:ph idx="1"/>
          </p:nvPr>
        </p:nvSpPr>
        <p:spPr/>
        <p:txBody>
          <a:bodyPr/>
          <a:lstStyle/>
          <a:p>
            <a:r>
              <a:rPr lang="en-GB" b="1" dirty="0"/>
              <a:t>Comprehensibility:</a:t>
            </a:r>
            <a:r>
              <a:rPr lang="en-GB" dirty="0"/>
              <a:t> This metric assesses how </a:t>
            </a:r>
            <a:r>
              <a:rPr lang="en-GB" b="1" dirty="0"/>
              <a:t>easily a human user can understand</a:t>
            </a:r>
            <a:r>
              <a:rPr lang="en-GB" dirty="0"/>
              <a:t> the provided explanation. While subjective, it can be quantified by "Explanation Simplicity," which considers factors like the number of features used or the length of the text.</a:t>
            </a:r>
          </a:p>
          <a:p>
            <a:endParaRPr lang="en-GB" dirty="0"/>
          </a:p>
          <a:p>
            <a:r>
              <a:rPr lang="en-GB" b="1" dirty="0"/>
              <a:t>Local Accuracy:</a:t>
            </a:r>
            <a:r>
              <a:rPr lang="en-GB" dirty="0"/>
              <a:t> This focuses on ensuring an explanation is a </a:t>
            </a:r>
            <a:r>
              <a:rPr lang="en-GB" b="1" dirty="0"/>
              <a:t>faithful approximation of the model's decision process</a:t>
            </a:r>
            <a:r>
              <a:rPr lang="en-GB" dirty="0"/>
              <a:t> within a small, localized region around a specific input instance.</a:t>
            </a:r>
          </a:p>
          <a:p>
            <a:pPr marL="0" indent="0">
              <a:buNone/>
            </a:pPr>
            <a:endParaRPr lang="en-GB" dirty="0"/>
          </a:p>
        </p:txBody>
      </p:sp>
    </p:spTree>
    <p:extLst>
      <p:ext uri="{BB962C8B-B14F-4D97-AF65-F5344CB8AC3E}">
        <p14:creationId xmlns:p14="http://schemas.microsoft.com/office/powerpoint/2010/main" val="3963208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9339C-EAD8-6FC1-DA87-06A4F6176D6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87CE515-26D0-0C30-2B57-1120C4E83998}"/>
              </a:ext>
            </a:extLst>
          </p:cNvPr>
          <p:cNvSpPr>
            <a:spLocks noGrp="1"/>
          </p:cNvSpPr>
          <p:nvPr>
            <p:ph idx="1"/>
          </p:nvPr>
        </p:nvSpPr>
        <p:spPr/>
        <p:txBody>
          <a:bodyPr/>
          <a:lstStyle/>
          <a:p>
            <a:r>
              <a:rPr lang="en-GB" b="1" dirty="0"/>
              <a:t>Representativeness:</a:t>
            </a:r>
            <a:r>
              <a:rPr lang="en-GB" dirty="0"/>
              <a:t> This evaluates whether an explanation </a:t>
            </a:r>
            <a:r>
              <a:rPr lang="en-GB" b="1" dirty="0"/>
              <a:t>generalizes well across a broad set of inputs</a:t>
            </a:r>
            <a:r>
              <a:rPr lang="en-GB" dirty="0"/>
              <a:t> rather than being tailored to a single outlier or specific instance.</a:t>
            </a:r>
          </a:p>
          <a:p>
            <a:endParaRPr lang="en-GB" dirty="0"/>
          </a:p>
        </p:txBody>
      </p:sp>
    </p:spTree>
    <p:extLst>
      <p:ext uri="{BB962C8B-B14F-4D97-AF65-F5344CB8AC3E}">
        <p14:creationId xmlns:p14="http://schemas.microsoft.com/office/powerpoint/2010/main" val="1116663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53F958FD-4102-3FC0-C309-91153A9FA5F9}"/>
              </a:ext>
            </a:extLst>
          </p:cNvPr>
          <p:cNvSpPr>
            <a:spLocks noGrp="1"/>
          </p:cNvSpPr>
          <p:nvPr>
            <p:ph type="title"/>
          </p:nvPr>
        </p:nvSpPr>
        <p:spPr>
          <a:xfrm>
            <a:off x="836247" y="1085549"/>
            <a:ext cx="3430947" cy="4686903"/>
          </a:xfrm>
        </p:spPr>
        <p:txBody>
          <a:bodyPr anchor="ctr">
            <a:normAutofit/>
          </a:bodyPr>
          <a:lstStyle/>
          <a:p>
            <a:pPr algn="r"/>
            <a:r>
              <a:rPr lang="en-GB" sz="3300" b="1">
                <a:solidFill>
                  <a:schemeClr val="tx1"/>
                </a:solidFill>
              </a:rPr>
              <a:t>LLMs for Explainable AI: A Comprehensive Survey</a:t>
            </a:r>
            <a:endParaRPr lang="en-GB" sz="330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482DB00-9610-425F-8D85-E2263780A2FE}"/>
              </a:ext>
            </a:extLst>
          </p:cNvPr>
          <p:cNvSpPr>
            <a:spLocks noGrp="1"/>
          </p:cNvSpPr>
          <p:nvPr>
            <p:ph idx="1"/>
          </p:nvPr>
        </p:nvSpPr>
        <p:spPr>
          <a:xfrm>
            <a:off x="5041399" y="1085549"/>
            <a:ext cx="5579707" cy="4686903"/>
          </a:xfrm>
        </p:spPr>
        <p:txBody>
          <a:bodyPr anchor="ctr">
            <a:normAutofit/>
          </a:bodyPr>
          <a:lstStyle/>
          <a:p>
            <a:pPr marL="0" indent="0">
              <a:buNone/>
            </a:pPr>
            <a:r>
              <a:rPr lang="en-GB" b="1">
                <a:solidFill>
                  <a:schemeClr val="tx1"/>
                </a:solidFill>
              </a:rPr>
              <a:t>Motivation: LLMs as Catalysts for Next‑Generation Explainability</a:t>
            </a:r>
          </a:p>
          <a:p>
            <a:pPr lvl="0"/>
            <a:endParaRPr lang="en-GB">
              <a:solidFill>
                <a:schemeClr val="tx1"/>
              </a:solidFill>
            </a:endParaRPr>
          </a:p>
          <a:p>
            <a:pPr lvl="0"/>
            <a:r>
              <a:rPr lang="en-GB">
                <a:solidFill>
                  <a:schemeClr val="tx1"/>
                </a:solidFill>
              </a:rPr>
              <a:t>Translate complex model behaviour into </a:t>
            </a:r>
            <a:r>
              <a:rPr lang="en-GB" b="1">
                <a:solidFill>
                  <a:schemeClr val="tx1"/>
                </a:solidFill>
              </a:rPr>
              <a:t>human-friendly narratives</a:t>
            </a:r>
            <a:endParaRPr lang="en-GB">
              <a:solidFill>
                <a:schemeClr val="tx1"/>
              </a:solidFill>
            </a:endParaRPr>
          </a:p>
          <a:p>
            <a:pPr lvl="0"/>
            <a:endParaRPr lang="en-GB">
              <a:solidFill>
                <a:schemeClr val="tx1"/>
              </a:solidFill>
            </a:endParaRPr>
          </a:p>
          <a:p>
            <a:pPr lvl="0"/>
            <a:r>
              <a:rPr lang="en-GB">
                <a:solidFill>
                  <a:schemeClr val="tx1"/>
                </a:solidFill>
              </a:rPr>
              <a:t>Explain not only predictions but also </a:t>
            </a:r>
            <a:r>
              <a:rPr lang="en-GB" b="1">
                <a:solidFill>
                  <a:schemeClr val="tx1"/>
                </a:solidFill>
              </a:rPr>
              <a:t>architectural principles</a:t>
            </a:r>
            <a:r>
              <a:rPr lang="en-GB">
                <a:solidFill>
                  <a:schemeClr val="tx1"/>
                </a:solidFill>
              </a:rPr>
              <a:t>, data relationships, and counterfactual reasoning</a:t>
            </a:r>
          </a:p>
          <a:p>
            <a:pPr lvl="0"/>
            <a:endParaRPr lang="en-GB">
              <a:solidFill>
                <a:schemeClr val="tx1"/>
              </a:solidFill>
            </a:endParaRPr>
          </a:p>
          <a:p>
            <a:pPr lvl="0"/>
            <a:r>
              <a:rPr lang="en-GB">
                <a:solidFill>
                  <a:schemeClr val="tx1"/>
                </a:solidFill>
              </a:rPr>
              <a:t>Adapt explanations dynamically to user needs across levels of expertise</a:t>
            </a:r>
          </a:p>
          <a:p>
            <a:endParaRPr lang="en-GB" b="1">
              <a:solidFill>
                <a:schemeClr val="tx1"/>
              </a:solidFill>
            </a:endParaRPr>
          </a:p>
          <a:p>
            <a:endParaRPr lang="en-GB">
              <a:solidFill>
                <a:schemeClr val="tx1"/>
              </a:solidFill>
            </a:endParaRPr>
          </a:p>
        </p:txBody>
      </p:sp>
    </p:spTree>
    <p:extLst>
      <p:ext uri="{BB962C8B-B14F-4D97-AF65-F5344CB8AC3E}">
        <p14:creationId xmlns:p14="http://schemas.microsoft.com/office/powerpoint/2010/main" val="3424554345"/>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B46-7D55-540F-8C4E-28E9E9014F6C}"/>
              </a:ext>
            </a:extLst>
          </p:cNvPr>
          <p:cNvSpPr>
            <a:spLocks noGrp="1"/>
          </p:cNvSpPr>
          <p:nvPr>
            <p:ph type="title"/>
          </p:nvPr>
        </p:nvSpPr>
        <p:spPr/>
        <p:txBody>
          <a:bodyPr/>
          <a:lstStyle/>
          <a:p>
            <a:r>
              <a:rPr lang="en-GB" b="1" dirty="0"/>
              <a:t>Taxonomy: Three Pillars of LLM‑Enabled XAI</a:t>
            </a:r>
            <a:endParaRPr lang="en-GB" dirty="0"/>
          </a:p>
        </p:txBody>
      </p:sp>
      <p:sp>
        <p:nvSpPr>
          <p:cNvPr id="3" name="Content Placeholder 2">
            <a:extLst>
              <a:ext uri="{FF2B5EF4-FFF2-40B4-BE49-F238E27FC236}">
                <a16:creationId xmlns:a16="http://schemas.microsoft.com/office/drawing/2014/main" id="{8C922432-27F6-AD40-A22B-63B9C1CF4044}"/>
              </a:ext>
            </a:extLst>
          </p:cNvPr>
          <p:cNvSpPr>
            <a:spLocks noGrp="1"/>
          </p:cNvSpPr>
          <p:nvPr>
            <p:ph idx="1"/>
          </p:nvPr>
        </p:nvSpPr>
        <p:spPr>
          <a:xfrm>
            <a:off x="1154954" y="2603500"/>
            <a:ext cx="9278350" cy="3998468"/>
          </a:xfrm>
        </p:spPr>
        <p:txBody>
          <a:bodyPr>
            <a:normAutofit/>
          </a:bodyPr>
          <a:lstStyle/>
          <a:p>
            <a:pPr marL="0" indent="0">
              <a:buNone/>
            </a:pPr>
            <a:r>
              <a:rPr lang="en-GB" b="1" dirty="0"/>
              <a:t>Post‑hoc Explanations</a:t>
            </a:r>
          </a:p>
          <a:p>
            <a:pPr lvl="0"/>
            <a:r>
              <a:rPr lang="en-GB" b="1" dirty="0"/>
              <a:t>Local explanations</a:t>
            </a:r>
            <a:r>
              <a:rPr lang="en-GB" dirty="0"/>
              <a:t> (single-instance reasoning via LIME, SHAP, IG)</a:t>
            </a:r>
          </a:p>
          <a:p>
            <a:pPr lvl="0"/>
            <a:r>
              <a:rPr lang="en-GB" b="1" dirty="0"/>
              <a:t>Global explanations</a:t>
            </a:r>
            <a:r>
              <a:rPr lang="en-GB" dirty="0"/>
              <a:t> (model‑wide reasoning patterns)</a:t>
            </a:r>
          </a:p>
          <a:p>
            <a:pPr lvl="0"/>
            <a:r>
              <a:rPr lang="en-GB" b="1" dirty="0"/>
              <a:t>LLM‑enhanced tools</a:t>
            </a:r>
            <a:r>
              <a:rPr lang="en-GB" dirty="0"/>
              <a:t> that automatically express feature contributions in fluent language</a:t>
            </a:r>
          </a:p>
          <a:p>
            <a:pPr marL="0" lvl="0" indent="0">
              <a:buNone/>
            </a:pPr>
            <a:r>
              <a:rPr lang="en-GB" b="1" dirty="0"/>
              <a:t>Intrinsic Interpretability</a:t>
            </a:r>
          </a:p>
          <a:p>
            <a:pPr lvl="0"/>
            <a:r>
              <a:rPr lang="en-GB" b="1" dirty="0"/>
              <a:t>Chain‑of‑Thought (</a:t>
            </a:r>
            <a:r>
              <a:rPr lang="en-GB" b="1" dirty="0" err="1"/>
              <a:t>CoT</a:t>
            </a:r>
            <a:r>
              <a:rPr lang="en-GB" b="1" dirty="0"/>
              <a:t>)</a:t>
            </a:r>
            <a:r>
              <a:rPr lang="en-GB" dirty="0"/>
              <a:t> prompting</a:t>
            </a:r>
          </a:p>
          <a:p>
            <a:pPr lvl="0"/>
            <a:r>
              <a:rPr lang="en-GB" b="1" dirty="0"/>
              <a:t>Guided reasoning templates</a:t>
            </a:r>
            <a:endParaRPr lang="en-GB" dirty="0"/>
          </a:p>
          <a:p>
            <a:pPr lvl="0"/>
            <a:r>
              <a:rPr lang="en-GB" b="1" dirty="0" err="1"/>
              <a:t>ReAct</a:t>
            </a:r>
            <a:r>
              <a:rPr lang="en-GB" b="1" dirty="0"/>
              <a:t> (Reasoning + Acting)</a:t>
            </a:r>
            <a:r>
              <a:rPr lang="en-GB" dirty="0"/>
              <a:t> frameworks</a:t>
            </a:r>
          </a:p>
          <a:p>
            <a:pPr lvl="0"/>
            <a:endParaRPr lang="en-GB" dirty="0"/>
          </a:p>
          <a:p>
            <a:endParaRPr lang="en-GB" dirty="0"/>
          </a:p>
        </p:txBody>
      </p:sp>
    </p:spTree>
    <p:extLst>
      <p:ext uri="{BB962C8B-B14F-4D97-AF65-F5344CB8AC3E}">
        <p14:creationId xmlns:p14="http://schemas.microsoft.com/office/powerpoint/2010/main" val="14664644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31083-34B0-78AC-68FD-EAEC3E718550}"/>
              </a:ext>
            </a:extLst>
          </p:cNvPr>
          <p:cNvSpPr>
            <a:spLocks noGrp="1"/>
          </p:cNvSpPr>
          <p:nvPr>
            <p:ph type="title"/>
          </p:nvPr>
        </p:nvSpPr>
        <p:spPr/>
        <p:txBody>
          <a:bodyPr/>
          <a:lstStyle/>
          <a:p>
            <a:r>
              <a:rPr lang="en-GB" b="1" dirty="0"/>
              <a:t>Human‑</a:t>
            </a:r>
            <a:r>
              <a:rPr lang="en-GB" b="1" dirty="0" err="1"/>
              <a:t>Centered</a:t>
            </a:r>
            <a:r>
              <a:rPr lang="en-GB" b="1" dirty="0"/>
              <a:t> Explanations</a:t>
            </a:r>
            <a:endParaRPr lang="en-GB" dirty="0"/>
          </a:p>
        </p:txBody>
      </p:sp>
      <p:sp>
        <p:nvSpPr>
          <p:cNvPr id="3" name="Content Placeholder 2">
            <a:extLst>
              <a:ext uri="{FF2B5EF4-FFF2-40B4-BE49-F238E27FC236}">
                <a16:creationId xmlns:a16="http://schemas.microsoft.com/office/drawing/2014/main" id="{8E783482-474E-6AB5-C8DD-931A5ED1239E}"/>
              </a:ext>
            </a:extLst>
          </p:cNvPr>
          <p:cNvSpPr>
            <a:spLocks noGrp="1"/>
          </p:cNvSpPr>
          <p:nvPr>
            <p:ph idx="1"/>
          </p:nvPr>
        </p:nvSpPr>
        <p:spPr/>
        <p:txBody>
          <a:bodyPr/>
          <a:lstStyle/>
          <a:p>
            <a:pPr lvl="0"/>
            <a:r>
              <a:rPr lang="en-GB" dirty="0"/>
              <a:t>User involvement in system design cycles</a:t>
            </a:r>
          </a:p>
          <a:p>
            <a:pPr lvl="0"/>
            <a:endParaRPr lang="en-GB" dirty="0"/>
          </a:p>
          <a:p>
            <a:pPr lvl="0"/>
            <a:r>
              <a:rPr lang="en-GB" dirty="0"/>
              <a:t>Cognitive alignment of explanations with human reasoning patterns</a:t>
            </a:r>
          </a:p>
          <a:p>
            <a:pPr lvl="0"/>
            <a:endParaRPr lang="en-GB" dirty="0"/>
          </a:p>
          <a:p>
            <a:pPr lvl="0"/>
            <a:r>
              <a:rPr lang="en-GB" dirty="0"/>
              <a:t>Context‑sensitive narratives tailored to expertise, goals, and situational constraints</a:t>
            </a:r>
          </a:p>
          <a:p>
            <a:endParaRPr lang="en-GB" dirty="0"/>
          </a:p>
        </p:txBody>
      </p:sp>
    </p:spTree>
    <p:extLst>
      <p:ext uri="{BB962C8B-B14F-4D97-AF65-F5344CB8AC3E}">
        <p14:creationId xmlns:p14="http://schemas.microsoft.com/office/powerpoint/2010/main" val="38149837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4C52D-414F-9FC0-C563-F041CE75ED01}"/>
              </a:ext>
            </a:extLst>
          </p:cNvPr>
          <p:cNvSpPr>
            <a:spLocks noGrp="1"/>
          </p:cNvSpPr>
          <p:nvPr>
            <p:ph type="title"/>
          </p:nvPr>
        </p:nvSpPr>
        <p:spPr/>
        <p:txBody>
          <a:bodyPr/>
          <a:lstStyle/>
          <a:p>
            <a:r>
              <a:rPr lang="en-GB" b="1" dirty="0"/>
              <a:t>Evaluation Framework: Qualitative and Quantitative Rigor</a:t>
            </a:r>
            <a:endParaRPr lang="en-GB" dirty="0"/>
          </a:p>
        </p:txBody>
      </p:sp>
      <p:sp>
        <p:nvSpPr>
          <p:cNvPr id="3" name="Content Placeholder 2">
            <a:extLst>
              <a:ext uri="{FF2B5EF4-FFF2-40B4-BE49-F238E27FC236}">
                <a16:creationId xmlns:a16="http://schemas.microsoft.com/office/drawing/2014/main" id="{9A4C8F7D-5B18-C096-8883-63997FA4C048}"/>
              </a:ext>
            </a:extLst>
          </p:cNvPr>
          <p:cNvSpPr>
            <a:spLocks noGrp="1"/>
          </p:cNvSpPr>
          <p:nvPr>
            <p:ph idx="1"/>
          </p:nvPr>
        </p:nvSpPr>
        <p:spPr>
          <a:xfrm>
            <a:off x="676656" y="2459736"/>
            <a:ext cx="11155680" cy="4206240"/>
          </a:xfrm>
        </p:spPr>
        <p:txBody>
          <a:bodyPr>
            <a:normAutofit/>
          </a:bodyPr>
          <a:lstStyle/>
          <a:p>
            <a:pPr marL="0" indent="0">
              <a:buNone/>
            </a:pPr>
            <a:r>
              <a:rPr lang="en-GB" b="1" dirty="0"/>
              <a:t>Qualitative Metrics</a:t>
            </a:r>
            <a:endParaRPr lang="en-GB" dirty="0"/>
          </a:p>
          <a:p>
            <a:pPr lvl="0"/>
            <a:r>
              <a:rPr lang="en-GB" dirty="0"/>
              <a:t>Comprehensibility</a:t>
            </a:r>
          </a:p>
          <a:p>
            <a:pPr lvl="0"/>
            <a:r>
              <a:rPr lang="en-GB" dirty="0"/>
              <a:t>Controllability</a:t>
            </a:r>
          </a:p>
          <a:p>
            <a:pPr lvl="0"/>
            <a:r>
              <a:rPr lang="en-GB" dirty="0"/>
              <a:t>User trust and utility</a:t>
            </a:r>
          </a:p>
          <a:p>
            <a:pPr marL="0" indent="0">
              <a:buNone/>
            </a:pPr>
            <a:endParaRPr lang="en-GB" b="1" dirty="0"/>
          </a:p>
          <a:p>
            <a:pPr marL="0" indent="0">
              <a:buNone/>
            </a:pPr>
            <a:r>
              <a:rPr lang="en-GB" b="1" dirty="0"/>
              <a:t>Quantitative Metrics</a:t>
            </a:r>
            <a:endParaRPr lang="en-GB" dirty="0"/>
          </a:p>
          <a:p>
            <a:pPr lvl="0"/>
            <a:r>
              <a:rPr lang="en-GB" dirty="0"/>
              <a:t>Faithfulness tests (causal intervention, feature ablation)</a:t>
            </a:r>
          </a:p>
          <a:p>
            <a:pPr lvl="0"/>
            <a:r>
              <a:rPr lang="en-GB" dirty="0"/>
              <a:t>Plausibility scoring</a:t>
            </a:r>
          </a:p>
          <a:p>
            <a:pPr lvl="0"/>
            <a:r>
              <a:rPr lang="en-GB" dirty="0"/>
              <a:t>Benchmarking via datasets (e-SNLI, </a:t>
            </a:r>
            <a:r>
              <a:rPr lang="en-GB" dirty="0" err="1"/>
              <a:t>CoS</a:t>
            </a:r>
            <a:r>
              <a:rPr lang="en-GB" dirty="0"/>
              <a:t>-E, ECQA, </a:t>
            </a:r>
            <a:r>
              <a:rPr lang="en-GB" dirty="0" err="1"/>
              <a:t>WorldTree</a:t>
            </a:r>
            <a:r>
              <a:rPr lang="en-GB" dirty="0"/>
              <a:t>, </a:t>
            </a:r>
            <a:r>
              <a:rPr lang="en-GB" dirty="0" err="1"/>
              <a:t>XplainLLM</a:t>
            </a:r>
            <a:r>
              <a:rPr lang="en-GB" dirty="0"/>
              <a:t>, </a:t>
            </a:r>
            <a:r>
              <a:rPr lang="en-GB" dirty="0" err="1"/>
              <a:t>RAGBench</a:t>
            </a:r>
            <a:r>
              <a:rPr lang="en-GB" dirty="0"/>
              <a:t>, </a:t>
            </a:r>
            <a:r>
              <a:rPr lang="en-GB" dirty="0" err="1"/>
              <a:t>HateXplain</a:t>
            </a:r>
            <a:r>
              <a:rPr lang="en-GB" dirty="0"/>
              <a:t>)</a:t>
            </a:r>
          </a:p>
          <a:p>
            <a:pPr lvl="0"/>
            <a:endParaRPr lang="en-GB" dirty="0"/>
          </a:p>
          <a:p>
            <a:pPr marL="0" lvl="0" indent="0">
              <a:buNone/>
            </a:pPr>
            <a:endParaRPr lang="en-GB" dirty="0"/>
          </a:p>
          <a:p>
            <a:endParaRPr lang="en-GB" dirty="0"/>
          </a:p>
        </p:txBody>
      </p:sp>
    </p:spTree>
    <p:extLst>
      <p:ext uri="{BB962C8B-B14F-4D97-AF65-F5344CB8AC3E}">
        <p14:creationId xmlns:p14="http://schemas.microsoft.com/office/powerpoint/2010/main" val="1813520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BDC8A-74AE-24F9-0538-E258B88B90B6}"/>
              </a:ext>
            </a:extLst>
          </p:cNvPr>
          <p:cNvSpPr>
            <a:spLocks noGrp="1"/>
          </p:cNvSpPr>
          <p:nvPr>
            <p:ph type="title"/>
          </p:nvPr>
        </p:nvSpPr>
        <p:spPr/>
        <p:txBody>
          <a:bodyPr/>
          <a:lstStyle/>
          <a:p>
            <a:r>
              <a:rPr lang="en-GB" b="1" dirty="0"/>
              <a:t>Applications Across High‑Stakes Domains</a:t>
            </a:r>
            <a:endParaRPr lang="en-GB" dirty="0"/>
          </a:p>
        </p:txBody>
      </p:sp>
      <p:sp>
        <p:nvSpPr>
          <p:cNvPr id="3" name="Content Placeholder 2">
            <a:extLst>
              <a:ext uri="{FF2B5EF4-FFF2-40B4-BE49-F238E27FC236}">
                <a16:creationId xmlns:a16="http://schemas.microsoft.com/office/drawing/2014/main" id="{6FBD62FF-03AD-BF92-8612-1F0361511D6C}"/>
              </a:ext>
            </a:extLst>
          </p:cNvPr>
          <p:cNvSpPr>
            <a:spLocks noGrp="1"/>
          </p:cNvSpPr>
          <p:nvPr>
            <p:ph idx="1"/>
          </p:nvPr>
        </p:nvSpPr>
        <p:spPr/>
        <p:txBody>
          <a:bodyPr/>
          <a:lstStyle/>
          <a:p>
            <a:pPr lvl="0"/>
            <a:r>
              <a:rPr lang="en-GB" b="1" dirty="0"/>
              <a:t>Healthcare:</a:t>
            </a:r>
            <a:r>
              <a:rPr lang="en-GB" dirty="0"/>
              <a:t> diagnostic explanations, drug‑discovery insights</a:t>
            </a:r>
          </a:p>
          <a:p>
            <a:pPr lvl="0"/>
            <a:r>
              <a:rPr lang="en-GB" b="1" dirty="0"/>
              <a:t>Finance:</a:t>
            </a:r>
            <a:r>
              <a:rPr lang="en-GB" dirty="0"/>
              <a:t> transparent credit scoring, fraud detection narratives</a:t>
            </a:r>
          </a:p>
          <a:p>
            <a:pPr lvl="0"/>
            <a:r>
              <a:rPr lang="en-GB" b="1" dirty="0"/>
              <a:t>Cybersecurity:</a:t>
            </a:r>
            <a:r>
              <a:rPr lang="en-GB" dirty="0"/>
              <a:t> interpreting intrusion detection features</a:t>
            </a:r>
          </a:p>
          <a:p>
            <a:pPr lvl="0"/>
            <a:r>
              <a:rPr lang="en-GB" b="1" dirty="0"/>
              <a:t>Legal systems:</a:t>
            </a:r>
            <a:r>
              <a:rPr lang="en-GB" dirty="0"/>
              <a:t> clarifying case relevance and contractual risks</a:t>
            </a:r>
          </a:p>
          <a:p>
            <a:pPr lvl="0"/>
            <a:r>
              <a:rPr lang="en-GB" b="1" dirty="0"/>
              <a:t>Education:</a:t>
            </a:r>
            <a:r>
              <a:rPr lang="en-GB" dirty="0"/>
              <a:t> personalized learning pathways with explanatory feedback</a:t>
            </a:r>
          </a:p>
          <a:p>
            <a:pPr lvl="0"/>
            <a:r>
              <a:rPr lang="en-GB" b="1" dirty="0"/>
              <a:t>Manufacturing:</a:t>
            </a:r>
            <a:r>
              <a:rPr lang="en-GB" dirty="0"/>
              <a:t> explainable predictive maintenance</a:t>
            </a:r>
          </a:p>
          <a:p>
            <a:pPr lvl="0"/>
            <a:r>
              <a:rPr lang="en-GB" b="1" dirty="0"/>
              <a:t>Urban planning:</a:t>
            </a:r>
            <a:r>
              <a:rPr lang="en-GB" dirty="0"/>
              <a:t> rationalizing infrastructure and congestion decisions</a:t>
            </a:r>
          </a:p>
          <a:p>
            <a:pPr marL="0" indent="0">
              <a:buNone/>
            </a:pPr>
            <a:endParaRPr lang="en-GB" dirty="0"/>
          </a:p>
        </p:txBody>
      </p:sp>
    </p:spTree>
    <p:extLst>
      <p:ext uri="{BB962C8B-B14F-4D97-AF65-F5344CB8AC3E}">
        <p14:creationId xmlns:p14="http://schemas.microsoft.com/office/powerpoint/2010/main" val="4244541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DCACB-5C8B-64DE-7136-3D6D089008F0}"/>
              </a:ext>
            </a:extLst>
          </p:cNvPr>
          <p:cNvSpPr>
            <a:spLocks noGrp="1"/>
          </p:cNvSpPr>
          <p:nvPr>
            <p:ph type="title"/>
          </p:nvPr>
        </p:nvSpPr>
        <p:spPr/>
        <p:txBody>
          <a:bodyPr/>
          <a:lstStyle/>
          <a:p>
            <a:r>
              <a:rPr lang="en-GB" b="1" dirty="0"/>
              <a:t>Core Challenges and Limitations</a:t>
            </a:r>
            <a:endParaRPr lang="en-GB" dirty="0"/>
          </a:p>
        </p:txBody>
      </p:sp>
      <p:sp>
        <p:nvSpPr>
          <p:cNvPr id="3" name="Content Placeholder 2">
            <a:extLst>
              <a:ext uri="{FF2B5EF4-FFF2-40B4-BE49-F238E27FC236}">
                <a16:creationId xmlns:a16="http://schemas.microsoft.com/office/drawing/2014/main" id="{87CE5C2F-9A0F-35DD-2A4C-A63CCFA86A28}"/>
              </a:ext>
            </a:extLst>
          </p:cNvPr>
          <p:cNvSpPr>
            <a:spLocks noGrp="1"/>
          </p:cNvSpPr>
          <p:nvPr>
            <p:ph idx="1"/>
          </p:nvPr>
        </p:nvSpPr>
        <p:spPr/>
        <p:txBody>
          <a:bodyPr>
            <a:normAutofit lnSpcReduction="10000"/>
          </a:bodyPr>
          <a:lstStyle/>
          <a:p>
            <a:pPr lvl="0"/>
            <a:r>
              <a:rPr lang="en-GB" b="1" dirty="0"/>
              <a:t>Sensitive data risks</a:t>
            </a:r>
            <a:r>
              <a:rPr lang="en-GB" dirty="0"/>
              <a:t> and privacy‑preserving explainability constraints</a:t>
            </a:r>
          </a:p>
          <a:p>
            <a:pPr lvl="0"/>
            <a:r>
              <a:rPr lang="en-GB" b="1" dirty="0"/>
              <a:t>Cultural and societal norm variations</a:t>
            </a:r>
            <a:r>
              <a:rPr lang="en-GB" dirty="0"/>
              <a:t> that complicate universal explanation design</a:t>
            </a:r>
          </a:p>
          <a:p>
            <a:pPr lvl="0"/>
            <a:r>
              <a:rPr lang="en-GB" b="1" dirty="0"/>
              <a:t>Bias amplification</a:t>
            </a:r>
            <a:r>
              <a:rPr lang="en-GB" dirty="0"/>
              <a:t> through social, linguistic, and representational disparities in training data</a:t>
            </a:r>
          </a:p>
          <a:p>
            <a:pPr lvl="0"/>
            <a:r>
              <a:rPr lang="en-GB" b="1" dirty="0"/>
              <a:t>Multisource data misalignment</a:t>
            </a:r>
            <a:r>
              <a:rPr lang="en-GB" dirty="0"/>
              <a:t> when explanations require consistent narratives across heterogeneous signals</a:t>
            </a:r>
          </a:p>
          <a:p>
            <a:pPr lvl="0"/>
            <a:r>
              <a:rPr lang="en-GB" b="1" dirty="0"/>
              <a:t>Structural opacity of deep models</a:t>
            </a:r>
            <a:r>
              <a:rPr lang="en-GB" dirty="0"/>
              <a:t>, even to LLMs attempting to explain them</a:t>
            </a:r>
          </a:p>
          <a:p>
            <a:r>
              <a:rPr lang="en-GB" b="1" dirty="0"/>
              <a:t>Hardware and deployment constraints</a:t>
            </a:r>
            <a:r>
              <a:rPr lang="en-GB" dirty="0"/>
              <a:t>, especially on edge devices</a:t>
            </a:r>
          </a:p>
        </p:txBody>
      </p:sp>
    </p:spTree>
    <p:extLst>
      <p:ext uri="{BB962C8B-B14F-4D97-AF65-F5344CB8AC3E}">
        <p14:creationId xmlns:p14="http://schemas.microsoft.com/office/powerpoint/2010/main" val="448954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8E847-578B-9BAE-F25B-FC4CCAE02E08}"/>
              </a:ext>
            </a:extLst>
          </p:cNvPr>
          <p:cNvSpPr>
            <a:spLocks noGrp="1"/>
          </p:cNvSpPr>
          <p:nvPr>
            <p:ph type="title"/>
          </p:nvPr>
        </p:nvSpPr>
        <p:spPr/>
        <p:txBody>
          <a:bodyPr/>
          <a:lstStyle/>
          <a:p>
            <a:r>
              <a:rPr lang="en-GB" b="1" dirty="0"/>
              <a:t>Future Directions: Where LLM‑enabled XAI Is Heading</a:t>
            </a:r>
            <a:endParaRPr lang="en-GB" dirty="0"/>
          </a:p>
        </p:txBody>
      </p:sp>
      <p:sp>
        <p:nvSpPr>
          <p:cNvPr id="3" name="Content Placeholder 2">
            <a:extLst>
              <a:ext uri="{FF2B5EF4-FFF2-40B4-BE49-F238E27FC236}">
                <a16:creationId xmlns:a16="http://schemas.microsoft.com/office/drawing/2014/main" id="{078DA600-49AF-9C8E-DC83-3E5E6602FD92}"/>
              </a:ext>
            </a:extLst>
          </p:cNvPr>
          <p:cNvSpPr>
            <a:spLocks noGrp="1"/>
          </p:cNvSpPr>
          <p:nvPr>
            <p:ph idx="1"/>
          </p:nvPr>
        </p:nvSpPr>
        <p:spPr/>
        <p:txBody>
          <a:bodyPr/>
          <a:lstStyle/>
          <a:p>
            <a:r>
              <a:rPr lang="en-GB" dirty="0"/>
              <a:t>Automated Human‑in‑the‑Loop Feedback</a:t>
            </a:r>
          </a:p>
          <a:p>
            <a:r>
              <a:rPr lang="en-GB" dirty="0"/>
              <a:t>Multimodal Explanations</a:t>
            </a:r>
          </a:p>
          <a:p>
            <a:r>
              <a:rPr lang="en-GB" dirty="0"/>
              <a:t>Cross‑Disciplinary Integration</a:t>
            </a:r>
          </a:p>
        </p:txBody>
      </p:sp>
    </p:spTree>
    <p:extLst>
      <p:ext uri="{BB962C8B-B14F-4D97-AF65-F5344CB8AC3E}">
        <p14:creationId xmlns:p14="http://schemas.microsoft.com/office/powerpoint/2010/main" val="11880010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F6459-A420-A175-101B-41B4509CAE8A}"/>
              </a:ext>
            </a:extLst>
          </p:cNvPr>
          <p:cNvSpPr>
            <a:spLocks noGrp="1"/>
          </p:cNvSpPr>
          <p:nvPr>
            <p:ph type="title"/>
          </p:nvPr>
        </p:nvSpPr>
        <p:spPr>
          <a:xfrm>
            <a:off x="2151651" y="1366860"/>
            <a:ext cx="8062198" cy="480228"/>
          </a:xfrm>
        </p:spPr>
        <p:txBody>
          <a:bodyPr/>
          <a:lstStyle/>
          <a:p>
            <a:r>
              <a:rPr lang="en-GB" b="1" dirty="0"/>
              <a:t>XAI Meets LLMs: A Survey of the Relation between Explainable AI and Large Language Models</a:t>
            </a:r>
            <a:br>
              <a:rPr lang="en-GB" dirty="0"/>
            </a:br>
            <a:endParaRPr lang="en-GB" dirty="0"/>
          </a:p>
        </p:txBody>
      </p:sp>
      <p:sp>
        <p:nvSpPr>
          <p:cNvPr id="3" name="Content Placeholder 2">
            <a:extLst>
              <a:ext uri="{FF2B5EF4-FFF2-40B4-BE49-F238E27FC236}">
                <a16:creationId xmlns:a16="http://schemas.microsoft.com/office/drawing/2014/main" id="{B5C9A389-4079-D6C4-B9D8-DB35403434A6}"/>
              </a:ext>
            </a:extLst>
          </p:cNvPr>
          <p:cNvSpPr>
            <a:spLocks noGrp="1"/>
          </p:cNvSpPr>
          <p:nvPr>
            <p:ph idx="1"/>
          </p:nvPr>
        </p:nvSpPr>
        <p:spPr/>
        <p:txBody>
          <a:bodyPr/>
          <a:lstStyle/>
          <a:p>
            <a:pPr marL="0" indent="0">
              <a:buNone/>
            </a:pPr>
            <a:r>
              <a:rPr lang="en-GB" b="1" dirty="0"/>
              <a:t>“To Explain” LLMs</a:t>
            </a:r>
          </a:p>
          <a:p>
            <a:pPr lvl="0"/>
            <a:r>
              <a:rPr lang="en-GB" dirty="0"/>
              <a:t>Attention and neuron‑level visualisation (e.g. </a:t>
            </a:r>
            <a:r>
              <a:rPr lang="en-GB" dirty="0" err="1"/>
              <a:t>BertViz</a:t>
            </a:r>
            <a:r>
              <a:rPr lang="en-GB" dirty="0"/>
              <a:t>, </a:t>
            </a:r>
            <a:r>
              <a:rPr lang="en-GB" dirty="0" err="1"/>
              <a:t>TransformerLens</a:t>
            </a:r>
            <a:r>
              <a:rPr lang="en-GB" dirty="0"/>
              <a:t>),</a:t>
            </a:r>
          </a:p>
          <a:p>
            <a:pPr lvl="0"/>
            <a:r>
              <a:rPr lang="en-GB" dirty="0"/>
              <a:t>Mechanistic interpretability and circuit discovery,</a:t>
            </a:r>
          </a:p>
          <a:p>
            <a:pPr lvl="0"/>
            <a:r>
              <a:rPr lang="en-GB" dirty="0"/>
              <a:t>Knowledge‑graph extraction and causal structure identification,</a:t>
            </a:r>
          </a:p>
          <a:p>
            <a:pPr lvl="0"/>
            <a:r>
              <a:rPr lang="en-GB" dirty="0"/>
              <a:t>Faithful reasoning augmentation (e.g. retrieval‑augmented </a:t>
            </a:r>
            <a:r>
              <a:rPr lang="en-GB" dirty="0" err="1"/>
              <a:t>CoT</a:t>
            </a:r>
            <a:r>
              <a:rPr lang="en-GB" dirty="0"/>
              <a:t>).</a:t>
            </a:r>
          </a:p>
          <a:p>
            <a:pPr marL="0" indent="0">
              <a:buNone/>
            </a:pPr>
            <a:endParaRPr lang="en-GB" b="1" dirty="0"/>
          </a:p>
          <a:p>
            <a:endParaRPr lang="en-GB" dirty="0"/>
          </a:p>
        </p:txBody>
      </p:sp>
    </p:spTree>
    <p:extLst>
      <p:ext uri="{BB962C8B-B14F-4D97-AF65-F5344CB8AC3E}">
        <p14:creationId xmlns:p14="http://schemas.microsoft.com/office/powerpoint/2010/main" val="4761848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014AE-9389-43A9-A2C7-5208FB389FF5}"/>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EFA5C21D-19E1-5C62-ED15-0DA37EE7A413}"/>
              </a:ext>
            </a:extLst>
          </p:cNvPr>
          <p:cNvSpPr>
            <a:spLocks noGrp="1"/>
          </p:cNvSpPr>
          <p:nvPr>
            <p:ph idx="1"/>
          </p:nvPr>
        </p:nvSpPr>
        <p:spPr/>
        <p:txBody>
          <a:bodyPr/>
          <a:lstStyle/>
          <a:p>
            <a:pPr marL="0" indent="0">
              <a:buNone/>
            </a:pPr>
            <a:r>
              <a:rPr lang="en-GB" b="1" dirty="0"/>
              <a:t>“As Feature”</a:t>
            </a:r>
          </a:p>
          <a:p>
            <a:r>
              <a:rPr lang="en-GB" dirty="0"/>
              <a:t>Here, LLM‑generated explanations or rationales are used as </a:t>
            </a:r>
            <a:r>
              <a:rPr lang="en-GB" b="1" dirty="0"/>
              <a:t>auxiliary signals</a:t>
            </a:r>
            <a:r>
              <a:rPr lang="en-GB" dirty="0"/>
              <a:t>:</a:t>
            </a:r>
          </a:p>
          <a:p>
            <a:pPr lvl="0"/>
            <a:r>
              <a:rPr lang="en-GB" dirty="0"/>
              <a:t>Improving smaller models,</a:t>
            </a:r>
          </a:p>
          <a:p>
            <a:pPr lvl="0"/>
            <a:r>
              <a:rPr lang="en-GB" dirty="0"/>
              <a:t>Enhancing downstream tasks (e.g. classification, recommendation),</a:t>
            </a:r>
          </a:p>
          <a:p>
            <a:pPr lvl="0"/>
            <a:r>
              <a:rPr lang="en-GB" dirty="0"/>
              <a:t>Automating debugging or concept discovery.</a:t>
            </a:r>
          </a:p>
          <a:p>
            <a:endParaRPr lang="en-GB" dirty="0"/>
          </a:p>
        </p:txBody>
      </p:sp>
    </p:spTree>
    <p:extLst>
      <p:ext uri="{BB962C8B-B14F-4D97-AF65-F5344CB8AC3E}">
        <p14:creationId xmlns:p14="http://schemas.microsoft.com/office/powerpoint/2010/main" val="25685938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88383-EC5C-76B4-56F4-193D5FEEAD8B}"/>
              </a:ext>
            </a:extLst>
          </p:cNvPr>
          <p:cNvSpPr>
            <a:spLocks noGrp="1"/>
          </p:cNvSpPr>
          <p:nvPr>
            <p:ph type="title"/>
          </p:nvPr>
        </p:nvSpPr>
        <p:spPr/>
        <p:txBody>
          <a:bodyPr/>
          <a:lstStyle/>
          <a:p>
            <a:r>
              <a:rPr lang="en-GB" b="1" dirty="0"/>
              <a:t>Discussion Papers</a:t>
            </a:r>
            <a:endParaRPr lang="en-GB" dirty="0"/>
          </a:p>
        </p:txBody>
      </p:sp>
      <p:sp>
        <p:nvSpPr>
          <p:cNvPr id="3" name="Content Placeholder 2">
            <a:extLst>
              <a:ext uri="{FF2B5EF4-FFF2-40B4-BE49-F238E27FC236}">
                <a16:creationId xmlns:a16="http://schemas.microsoft.com/office/drawing/2014/main" id="{82393364-6656-5237-3FE1-F2A499B3711C}"/>
              </a:ext>
            </a:extLst>
          </p:cNvPr>
          <p:cNvSpPr>
            <a:spLocks noGrp="1"/>
          </p:cNvSpPr>
          <p:nvPr>
            <p:ph idx="1"/>
          </p:nvPr>
        </p:nvSpPr>
        <p:spPr/>
        <p:txBody>
          <a:bodyPr>
            <a:normAutofit fontScale="92500" lnSpcReduction="20000"/>
          </a:bodyPr>
          <a:lstStyle/>
          <a:p>
            <a:pPr marL="0" indent="0">
              <a:buNone/>
            </a:pPr>
            <a:r>
              <a:rPr lang="en-GB" dirty="0"/>
              <a:t>These works do </a:t>
            </a:r>
            <a:r>
              <a:rPr lang="en-GB" b="1" dirty="0"/>
              <a:t>not implement XAI methods</a:t>
            </a:r>
            <a:r>
              <a:rPr lang="en-GB" dirty="0"/>
              <a:t>, but address:</a:t>
            </a:r>
          </a:p>
          <a:p>
            <a:pPr lvl="0"/>
            <a:r>
              <a:rPr lang="en-GB" dirty="0"/>
              <a:t>Conceptual limitations of LLM explainability,</a:t>
            </a:r>
          </a:p>
          <a:p>
            <a:pPr lvl="0"/>
            <a:r>
              <a:rPr lang="en-GB" dirty="0"/>
              <a:t>Human‑centred transparency requirements,</a:t>
            </a:r>
          </a:p>
          <a:p>
            <a:pPr lvl="0"/>
            <a:r>
              <a:rPr lang="en-GB" dirty="0"/>
              <a:t>Trust, alignment, and evaluative challenges.</a:t>
            </a:r>
          </a:p>
          <a:p>
            <a:pPr marL="0" indent="0">
              <a:buNone/>
            </a:pPr>
            <a:endParaRPr lang="en-GB" dirty="0"/>
          </a:p>
          <a:p>
            <a:pPr marL="0" indent="0">
              <a:buNone/>
            </a:pPr>
            <a:r>
              <a:rPr lang="en-GB" dirty="0"/>
              <a:t>A dedicated subset focuses on </a:t>
            </a:r>
            <a:r>
              <a:rPr lang="en-GB" b="1" dirty="0"/>
              <a:t>benchmarks and metrics</a:t>
            </a:r>
            <a:r>
              <a:rPr lang="en-GB" dirty="0"/>
              <a:t>, highlighting the lack of robust evaluation frameworks for:</a:t>
            </a:r>
          </a:p>
          <a:p>
            <a:pPr lvl="0"/>
            <a:r>
              <a:rPr lang="en-GB" dirty="0"/>
              <a:t>Faithfulness,</a:t>
            </a:r>
          </a:p>
          <a:p>
            <a:pPr lvl="0"/>
            <a:r>
              <a:rPr lang="en-GB" dirty="0"/>
              <a:t>Logical consistency,</a:t>
            </a:r>
          </a:p>
          <a:p>
            <a:pPr lvl="0"/>
            <a:r>
              <a:rPr lang="en-GB" dirty="0"/>
              <a:t>Causal validity of explanations.</a:t>
            </a:r>
          </a:p>
          <a:p>
            <a:endParaRPr lang="en-GB" dirty="0"/>
          </a:p>
        </p:txBody>
      </p:sp>
    </p:spTree>
    <p:extLst>
      <p:ext uri="{BB962C8B-B14F-4D97-AF65-F5344CB8AC3E}">
        <p14:creationId xmlns:p14="http://schemas.microsoft.com/office/powerpoint/2010/main" val="3814274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C9B41-0DB4-E6F2-D9DE-D2930562F2CD}"/>
              </a:ext>
            </a:extLst>
          </p:cNvPr>
          <p:cNvSpPr>
            <a:spLocks noGrp="1"/>
          </p:cNvSpPr>
          <p:nvPr>
            <p:ph type="title"/>
          </p:nvPr>
        </p:nvSpPr>
        <p:spPr/>
        <p:txBody>
          <a:bodyPr/>
          <a:lstStyle/>
          <a:p>
            <a:r>
              <a:rPr lang="en-GB" b="1" dirty="0"/>
              <a:t>Research Gaps and Future Directions</a:t>
            </a:r>
            <a:endParaRPr lang="en-GB" dirty="0"/>
          </a:p>
        </p:txBody>
      </p:sp>
      <p:sp>
        <p:nvSpPr>
          <p:cNvPr id="3" name="Content Placeholder 2">
            <a:extLst>
              <a:ext uri="{FF2B5EF4-FFF2-40B4-BE49-F238E27FC236}">
                <a16:creationId xmlns:a16="http://schemas.microsoft.com/office/drawing/2014/main" id="{78F1FDA3-BBB0-D374-41C0-D13B70544CA7}"/>
              </a:ext>
            </a:extLst>
          </p:cNvPr>
          <p:cNvSpPr>
            <a:spLocks noGrp="1"/>
          </p:cNvSpPr>
          <p:nvPr>
            <p:ph idx="1"/>
          </p:nvPr>
        </p:nvSpPr>
        <p:spPr/>
        <p:txBody>
          <a:bodyPr/>
          <a:lstStyle/>
          <a:p>
            <a:pPr lvl="0"/>
            <a:r>
              <a:rPr lang="en-GB" dirty="0"/>
              <a:t>Faithful explanation of emergent behaviours.</a:t>
            </a:r>
          </a:p>
          <a:p>
            <a:pPr lvl="0"/>
            <a:r>
              <a:rPr lang="en-GB" dirty="0"/>
              <a:t>Human‑centred explanation design for diverse stakeholders.</a:t>
            </a:r>
          </a:p>
          <a:p>
            <a:pPr lvl="0"/>
            <a:r>
              <a:rPr lang="en-GB" dirty="0"/>
              <a:t>Alignment between mechanistic interpretability and natural‑language explanations.</a:t>
            </a:r>
          </a:p>
          <a:p>
            <a:pPr lvl="0"/>
            <a:r>
              <a:rPr lang="en-GB" dirty="0"/>
              <a:t>Regulatory‑grade explainability for real‑world deployment.</a:t>
            </a:r>
          </a:p>
          <a:p>
            <a:pPr marL="0" indent="0">
              <a:buNone/>
            </a:pPr>
            <a:endParaRPr lang="en-GB" dirty="0"/>
          </a:p>
        </p:txBody>
      </p:sp>
    </p:spTree>
    <p:extLst>
      <p:ext uri="{BB962C8B-B14F-4D97-AF65-F5344CB8AC3E}">
        <p14:creationId xmlns:p14="http://schemas.microsoft.com/office/powerpoint/2010/main" val="30982684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F598878-95B6-7378-4137-B2F618EFA54B}"/>
              </a:ext>
            </a:extLst>
          </p:cNvPr>
          <p:cNvPicPr>
            <a:picLocks noChangeAspect="1"/>
          </p:cNvPicPr>
          <p:nvPr/>
        </p:nvPicPr>
        <p:blipFill>
          <a:blip r:embed="rId2">
            <a:alphaModFix amt="40000"/>
          </a:blip>
          <a:srcRect r="6250"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B79DB8F-6EC4-B6B8-FCED-595BDB510335}"/>
              </a:ext>
            </a:extLst>
          </p:cNvPr>
          <p:cNvSpPr>
            <a:spLocks noGrp="1"/>
          </p:cNvSpPr>
          <p:nvPr>
            <p:ph type="title"/>
          </p:nvPr>
        </p:nvSpPr>
        <p:spPr>
          <a:xfrm>
            <a:off x="1154954" y="973668"/>
            <a:ext cx="8761413" cy="706964"/>
          </a:xfrm>
        </p:spPr>
        <p:txBody>
          <a:bodyPr>
            <a:normAutofit/>
          </a:bodyPr>
          <a:lstStyle/>
          <a:p>
            <a:pPr>
              <a:lnSpc>
                <a:spcPct val="90000"/>
              </a:lnSpc>
            </a:pPr>
            <a:r>
              <a:rPr lang="en-GB" sz="1400" b="1">
                <a:solidFill>
                  <a:schemeClr val="tx1"/>
                </a:solidFill>
              </a:rPr>
              <a:t>ExBERT: A Visual Analysis Tool to Explore Learned Representations in Transformer Models</a:t>
            </a:r>
            <a:br>
              <a:rPr lang="en-GB" sz="1400">
                <a:solidFill>
                  <a:schemeClr val="tx1"/>
                </a:solidFill>
              </a:rPr>
            </a:br>
            <a:endParaRPr lang="en-GB" sz="1400">
              <a:solidFill>
                <a:schemeClr val="tx1"/>
              </a:solidFill>
            </a:endParaRPr>
          </a:p>
        </p:txBody>
      </p:sp>
      <p:sp>
        <p:nvSpPr>
          <p:cNvPr id="3" name="Content Placeholder 2">
            <a:extLst>
              <a:ext uri="{FF2B5EF4-FFF2-40B4-BE49-F238E27FC236}">
                <a16:creationId xmlns:a16="http://schemas.microsoft.com/office/drawing/2014/main" id="{30CDFF14-11DA-6233-4CD4-648A25F761A8}"/>
              </a:ext>
            </a:extLst>
          </p:cNvPr>
          <p:cNvSpPr>
            <a:spLocks noGrp="1"/>
          </p:cNvSpPr>
          <p:nvPr>
            <p:ph idx="1"/>
          </p:nvPr>
        </p:nvSpPr>
        <p:spPr>
          <a:xfrm>
            <a:off x="1154954" y="2603500"/>
            <a:ext cx="8825659" cy="3416300"/>
          </a:xfrm>
        </p:spPr>
        <p:txBody>
          <a:bodyPr>
            <a:normAutofit/>
          </a:bodyPr>
          <a:lstStyle/>
          <a:p>
            <a:pPr marL="0" indent="0">
              <a:buNone/>
            </a:pPr>
            <a:r>
              <a:rPr lang="en-GB">
                <a:solidFill>
                  <a:schemeClr val="tx1"/>
                </a:solidFill>
              </a:rPr>
              <a:t>(including early versions of BertViz) primarily focused on </a:t>
            </a:r>
            <a:r>
              <a:rPr lang="en-GB" b="1">
                <a:solidFill>
                  <a:schemeClr val="tx1"/>
                </a:solidFill>
              </a:rPr>
              <a:t>attention weights</a:t>
            </a:r>
            <a:r>
              <a:rPr lang="en-GB">
                <a:solidFill>
                  <a:schemeClr val="tx1"/>
                </a:solidFill>
              </a:rPr>
              <a:t>, which are:</a:t>
            </a:r>
          </a:p>
          <a:p>
            <a:pPr lvl="0"/>
            <a:endParaRPr lang="en-GB">
              <a:solidFill>
                <a:schemeClr val="tx1"/>
              </a:solidFill>
            </a:endParaRPr>
          </a:p>
          <a:p>
            <a:pPr lvl="0"/>
            <a:r>
              <a:rPr lang="en-GB">
                <a:solidFill>
                  <a:schemeClr val="tx1"/>
                </a:solidFill>
              </a:rPr>
              <a:t>limited proxies for internal computation,</a:t>
            </a:r>
          </a:p>
          <a:p>
            <a:pPr lvl="0"/>
            <a:endParaRPr lang="en-GB">
              <a:solidFill>
                <a:schemeClr val="tx1"/>
              </a:solidFill>
            </a:endParaRPr>
          </a:p>
          <a:p>
            <a:pPr lvl="0"/>
            <a:r>
              <a:rPr lang="en-GB">
                <a:solidFill>
                  <a:schemeClr val="tx1"/>
                </a:solidFill>
              </a:rPr>
              <a:t>insufficient for understanding </a:t>
            </a:r>
            <a:r>
              <a:rPr lang="en-GB" b="1">
                <a:solidFill>
                  <a:schemeClr val="tx1"/>
                </a:solidFill>
              </a:rPr>
              <a:t>neuron‑level representations</a:t>
            </a:r>
            <a:r>
              <a:rPr lang="en-GB">
                <a:solidFill>
                  <a:schemeClr val="tx1"/>
                </a:solidFill>
              </a:rPr>
              <a:t>, </a:t>
            </a:r>
            <a:r>
              <a:rPr lang="en-GB" b="1">
                <a:solidFill>
                  <a:schemeClr val="tx1"/>
                </a:solidFill>
              </a:rPr>
              <a:t>layer-wise abstraction</a:t>
            </a:r>
            <a:r>
              <a:rPr lang="en-GB">
                <a:solidFill>
                  <a:schemeClr val="tx1"/>
                </a:solidFill>
              </a:rPr>
              <a:t>, or </a:t>
            </a:r>
            <a:r>
              <a:rPr lang="en-GB" b="1">
                <a:solidFill>
                  <a:schemeClr val="tx1"/>
                </a:solidFill>
              </a:rPr>
              <a:t>task‑specific fine‑tuning effects</a:t>
            </a:r>
            <a:r>
              <a:rPr lang="en-GB">
                <a:solidFill>
                  <a:schemeClr val="tx1"/>
                </a:solidFill>
              </a:rPr>
              <a:t>.</a:t>
            </a:r>
          </a:p>
          <a:p>
            <a:endParaRPr lang="en-GB">
              <a:solidFill>
                <a:schemeClr val="tx1"/>
              </a:solidFill>
            </a:endParaRPr>
          </a:p>
        </p:txBody>
      </p:sp>
    </p:spTree>
    <p:extLst>
      <p:ext uri="{BB962C8B-B14F-4D97-AF65-F5344CB8AC3E}">
        <p14:creationId xmlns:p14="http://schemas.microsoft.com/office/powerpoint/2010/main" val="2892390188"/>
      </p:ext>
    </p:extLst>
  </p:cSld>
  <p:clrMapOvr>
    <a:overrideClrMapping bg1="dk1" tx1="lt1" bg2="dk2" tx2="lt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B4BE8-168C-DBBB-DCEC-68CD3614255E}"/>
              </a:ext>
            </a:extLst>
          </p:cNvPr>
          <p:cNvSpPr>
            <a:spLocks noGrp="1"/>
          </p:cNvSpPr>
          <p:nvPr>
            <p:ph type="title"/>
          </p:nvPr>
        </p:nvSpPr>
        <p:spPr/>
        <p:txBody>
          <a:bodyPr/>
          <a:lstStyle/>
          <a:p>
            <a:r>
              <a:rPr lang="en-GB" b="1" dirty="0"/>
              <a:t>Core Contribution</a:t>
            </a:r>
            <a:endParaRPr lang="en-GB" dirty="0"/>
          </a:p>
        </p:txBody>
      </p:sp>
      <p:sp>
        <p:nvSpPr>
          <p:cNvPr id="3" name="Content Placeholder 2">
            <a:extLst>
              <a:ext uri="{FF2B5EF4-FFF2-40B4-BE49-F238E27FC236}">
                <a16:creationId xmlns:a16="http://schemas.microsoft.com/office/drawing/2014/main" id="{F25E4846-67C0-67C8-CFC0-E230DE71E39D}"/>
              </a:ext>
            </a:extLst>
          </p:cNvPr>
          <p:cNvSpPr>
            <a:spLocks noGrp="1"/>
          </p:cNvSpPr>
          <p:nvPr>
            <p:ph idx="1"/>
          </p:nvPr>
        </p:nvSpPr>
        <p:spPr/>
        <p:txBody>
          <a:bodyPr/>
          <a:lstStyle/>
          <a:p>
            <a:pPr lvl="0"/>
            <a:r>
              <a:rPr lang="en-GB" dirty="0"/>
              <a:t>contextual token representations,</a:t>
            </a:r>
          </a:p>
          <a:p>
            <a:pPr lvl="0"/>
            <a:endParaRPr lang="en-GB" dirty="0"/>
          </a:p>
          <a:p>
            <a:pPr lvl="0"/>
            <a:r>
              <a:rPr lang="en-GB" dirty="0"/>
              <a:t>nearest-neighbour relationships in embedding space,</a:t>
            </a:r>
          </a:p>
          <a:p>
            <a:pPr lvl="0"/>
            <a:endParaRPr lang="en-GB" dirty="0"/>
          </a:p>
          <a:p>
            <a:pPr lvl="0"/>
            <a:r>
              <a:rPr lang="en-GB" dirty="0"/>
              <a:t>layer-wise representation evolution,</a:t>
            </a:r>
          </a:p>
          <a:p>
            <a:pPr lvl="0"/>
            <a:endParaRPr lang="en-GB" dirty="0"/>
          </a:p>
          <a:p>
            <a:pPr lvl="0"/>
            <a:r>
              <a:rPr lang="en-GB" dirty="0"/>
              <a:t>and cross-model comparisons (e.g., base vs fine‑tuned models).</a:t>
            </a:r>
          </a:p>
          <a:p>
            <a:endParaRPr lang="en-GB" dirty="0"/>
          </a:p>
        </p:txBody>
      </p:sp>
    </p:spTree>
    <p:extLst>
      <p:ext uri="{BB962C8B-B14F-4D97-AF65-F5344CB8AC3E}">
        <p14:creationId xmlns:p14="http://schemas.microsoft.com/office/powerpoint/2010/main" val="19245585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616407-3E4D-4469-BDAF-3837EBF9F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 name="Content Placeholder 4">
            <a:extLst>
              <a:ext uri="{FF2B5EF4-FFF2-40B4-BE49-F238E27FC236}">
                <a16:creationId xmlns:a16="http://schemas.microsoft.com/office/drawing/2014/main" id="{0A8A66F1-08A7-10F6-7FFD-E2761C7AFD33}"/>
              </a:ext>
            </a:extLst>
          </p:cNvPr>
          <p:cNvPicPr>
            <a:picLocks noGrp="1" noChangeAspect="1"/>
          </p:cNvPicPr>
          <p:nvPr>
            <p:ph idx="1"/>
          </p:nvPr>
        </p:nvPicPr>
        <p:blipFill>
          <a:blip r:embed="rId2"/>
          <a:srcRect t="5063"/>
          <a:stretch>
            <a:fillRect/>
          </a:stretch>
        </p:blipFill>
        <p:spPr>
          <a:xfrm>
            <a:off x="20" y="10"/>
            <a:ext cx="12191980" cy="6857990"/>
          </a:xfrm>
          <a:prstGeom prst="rect">
            <a:avLst/>
          </a:prstGeom>
        </p:spPr>
      </p:pic>
    </p:spTree>
    <p:extLst>
      <p:ext uri="{BB962C8B-B14F-4D97-AF65-F5344CB8AC3E}">
        <p14:creationId xmlns:p14="http://schemas.microsoft.com/office/powerpoint/2010/main" val="40414350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5FE46-70B2-85B3-4152-C00830FB23DF}"/>
              </a:ext>
            </a:extLst>
          </p:cNvPr>
          <p:cNvSpPr>
            <a:spLocks noGrp="1"/>
          </p:cNvSpPr>
          <p:nvPr>
            <p:ph type="title"/>
          </p:nvPr>
        </p:nvSpPr>
        <p:spPr/>
        <p:txBody>
          <a:bodyPr/>
          <a:lstStyle/>
          <a:p>
            <a:r>
              <a:rPr lang="en-GB" b="1" dirty="0"/>
              <a:t>Representation-Centric View</a:t>
            </a:r>
            <a:endParaRPr lang="en-GB" dirty="0"/>
          </a:p>
        </p:txBody>
      </p:sp>
      <p:sp>
        <p:nvSpPr>
          <p:cNvPr id="3" name="Content Placeholder 2">
            <a:extLst>
              <a:ext uri="{FF2B5EF4-FFF2-40B4-BE49-F238E27FC236}">
                <a16:creationId xmlns:a16="http://schemas.microsoft.com/office/drawing/2014/main" id="{14BB1B2F-12FF-D25D-3B55-B2077080A694}"/>
              </a:ext>
            </a:extLst>
          </p:cNvPr>
          <p:cNvSpPr>
            <a:spLocks noGrp="1"/>
          </p:cNvSpPr>
          <p:nvPr>
            <p:ph idx="1"/>
          </p:nvPr>
        </p:nvSpPr>
        <p:spPr/>
        <p:txBody>
          <a:bodyPr/>
          <a:lstStyle/>
          <a:p>
            <a:pPr lvl="0"/>
            <a:r>
              <a:rPr lang="en-GB" dirty="0"/>
              <a:t>Tokens are </a:t>
            </a:r>
            <a:r>
              <a:rPr lang="en-GB" b="1" dirty="0"/>
              <a:t>contextualised</a:t>
            </a:r>
            <a:r>
              <a:rPr lang="en-GB" dirty="0"/>
              <a:t>, not static types.</a:t>
            </a:r>
          </a:p>
          <a:p>
            <a:pPr lvl="0"/>
            <a:r>
              <a:rPr lang="en-GB" dirty="0"/>
              <a:t>Each token instance is embedded in a </a:t>
            </a:r>
            <a:r>
              <a:rPr lang="en-GB" b="1" dirty="0"/>
              <a:t>high-dimensional latent space</a:t>
            </a:r>
            <a:r>
              <a:rPr lang="en-GB" dirty="0"/>
              <a:t>, reflecting syntax, semantics, and task signals.</a:t>
            </a:r>
          </a:p>
          <a:p>
            <a:pPr marL="0" indent="0">
              <a:buNone/>
            </a:pPr>
            <a:r>
              <a:rPr lang="en-GB" dirty="0" err="1"/>
              <a:t>ExBERT</a:t>
            </a:r>
            <a:r>
              <a:rPr lang="en-GB" dirty="0"/>
              <a:t> enables users to:</a:t>
            </a:r>
          </a:p>
          <a:p>
            <a:pPr lvl="0"/>
            <a:r>
              <a:rPr lang="en-GB" dirty="0"/>
              <a:t>select a token in context,</a:t>
            </a:r>
          </a:p>
          <a:p>
            <a:pPr lvl="0"/>
            <a:r>
              <a:rPr lang="en-GB" dirty="0"/>
              <a:t>inspect its </a:t>
            </a:r>
            <a:r>
              <a:rPr lang="en-GB" b="1" dirty="0"/>
              <a:t>nearest neighbours across the corpus</a:t>
            </a:r>
            <a:r>
              <a:rPr lang="en-GB" dirty="0"/>
              <a:t>,</a:t>
            </a:r>
          </a:p>
          <a:p>
            <a:pPr lvl="0"/>
            <a:r>
              <a:rPr lang="en-GB" dirty="0"/>
              <a:t>and </a:t>
            </a:r>
            <a:r>
              <a:rPr lang="en-GB" dirty="0" err="1"/>
              <a:t>analyze</a:t>
            </a:r>
            <a:r>
              <a:rPr lang="en-GB" dirty="0"/>
              <a:t> whether similarity reflects </a:t>
            </a:r>
            <a:r>
              <a:rPr lang="en-GB" b="1" dirty="0"/>
              <a:t>syntactic roles, semantic fields, or task artifacts</a:t>
            </a:r>
            <a:r>
              <a:rPr lang="en-GB" dirty="0"/>
              <a:t>.</a:t>
            </a:r>
          </a:p>
          <a:p>
            <a:endParaRPr lang="en-GB" dirty="0"/>
          </a:p>
        </p:txBody>
      </p:sp>
    </p:spTree>
    <p:extLst>
      <p:ext uri="{BB962C8B-B14F-4D97-AF65-F5344CB8AC3E}">
        <p14:creationId xmlns:p14="http://schemas.microsoft.com/office/powerpoint/2010/main" val="34592812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D289-CC35-223D-9EA7-A4B6D3AD5972}"/>
              </a:ext>
            </a:extLst>
          </p:cNvPr>
          <p:cNvSpPr>
            <a:spLocks noGrp="1"/>
          </p:cNvSpPr>
          <p:nvPr>
            <p:ph type="title"/>
          </p:nvPr>
        </p:nvSpPr>
        <p:spPr/>
        <p:txBody>
          <a:bodyPr/>
          <a:lstStyle/>
          <a:p>
            <a:r>
              <a:rPr lang="en-GB" b="1" dirty="0"/>
              <a:t>Layer-Wise Abstraction Analysis</a:t>
            </a:r>
            <a:endParaRPr lang="en-GB" dirty="0"/>
          </a:p>
        </p:txBody>
      </p:sp>
      <p:sp>
        <p:nvSpPr>
          <p:cNvPr id="3" name="Content Placeholder 2">
            <a:extLst>
              <a:ext uri="{FF2B5EF4-FFF2-40B4-BE49-F238E27FC236}">
                <a16:creationId xmlns:a16="http://schemas.microsoft.com/office/drawing/2014/main" id="{44FD5BA4-A5AE-246B-28F5-F86797D55141}"/>
              </a:ext>
            </a:extLst>
          </p:cNvPr>
          <p:cNvSpPr>
            <a:spLocks noGrp="1"/>
          </p:cNvSpPr>
          <p:nvPr>
            <p:ph idx="1"/>
          </p:nvPr>
        </p:nvSpPr>
        <p:spPr/>
        <p:txBody>
          <a:bodyPr>
            <a:normAutofit lnSpcReduction="10000"/>
          </a:bodyPr>
          <a:lstStyle/>
          <a:p>
            <a:pPr lvl="0"/>
            <a:r>
              <a:rPr lang="en-GB" dirty="0"/>
              <a:t>lower layers encode surface and syntactic information,</a:t>
            </a:r>
          </a:p>
          <a:p>
            <a:pPr lvl="0"/>
            <a:r>
              <a:rPr lang="en-GB" dirty="0"/>
              <a:t>middle layers encode semantic relations,</a:t>
            </a:r>
          </a:p>
          <a:p>
            <a:pPr lvl="0"/>
            <a:r>
              <a:rPr lang="en-GB" dirty="0"/>
              <a:t>higher layers encode task- and objective-specific abstractions.</a:t>
            </a:r>
          </a:p>
          <a:p>
            <a:pPr marL="0" indent="0">
              <a:buNone/>
            </a:pPr>
            <a:endParaRPr lang="en-GB" dirty="0"/>
          </a:p>
          <a:p>
            <a:pPr marL="0" indent="0">
              <a:buNone/>
            </a:pPr>
            <a:r>
              <a:rPr lang="en-GB" dirty="0" err="1"/>
              <a:t>ExBERT</a:t>
            </a:r>
            <a:r>
              <a:rPr lang="en-GB" dirty="0"/>
              <a:t> allows users to:</a:t>
            </a:r>
          </a:p>
          <a:p>
            <a:pPr lvl="0"/>
            <a:r>
              <a:rPr lang="en-GB" dirty="0"/>
              <a:t>compare the </a:t>
            </a:r>
            <a:r>
              <a:rPr lang="en-GB" i="1" dirty="0"/>
              <a:t>same token</a:t>
            </a:r>
            <a:r>
              <a:rPr lang="en-GB" dirty="0"/>
              <a:t> across layers,</a:t>
            </a:r>
          </a:p>
          <a:p>
            <a:pPr lvl="0"/>
            <a:r>
              <a:rPr lang="en-GB" dirty="0"/>
              <a:t>observe shifts in neighbourhood structure,</a:t>
            </a:r>
          </a:p>
          <a:p>
            <a:pPr lvl="0"/>
            <a:r>
              <a:rPr lang="en-GB" dirty="0"/>
              <a:t>and identify </a:t>
            </a:r>
            <a:r>
              <a:rPr lang="en-GB" b="1" dirty="0"/>
              <a:t>semantic sharpening, abstraction collapse, or task biasing</a:t>
            </a:r>
            <a:r>
              <a:rPr lang="en-GB" dirty="0"/>
              <a:t> effects as depth increases.</a:t>
            </a:r>
          </a:p>
          <a:p>
            <a:pPr marL="0" indent="0">
              <a:buNone/>
            </a:pPr>
            <a:endParaRPr lang="en-GB" dirty="0"/>
          </a:p>
        </p:txBody>
      </p:sp>
    </p:spTree>
    <p:extLst>
      <p:ext uri="{BB962C8B-B14F-4D97-AF65-F5344CB8AC3E}">
        <p14:creationId xmlns:p14="http://schemas.microsoft.com/office/powerpoint/2010/main" val="40009838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789FE3FA-A44C-4C6B-9291-3D7327AF8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7" name="Rectangle 46">
            <a:extLst>
              <a:ext uri="{FF2B5EF4-FFF2-40B4-BE49-F238E27FC236}">
                <a16:creationId xmlns:a16="http://schemas.microsoft.com/office/drawing/2014/main" id="{46D75838-7FA2-4AAF-9C77-E34C3B4AD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dk2"/>
          </a:fillRef>
          <a:effectRef idx="0">
            <a:schemeClr val="accent1"/>
          </a:effectRef>
          <a:fontRef idx="minor">
            <a:schemeClr val="lt1"/>
          </a:fontRef>
        </p:style>
        <p:txBody>
          <a:bodyPr/>
          <a:lstStyle/>
          <a:p>
            <a:endParaRPr lang="en-US" dirty="0"/>
          </a:p>
        </p:txBody>
      </p:sp>
      <p:sp useBgFill="1">
        <p:nvSpPr>
          <p:cNvPr id="49" name="Rectangle 48">
            <a:extLst>
              <a:ext uri="{FF2B5EF4-FFF2-40B4-BE49-F238E27FC236}">
                <a16:creationId xmlns:a16="http://schemas.microsoft.com/office/drawing/2014/main" id="{206B0C47-1CFB-42F6-B66C-063C5B601F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7F85B938-6BC7-4B98-9953-B70B3646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1" name="Content Placeholder 10">
            <a:extLst>
              <a:ext uri="{FF2B5EF4-FFF2-40B4-BE49-F238E27FC236}">
                <a16:creationId xmlns:a16="http://schemas.microsoft.com/office/drawing/2014/main" id="{B5944EA3-43A8-AA56-984D-F2C578DC1465}"/>
              </a:ext>
            </a:extLst>
          </p:cNvPr>
          <p:cNvPicPr>
            <a:picLocks noGrp="1" noChangeAspect="1"/>
          </p:cNvPicPr>
          <p:nvPr>
            <p:ph idx="1"/>
          </p:nvPr>
        </p:nvPicPr>
        <p:blipFill>
          <a:blip r:embed="rId2"/>
          <a:stretch>
            <a:fillRect/>
          </a:stretch>
        </p:blipFill>
        <p:spPr>
          <a:xfrm>
            <a:off x="548297" y="801793"/>
            <a:ext cx="5297331" cy="5248265"/>
          </a:xfrm>
          <a:prstGeom prst="rect">
            <a:avLst/>
          </a:prstGeom>
        </p:spPr>
      </p:pic>
      <p:pic>
        <p:nvPicPr>
          <p:cNvPr id="15" name="Picture 14">
            <a:extLst>
              <a:ext uri="{FF2B5EF4-FFF2-40B4-BE49-F238E27FC236}">
                <a16:creationId xmlns:a16="http://schemas.microsoft.com/office/drawing/2014/main" id="{63BEEA53-45B8-F9D6-72FE-2EA2DDEB073B}"/>
              </a:ext>
            </a:extLst>
          </p:cNvPr>
          <p:cNvPicPr>
            <a:picLocks noChangeAspect="1"/>
          </p:cNvPicPr>
          <p:nvPr/>
        </p:nvPicPr>
        <p:blipFill>
          <a:blip r:embed="rId3"/>
          <a:stretch>
            <a:fillRect/>
          </a:stretch>
        </p:blipFill>
        <p:spPr>
          <a:xfrm>
            <a:off x="5551714" y="1654630"/>
            <a:ext cx="5514221" cy="2462860"/>
          </a:xfrm>
          <a:prstGeom prst="rect">
            <a:avLst/>
          </a:prstGeom>
        </p:spPr>
      </p:pic>
    </p:spTree>
    <p:extLst>
      <p:ext uri="{BB962C8B-B14F-4D97-AF65-F5344CB8AC3E}">
        <p14:creationId xmlns:p14="http://schemas.microsoft.com/office/powerpoint/2010/main" val="25436866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4" name="Rectangle 13">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 name="Content Placeholder 4">
            <a:extLst>
              <a:ext uri="{FF2B5EF4-FFF2-40B4-BE49-F238E27FC236}">
                <a16:creationId xmlns:a16="http://schemas.microsoft.com/office/drawing/2014/main" id="{32B1A433-1A95-969B-195A-99B5133C905A}"/>
              </a:ext>
            </a:extLst>
          </p:cNvPr>
          <p:cNvPicPr>
            <a:picLocks noGrp="1" noChangeAspect="1"/>
          </p:cNvPicPr>
          <p:nvPr>
            <p:ph idx="1"/>
          </p:nvPr>
        </p:nvPicPr>
        <p:blipFill>
          <a:blip r:embed="rId2"/>
          <a:stretch>
            <a:fillRect/>
          </a:stretch>
        </p:blipFill>
        <p:spPr>
          <a:xfrm>
            <a:off x="1126066" y="1418920"/>
            <a:ext cx="10035037" cy="4014013"/>
          </a:xfrm>
          <a:prstGeom prst="rect">
            <a:avLst/>
          </a:prstGeom>
        </p:spPr>
      </p:pic>
    </p:spTree>
    <p:extLst>
      <p:ext uri="{BB962C8B-B14F-4D97-AF65-F5344CB8AC3E}">
        <p14:creationId xmlns:p14="http://schemas.microsoft.com/office/powerpoint/2010/main" val="27577607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43" name="Freeform: Shape 42">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45"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47" name="Rectangle 46">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9" name="Oval 48">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 name="Oval 50">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9" name="Content Placeholder 8">
            <a:extLst>
              <a:ext uri="{FF2B5EF4-FFF2-40B4-BE49-F238E27FC236}">
                <a16:creationId xmlns:a16="http://schemas.microsoft.com/office/drawing/2014/main" id="{D03E5C8F-BF0A-CD78-3052-607A5A7DB5DF}"/>
              </a:ext>
            </a:extLst>
          </p:cNvPr>
          <p:cNvSpPr>
            <a:spLocks noGrp="1"/>
          </p:cNvSpPr>
          <p:nvPr>
            <p:ph idx="1"/>
          </p:nvPr>
        </p:nvSpPr>
        <p:spPr>
          <a:xfrm>
            <a:off x="1154955" y="2120900"/>
            <a:ext cx="3133726" cy="3898900"/>
          </a:xfrm>
        </p:spPr>
        <p:txBody>
          <a:bodyPr>
            <a:normAutofit/>
          </a:bodyPr>
          <a:lstStyle/>
          <a:p>
            <a:r>
              <a:rPr lang="en-GB">
                <a:solidFill>
                  <a:srgbClr val="FFFFFF"/>
                </a:solidFill>
              </a:rPr>
              <a:t>shows strong detection of the AUX dependency.</a:t>
            </a:r>
          </a:p>
          <a:p>
            <a:endParaRPr lang="en-GB">
              <a:solidFill>
                <a:srgbClr val="FFFFFF"/>
              </a:solidFill>
            </a:endParaRPr>
          </a:p>
          <a:p>
            <a:endParaRPr lang="en-GB">
              <a:solidFill>
                <a:srgbClr val="FFFFFF"/>
              </a:solidFill>
            </a:endParaRPr>
          </a:p>
          <a:p>
            <a:r>
              <a:rPr lang="en-GB">
                <a:solidFill>
                  <a:srgbClr val="FFFFFF"/>
                </a:solidFill>
              </a:rPr>
              <a:t>shows a head detecting the DOBJ dependency</a:t>
            </a:r>
            <a:endParaRPr lang="en-US">
              <a:solidFill>
                <a:srgbClr val="FFFFFF"/>
              </a:solidFill>
            </a:endParaRPr>
          </a:p>
        </p:txBody>
      </p:sp>
      <p:sp>
        <p:nvSpPr>
          <p:cNvPr id="53"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pic>
        <p:nvPicPr>
          <p:cNvPr id="5" name="Content Placeholder 4">
            <a:extLst>
              <a:ext uri="{FF2B5EF4-FFF2-40B4-BE49-F238E27FC236}">
                <a16:creationId xmlns:a16="http://schemas.microsoft.com/office/drawing/2014/main" id="{0D22CF2E-371E-43FD-81D5-1FF6F75B99DB}"/>
              </a:ext>
            </a:extLst>
          </p:cNvPr>
          <p:cNvPicPr>
            <a:picLocks noChangeAspect="1"/>
          </p:cNvPicPr>
          <p:nvPr/>
        </p:nvPicPr>
        <p:blipFill>
          <a:blip r:embed="rId2"/>
          <a:srcRect l="4199" r="2" b="2"/>
          <a:stretch>
            <a:fillRect/>
          </a:stretch>
        </p:blipFill>
        <p:spPr>
          <a:xfrm>
            <a:off x="5291697" y="0"/>
            <a:ext cx="6668484" cy="6640285"/>
          </a:xfrm>
          <a:prstGeom prst="rect">
            <a:avLst/>
          </a:prstGeom>
        </p:spPr>
      </p:pic>
    </p:spTree>
    <p:extLst>
      <p:ext uri="{BB962C8B-B14F-4D97-AF65-F5344CB8AC3E}">
        <p14:creationId xmlns:p14="http://schemas.microsoft.com/office/powerpoint/2010/main" val="3880632158"/>
      </p:ext>
    </p:extLst>
  </p:cSld>
  <p:clrMapOvr>
    <a:overrideClrMapping bg1="dk1" tx1="lt1" bg2="dk2" tx2="lt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C30CA-AAA9-7551-2465-207F87CC392C}"/>
              </a:ext>
            </a:extLst>
          </p:cNvPr>
          <p:cNvSpPr>
            <a:spLocks noGrp="1"/>
          </p:cNvSpPr>
          <p:nvPr>
            <p:ph type="title"/>
          </p:nvPr>
        </p:nvSpPr>
        <p:spPr/>
        <p:txBody>
          <a:bodyPr/>
          <a:lstStyle/>
          <a:p>
            <a:r>
              <a:rPr lang="en-GB" b="1" dirty="0"/>
              <a:t>Methodological Positioning</a:t>
            </a:r>
            <a:endParaRPr lang="en-GB" dirty="0"/>
          </a:p>
        </p:txBody>
      </p:sp>
      <p:sp>
        <p:nvSpPr>
          <p:cNvPr id="3" name="Content Placeholder 2">
            <a:extLst>
              <a:ext uri="{FF2B5EF4-FFF2-40B4-BE49-F238E27FC236}">
                <a16:creationId xmlns:a16="http://schemas.microsoft.com/office/drawing/2014/main" id="{97B7636F-0ABF-F3E2-2AE3-5F463CF88BC3}"/>
              </a:ext>
            </a:extLst>
          </p:cNvPr>
          <p:cNvSpPr>
            <a:spLocks noGrp="1"/>
          </p:cNvSpPr>
          <p:nvPr>
            <p:ph idx="1"/>
          </p:nvPr>
        </p:nvSpPr>
        <p:spPr>
          <a:xfrm>
            <a:off x="765048" y="2377440"/>
            <a:ext cx="10661904" cy="4764024"/>
          </a:xfrm>
        </p:spPr>
        <p:txBody>
          <a:bodyPr>
            <a:normAutofit fontScale="77500" lnSpcReduction="20000"/>
          </a:bodyPr>
          <a:lstStyle/>
          <a:p>
            <a:pPr marL="0" indent="0">
              <a:buNone/>
            </a:pPr>
            <a:r>
              <a:rPr lang="en-GB" dirty="0"/>
              <a:t>Importantly, </a:t>
            </a:r>
            <a:r>
              <a:rPr lang="en-GB" dirty="0" err="1"/>
              <a:t>ExBERT</a:t>
            </a:r>
            <a:r>
              <a:rPr lang="en-GB" dirty="0"/>
              <a:t> is </a:t>
            </a:r>
            <a:r>
              <a:rPr lang="en-GB" b="1" dirty="0"/>
              <a:t>not framed as an explanation method</a:t>
            </a:r>
            <a:r>
              <a:rPr lang="en-GB" dirty="0"/>
              <a:t> in the strict XAI sense:</a:t>
            </a:r>
          </a:p>
          <a:p>
            <a:pPr lvl="0"/>
            <a:r>
              <a:rPr lang="en-GB" dirty="0"/>
              <a:t>it does not claim faithfulness guarantees,</a:t>
            </a:r>
          </a:p>
          <a:p>
            <a:pPr lvl="0"/>
            <a:r>
              <a:rPr lang="en-GB" dirty="0"/>
              <a:t>it does not output formal causal attributions,</a:t>
            </a:r>
          </a:p>
          <a:p>
            <a:pPr lvl="0"/>
            <a:r>
              <a:rPr lang="en-GB" dirty="0"/>
              <a:t>it does not equate interpretability with model correctness.</a:t>
            </a:r>
          </a:p>
          <a:p>
            <a:pPr marL="0" indent="0">
              <a:buNone/>
            </a:pPr>
            <a:endParaRPr lang="en-GB" dirty="0"/>
          </a:p>
          <a:p>
            <a:pPr marL="0" indent="0">
              <a:buNone/>
            </a:pPr>
            <a:r>
              <a:rPr lang="en-GB" dirty="0"/>
              <a:t>Instead, it adopts a </a:t>
            </a:r>
            <a:r>
              <a:rPr lang="en-GB" b="1" dirty="0"/>
              <a:t>visual analytics paradigm</a:t>
            </a:r>
            <a:r>
              <a:rPr lang="en-GB" dirty="0"/>
              <a:t>, where explanation is:</a:t>
            </a:r>
          </a:p>
          <a:p>
            <a:pPr lvl="0"/>
            <a:r>
              <a:rPr lang="en-GB" dirty="0"/>
              <a:t>exploratory rather than declarative,</a:t>
            </a:r>
          </a:p>
          <a:p>
            <a:pPr lvl="0"/>
            <a:r>
              <a:rPr lang="en-GB" dirty="0"/>
              <a:t>qualitative rather than metric-driven,</a:t>
            </a:r>
          </a:p>
          <a:p>
            <a:pPr lvl="0"/>
            <a:r>
              <a:rPr lang="en-GB" dirty="0"/>
              <a:t>theory-guided rather than automated.</a:t>
            </a:r>
          </a:p>
          <a:p>
            <a:pPr marL="0" indent="0">
              <a:buNone/>
            </a:pPr>
            <a:endParaRPr lang="en-GB" dirty="0"/>
          </a:p>
          <a:p>
            <a:pPr marL="0" indent="0">
              <a:buNone/>
            </a:pPr>
            <a:r>
              <a:rPr lang="en-GB" dirty="0"/>
              <a:t>This places the work squarely at the intersection of:</a:t>
            </a:r>
          </a:p>
          <a:p>
            <a:pPr lvl="0"/>
            <a:r>
              <a:rPr lang="en-GB" b="1" dirty="0"/>
              <a:t>representation probing</a:t>
            </a:r>
            <a:r>
              <a:rPr lang="en-GB" dirty="0"/>
              <a:t>,</a:t>
            </a:r>
          </a:p>
          <a:p>
            <a:pPr lvl="0"/>
            <a:r>
              <a:rPr lang="en-GB" b="1" dirty="0"/>
              <a:t>human‑centred interpretability</a:t>
            </a:r>
            <a:r>
              <a:rPr lang="en-GB" dirty="0"/>
              <a:t>,</a:t>
            </a:r>
          </a:p>
          <a:p>
            <a:pPr lvl="0"/>
            <a:r>
              <a:rPr lang="en-GB" dirty="0"/>
              <a:t>and </a:t>
            </a:r>
            <a:r>
              <a:rPr lang="en-GB" b="1" dirty="0"/>
              <a:t>interactive machine learning</a:t>
            </a:r>
            <a:r>
              <a:rPr lang="en-GB" dirty="0"/>
              <a:t>.</a:t>
            </a:r>
          </a:p>
          <a:p>
            <a:pPr marL="0" indent="0">
              <a:buNone/>
            </a:pPr>
            <a:br>
              <a:rPr lang="en-GB" dirty="0"/>
            </a:br>
            <a:endParaRPr lang="en-GB" dirty="0"/>
          </a:p>
          <a:p>
            <a:endParaRPr lang="en-GB" dirty="0"/>
          </a:p>
        </p:txBody>
      </p:sp>
    </p:spTree>
    <p:extLst>
      <p:ext uri="{BB962C8B-B14F-4D97-AF65-F5344CB8AC3E}">
        <p14:creationId xmlns:p14="http://schemas.microsoft.com/office/powerpoint/2010/main" val="7009005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DBCBA-14D0-495B-D982-5F9FAD4DD2F3}"/>
              </a:ext>
            </a:extLst>
          </p:cNvPr>
          <p:cNvSpPr>
            <a:spLocks noGrp="1"/>
          </p:cNvSpPr>
          <p:nvPr>
            <p:ph type="title"/>
          </p:nvPr>
        </p:nvSpPr>
        <p:spPr/>
        <p:txBody>
          <a:bodyPr/>
          <a:lstStyle/>
          <a:p>
            <a:r>
              <a:rPr lang="en-GB" b="1" dirty="0"/>
              <a:t>Limitations (Explicit and Implicit)</a:t>
            </a:r>
            <a:endParaRPr lang="en-GB" dirty="0"/>
          </a:p>
        </p:txBody>
      </p:sp>
      <p:sp>
        <p:nvSpPr>
          <p:cNvPr id="3" name="Content Placeholder 2">
            <a:extLst>
              <a:ext uri="{FF2B5EF4-FFF2-40B4-BE49-F238E27FC236}">
                <a16:creationId xmlns:a16="http://schemas.microsoft.com/office/drawing/2014/main" id="{D07D297B-EF53-D3BF-70D4-BFD46D16AF49}"/>
              </a:ext>
            </a:extLst>
          </p:cNvPr>
          <p:cNvSpPr>
            <a:spLocks noGrp="1"/>
          </p:cNvSpPr>
          <p:nvPr>
            <p:ph idx="1"/>
          </p:nvPr>
        </p:nvSpPr>
        <p:spPr/>
        <p:txBody>
          <a:bodyPr/>
          <a:lstStyle/>
          <a:p>
            <a:pPr lvl="0"/>
            <a:r>
              <a:rPr lang="en-GB" b="1" dirty="0"/>
              <a:t>Scalability</a:t>
            </a:r>
            <a:br>
              <a:rPr lang="en-GB" dirty="0"/>
            </a:br>
            <a:r>
              <a:rPr lang="en-GB" dirty="0"/>
              <a:t>Nearest-neighbour search and interactive exploration do not trivially scale to very large corpora or modern LLMs (e.g., GPT‑class models).</a:t>
            </a:r>
          </a:p>
          <a:p>
            <a:pPr lvl="0"/>
            <a:endParaRPr lang="en-GB" b="1" dirty="0"/>
          </a:p>
          <a:p>
            <a:pPr lvl="0"/>
            <a:r>
              <a:rPr lang="en-GB" b="1" dirty="0"/>
              <a:t>Faithfulness</a:t>
            </a:r>
            <a:r>
              <a:rPr lang="en-GB" dirty="0"/>
              <a:t> Like most visualization tools, </a:t>
            </a:r>
            <a:r>
              <a:rPr lang="en-GB" dirty="0" err="1"/>
              <a:t>ExBERT</a:t>
            </a:r>
            <a:r>
              <a:rPr lang="en-GB" dirty="0"/>
              <a:t> exposes </a:t>
            </a:r>
            <a:r>
              <a:rPr lang="en-GB" i="1" dirty="0"/>
              <a:t>representational correlations</a:t>
            </a:r>
            <a:r>
              <a:rPr lang="en-GB" dirty="0"/>
              <a:t>, not </a:t>
            </a:r>
            <a:r>
              <a:rPr lang="en-GB" i="1" dirty="0"/>
              <a:t>mechanistic causation</a:t>
            </a:r>
            <a:r>
              <a:rPr lang="en-GB" dirty="0"/>
              <a:t>.</a:t>
            </a:r>
          </a:p>
          <a:p>
            <a:pPr lvl="0"/>
            <a:endParaRPr lang="en-GB" b="1" dirty="0"/>
          </a:p>
          <a:p>
            <a:pPr lvl="0"/>
            <a:r>
              <a:rPr lang="en-GB" b="1" dirty="0"/>
              <a:t>Expert Bias</a:t>
            </a:r>
            <a:r>
              <a:rPr lang="en-GB" dirty="0"/>
              <a:t> Insights depend strongly on the analyst’s linguistic intuition; different users may draw different conclusions from the same visualization.</a:t>
            </a:r>
          </a:p>
          <a:p>
            <a:endParaRPr lang="en-GB" dirty="0"/>
          </a:p>
        </p:txBody>
      </p:sp>
    </p:spTree>
    <p:extLst>
      <p:ext uri="{BB962C8B-B14F-4D97-AF65-F5344CB8AC3E}">
        <p14:creationId xmlns:p14="http://schemas.microsoft.com/office/powerpoint/2010/main" val="39795676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531</TotalTime>
  <Words>3308</Words>
  <Application>Microsoft Office PowerPoint</Application>
  <PresentationFormat>Widescreen</PresentationFormat>
  <Paragraphs>364</Paragraphs>
  <Slides>61</Slides>
  <Notes>0</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Ion Boardroom</vt:lpstr>
      <vt:lpstr>PHD Progression 15</vt:lpstr>
      <vt:lpstr>Proof of concept</vt:lpstr>
      <vt:lpstr>Dimensionality Reduction for Neural Representations</vt:lpstr>
      <vt:lpstr>PowerPoint Presentation</vt:lpstr>
      <vt:lpstr>PowerPoint Presentation</vt:lpstr>
      <vt:lpstr>PowerPoint Presentation</vt:lpstr>
      <vt:lpstr>TinyStories-33M Architecture</vt:lpstr>
      <vt:lpstr>How to Evaluate This Proof of Concept </vt:lpstr>
      <vt:lpstr>PCA Explained Variance Threshold</vt:lpstr>
      <vt:lpstr>Human-Centred Evaluation</vt:lpstr>
      <vt:lpstr>PowerPoint Presentation</vt:lpstr>
      <vt:lpstr>Why Language Models Hallucinate</vt:lpstr>
      <vt:lpstr>Why Pretraining Causes Hallucinations </vt:lpstr>
      <vt:lpstr>Why Post‑Training Fails to Remove Hallucinations Despite RLHF, DPO, RLAIF, etc., hallucinations persist. </vt:lpstr>
      <vt:lpstr>Proposed Solution: Fix the Evaluations, Not the Models</vt:lpstr>
      <vt:lpstr>A Geometric View of Transformer Representations</vt:lpstr>
      <vt:lpstr>Universal Three‑Phase (or Four‑Phase) Representation Dynamics</vt:lpstr>
      <vt:lpstr>Expansion phase (early layers) </vt:lpstr>
      <vt:lpstr>Compression phase (intermediate layers) </vt:lpstr>
      <vt:lpstr>Decoding / reconstruction phase (late layers) </vt:lpstr>
      <vt:lpstr>(iGPT only) Second shallow peak </vt:lpstr>
      <vt:lpstr>PowerPoint Presentation</vt:lpstr>
      <vt:lpstr>PowerPoint Presentation</vt:lpstr>
      <vt:lpstr>Semantic Information Peaks at Low Intrinsic Dimension</vt:lpstr>
      <vt:lpstr>Practical Implication: Unsupervised Layer Selection</vt:lpstr>
      <vt:lpstr>PowerPoint Presentation</vt:lpstr>
      <vt:lpstr>Conceptual Interpretation </vt:lpstr>
      <vt:lpstr>From Black-Box to Glass-Box: A User‑Centric Framework for Explainable Visualization with LLMs </vt:lpstr>
      <vt:lpstr>Limitations of Previous Approaches </vt:lpstr>
      <vt:lpstr>What LIDA++ Improves</vt:lpstr>
      <vt:lpstr>PowerPoint Presentation</vt:lpstr>
      <vt:lpstr>PowerPoint Presentation</vt:lpstr>
      <vt:lpstr>A Comprehensive Guide to Explainable AI: From Classical Models to LLMs </vt:lpstr>
      <vt:lpstr>The Transformer Architecture</vt:lpstr>
      <vt:lpstr>The "Black Box" Problem</vt:lpstr>
      <vt:lpstr>Interpretability vs. Explainability</vt:lpstr>
      <vt:lpstr>Advanced Interpretability Techniques</vt:lpstr>
      <vt:lpstr>Core Evaluation Metrics </vt:lpstr>
      <vt:lpstr>PowerPoint Presentation</vt:lpstr>
      <vt:lpstr>PowerPoint Presentation</vt:lpstr>
      <vt:lpstr>LLMs for Explainable AI: A Comprehensive Survey</vt:lpstr>
      <vt:lpstr>Taxonomy: Three Pillars of LLM‑Enabled XAI</vt:lpstr>
      <vt:lpstr>Human‑Centered Explanations</vt:lpstr>
      <vt:lpstr>Evaluation Framework: Qualitative and Quantitative Rigor</vt:lpstr>
      <vt:lpstr>Applications Across High‑Stakes Domains</vt:lpstr>
      <vt:lpstr>Core Challenges and Limitations</vt:lpstr>
      <vt:lpstr>Future Directions: Where LLM‑enabled XAI Is Heading</vt:lpstr>
      <vt:lpstr>XAI Meets LLMs: A Survey of the Relation between Explainable AI and Large Language Models </vt:lpstr>
      <vt:lpstr>PowerPoint Presentation</vt:lpstr>
      <vt:lpstr>Discussion Papers</vt:lpstr>
      <vt:lpstr>Research Gaps and Future Directions</vt:lpstr>
      <vt:lpstr>ExBERT: A Visual Analysis Tool to Explore Learned Representations in Transformer Models </vt:lpstr>
      <vt:lpstr>Core Contribution</vt:lpstr>
      <vt:lpstr>PowerPoint Presentation</vt:lpstr>
      <vt:lpstr>Representation-Centric View</vt:lpstr>
      <vt:lpstr>Layer-Wise Abstraction Analysis</vt:lpstr>
      <vt:lpstr>PowerPoint Presentation</vt:lpstr>
      <vt:lpstr>PowerPoint Presentation</vt:lpstr>
      <vt:lpstr>PowerPoint Presentation</vt:lpstr>
      <vt:lpstr>Methodological Positioning</vt:lpstr>
      <vt:lpstr>Limitations (Explicit and Implicit)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Olanrewaju, Emmanuel (Student)</dc:creator>
  <cp:lastModifiedBy>Olanrewaju, Emmanuel (Student)</cp:lastModifiedBy>
  <cp:revision>5</cp:revision>
  <dcterms:created xsi:type="dcterms:W3CDTF">2026-04-08T11:06:34Z</dcterms:created>
  <dcterms:modified xsi:type="dcterms:W3CDTF">2026-04-13T14:54:50Z</dcterms:modified>
</cp:coreProperties>
</file>