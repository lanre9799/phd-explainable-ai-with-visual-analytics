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60" r:id="rId6"/>
    <p:sldId id="261" r:id="rId7"/>
    <p:sldId id="262" r:id="rId8"/>
    <p:sldId id="263" r:id="rId9"/>
    <p:sldId id="264" r:id="rId10"/>
    <p:sldId id="267" r:id="rId11"/>
    <p:sldId id="265" r:id="rId12"/>
    <p:sldId id="268" r:id="rId13"/>
    <p:sldId id="269" r:id="rId14"/>
    <p:sldId id="266"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74" d="100"/>
          <a:sy n="74" d="100"/>
        </p:scale>
        <p:origin x="576"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1B698BF8-004E-4D82-A2C5-966C6FB24924}" type="datetimeFigureOut">
              <a:rPr lang="en-GB" smtClean="0"/>
              <a:t>27/11/2025</a:t>
            </a:fld>
            <a:endParaRPr lang="en-GB"/>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GB"/>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59A68E41-4D18-4305-B394-BC78AF0E2CA1}" type="slidenum">
              <a:rPr lang="en-GB" smtClean="0"/>
              <a:t>‹#›</a:t>
            </a:fld>
            <a:endParaRPr lang="en-GB"/>
          </a:p>
        </p:txBody>
      </p:sp>
    </p:spTree>
    <p:extLst>
      <p:ext uri="{BB962C8B-B14F-4D97-AF65-F5344CB8AC3E}">
        <p14:creationId xmlns:p14="http://schemas.microsoft.com/office/powerpoint/2010/main" val="29593145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B698BF8-004E-4D82-A2C5-966C6FB24924}" type="datetimeFigureOut">
              <a:rPr lang="en-GB" smtClean="0"/>
              <a:t>27/11/2025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a:xfrm>
            <a:off x="10558300" y="5956137"/>
            <a:ext cx="1052508" cy="365125"/>
          </a:xfrm>
        </p:spPr>
        <p:txBody>
          <a:bodyPr/>
          <a:lstStyle/>
          <a:p>
            <a:fld id="{59A68E41-4D18-4305-B394-BC78AF0E2CA1}" type="slidenum">
              <a:rPr lang="en-GB" smtClean="0"/>
              <a:t>‹#›</a:t>
            </a:fld>
            <a:endParaRPr lang="en-GB"/>
          </a:p>
        </p:txBody>
      </p:sp>
    </p:spTree>
    <p:extLst>
      <p:ext uri="{BB962C8B-B14F-4D97-AF65-F5344CB8AC3E}">
        <p14:creationId xmlns:p14="http://schemas.microsoft.com/office/powerpoint/2010/main" val="2960170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1B698BF8-004E-4D82-A2C5-966C6FB24924}" type="datetimeFigureOut">
              <a:rPr lang="en-GB" smtClean="0"/>
              <a:t>27/11/2025</a:t>
            </a:fld>
            <a:endParaRPr lang="en-GB"/>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GB"/>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59A68E41-4D18-4305-B394-BC78AF0E2CA1}" type="slidenum">
              <a:rPr lang="en-GB" smtClean="0"/>
              <a:t>‹#›</a:t>
            </a:fld>
            <a:endParaRPr lang="en-GB"/>
          </a:p>
        </p:txBody>
      </p:sp>
    </p:spTree>
    <p:extLst>
      <p:ext uri="{BB962C8B-B14F-4D97-AF65-F5344CB8AC3E}">
        <p14:creationId xmlns:p14="http://schemas.microsoft.com/office/powerpoint/2010/main" val="7114814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B698BF8-004E-4D82-A2C5-966C6FB24924}" type="datetimeFigureOut">
              <a:rPr lang="en-GB" smtClean="0"/>
              <a:t>27/11/2025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9A68E41-4D18-4305-B394-BC78AF0E2CA1}" type="slidenum">
              <a:rPr lang="en-GB" smtClean="0"/>
              <a:t>‹#›</a:t>
            </a:fld>
            <a:endParaRPr lang="en-GB"/>
          </a:p>
        </p:txBody>
      </p:sp>
    </p:spTree>
    <p:extLst>
      <p:ext uri="{BB962C8B-B14F-4D97-AF65-F5344CB8AC3E}">
        <p14:creationId xmlns:p14="http://schemas.microsoft.com/office/powerpoint/2010/main" val="688592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B698BF8-004E-4D82-A2C5-966C6FB24924}" type="datetimeFigureOut">
              <a:rPr lang="en-GB" smtClean="0"/>
              <a:t>27/11/2025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59A68E41-4D18-4305-B394-BC78AF0E2CA1}" type="slidenum">
              <a:rPr lang="en-GB" smtClean="0"/>
              <a:t>‹#›</a:t>
            </a:fld>
            <a:endParaRPr lang="en-GB"/>
          </a:p>
        </p:txBody>
      </p:sp>
    </p:spTree>
    <p:extLst>
      <p:ext uri="{BB962C8B-B14F-4D97-AF65-F5344CB8AC3E}">
        <p14:creationId xmlns:p14="http://schemas.microsoft.com/office/powerpoint/2010/main" val="32215111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B698BF8-004E-4D82-A2C5-966C6FB24924}" type="datetimeFigureOut">
              <a:rPr lang="en-GB" smtClean="0"/>
              <a:t>27/11/2025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59A68E41-4D18-4305-B394-BC78AF0E2CA1}" type="slidenum">
              <a:rPr lang="en-GB" smtClean="0"/>
              <a:t>‹#›</a:t>
            </a:fld>
            <a:endParaRPr lang="en-GB"/>
          </a:p>
        </p:txBody>
      </p:sp>
    </p:spTree>
    <p:extLst>
      <p:ext uri="{BB962C8B-B14F-4D97-AF65-F5344CB8AC3E}">
        <p14:creationId xmlns:p14="http://schemas.microsoft.com/office/powerpoint/2010/main" val="6413991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B698BF8-004E-4D82-A2C5-966C6FB24924}" type="datetimeFigureOut">
              <a:rPr lang="en-GB" smtClean="0"/>
              <a:t>27/11/2025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59A68E41-4D18-4305-B394-BC78AF0E2CA1}" type="slidenum">
              <a:rPr lang="en-GB" smtClean="0"/>
              <a:t>‹#›</a:t>
            </a:fld>
            <a:endParaRPr lang="en-GB"/>
          </a:p>
        </p:txBody>
      </p:sp>
    </p:spTree>
    <p:extLst>
      <p:ext uri="{BB962C8B-B14F-4D97-AF65-F5344CB8AC3E}">
        <p14:creationId xmlns:p14="http://schemas.microsoft.com/office/powerpoint/2010/main" val="25274400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1B698BF8-004E-4D82-A2C5-966C6FB24924}" type="datetimeFigureOut">
              <a:rPr lang="en-GB" smtClean="0"/>
              <a:t>27/11/2025</a:t>
            </a:fld>
            <a:endParaRPr lang="en-GB"/>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GB"/>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59A68E41-4D18-4305-B394-BC78AF0E2CA1}" type="slidenum">
              <a:rPr lang="en-GB" smtClean="0"/>
              <a:t>‹#›</a:t>
            </a:fld>
            <a:endParaRPr lang="en-GB"/>
          </a:p>
        </p:txBody>
      </p:sp>
    </p:spTree>
    <p:extLst>
      <p:ext uri="{BB962C8B-B14F-4D97-AF65-F5344CB8AC3E}">
        <p14:creationId xmlns:p14="http://schemas.microsoft.com/office/powerpoint/2010/main" val="26818153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B698BF8-004E-4D82-A2C5-966C6FB24924}" type="datetimeFigureOut">
              <a:rPr lang="en-GB" smtClean="0"/>
              <a:t>27/11/2025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9A68E41-4D18-4305-B394-BC78AF0E2CA1}" type="slidenum">
              <a:rPr lang="en-GB" smtClean="0"/>
              <a:t>‹#›</a:t>
            </a:fld>
            <a:endParaRPr lang="en-GB"/>
          </a:p>
        </p:txBody>
      </p:sp>
    </p:spTree>
    <p:extLst>
      <p:ext uri="{BB962C8B-B14F-4D97-AF65-F5344CB8AC3E}">
        <p14:creationId xmlns:p14="http://schemas.microsoft.com/office/powerpoint/2010/main" val="22280810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B698BF8-004E-4D82-A2C5-966C6FB24924}" type="datetimeFigureOut">
              <a:rPr lang="en-GB" smtClean="0"/>
              <a:t>27/11/2025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9A68E41-4D18-4305-B394-BC78AF0E2CA1}" type="slidenum">
              <a:rPr lang="en-GB" smtClean="0"/>
              <a:t>‹#›</a:t>
            </a:fld>
            <a:endParaRPr lang="en-GB"/>
          </a:p>
        </p:txBody>
      </p:sp>
    </p:spTree>
    <p:extLst>
      <p:ext uri="{BB962C8B-B14F-4D97-AF65-F5344CB8AC3E}">
        <p14:creationId xmlns:p14="http://schemas.microsoft.com/office/powerpoint/2010/main" val="4079801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1B698BF8-004E-4D82-A2C5-966C6FB24924}" type="datetimeFigureOut">
              <a:rPr lang="en-GB" smtClean="0"/>
              <a:t>27/11/2025</a:t>
            </a:fld>
            <a:endParaRPr lang="en-GB"/>
          </a:p>
        </p:txBody>
      </p:sp>
      <p:sp>
        <p:nvSpPr>
          <p:cNvPr id="5" name="Footer Placeholder 4"/>
          <p:cNvSpPr>
            <a:spLocks noGrp="1"/>
          </p:cNvSpPr>
          <p:nvPr>
            <p:ph type="ftr" sz="quarter" idx="11"/>
          </p:nvPr>
        </p:nvSpPr>
        <p:spPr>
          <a:xfrm>
            <a:off x="774923" y="5951811"/>
            <a:ext cx="7896279" cy="365125"/>
          </a:xfrm>
        </p:spPr>
        <p:txBody>
          <a:bodyPr/>
          <a:lstStyle/>
          <a:p>
            <a:endParaRPr lang="en-GB"/>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59A68E41-4D18-4305-B394-BC78AF0E2CA1}" type="slidenum">
              <a:rPr lang="en-GB" smtClean="0"/>
              <a:t>‹#›</a:t>
            </a:fld>
            <a:endParaRPr lang="en-GB"/>
          </a:p>
        </p:txBody>
      </p:sp>
    </p:spTree>
    <p:extLst>
      <p:ext uri="{BB962C8B-B14F-4D97-AF65-F5344CB8AC3E}">
        <p14:creationId xmlns:p14="http://schemas.microsoft.com/office/powerpoint/2010/main" val="25068127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1B698BF8-004E-4D82-A2C5-966C6FB24924}" type="datetimeFigureOut">
              <a:rPr lang="en-GB" smtClean="0"/>
              <a:t>27/11/2025</a:t>
            </a:fld>
            <a:endParaRPr lang="en-GB"/>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GB"/>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59A68E41-4D18-4305-B394-BC78AF0E2CA1}" type="slidenum">
              <a:rPr lang="en-GB" smtClean="0"/>
              <a:t>‹#›</a:t>
            </a:fld>
            <a:endParaRPr lang="en-GB"/>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705241264"/>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39D37-0BCC-D0F5-C94A-8B53EF29540C}"/>
              </a:ext>
            </a:extLst>
          </p:cNvPr>
          <p:cNvSpPr>
            <a:spLocks noGrp="1"/>
          </p:cNvSpPr>
          <p:nvPr>
            <p:ph type="ctrTitle"/>
          </p:nvPr>
        </p:nvSpPr>
        <p:spPr/>
        <p:txBody>
          <a:bodyPr/>
          <a:lstStyle/>
          <a:p>
            <a:r>
              <a:rPr lang="en-US" dirty="0"/>
              <a:t>PHD Progression 3</a:t>
            </a:r>
            <a:endParaRPr lang="en-GB" dirty="0"/>
          </a:p>
        </p:txBody>
      </p:sp>
      <p:sp>
        <p:nvSpPr>
          <p:cNvPr id="3" name="Subtitle 2">
            <a:extLst>
              <a:ext uri="{FF2B5EF4-FFF2-40B4-BE49-F238E27FC236}">
                <a16:creationId xmlns:a16="http://schemas.microsoft.com/office/drawing/2014/main" id="{DB657ABD-288E-68AA-5495-460CD6F7070E}"/>
              </a:ext>
            </a:extLst>
          </p:cNvPr>
          <p:cNvSpPr>
            <a:spLocks noGrp="1"/>
          </p:cNvSpPr>
          <p:nvPr>
            <p:ph type="subTitle" idx="1"/>
          </p:nvPr>
        </p:nvSpPr>
        <p:spPr/>
        <p:txBody>
          <a:bodyPr/>
          <a:lstStyle/>
          <a:p>
            <a:r>
              <a:rPr lang="en-US" dirty="0"/>
              <a:t>Explainable AI with Visual analytics</a:t>
            </a:r>
            <a:endParaRPr lang="en-GB" dirty="0"/>
          </a:p>
        </p:txBody>
      </p:sp>
    </p:spTree>
    <p:extLst>
      <p:ext uri="{BB962C8B-B14F-4D97-AF65-F5344CB8AC3E}">
        <p14:creationId xmlns:p14="http://schemas.microsoft.com/office/powerpoint/2010/main" val="36823668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F6D7C-967E-6A6A-DC2A-12E07FC54C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6E2A4E-16F9-70C9-00AB-590C84E3B333}"/>
              </a:ext>
            </a:extLst>
          </p:cNvPr>
          <p:cNvSpPr>
            <a:spLocks noGrp="1"/>
          </p:cNvSpPr>
          <p:nvPr>
            <p:ph type="title"/>
          </p:nvPr>
        </p:nvSpPr>
        <p:spPr/>
        <p:txBody>
          <a:bodyPr/>
          <a:lstStyle/>
          <a:p>
            <a:r>
              <a:rPr lang="en-US" b="1" baseline="30000" dirty="0"/>
              <a:t>Explainable AI Recipes: Implement solutions to model</a:t>
            </a:r>
            <a:r>
              <a:rPr lang="en-US" dirty="0"/>
              <a:t> </a:t>
            </a:r>
            <a:endParaRPr lang="en-GB" dirty="0"/>
          </a:p>
        </p:txBody>
      </p:sp>
      <p:sp>
        <p:nvSpPr>
          <p:cNvPr id="3" name="Subtitle 2">
            <a:extLst>
              <a:ext uri="{FF2B5EF4-FFF2-40B4-BE49-F238E27FC236}">
                <a16:creationId xmlns:a16="http://schemas.microsoft.com/office/drawing/2014/main" id="{77373DBA-4C0B-3429-E9E5-376522AF5BF1}"/>
              </a:ext>
            </a:extLst>
          </p:cNvPr>
          <p:cNvSpPr>
            <a:spLocks noGrp="1"/>
          </p:cNvSpPr>
          <p:nvPr>
            <p:ph idx="1"/>
          </p:nvPr>
        </p:nvSpPr>
        <p:spPr/>
        <p:txBody>
          <a:bodyPr/>
          <a:lstStyle/>
          <a:p>
            <a:r>
              <a:rPr lang="en-US" dirty="0"/>
              <a:t>How SHAP works</a:t>
            </a:r>
          </a:p>
          <a:p>
            <a:pPr fontAlgn="base"/>
            <a:r>
              <a:rPr lang="en-US" dirty="0"/>
              <a:t>SHAP requires model retraining on all feature subsets; hence, usually it takes time if the explanation has to be generated for larger datasets.</a:t>
            </a:r>
          </a:p>
          <a:p>
            <a:pPr fontAlgn="base"/>
            <a:r>
              <a:rPr lang="en-US" dirty="0"/>
              <a:t>Identify a feature set from a list of features (selecting a subset of features out of all the features available, for instance 5 out of 15) </a:t>
            </a:r>
          </a:p>
          <a:p>
            <a:pPr fontAlgn="base"/>
            <a:r>
              <a:rPr lang="en-US" dirty="0"/>
              <a:t>For any of the selected subset of features, two models will be created, one with the feature and another without the feature.</a:t>
            </a:r>
          </a:p>
          <a:p>
            <a:endParaRPr lang="en-GB" dirty="0"/>
          </a:p>
        </p:txBody>
      </p:sp>
    </p:spTree>
    <p:extLst>
      <p:ext uri="{BB962C8B-B14F-4D97-AF65-F5344CB8AC3E}">
        <p14:creationId xmlns:p14="http://schemas.microsoft.com/office/powerpoint/2010/main" val="2229606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04ADA-CA63-0DB9-85DB-B5D601AB4E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4FBD64-F258-CBBE-6EDE-16FC29406720}"/>
              </a:ext>
            </a:extLst>
          </p:cNvPr>
          <p:cNvSpPr>
            <a:spLocks noGrp="1"/>
          </p:cNvSpPr>
          <p:nvPr>
            <p:ph type="title"/>
          </p:nvPr>
        </p:nvSpPr>
        <p:spPr/>
        <p:txBody>
          <a:bodyPr/>
          <a:lstStyle/>
          <a:p>
            <a:r>
              <a:rPr lang="en-US" b="1" baseline="30000" dirty="0"/>
              <a:t>Explainable AI Recipes: Implement solutions to model</a:t>
            </a:r>
            <a:r>
              <a:rPr lang="en-US" dirty="0"/>
              <a:t> </a:t>
            </a:r>
            <a:endParaRPr lang="en-GB" dirty="0"/>
          </a:p>
        </p:txBody>
      </p:sp>
      <p:sp>
        <p:nvSpPr>
          <p:cNvPr id="3" name="Subtitle 2">
            <a:extLst>
              <a:ext uri="{FF2B5EF4-FFF2-40B4-BE49-F238E27FC236}">
                <a16:creationId xmlns:a16="http://schemas.microsoft.com/office/drawing/2014/main" id="{97BFB364-FC36-2AD0-9F7B-2C9AC69745F2}"/>
              </a:ext>
            </a:extLst>
          </p:cNvPr>
          <p:cNvSpPr>
            <a:spLocks noGrp="1"/>
          </p:cNvSpPr>
          <p:nvPr>
            <p:ph idx="1"/>
          </p:nvPr>
        </p:nvSpPr>
        <p:spPr/>
        <p:txBody>
          <a:bodyPr/>
          <a:lstStyle/>
          <a:p>
            <a:r>
              <a:rPr lang="en-US" dirty="0"/>
              <a:t>Then the prediction differences will be computed </a:t>
            </a:r>
          </a:p>
          <a:p>
            <a:r>
              <a:rPr lang="en-US" dirty="0"/>
              <a:t>The differences in the prediction are computed for all possible subsets of features. </a:t>
            </a:r>
          </a:p>
          <a:p>
            <a:r>
              <a:rPr lang="en-US" dirty="0"/>
              <a:t>The weighted average value of all possible differences is used to populate the feature of importance. </a:t>
            </a:r>
          </a:p>
          <a:p>
            <a:r>
              <a:rPr lang="en-US" dirty="0"/>
              <a:t>If the weighted average value is 0.000, then we can conclude that the feature is not important and has not joined the model. If the weighted average is greater than 0.000, then we can say it has a role to play in the model's prediction. </a:t>
            </a:r>
            <a:endParaRPr lang="en-GB" dirty="0"/>
          </a:p>
        </p:txBody>
      </p:sp>
    </p:spTree>
    <p:extLst>
      <p:ext uri="{BB962C8B-B14F-4D97-AF65-F5344CB8AC3E}">
        <p14:creationId xmlns:p14="http://schemas.microsoft.com/office/powerpoint/2010/main" val="24512911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F8092-E9BC-8C93-2791-BABB232892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F90E19-5DEC-FC71-EE1F-F38FC038AB19}"/>
              </a:ext>
            </a:extLst>
          </p:cNvPr>
          <p:cNvSpPr>
            <a:spLocks noGrp="1"/>
          </p:cNvSpPr>
          <p:nvPr>
            <p:ph type="title"/>
          </p:nvPr>
        </p:nvSpPr>
        <p:spPr/>
        <p:txBody>
          <a:bodyPr/>
          <a:lstStyle/>
          <a:p>
            <a:r>
              <a:rPr lang="en-US" b="1" baseline="30000" dirty="0"/>
              <a:t>Applying SHAP to a Linear Regression model</a:t>
            </a:r>
            <a:endParaRPr lang="en-GB" dirty="0"/>
          </a:p>
        </p:txBody>
      </p:sp>
      <p:sp>
        <p:nvSpPr>
          <p:cNvPr id="3" name="Subtitle 2">
            <a:extLst>
              <a:ext uri="{FF2B5EF4-FFF2-40B4-BE49-F238E27FC236}">
                <a16:creationId xmlns:a16="http://schemas.microsoft.com/office/drawing/2014/main" id="{20E4E03F-B019-837A-17D3-A194699E7A83}"/>
              </a:ext>
            </a:extLst>
          </p:cNvPr>
          <p:cNvSpPr>
            <a:spLocks noGrp="1"/>
          </p:cNvSpPr>
          <p:nvPr>
            <p:ph idx="1"/>
          </p:nvPr>
        </p:nvSpPr>
        <p:spPr/>
        <p:txBody>
          <a:bodyPr/>
          <a:lstStyle/>
          <a:p>
            <a:r>
              <a:rPr lang="en-US" dirty="0"/>
              <a:t>Using the energydata_complete.csv</a:t>
            </a:r>
            <a:r>
              <a:rPr lang="en-GB" dirty="0"/>
              <a:t> data that is openly available online</a:t>
            </a:r>
          </a:p>
          <a:p>
            <a:pPr fontAlgn="base"/>
            <a:r>
              <a:rPr lang="en-US" dirty="0"/>
              <a:t>SHAP value for each feature </a:t>
            </a:r>
          </a:p>
          <a:p>
            <a:pPr fontAlgn="base"/>
            <a:r>
              <a:rPr lang="en-US" dirty="0"/>
              <a:t>The base value </a:t>
            </a:r>
          </a:p>
          <a:p>
            <a:pPr fontAlgn="base"/>
            <a:r>
              <a:rPr lang="en-US" dirty="0"/>
              <a:t>The original training data </a:t>
            </a:r>
          </a:p>
          <a:p>
            <a:endParaRPr lang="en-US" dirty="0"/>
          </a:p>
        </p:txBody>
      </p:sp>
    </p:spTree>
    <p:extLst>
      <p:ext uri="{BB962C8B-B14F-4D97-AF65-F5344CB8AC3E}">
        <p14:creationId xmlns:p14="http://schemas.microsoft.com/office/powerpoint/2010/main" val="40174472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9D491-66CE-3503-ABDE-8224E52D4F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45F561-FC4F-2A95-1BE9-1C90C021787B}"/>
              </a:ext>
            </a:extLst>
          </p:cNvPr>
          <p:cNvSpPr>
            <a:spLocks noGrp="1"/>
          </p:cNvSpPr>
          <p:nvPr>
            <p:ph type="title"/>
          </p:nvPr>
        </p:nvSpPr>
        <p:spPr/>
        <p:txBody>
          <a:bodyPr/>
          <a:lstStyle/>
          <a:p>
            <a:r>
              <a:rPr lang="en-US" dirty="0"/>
              <a:t>getting the partial dependency plot for SHAP</a:t>
            </a:r>
          </a:p>
        </p:txBody>
      </p:sp>
      <p:sp>
        <p:nvSpPr>
          <p:cNvPr id="3" name="Subtitle 2">
            <a:extLst>
              <a:ext uri="{FF2B5EF4-FFF2-40B4-BE49-F238E27FC236}">
                <a16:creationId xmlns:a16="http://schemas.microsoft.com/office/drawing/2014/main" id="{3924B7BD-F327-F592-9AA3-AA064CBB02A3}"/>
              </a:ext>
            </a:extLst>
          </p:cNvPr>
          <p:cNvSpPr>
            <a:spLocks noGrp="1"/>
          </p:cNvSpPr>
          <p:nvPr>
            <p:ph type="body" sz="half" idx="2"/>
          </p:nvPr>
        </p:nvSpPr>
        <p:spPr>
          <a:xfrm>
            <a:off x="581193" y="5544423"/>
            <a:ext cx="11029617" cy="914400"/>
          </a:xfrm>
        </p:spPr>
        <p:txBody>
          <a:bodyPr>
            <a:normAutofit/>
          </a:bodyPr>
          <a:lstStyle/>
          <a:p>
            <a:r>
              <a:rPr lang="en-US" dirty="0"/>
              <a:t>-Standard partial dependence plot for lights on predicted output for row number 20 from the training dataset</a:t>
            </a:r>
          </a:p>
          <a:p>
            <a:r>
              <a:rPr lang="en-US" dirty="0"/>
              <a:t>-Standard partial dependence plot for lights on predicted output</a:t>
            </a:r>
          </a:p>
          <a:p>
            <a:endParaRPr lang="en-US" dirty="0"/>
          </a:p>
          <a:p>
            <a:endParaRPr lang="en-US" dirty="0"/>
          </a:p>
          <a:p>
            <a:endParaRPr lang="en-US" dirty="0"/>
          </a:p>
        </p:txBody>
      </p:sp>
      <p:pic>
        <p:nvPicPr>
          <p:cNvPr id="14" name="Picture Placeholder 13">
            <a:extLst>
              <a:ext uri="{FF2B5EF4-FFF2-40B4-BE49-F238E27FC236}">
                <a16:creationId xmlns:a16="http://schemas.microsoft.com/office/drawing/2014/main" id="{F30DCC4B-4170-9ED3-B9C0-A526FCA735BE}"/>
              </a:ext>
            </a:extLst>
          </p:cNvPr>
          <p:cNvPicPr>
            <a:picLocks noGrp="1" noChangeAspect="1"/>
          </p:cNvPicPr>
          <p:nvPr>
            <p:ph type="pic" idx="1"/>
          </p:nvPr>
        </p:nvPicPr>
        <p:blipFill rotWithShape="1">
          <a:blip r:embed="rId2">
            <a:extLst>
              <a:ext uri="{28A0092B-C50C-407E-A947-70E740481C1C}">
                <a14:useLocalDpi xmlns:a14="http://schemas.microsoft.com/office/drawing/2010/main" val="0"/>
              </a:ext>
            </a:extLst>
          </a:blip>
          <a:srcRect l="-159083" t="1750" r="1921" b="-1750"/>
          <a:stretch>
            <a:fillRect/>
          </a:stretch>
        </p:blipFill>
        <p:spPr>
          <a:xfrm>
            <a:off x="-1162041" y="637785"/>
            <a:ext cx="12212115" cy="3557252"/>
          </a:xfrm>
        </p:spPr>
      </p:pic>
      <p:pic>
        <p:nvPicPr>
          <p:cNvPr id="16" name="Picture 15">
            <a:extLst>
              <a:ext uri="{FF2B5EF4-FFF2-40B4-BE49-F238E27FC236}">
                <a16:creationId xmlns:a16="http://schemas.microsoft.com/office/drawing/2014/main" id="{316C435A-C4E5-825E-E911-55C3CEBF05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7818" y="637785"/>
            <a:ext cx="5077220" cy="3456933"/>
          </a:xfrm>
          <a:prstGeom prst="rect">
            <a:avLst/>
          </a:prstGeom>
        </p:spPr>
      </p:pic>
    </p:spTree>
    <p:extLst>
      <p:ext uri="{BB962C8B-B14F-4D97-AF65-F5344CB8AC3E}">
        <p14:creationId xmlns:p14="http://schemas.microsoft.com/office/powerpoint/2010/main" val="38241095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79741-2D3C-ADC3-D911-69B6848D38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29DF63-1106-FC20-ABD0-712B93048FBF}"/>
              </a:ext>
            </a:extLst>
          </p:cNvPr>
          <p:cNvSpPr>
            <a:spLocks noGrp="1"/>
          </p:cNvSpPr>
          <p:nvPr>
            <p:ph type="title"/>
          </p:nvPr>
        </p:nvSpPr>
        <p:spPr/>
        <p:txBody>
          <a:bodyPr/>
          <a:lstStyle/>
          <a:p>
            <a:r>
              <a:rPr lang="en-US" dirty="0"/>
              <a:t>getting the partial dependency plot for SHAP</a:t>
            </a:r>
          </a:p>
        </p:txBody>
      </p:sp>
      <p:sp>
        <p:nvSpPr>
          <p:cNvPr id="3" name="Subtitle 2">
            <a:extLst>
              <a:ext uri="{FF2B5EF4-FFF2-40B4-BE49-F238E27FC236}">
                <a16:creationId xmlns:a16="http://schemas.microsoft.com/office/drawing/2014/main" id="{C923D56F-FFC7-0997-6BCC-5C0879EE353D}"/>
              </a:ext>
            </a:extLst>
          </p:cNvPr>
          <p:cNvSpPr>
            <a:spLocks noGrp="1"/>
          </p:cNvSpPr>
          <p:nvPr>
            <p:ph type="body" sz="half" idx="2"/>
          </p:nvPr>
        </p:nvSpPr>
        <p:spPr>
          <a:xfrm>
            <a:off x="581193" y="5544423"/>
            <a:ext cx="11029617" cy="914400"/>
          </a:xfrm>
        </p:spPr>
        <p:txBody>
          <a:bodyPr>
            <a:normAutofit/>
          </a:bodyPr>
          <a:lstStyle/>
          <a:p>
            <a:r>
              <a:rPr lang="en-US" dirty="0"/>
              <a:t>-Standard partial dependence plot for RH_2 on predicted output</a:t>
            </a:r>
          </a:p>
          <a:p>
            <a:endParaRPr lang="en-US" dirty="0"/>
          </a:p>
          <a:p>
            <a:endParaRPr lang="en-US" dirty="0"/>
          </a:p>
          <a:p>
            <a:endParaRPr lang="en-US" dirty="0"/>
          </a:p>
        </p:txBody>
      </p:sp>
      <p:pic>
        <p:nvPicPr>
          <p:cNvPr id="7" name="Picture Placeholder 6">
            <a:extLst>
              <a:ext uri="{FF2B5EF4-FFF2-40B4-BE49-F238E27FC236}">
                <a16:creationId xmlns:a16="http://schemas.microsoft.com/office/drawing/2014/main" id="{D9533FD7-5A52-1653-EAA8-B1D598A0973A}"/>
              </a:ext>
            </a:extLst>
          </p:cNvPr>
          <p:cNvPicPr>
            <a:picLocks noGrp="1" noChangeAspect="1"/>
          </p:cNvPicPr>
          <p:nvPr>
            <p:ph type="pic" idx="1"/>
          </p:nvPr>
        </p:nvPicPr>
        <p:blipFill rotWithShape="1">
          <a:blip r:embed="rId2"/>
          <a:srcRect l="-42696" r="-42696"/>
          <a:stretch>
            <a:fillRect/>
          </a:stretch>
        </p:blipFill>
        <p:spPr>
          <a:prstGeom prst="rect">
            <a:avLst/>
          </a:prstGeom>
        </p:spPr>
      </p:pic>
    </p:spTree>
    <p:extLst>
      <p:ext uri="{BB962C8B-B14F-4D97-AF65-F5344CB8AC3E}">
        <p14:creationId xmlns:p14="http://schemas.microsoft.com/office/powerpoint/2010/main" val="20234333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E5ED8-EF3A-E228-0831-AA8F286950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AAB98B-BD43-E9C0-6966-4D7CE255B5C5}"/>
              </a:ext>
            </a:extLst>
          </p:cNvPr>
          <p:cNvSpPr>
            <a:spLocks noGrp="1"/>
          </p:cNvSpPr>
          <p:nvPr>
            <p:ph type="title"/>
          </p:nvPr>
        </p:nvSpPr>
        <p:spPr/>
        <p:txBody>
          <a:bodyPr/>
          <a:lstStyle/>
          <a:p>
            <a:r>
              <a:rPr lang="en-US" dirty="0"/>
              <a:t>getting the waterfall plot  and feature importance</a:t>
            </a:r>
          </a:p>
        </p:txBody>
      </p:sp>
      <p:sp>
        <p:nvSpPr>
          <p:cNvPr id="3" name="Subtitle 2">
            <a:extLst>
              <a:ext uri="{FF2B5EF4-FFF2-40B4-BE49-F238E27FC236}">
                <a16:creationId xmlns:a16="http://schemas.microsoft.com/office/drawing/2014/main" id="{9527D200-E0D1-C137-66DB-D72DAF9E4DFD}"/>
              </a:ext>
            </a:extLst>
          </p:cNvPr>
          <p:cNvSpPr>
            <a:spLocks noGrp="1"/>
          </p:cNvSpPr>
          <p:nvPr>
            <p:ph type="body" sz="half" idx="2"/>
          </p:nvPr>
        </p:nvSpPr>
        <p:spPr>
          <a:xfrm>
            <a:off x="581193" y="5544423"/>
            <a:ext cx="11029617" cy="914400"/>
          </a:xfrm>
        </p:spPr>
        <p:txBody>
          <a:bodyPr>
            <a:normAutofit/>
          </a:bodyPr>
          <a:lstStyle/>
          <a:p>
            <a:r>
              <a:rPr lang="en-US" dirty="0"/>
              <a:t>-Getting the waterfall plot shows how we get from the SHAP values to the model's prediction at a particular instance of the sample, in this case 20(local </a:t>
            </a:r>
            <a:r>
              <a:rPr lang="en-US" dirty="0" err="1"/>
              <a:t>explainbility</a:t>
            </a:r>
            <a:r>
              <a:rPr lang="en-US" dirty="0"/>
              <a:t>)</a:t>
            </a:r>
          </a:p>
          <a:p>
            <a:r>
              <a:rPr lang="en-US" dirty="0"/>
              <a:t>- Getting the feature importance helps to understand the global effect of each feature</a:t>
            </a:r>
          </a:p>
          <a:p>
            <a:endParaRPr lang="en-US" dirty="0"/>
          </a:p>
          <a:p>
            <a:endParaRPr lang="en-US" dirty="0"/>
          </a:p>
          <a:p>
            <a:endParaRPr lang="en-US" dirty="0"/>
          </a:p>
        </p:txBody>
      </p:sp>
      <p:pic>
        <p:nvPicPr>
          <p:cNvPr id="8" name="Picture Placeholder 7">
            <a:extLst>
              <a:ext uri="{FF2B5EF4-FFF2-40B4-BE49-F238E27FC236}">
                <a16:creationId xmlns:a16="http://schemas.microsoft.com/office/drawing/2014/main" id="{5148E523-37F3-3F42-C050-D3E17934ACB6}"/>
              </a:ext>
            </a:extLst>
          </p:cNvPr>
          <p:cNvPicPr>
            <a:picLocks noGrp="1" noChangeAspect="1"/>
          </p:cNvPicPr>
          <p:nvPr>
            <p:ph type="pic" idx="1"/>
          </p:nvPr>
        </p:nvPicPr>
        <p:blipFill rotWithShape="1">
          <a:blip r:embed="rId2"/>
          <a:srcRect l="-2564" t="-924" r="-118051" b="508"/>
          <a:stretch>
            <a:fillRect/>
          </a:stretch>
        </p:blipFill>
        <p:spPr>
          <a:xfrm>
            <a:off x="447817" y="631065"/>
            <a:ext cx="11478020" cy="4198512"/>
          </a:xfrm>
          <a:prstGeom prst="rect">
            <a:avLst/>
          </a:prstGeom>
        </p:spPr>
      </p:pic>
      <p:pic>
        <p:nvPicPr>
          <p:cNvPr id="10" name="Picture 9">
            <a:extLst>
              <a:ext uri="{FF2B5EF4-FFF2-40B4-BE49-F238E27FC236}">
                <a16:creationId xmlns:a16="http://schemas.microsoft.com/office/drawing/2014/main" id="{6C7E5998-3D4B-CB15-5AD9-BE8F6B71E70A}"/>
              </a:ext>
            </a:extLst>
          </p:cNvPr>
          <p:cNvPicPr>
            <a:picLocks noChangeAspect="1"/>
          </p:cNvPicPr>
          <p:nvPr/>
        </p:nvPicPr>
        <p:blipFill>
          <a:blip r:embed="rId3"/>
          <a:stretch>
            <a:fillRect/>
          </a:stretch>
        </p:blipFill>
        <p:spPr>
          <a:xfrm>
            <a:off x="6598276" y="643340"/>
            <a:ext cx="3533775" cy="4186237"/>
          </a:xfrm>
          <a:prstGeom prst="rect">
            <a:avLst/>
          </a:prstGeom>
        </p:spPr>
      </p:pic>
    </p:spTree>
    <p:extLst>
      <p:ext uri="{BB962C8B-B14F-4D97-AF65-F5344CB8AC3E}">
        <p14:creationId xmlns:p14="http://schemas.microsoft.com/office/powerpoint/2010/main" val="23759301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1AC34-C9DB-E54F-81C1-45685C1ABB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2CB594-2713-6E57-37CF-0EBFCF8321AA}"/>
              </a:ext>
            </a:extLst>
          </p:cNvPr>
          <p:cNvSpPr>
            <a:spLocks noGrp="1"/>
          </p:cNvSpPr>
          <p:nvPr>
            <p:ph type="title"/>
          </p:nvPr>
        </p:nvSpPr>
        <p:spPr/>
        <p:txBody>
          <a:bodyPr/>
          <a:lstStyle/>
          <a:p>
            <a:r>
              <a:rPr lang="en-US" dirty="0"/>
              <a:t>getting the </a:t>
            </a:r>
            <a:r>
              <a:rPr lang="en-US" dirty="0" err="1"/>
              <a:t>Beeswarm</a:t>
            </a:r>
            <a:r>
              <a:rPr lang="en-US" dirty="0"/>
              <a:t> Chart</a:t>
            </a:r>
          </a:p>
        </p:txBody>
      </p:sp>
      <p:sp>
        <p:nvSpPr>
          <p:cNvPr id="3" name="Subtitle 2">
            <a:extLst>
              <a:ext uri="{FF2B5EF4-FFF2-40B4-BE49-F238E27FC236}">
                <a16:creationId xmlns:a16="http://schemas.microsoft.com/office/drawing/2014/main" id="{33BC6C64-6F5E-BCBB-9E34-C13468AB5428}"/>
              </a:ext>
            </a:extLst>
          </p:cNvPr>
          <p:cNvSpPr>
            <a:spLocks noGrp="1"/>
          </p:cNvSpPr>
          <p:nvPr>
            <p:ph type="body" sz="half" idx="2"/>
          </p:nvPr>
        </p:nvSpPr>
        <p:spPr>
          <a:xfrm>
            <a:off x="581193" y="5544423"/>
            <a:ext cx="11029617" cy="914400"/>
          </a:xfrm>
        </p:spPr>
        <p:txBody>
          <a:bodyPr>
            <a:normAutofit/>
          </a:bodyPr>
          <a:lstStyle/>
          <a:p>
            <a:pPr marL="171450" indent="-171450">
              <a:buFontTx/>
              <a:buChar char="-"/>
            </a:pPr>
            <a:r>
              <a:rPr lang="en-US" dirty="0"/>
              <a:t>The </a:t>
            </a:r>
            <a:r>
              <a:rPr lang="en-US" dirty="0" err="1"/>
              <a:t>beeswarm</a:t>
            </a:r>
            <a:r>
              <a:rPr lang="en-US" dirty="0"/>
              <a:t> chart shows the impact of SHAP on model output</a:t>
            </a:r>
          </a:p>
          <a:p>
            <a:pPr marL="171450" indent="-171450">
              <a:buFontTx/>
              <a:buChar char="-"/>
            </a:pPr>
            <a:r>
              <a:rPr lang="en-US" dirty="0"/>
              <a:t>Red represents high feature value and blue represents low feature value</a:t>
            </a:r>
          </a:p>
          <a:p>
            <a:endParaRPr lang="en-US" dirty="0"/>
          </a:p>
          <a:p>
            <a:endParaRPr lang="en-US" dirty="0"/>
          </a:p>
        </p:txBody>
      </p:sp>
      <p:pic>
        <p:nvPicPr>
          <p:cNvPr id="7" name="Picture 6">
            <a:extLst>
              <a:ext uri="{FF2B5EF4-FFF2-40B4-BE49-F238E27FC236}">
                <a16:creationId xmlns:a16="http://schemas.microsoft.com/office/drawing/2014/main" id="{489445B6-512D-3FFE-72A2-59B5966953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7045" y="547614"/>
            <a:ext cx="10097909" cy="4145775"/>
          </a:xfrm>
          <a:prstGeom prst="rect">
            <a:avLst/>
          </a:prstGeom>
        </p:spPr>
      </p:pic>
    </p:spTree>
    <p:extLst>
      <p:ext uri="{BB962C8B-B14F-4D97-AF65-F5344CB8AC3E}">
        <p14:creationId xmlns:p14="http://schemas.microsoft.com/office/powerpoint/2010/main" val="1369151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61B37-09FC-2154-2EA1-7723BC5EA8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202198-4910-DDFF-F273-B63A463C709A}"/>
              </a:ext>
            </a:extLst>
          </p:cNvPr>
          <p:cNvSpPr>
            <a:spLocks noGrp="1"/>
          </p:cNvSpPr>
          <p:nvPr>
            <p:ph type="title"/>
          </p:nvPr>
        </p:nvSpPr>
        <p:spPr/>
        <p:txBody>
          <a:bodyPr/>
          <a:lstStyle/>
          <a:p>
            <a:r>
              <a:rPr lang="en-US" b="1" baseline="30000" dirty="0"/>
              <a:t>Multiplex network-based representation of vision transformers for explainability</a:t>
            </a:r>
            <a:endParaRPr lang="en-GB" dirty="0"/>
          </a:p>
        </p:txBody>
      </p:sp>
      <p:sp>
        <p:nvSpPr>
          <p:cNvPr id="3" name="Subtitle 2">
            <a:extLst>
              <a:ext uri="{FF2B5EF4-FFF2-40B4-BE49-F238E27FC236}">
                <a16:creationId xmlns:a16="http://schemas.microsoft.com/office/drawing/2014/main" id="{548A8F98-84DB-9E3A-E08A-BA0D20BC116D}"/>
              </a:ext>
            </a:extLst>
          </p:cNvPr>
          <p:cNvSpPr>
            <a:spLocks noGrp="1"/>
          </p:cNvSpPr>
          <p:nvPr>
            <p:ph idx="1"/>
          </p:nvPr>
        </p:nvSpPr>
        <p:spPr/>
        <p:txBody>
          <a:bodyPr/>
          <a:lstStyle/>
          <a:p>
            <a:r>
              <a:rPr lang="en-US" dirty="0"/>
              <a:t>MUTEX combines multiplex network-based representations of attention matrices and mask perturbation approaches to provide insight into the inference process of </a:t>
            </a:r>
            <a:r>
              <a:rPr lang="en-US" dirty="0" err="1"/>
              <a:t>ViTs</a:t>
            </a:r>
            <a:r>
              <a:rPr lang="en-US" dirty="0"/>
              <a:t>. By mapping the attention layers of a </a:t>
            </a:r>
            <a:r>
              <a:rPr lang="en-US" dirty="0" err="1"/>
              <a:t>ViT</a:t>
            </a:r>
            <a:r>
              <a:rPr lang="en-US" dirty="0"/>
              <a:t> into a multiplex network, MUTEX can analyze the relationships between different parts of the input image and identify the parts of the image that influence the output inference. </a:t>
            </a:r>
          </a:p>
          <a:p>
            <a:r>
              <a:rPr lang="en-US" dirty="0"/>
              <a:t>Mutex addresses the non-linearity in patch relationship by constructing a multiplex network on top of the attention matrices, capturing patch interactions across different layers and modelling the information flow within the </a:t>
            </a:r>
            <a:r>
              <a:rPr lang="en-US" dirty="0" err="1"/>
              <a:t>ViT</a:t>
            </a:r>
            <a:r>
              <a:rPr lang="en-US" dirty="0"/>
              <a:t>. MUTEX solves the problem of attention-based approaches by creating masks which connect the attention weight to the output of the model. Based on the output inference, MUTEX identifies salient areas and constructs the final heatmap. </a:t>
            </a:r>
          </a:p>
        </p:txBody>
      </p:sp>
    </p:spTree>
    <p:extLst>
      <p:ext uri="{BB962C8B-B14F-4D97-AF65-F5344CB8AC3E}">
        <p14:creationId xmlns:p14="http://schemas.microsoft.com/office/powerpoint/2010/main" val="1767720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15E24-B8C8-3385-067D-6D6CDB364B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5A6AB7-9EEE-09C8-5114-93C87863548F}"/>
              </a:ext>
            </a:extLst>
          </p:cNvPr>
          <p:cNvSpPr>
            <a:spLocks noGrp="1"/>
          </p:cNvSpPr>
          <p:nvPr>
            <p:ph type="title"/>
          </p:nvPr>
        </p:nvSpPr>
        <p:spPr/>
        <p:txBody>
          <a:bodyPr/>
          <a:lstStyle/>
          <a:p>
            <a:r>
              <a:rPr lang="en-US" b="1" baseline="30000" dirty="0"/>
              <a:t>Multiplex network-based representation of vision transformers for explainability</a:t>
            </a:r>
            <a:endParaRPr lang="en-GB" dirty="0"/>
          </a:p>
        </p:txBody>
      </p:sp>
      <p:sp>
        <p:nvSpPr>
          <p:cNvPr id="3" name="Subtitle 2">
            <a:extLst>
              <a:ext uri="{FF2B5EF4-FFF2-40B4-BE49-F238E27FC236}">
                <a16:creationId xmlns:a16="http://schemas.microsoft.com/office/drawing/2014/main" id="{C4F3A859-80D5-0854-446F-AF9FD645C116}"/>
              </a:ext>
            </a:extLst>
          </p:cNvPr>
          <p:cNvSpPr>
            <a:spLocks noGrp="1"/>
          </p:cNvSpPr>
          <p:nvPr>
            <p:ph idx="1"/>
          </p:nvPr>
        </p:nvSpPr>
        <p:spPr/>
        <p:txBody>
          <a:bodyPr/>
          <a:lstStyle/>
          <a:p>
            <a:r>
              <a:rPr lang="en-US" dirty="0"/>
              <a:t>Maps the attention layers of a </a:t>
            </a:r>
            <a:r>
              <a:rPr lang="en-US" dirty="0" err="1"/>
              <a:t>ViT</a:t>
            </a:r>
            <a:r>
              <a:rPr lang="en-US" dirty="0"/>
              <a:t> onto the multiplex network-based representation that highlights the relationships between parts of the input image.</a:t>
            </a:r>
          </a:p>
          <a:p>
            <a:r>
              <a:rPr lang="en-US" dirty="0"/>
              <a:t>it uses the generated multiplex network to identify the most important patches based on centrality measures and aggregation functions and then constructs a set of masks corresponding to specific parts of the image. It then merges the masks using the Models class confidence score and coverage bias formula. The construction of multiplex-based networks is done several times within the heatmap generated.</a:t>
            </a:r>
          </a:p>
        </p:txBody>
      </p:sp>
    </p:spTree>
    <p:extLst>
      <p:ext uri="{BB962C8B-B14F-4D97-AF65-F5344CB8AC3E}">
        <p14:creationId xmlns:p14="http://schemas.microsoft.com/office/powerpoint/2010/main" val="41837065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151C9-D3A3-D191-F893-1C69A1D149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59D2A8-DE3E-505F-D3E2-E2AFF9285799}"/>
              </a:ext>
            </a:extLst>
          </p:cNvPr>
          <p:cNvSpPr>
            <a:spLocks noGrp="1"/>
          </p:cNvSpPr>
          <p:nvPr>
            <p:ph type="title"/>
          </p:nvPr>
        </p:nvSpPr>
        <p:spPr/>
        <p:txBody>
          <a:bodyPr/>
          <a:lstStyle/>
          <a:p>
            <a:r>
              <a:rPr lang="en-US" b="1" dirty="0" err="1"/>
              <a:t>AttentionViz</a:t>
            </a:r>
            <a:r>
              <a:rPr lang="en-US" b="1" dirty="0"/>
              <a:t>: A Global View of Transformer Attention</a:t>
            </a:r>
            <a:endParaRPr lang="en-GB" dirty="0"/>
          </a:p>
        </p:txBody>
      </p:sp>
      <p:sp>
        <p:nvSpPr>
          <p:cNvPr id="3" name="Subtitle 2">
            <a:extLst>
              <a:ext uri="{FF2B5EF4-FFF2-40B4-BE49-F238E27FC236}">
                <a16:creationId xmlns:a16="http://schemas.microsoft.com/office/drawing/2014/main" id="{CB952452-43FC-E8CB-2991-F4F7563B490E}"/>
              </a:ext>
            </a:extLst>
          </p:cNvPr>
          <p:cNvSpPr>
            <a:spLocks noGrp="1"/>
          </p:cNvSpPr>
          <p:nvPr>
            <p:ph idx="1"/>
          </p:nvPr>
        </p:nvSpPr>
        <p:spPr/>
        <p:txBody>
          <a:bodyPr/>
          <a:lstStyle/>
          <a:p>
            <a:r>
              <a:rPr lang="en-US" dirty="0"/>
              <a:t>Although self-attention has been studied, previous techniques generally visualize information related to just a single input sequence at a time.</a:t>
            </a:r>
          </a:p>
          <a:p>
            <a:r>
              <a:rPr lang="en-US" dirty="0"/>
              <a:t>The primary technique of this research is visualizing a joint embedding of the query and key vectors used by transformers, which then creates a visual signature for an individual attention head.</a:t>
            </a:r>
          </a:p>
          <a:p>
            <a:r>
              <a:rPr lang="en-US" dirty="0"/>
              <a:t>Gaps this research fills, visualizing query and key embeddings in transformer models; artefacts of self-attention queries and keys are underexplored. Secondly, other research compares multiple embeddings; they do not compare embeddings at different transformer heads and layers, Global matrix was designed to do this.</a:t>
            </a:r>
          </a:p>
        </p:txBody>
      </p:sp>
    </p:spTree>
    <p:extLst>
      <p:ext uri="{BB962C8B-B14F-4D97-AF65-F5344CB8AC3E}">
        <p14:creationId xmlns:p14="http://schemas.microsoft.com/office/powerpoint/2010/main" val="35262255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EA9F0-1102-CFAE-B4B1-6C9B9DCBA6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E35CE4-D3AD-08EF-A9D8-A01E0ACB4E51}"/>
              </a:ext>
            </a:extLst>
          </p:cNvPr>
          <p:cNvSpPr>
            <a:spLocks noGrp="1"/>
          </p:cNvSpPr>
          <p:nvPr>
            <p:ph type="title"/>
          </p:nvPr>
        </p:nvSpPr>
        <p:spPr/>
        <p:txBody>
          <a:bodyPr/>
          <a:lstStyle/>
          <a:p>
            <a:r>
              <a:rPr lang="en-US" b="1" dirty="0" err="1"/>
              <a:t>AttentionViz</a:t>
            </a:r>
            <a:r>
              <a:rPr lang="en-US" b="1" dirty="0"/>
              <a:t>: A Global View of Transformer Attention</a:t>
            </a:r>
            <a:endParaRPr lang="en-GB" dirty="0"/>
          </a:p>
        </p:txBody>
      </p:sp>
      <p:sp>
        <p:nvSpPr>
          <p:cNvPr id="5" name="Rectangle 2">
            <a:extLst>
              <a:ext uri="{FF2B5EF4-FFF2-40B4-BE49-F238E27FC236}">
                <a16:creationId xmlns:a16="http://schemas.microsoft.com/office/drawing/2014/main" id="{87632B21-E291-9060-9540-C582832EBE7C}"/>
              </a:ext>
            </a:extLst>
          </p:cNvPr>
          <p:cNvSpPr>
            <a:spLocks noGrp="1" noChangeArrowheads="1"/>
          </p:cNvSpPr>
          <p:nvPr>
            <p:ph idx="1"/>
          </p:nvPr>
        </p:nvSpPr>
        <p:spPr bwMode="auto">
          <a:xfrm>
            <a:off x="824248" y="3003986"/>
            <a:ext cx="1078656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just" defTabSz="914400">
              <a:buClrTx/>
              <a:buSzTx/>
            </a:pPr>
            <a:r>
              <a:rPr lang="en-US" altLang="en-US" dirty="0">
                <a:solidFill>
                  <a:schemeClr val="tx2"/>
                </a:solidFill>
                <a:latin typeface="+mn-lt"/>
              </a:rPr>
              <a:t>Each attention transformer head turns input embeddings into query vectors and key vectors by applying matrices WQ and WK respectively. These matrices then project the vector embedding to a lower dimensional space, getting only specific information from the higher-dimensional vector embedding .</a:t>
            </a:r>
          </a:p>
          <a:p>
            <a:pPr algn="just" defTabSz="914400">
              <a:buClrTx/>
              <a:buSzTx/>
            </a:pPr>
            <a:r>
              <a:rPr lang="en-US" dirty="0"/>
              <a:t>A key observation is that the relative positions of query and key vectors can offer insight of how attention will be distributed, since attention coefficients depend on the dot product between queries and keys.</a:t>
            </a:r>
          </a:p>
          <a:p>
            <a:pPr algn="just" defTabSz="914400">
              <a:buClrTx/>
              <a:buSzTx/>
            </a:pPr>
            <a:r>
              <a:rPr lang="en-US" dirty="0"/>
              <a:t>Closer distance directly shows higher attention coefficients</a:t>
            </a:r>
            <a:endParaRPr lang="en-US" altLang="en-US" dirty="0">
              <a:solidFill>
                <a:schemeClr val="tx2"/>
              </a:solidFill>
              <a:latin typeface="+mn-lt"/>
            </a:endParaRPr>
          </a:p>
        </p:txBody>
      </p:sp>
    </p:spTree>
    <p:extLst>
      <p:ext uri="{BB962C8B-B14F-4D97-AF65-F5344CB8AC3E}">
        <p14:creationId xmlns:p14="http://schemas.microsoft.com/office/powerpoint/2010/main" val="34908554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5B98B-1561-6EB6-4569-D66FECB758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F70A96-8611-38C3-1FA1-5C8C0ADA9982}"/>
              </a:ext>
            </a:extLst>
          </p:cNvPr>
          <p:cNvSpPr>
            <a:spLocks noGrp="1"/>
          </p:cNvSpPr>
          <p:nvPr>
            <p:ph type="title"/>
          </p:nvPr>
        </p:nvSpPr>
        <p:spPr/>
        <p:txBody>
          <a:bodyPr/>
          <a:lstStyle/>
          <a:p>
            <a:r>
              <a:rPr lang="en-US" b="1" dirty="0" err="1"/>
              <a:t>AttentionViz</a:t>
            </a:r>
            <a:r>
              <a:rPr lang="en-US" b="1" dirty="0"/>
              <a:t>: A Global View of Transformer Attention</a:t>
            </a:r>
            <a:endParaRPr lang="en-GB" dirty="0"/>
          </a:p>
        </p:txBody>
      </p:sp>
      <p:sp>
        <p:nvSpPr>
          <p:cNvPr id="5" name="Rectangle 2">
            <a:extLst>
              <a:ext uri="{FF2B5EF4-FFF2-40B4-BE49-F238E27FC236}">
                <a16:creationId xmlns:a16="http://schemas.microsoft.com/office/drawing/2014/main" id="{91876D6C-311C-9B91-C955-120BDE346AC4}"/>
              </a:ext>
            </a:extLst>
          </p:cNvPr>
          <p:cNvSpPr>
            <a:spLocks noGrp="1" noChangeArrowheads="1"/>
          </p:cNvSpPr>
          <p:nvPr>
            <p:ph idx="1"/>
          </p:nvPr>
        </p:nvSpPr>
        <p:spPr bwMode="auto">
          <a:xfrm>
            <a:off x="824248" y="2865488"/>
            <a:ext cx="1078656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just" defTabSz="914400">
              <a:buClrTx/>
              <a:buSzTx/>
            </a:pPr>
            <a:r>
              <a:rPr lang="en-US" dirty="0"/>
              <a:t>  AN example attention head in language transformer, we obtain the key and query vector representation of each token in each sentence</a:t>
            </a:r>
          </a:p>
          <a:p>
            <a:pPr algn="just" defTabSz="914400">
              <a:buClrTx/>
              <a:buSzTx/>
            </a:pPr>
            <a:r>
              <a:rPr lang="en-US" dirty="0"/>
              <a:t>then use dimensionality reduction techniques such as t-SNE, UMAP or PCA to project the high-dimensional vector into low-dimensional space. The output of the reduction is in 2D/3D scatterplot format; each point represents a single query or key token.</a:t>
            </a:r>
          </a:p>
          <a:p>
            <a:pPr algn="just" defTabSz="914400">
              <a:buClrTx/>
              <a:buSzTx/>
            </a:pPr>
            <a:r>
              <a:rPr lang="en-US" dirty="0"/>
              <a:t>This allows users to explore interactions between queries and keys; these often can visualize the underlying self-attention patterns.</a:t>
            </a:r>
          </a:p>
          <a:p>
            <a:pPr algn="just" defTabSz="914400">
              <a:buClrTx/>
              <a:buSzTx/>
            </a:pPr>
            <a:r>
              <a:rPr lang="en-US" dirty="0"/>
              <a:t>Matrix view, </a:t>
            </a:r>
            <a:r>
              <a:rPr lang="en-GB" dirty="0"/>
              <a:t>Single view, </a:t>
            </a:r>
            <a:r>
              <a:rPr lang="en-US" dirty="0"/>
              <a:t>Sentence/image view, </a:t>
            </a:r>
            <a:endParaRPr lang="en-US" altLang="en-US" dirty="0">
              <a:solidFill>
                <a:schemeClr val="tx2"/>
              </a:solidFill>
              <a:latin typeface="+mn-lt"/>
            </a:endParaRPr>
          </a:p>
        </p:txBody>
      </p:sp>
    </p:spTree>
    <p:extLst>
      <p:ext uri="{BB962C8B-B14F-4D97-AF65-F5344CB8AC3E}">
        <p14:creationId xmlns:p14="http://schemas.microsoft.com/office/powerpoint/2010/main" val="3204709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F3A76-0FFC-2E80-B1EB-43BAEB004E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EB3B6B-657F-BE56-5D36-64EAB55FCEDC}"/>
              </a:ext>
            </a:extLst>
          </p:cNvPr>
          <p:cNvSpPr>
            <a:spLocks noGrp="1"/>
          </p:cNvSpPr>
          <p:nvPr>
            <p:ph type="title"/>
          </p:nvPr>
        </p:nvSpPr>
        <p:spPr/>
        <p:txBody>
          <a:bodyPr/>
          <a:lstStyle/>
          <a:p>
            <a:r>
              <a:rPr lang="en-US" b="1" dirty="0" err="1"/>
              <a:t>VisBERT</a:t>
            </a:r>
            <a:r>
              <a:rPr lang="en-US" b="1" dirty="0"/>
              <a:t>: Hidden-State Visualizations for transformers</a:t>
            </a:r>
            <a:endParaRPr lang="en-GB" dirty="0"/>
          </a:p>
        </p:txBody>
      </p:sp>
      <p:sp>
        <p:nvSpPr>
          <p:cNvPr id="3" name="Subtitle 2">
            <a:extLst>
              <a:ext uri="{FF2B5EF4-FFF2-40B4-BE49-F238E27FC236}">
                <a16:creationId xmlns:a16="http://schemas.microsoft.com/office/drawing/2014/main" id="{BA31A8EE-5508-AC70-4C76-3AEDEA0B2B96}"/>
              </a:ext>
            </a:extLst>
          </p:cNvPr>
          <p:cNvSpPr>
            <a:spLocks noGrp="1"/>
          </p:cNvSpPr>
          <p:nvPr>
            <p:ph idx="1"/>
          </p:nvPr>
        </p:nvSpPr>
        <p:spPr/>
        <p:txBody>
          <a:bodyPr/>
          <a:lstStyle/>
          <a:p>
            <a:r>
              <a:rPr lang="en-US" dirty="0"/>
              <a:t>This experiment was performed on publicly available QA datasets </a:t>
            </a:r>
            <a:r>
              <a:rPr lang="en-US" dirty="0" err="1"/>
              <a:t>SQuAD</a:t>
            </a:r>
            <a:r>
              <a:rPr lang="en-US" dirty="0"/>
              <a:t>, HotpotQA and </a:t>
            </a:r>
            <a:r>
              <a:rPr lang="en-US" dirty="0" err="1"/>
              <a:t>bAbI</a:t>
            </a:r>
            <a:r>
              <a:rPr lang="en-US" dirty="0"/>
              <a:t> QA to show the tools applicability on three diverse QA tasks including multi-hop reasoning cases.</a:t>
            </a:r>
          </a:p>
          <a:p>
            <a:r>
              <a:rPr lang="en-US" dirty="0"/>
              <a:t>Dimensionality reduction maps the high dimensional data into low dimensional space form a 2Dimensional representation of data.</a:t>
            </a:r>
          </a:p>
          <a:p>
            <a:r>
              <a:rPr lang="en-US" dirty="0"/>
              <a:t>The most suitable method for dimensionality reduction in this instance is PCA,</a:t>
            </a:r>
          </a:p>
          <a:p>
            <a:r>
              <a:rPr lang="en-US" dirty="0"/>
              <a:t> it includes a selection of samples from the test sets of each dataset; the user is also able to enter its own examples.</a:t>
            </a:r>
          </a:p>
          <a:p>
            <a:endParaRPr lang="en-US" dirty="0"/>
          </a:p>
        </p:txBody>
      </p:sp>
    </p:spTree>
    <p:extLst>
      <p:ext uri="{BB962C8B-B14F-4D97-AF65-F5344CB8AC3E}">
        <p14:creationId xmlns:p14="http://schemas.microsoft.com/office/powerpoint/2010/main" val="1676294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ACA50-A6CA-0A4F-F9E5-8C58431486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6917F2-833B-CC54-7986-0C320FFE8C4E}"/>
              </a:ext>
            </a:extLst>
          </p:cNvPr>
          <p:cNvSpPr>
            <a:spLocks noGrp="1"/>
          </p:cNvSpPr>
          <p:nvPr>
            <p:ph type="title"/>
          </p:nvPr>
        </p:nvSpPr>
        <p:spPr/>
        <p:txBody>
          <a:bodyPr/>
          <a:lstStyle/>
          <a:p>
            <a:r>
              <a:rPr lang="en-US" b="1" dirty="0" err="1"/>
              <a:t>VisBERT</a:t>
            </a:r>
            <a:r>
              <a:rPr lang="en-US" b="1" dirty="0"/>
              <a:t>: Hidden-State Visualizations for transformers</a:t>
            </a:r>
            <a:endParaRPr lang="en-GB" dirty="0"/>
          </a:p>
        </p:txBody>
      </p:sp>
      <p:sp>
        <p:nvSpPr>
          <p:cNvPr id="3" name="Subtitle 2">
            <a:extLst>
              <a:ext uri="{FF2B5EF4-FFF2-40B4-BE49-F238E27FC236}">
                <a16:creationId xmlns:a16="http://schemas.microsoft.com/office/drawing/2014/main" id="{8586D976-8C12-BBD2-2920-50AA2DA541A3}"/>
              </a:ext>
            </a:extLst>
          </p:cNvPr>
          <p:cNvSpPr>
            <a:spLocks noGrp="1"/>
          </p:cNvSpPr>
          <p:nvPr>
            <p:ph idx="1"/>
          </p:nvPr>
        </p:nvSpPr>
        <p:spPr/>
        <p:txBody>
          <a:bodyPr/>
          <a:lstStyle/>
          <a:p>
            <a:r>
              <a:rPr lang="en-US" dirty="0"/>
              <a:t>the user will get their prediction, 2D graphical representation of token for a given layer because of dimensionality reduction. </a:t>
            </a:r>
          </a:p>
          <a:p>
            <a:r>
              <a:rPr lang="en-US" dirty="0"/>
              <a:t>The tokens are color coded into Question, supporting fact, context and predicted answer. This way, the distance between tokens can easily be analyzed. </a:t>
            </a:r>
          </a:p>
          <a:p>
            <a:endParaRPr lang="en-US" dirty="0"/>
          </a:p>
        </p:txBody>
      </p:sp>
    </p:spTree>
    <p:extLst>
      <p:ext uri="{BB962C8B-B14F-4D97-AF65-F5344CB8AC3E}">
        <p14:creationId xmlns:p14="http://schemas.microsoft.com/office/powerpoint/2010/main" val="33615072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F4945-2037-9CC0-5C87-FA3AEDF623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998F6B-A3C9-2371-BF48-7283A0DF005E}"/>
              </a:ext>
            </a:extLst>
          </p:cNvPr>
          <p:cNvSpPr>
            <a:spLocks noGrp="1"/>
          </p:cNvSpPr>
          <p:nvPr>
            <p:ph type="title"/>
          </p:nvPr>
        </p:nvSpPr>
        <p:spPr/>
        <p:txBody>
          <a:bodyPr/>
          <a:lstStyle/>
          <a:p>
            <a:r>
              <a:rPr lang="en-US" b="1" dirty="0" err="1"/>
              <a:t>VisBERT</a:t>
            </a:r>
            <a:r>
              <a:rPr lang="en-US" b="1" dirty="0"/>
              <a:t>: Hidden-State Visualizations for transformers</a:t>
            </a:r>
            <a:endParaRPr lang="en-GB" dirty="0"/>
          </a:p>
        </p:txBody>
      </p:sp>
      <p:sp>
        <p:nvSpPr>
          <p:cNvPr id="3" name="Subtitle 2">
            <a:extLst>
              <a:ext uri="{FF2B5EF4-FFF2-40B4-BE49-F238E27FC236}">
                <a16:creationId xmlns:a16="http://schemas.microsoft.com/office/drawing/2014/main" id="{17F33A63-C168-6B96-35ED-A1F449288AC8}"/>
              </a:ext>
            </a:extLst>
          </p:cNvPr>
          <p:cNvSpPr>
            <a:spLocks noGrp="1"/>
          </p:cNvSpPr>
          <p:nvPr>
            <p:ph idx="1"/>
          </p:nvPr>
        </p:nvSpPr>
        <p:spPr/>
        <p:txBody>
          <a:bodyPr/>
          <a:lstStyle/>
          <a:p>
            <a:pPr fontAlgn="base"/>
            <a:r>
              <a:rPr lang="en-US" b="1" dirty="0"/>
              <a:t>Topical clustering</a:t>
            </a:r>
            <a:r>
              <a:rPr lang="en-US" dirty="0"/>
              <a:t>: In the first layer tokens are clustered based on topical similarities, comparable to a static word embedding like Word2Vec </a:t>
            </a:r>
          </a:p>
          <a:p>
            <a:pPr fontAlgn="base"/>
            <a:r>
              <a:rPr lang="en-US" b="1" dirty="0"/>
              <a:t>Connecting Entities with Mentions and Attributes: </a:t>
            </a:r>
            <a:r>
              <a:rPr lang="en-US" dirty="0"/>
              <a:t>Middle layers tend to cluster tokens based on their specific context. For instance, multi-token entities clustered together because their tokens share one semantic meaning </a:t>
            </a:r>
          </a:p>
          <a:p>
            <a:pPr fontAlgn="base"/>
            <a:r>
              <a:rPr lang="en-US" b="1" dirty="0"/>
              <a:t>Matching Questions with supporting Facts:</a:t>
            </a:r>
            <a:r>
              <a:rPr lang="en-US" dirty="0"/>
              <a:t> In the third quarter of BERT layers, we see question tokens, form clusters with supporting fact tokens </a:t>
            </a:r>
          </a:p>
          <a:p>
            <a:pPr fontAlgn="base"/>
            <a:r>
              <a:rPr lang="en-US" b="1" dirty="0"/>
              <a:t>Answer Extraction: </a:t>
            </a:r>
            <a:r>
              <a:rPr lang="en-US" dirty="0"/>
              <a:t>In the last layer, the answer tokens are separated from all other tokens. </a:t>
            </a:r>
          </a:p>
          <a:p>
            <a:pPr marL="0" indent="0" fontAlgn="base">
              <a:buNone/>
            </a:pPr>
            <a:endParaRPr lang="en-US" dirty="0"/>
          </a:p>
        </p:txBody>
      </p:sp>
    </p:spTree>
    <p:extLst>
      <p:ext uri="{BB962C8B-B14F-4D97-AF65-F5344CB8AC3E}">
        <p14:creationId xmlns:p14="http://schemas.microsoft.com/office/powerpoint/2010/main" val="148333923"/>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docProps/app.xml><?xml version="1.0" encoding="utf-8"?>
<Properties xmlns="http://schemas.openxmlformats.org/officeDocument/2006/extended-properties" xmlns:vt="http://schemas.openxmlformats.org/officeDocument/2006/docPropsVTypes">
  <Template>Dividend</Template>
  <TotalTime>148</TotalTime>
  <Words>1163</Words>
  <Application>Microsoft Office PowerPoint</Application>
  <PresentationFormat>Widescreen</PresentationFormat>
  <Paragraphs>63</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Gill Sans MT</vt:lpstr>
      <vt:lpstr>Wingdings 2</vt:lpstr>
      <vt:lpstr>Dividend</vt:lpstr>
      <vt:lpstr>PHD Progression 3</vt:lpstr>
      <vt:lpstr>Explainable AI Recipes: Implement solutions to model </vt:lpstr>
      <vt:lpstr>Explainable AI Recipes: Implement solutions to model </vt:lpstr>
      <vt:lpstr>Applying SHAP to a Linear Regression model</vt:lpstr>
      <vt:lpstr>getting the partial dependency plot for SHAP</vt:lpstr>
      <vt:lpstr>getting the partial dependency plot for SHAP</vt:lpstr>
      <vt:lpstr>getting the waterfall plot  and feature importance</vt:lpstr>
      <vt:lpstr>getting the Beeswarm Chart</vt:lpstr>
      <vt:lpstr>Multiplex network-based representation of vision transformers for explainability</vt:lpstr>
      <vt:lpstr>Multiplex network-based representation of vision transformers for explainability</vt:lpstr>
      <vt:lpstr>AttentionViz: A Global View of Transformer Attention</vt:lpstr>
      <vt:lpstr>AttentionViz: A Global View of Transformer Attention</vt:lpstr>
      <vt:lpstr>AttentionViz: A Global View of Transformer Attention</vt:lpstr>
      <vt:lpstr>VisBERT: Hidden-State Visualizations for transformers</vt:lpstr>
      <vt:lpstr>VisBERT: Hidden-State Visualizations for transformers</vt:lpstr>
      <vt:lpstr>VisBERT: Hidden-State Visualizations for transformers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Emmanuel Olanrewaju</dc:creator>
  <cp:lastModifiedBy>Emmanuel Olanrewaju</cp:lastModifiedBy>
  <cp:revision>5</cp:revision>
  <dcterms:created xsi:type="dcterms:W3CDTF">2025-11-27T19:10:33Z</dcterms:created>
  <dcterms:modified xsi:type="dcterms:W3CDTF">2025-11-27T21:38:38Z</dcterms:modified>
</cp:coreProperties>
</file>