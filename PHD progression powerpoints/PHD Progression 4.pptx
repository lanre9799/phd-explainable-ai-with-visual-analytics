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399CCB-49DD-4D56-0953-45471B02472F}" v="760" dt="2025-12-04T23:44:24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24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3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293" y="1709738"/>
            <a:ext cx="10617157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0293" y="4589463"/>
            <a:ext cx="106171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33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64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3903"/>
            <a:ext cx="522033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737063"/>
            <a:ext cx="5220335" cy="3452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390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37063"/>
            <a:ext cx="5183188" cy="3452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26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61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121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2226364"/>
            <a:ext cx="3994785" cy="364262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072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020" y="457200"/>
            <a:ext cx="405400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8020" y="2250218"/>
            <a:ext cx="4054006" cy="361876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36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74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7240" y="365125"/>
            <a:ext cx="779526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32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D62DB5A-5AA0-4E7E-94AB-AD20F02CA8DF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086ECE-EF43-4B07-9DD0-59679471A067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2" y="365125"/>
            <a:ext cx="106375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2" y="1825625"/>
            <a:ext cx="106375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2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3657AA7F-BE72-4467-897E-7A302F46504F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7156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0040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37" r:id="rId7"/>
    <p:sldLayoutId id="2147483738" r:id="rId8"/>
    <p:sldLayoutId id="2147483745" r:id="rId9"/>
    <p:sldLayoutId id="2147483736" r:id="rId10"/>
    <p:sldLayoutId id="214748374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518D20D-5F05-49C3-8900-68783F8AC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50CA5B-2FF8-43D9-B7D8-3BDE1BFD3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3342290"/>
            <a:ext cx="10637520" cy="1530419"/>
          </a:xfrm>
        </p:spPr>
        <p:txBody>
          <a:bodyPr anchor="b">
            <a:normAutofit/>
          </a:bodyPr>
          <a:lstStyle/>
          <a:p>
            <a:pPr algn="l"/>
            <a:r>
              <a:rPr lang="en-US" dirty="0"/>
              <a:t>PHD Progression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7240" y="4958625"/>
            <a:ext cx="10637520" cy="1207083"/>
          </a:xfrm>
        </p:spPr>
        <p:txBody>
          <a:bodyPr anchor="t">
            <a:normAutofit/>
          </a:bodyPr>
          <a:lstStyle/>
          <a:p>
            <a:pPr algn="l"/>
            <a:r>
              <a:rPr lang="en-US" dirty="0">
                <a:ea typeface="Calibri"/>
                <a:cs typeface="Calibri"/>
              </a:rPr>
              <a:t>Explainable AI with visual analytics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2975CA-C341-4109-A20B-D3DA06411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3046838" cy="304495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29FF48D7-CD1B-40AB-9991-B793DA50B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" y="0"/>
            <a:ext cx="3043354" cy="3044952"/>
          </a:xfrm>
          <a:prstGeom prst="rect">
            <a:avLst/>
          </a:prstGeom>
        </p:spPr>
      </p:pic>
      <p:pic>
        <p:nvPicPr>
          <p:cNvPr id="4" name="Picture 3" descr="Colorful liquid art">
            <a:extLst>
              <a:ext uri="{FF2B5EF4-FFF2-40B4-BE49-F238E27FC236}">
                <a16:creationId xmlns:a16="http://schemas.microsoft.com/office/drawing/2014/main" id="{B4CB468E-5023-8AD3-78E6-556795772A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55" r="14713" b="-18"/>
          <a:stretch>
            <a:fillRect/>
          </a:stretch>
        </p:blipFill>
        <p:spPr>
          <a:xfrm>
            <a:off x="3053372" y="10"/>
            <a:ext cx="3040552" cy="304494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73D4A1E-5CEC-41DD-A2B6-9FB7B7484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791" y="0"/>
            <a:ext cx="3045239" cy="30449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ED6147D-8F81-4ACA-A1BB-0868D0017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8078" y="0"/>
            <a:ext cx="3044952" cy="304495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700F014-0E45-4385-977E-14A83E76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563" y="0"/>
            <a:ext cx="3048437" cy="3044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E97C87AE-B946-43B1-98EE-2E8873AEC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7048" y="0"/>
            <a:ext cx="3044952" cy="304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67A280-022B-C7B5-E527-3E7E06A81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C91F-F476-1A1A-AF5C-D54040F06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 err="1"/>
              <a:t>AttentionVIZ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DA26BB-FB1E-7F4D-192B-8DE61D951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3200" err="1">
                <a:ea typeface="Calibri"/>
                <a:cs typeface="Calibri"/>
              </a:rPr>
              <a:t>AttentionVIZ</a:t>
            </a:r>
            <a:r>
              <a:rPr lang="en-US" sz="3200" dirty="0">
                <a:ea typeface="Calibri"/>
                <a:cs typeface="Calibri"/>
              </a:rPr>
              <a:t> GitHub repo found and forked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The documents have been downloaded, and I will now be playing around with it</a:t>
            </a:r>
            <a:endParaRPr lang="en-US"/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Some important component for this to work are missing the WEB document</a:t>
            </a:r>
            <a:endParaRPr lang="en-US" dirty="0"/>
          </a:p>
        </p:txBody>
      </p:sp>
      <p:pic>
        <p:nvPicPr>
          <p:cNvPr id="4" name="Picture 3" descr="Colorful liquid art">
            <a:extLst>
              <a:ext uri="{FF2B5EF4-FFF2-40B4-BE49-F238E27FC236}">
                <a16:creationId xmlns:a16="http://schemas.microsoft.com/office/drawing/2014/main" id="{F0EBC7FD-08CE-29C7-6623-C4C779A8F7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55" r="14713" b="-18"/>
          <a:stretch>
            <a:fillRect/>
          </a:stretch>
        </p:blipFill>
        <p:spPr>
          <a:xfrm>
            <a:off x="10845900" y="10"/>
            <a:ext cx="1344024" cy="134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94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631D8D-3660-0CC3-E621-4D818B592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CDFA9-6E68-52E0-259B-5FA7B3AF3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2" y="365125"/>
            <a:ext cx="8955368" cy="1124280"/>
          </a:xfrm>
        </p:spPr>
        <p:txBody>
          <a:bodyPr anchor="b"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  <a:latin typeface="Gill Sans Nova"/>
                <a:ea typeface="Calibri"/>
                <a:cs typeface="Calibri"/>
              </a:rPr>
              <a:t>How Transformers Learn Causal Structure with Gradient descent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5E6AD8-ECDE-9C32-97CE-4AE3E8AE2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3200" dirty="0">
                <a:ea typeface="Calibri"/>
                <a:cs typeface="Calibri"/>
              </a:rPr>
              <a:t>Self-attention allows transformers to encode causal structures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Prior work shows that in context learning relies on the existence of specific circuits called induction heads</a:t>
            </a: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</p:txBody>
      </p:sp>
      <p:pic>
        <p:nvPicPr>
          <p:cNvPr id="4" name="Picture 3" descr="Colorful liquid art">
            <a:extLst>
              <a:ext uri="{FF2B5EF4-FFF2-40B4-BE49-F238E27FC236}">
                <a16:creationId xmlns:a16="http://schemas.microsoft.com/office/drawing/2014/main" id="{E4C01BA9-F0AA-3957-3208-BE3FC528B6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55" r="14713" b="-18"/>
          <a:stretch>
            <a:fillRect/>
          </a:stretch>
        </p:blipFill>
        <p:spPr>
          <a:xfrm>
            <a:off x="10845900" y="10"/>
            <a:ext cx="1344024" cy="134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636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7404B9-F52E-1DE9-FF1B-C66697BEA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1549-5BDE-B651-55A1-2BBF57764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2" y="365125"/>
            <a:ext cx="8955368" cy="1124280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Gill Sans Nova"/>
                <a:ea typeface="Calibri"/>
                <a:cs typeface="Calibri"/>
              </a:rPr>
              <a:t>Experiment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49697F-BD9B-4D4C-781D-4400DB988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This research focuses on two-layer transformer architecture(causal self-attention layer)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The experimental model is similar decoder-based attention-only transformers</a:t>
            </a:r>
            <a:endParaRPr lang="en-US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They feed the model random seq with causal structure</a:t>
            </a: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</p:txBody>
      </p:sp>
      <p:pic>
        <p:nvPicPr>
          <p:cNvPr id="4" name="Picture 3" descr="Colorful liquid art">
            <a:extLst>
              <a:ext uri="{FF2B5EF4-FFF2-40B4-BE49-F238E27FC236}">
                <a16:creationId xmlns:a16="http://schemas.microsoft.com/office/drawing/2014/main" id="{B6F8CF26-0AA1-EDF8-B639-9103D6DDEE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55" r="14713" b="-18"/>
          <a:stretch>
            <a:fillRect/>
          </a:stretch>
        </p:blipFill>
        <p:spPr>
          <a:xfrm>
            <a:off x="10845900" y="10"/>
            <a:ext cx="1344024" cy="134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508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DD4E64-4731-5483-7289-D09FCB58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F375B-AEE3-4A20-26AB-0E547CF2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2" y="365125"/>
            <a:ext cx="8955368" cy="1124280"/>
          </a:xfrm>
        </p:spPr>
        <p:txBody>
          <a:bodyPr anchor="b"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  <a:latin typeface="Gill Sans Nova"/>
                <a:ea typeface="Calibri"/>
                <a:cs typeface="Calibri"/>
              </a:rPr>
              <a:t>Layer one( half of induction head)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74201D-505B-007C-69C3-BC2D21C3A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In the first attention layer the causal map is developed, an attention weight matrix which mirrors the hidden structure of the mapped data sequence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The connections light up if a token is influenced by another, a process called mutual information</a:t>
            </a: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</p:txBody>
      </p:sp>
      <p:pic>
        <p:nvPicPr>
          <p:cNvPr id="4" name="Picture 3" descr="Colorful liquid art">
            <a:extLst>
              <a:ext uri="{FF2B5EF4-FFF2-40B4-BE49-F238E27FC236}">
                <a16:creationId xmlns:a16="http://schemas.microsoft.com/office/drawing/2014/main" id="{9F1B356A-6E28-2CD0-EB94-C8A733FAB1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55" r="14713" b="-18"/>
          <a:stretch>
            <a:fillRect/>
          </a:stretch>
        </p:blipFill>
        <p:spPr>
          <a:xfrm>
            <a:off x="10845900" y="10"/>
            <a:ext cx="1344024" cy="134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770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265485-FE45-E76D-62AA-E166D6DD3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29F39-19D7-21CA-16DF-BAB0F2598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2" y="365125"/>
            <a:ext cx="8955368" cy="1124280"/>
          </a:xfrm>
        </p:spPr>
        <p:txBody>
          <a:bodyPr anchor="b"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  <a:latin typeface="Gill Sans Nova"/>
                <a:ea typeface="Calibri"/>
                <a:cs typeface="Calibri"/>
              </a:rPr>
              <a:t>Layer two(second half of induction head)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A6F22-BC76-0ACE-FC97-F1CD1BBF0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695" y="1897511"/>
            <a:ext cx="11457027" cy="4279452"/>
          </a:xfrm>
        </p:spPr>
        <p:txBody>
          <a:bodyPr anchor="t">
            <a:normAutofit/>
          </a:bodyPr>
          <a:lstStyle/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uses the known map to perform the specific calculation needed for the task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estimating the empirical transmission distribution</a:t>
            </a: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</p:txBody>
      </p:sp>
      <p:pic>
        <p:nvPicPr>
          <p:cNvPr id="4" name="Picture 3" descr="Colorful liquid art">
            <a:extLst>
              <a:ext uri="{FF2B5EF4-FFF2-40B4-BE49-F238E27FC236}">
                <a16:creationId xmlns:a16="http://schemas.microsoft.com/office/drawing/2014/main" id="{1A2CCE08-422C-DE86-DE90-6966C44EBC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55" r="14713" b="-18"/>
          <a:stretch>
            <a:fillRect/>
          </a:stretch>
        </p:blipFill>
        <p:spPr>
          <a:xfrm>
            <a:off x="10845900" y="10"/>
            <a:ext cx="1344024" cy="134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50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5B3A40-D6B2-4C0A-10D1-0BE4CC139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26A31-4116-BB89-0BAD-59DCC4296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2" y="365125"/>
            <a:ext cx="8955368" cy="1124280"/>
          </a:xfrm>
        </p:spPr>
        <p:txBody>
          <a:bodyPr anchor="b"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  <a:latin typeface="Gill Sans Nova"/>
                <a:ea typeface="Calibri"/>
                <a:cs typeface="Calibri"/>
              </a:rPr>
              <a:t>Layer three( half of induction head)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52AF96-4116-3741-34CF-80F2B5222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695" y="1897511"/>
            <a:ext cx="11457027" cy="4279452"/>
          </a:xfrm>
        </p:spPr>
        <p:txBody>
          <a:bodyPr anchor="t">
            <a:normAutofit/>
          </a:bodyPr>
          <a:lstStyle/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averages the calculation done in the second layer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this is the empirical transmission matrix, and where our prediction is made</a:t>
            </a: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</p:txBody>
      </p:sp>
      <p:pic>
        <p:nvPicPr>
          <p:cNvPr id="4" name="Picture 3" descr="Colorful liquid art">
            <a:extLst>
              <a:ext uri="{FF2B5EF4-FFF2-40B4-BE49-F238E27FC236}">
                <a16:creationId xmlns:a16="http://schemas.microsoft.com/office/drawing/2014/main" id="{B472D8BF-A669-A6F1-970B-EF0F0461E8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55" r="14713" b="-18"/>
          <a:stretch>
            <a:fillRect/>
          </a:stretch>
        </p:blipFill>
        <p:spPr>
          <a:xfrm>
            <a:off x="10845900" y="10"/>
            <a:ext cx="1344024" cy="134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757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CC8D78-9098-5C89-DBD3-18CAF663C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8F128-1977-1EBD-1105-98441157C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2" y="365125"/>
            <a:ext cx="8955368" cy="1124280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Gill Sans Nova"/>
                <a:ea typeface="Calibri"/>
                <a:cs typeface="Calibri"/>
              </a:rPr>
              <a:t>Gaps in research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9F379-B275-228D-1519-F846DD500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695" y="1897511"/>
            <a:ext cx="11457027" cy="4279452"/>
          </a:xfrm>
        </p:spPr>
        <p:txBody>
          <a:bodyPr anchor="t">
            <a:normAutofit/>
          </a:bodyPr>
          <a:lstStyle/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what happens if the model is introduced to non-causal structures, cyclical structures, and feedback loops.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</p:txBody>
      </p:sp>
      <p:pic>
        <p:nvPicPr>
          <p:cNvPr id="4" name="Picture 3" descr="Colorful liquid art">
            <a:extLst>
              <a:ext uri="{FF2B5EF4-FFF2-40B4-BE49-F238E27FC236}">
                <a16:creationId xmlns:a16="http://schemas.microsoft.com/office/drawing/2014/main" id="{0B3F4EE5-3CA2-7F54-A369-6CC5E4AC91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55" r="14713" b="-18"/>
          <a:stretch>
            <a:fillRect/>
          </a:stretch>
        </p:blipFill>
        <p:spPr>
          <a:xfrm>
            <a:off x="10845900" y="10"/>
            <a:ext cx="1344024" cy="134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82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01C1B7-7B49-6B67-7273-07AF45D8F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0A97F9-87C9-4710-B480-406EA55C9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6F0AC2-F229-46DE-A0A2-5CB386CE9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83A476-AC08-A66B-809B-FC5F36F0B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777240"/>
            <a:ext cx="4459295" cy="1812537"/>
          </a:xfrm>
        </p:spPr>
        <p:txBody>
          <a:bodyPr anchor="b">
            <a:normAutofit/>
          </a:bodyPr>
          <a:lstStyle/>
          <a:p>
            <a:r>
              <a:rPr lang="en-US" sz="3700">
                <a:latin typeface="Gill Sans Nova"/>
                <a:ea typeface="Calibri"/>
                <a:cs typeface="Calibri"/>
              </a:rPr>
              <a:t>Anchors: High-Precision Model-Agnostic Explanations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717035-A4A4-F9BA-35C3-1E6893846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786743"/>
            <a:ext cx="4459295" cy="3390220"/>
          </a:xfrm>
        </p:spPr>
        <p:txBody>
          <a:bodyPr anchor="t">
            <a:normAutofit/>
          </a:bodyPr>
          <a:lstStyle/>
          <a:p>
            <a:pPr>
              <a:buClr>
                <a:srgbClr val="D6658F"/>
              </a:buClr>
            </a:pPr>
            <a:r>
              <a:rPr lang="en-US">
                <a:ea typeface="Calibri"/>
                <a:cs typeface="Calibri"/>
              </a:rPr>
              <a:t>f : X → Y</a:t>
            </a:r>
          </a:p>
          <a:p>
            <a:pPr>
              <a:buClr>
                <a:srgbClr val="D6658F"/>
              </a:buClr>
            </a:pPr>
            <a:r>
              <a:rPr lang="en-US">
                <a:ea typeface="Calibri"/>
                <a:cs typeface="Calibri"/>
              </a:rPr>
              <a:t>x ∈ X instance </a:t>
            </a:r>
          </a:p>
          <a:p>
            <a:pPr>
              <a:buClr>
                <a:srgbClr val="D6658F"/>
              </a:buClr>
            </a:pPr>
            <a:endParaRPr lang="en-US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>
                <a:ea typeface="Calibri"/>
                <a:cs typeface="Calibri"/>
              </a:rPr>
              <a:t>Most model agnostic methods work by perturbing the instance x, according to some perturbation distribution of Dx. </a:t>
            </a:r>
          </a:p>
          <a:p>
            <a:pPr marL="0" indent="0">
              <a:buClr>
                <a:srgbClr val="D6658F"/>
              </a:buClr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endParaRPr lang="en-US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88DF46-BB01-4433-86D4-321BC88CE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24167" y="476600"/>
            <a:ext cx="5888959" cy="58874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lorful liquid art">
            <a:extLst>
              <a:ext uri="{FF2B5EF4-FFF2-40B4-BE49-F238E27FC236}">
                <a16:creationId xmlns:a16="http://schemas.microsoft.com/office/drawing/2014/main" id="{3D3E0389-F965-3B60-CF61-687EAA2069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55" r="14713" b="-18"/>
          <a:stretch>
            <a:fillRect/>
          </a:stretch>
        </p:blipFill>
        <p:spPr>
          <a:xfrm>
            <a:off x="10845900" y="10"/>
            <a:ext cx="1344024" cy="1348414"/>
          </a:xfrm>
          <a:prstGeom prst="rect">
            <a:avLst/>
          </a:prstGeom>
        </p:spPr>
      </p:pic>
      <p:pic>
        <p:nvPicPr>
          <p:cNvPr id="5" name="Picture 4" descr="A screenshot of a movie&#10;&#10;AI-generated content may be incorrect.">
            <a:extLst>
              <a:ext uri="{FF2B5EF4-FFF2-40B4-BE49-F238E27FC236}">
                <a16:creationId xmlns:a16="http://schemas.microsoft.com/office/drawing/2014/main" id="{BF092685-7195-EDE5-EC2F-0F3BBF7E27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00" r="-3" b="-3"/>
          <a:stretch>
            <a:fillRect/>
          </a:stretch>
        </p:blipFill>
        <p:spPr>
          <a:xfrm>
            <a:off x="5835496" y="479610"/>
            <a:ext cx="5888959" cy="588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25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64DEE5-07F7-A2D4-03A0-2E80DAE4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0A97F9-87C9-4710-B480-406EA55C9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6F0AC2-F229-46DE-A0A2-5CB386CE9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FF867C-E40C-9267-E7A8-1BC02D08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777240"/>
            <a:ext cx="3948953" cy="1812537"/>
          </a:xfrm>
        </p:spPr>
        <p:txBody>
          <a:bodyPr anchor="b">
            <a:normAutofit/>
          </a:bodyPr>
          <a:lstStyle/>
          <a:p>
            <a:r>
              <a:rPr lang="en-US" sz="3100">
                <a:latin typeface="Gill Sans Nova"/>
                <a:ea typeface="Calibri"/>
                <a:cs typeface="Calibri"/>
              </a:rPr>
              <a:t>Anchors: High-Precision Model-Agnostic Explanations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0FE907-18FD-4BB7-9FDA-BBCE3F0F7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786743"/>
            <a:ext cx="3948953" cy="3390220"/>
          </a:xfrm>
        </p:spPr>
        <p:txBody>
          <a:bodyPr anchor="t">
            <a:normAutofit/>
          </a:bodyPr>
          <a:lstStyle/>
          <a:p>
            <a:pPr>
              <a:buClr>
                <a:srgbClr val="D6658F"/>
              </a:buClr>
            </a:pPr>
            <a:r>
              <a:rPr lang="en-US">
                <a:ea typeface="Calibri"/>
                <a:cs typeface="Calibri"/>
              </a:rPr>
              <a:t>A is an anchor if A(x) = 1 and A is a sufficient condition for f(x) with high probability</a:t>
            </a:r>
          </a:p>
          <a:p>
            <a:pPr>
              <a:buClr>
                <a:srgbClr val="D6658F"/>
              </a:buClr>
            </a:pPr>
            <a:endParaRPr lang="en-US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>
                <a:ea typeface="Calibri"/>
                <a:cs typeface="Calibri"/>
              </a:rPr>
              <a:t>If a sample D(z|A) is likely to predict positive (i.e f(x) = f(z))</a:t>
            </a:r>
          </a:p>
          <a:p>
            <a:pPr marL="0" indent="0">
              <a:buClr>
                <a:srgbClr val="D6658F"/>
              </a:buClr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endParaRPr lang="en-US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88DF46-BB01-4433-86D4-321BC88CE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24167" y="476600"/>
            <a:ext cx="5888959" cy="59063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movie&#10;&#10;AI-generated content may be incorrect.">
            <a:extLst>
              <a:ext uri="{FF2B5EF4-FFF2-40B4-BE49-F238E27FC236}">
                <a16:creationId xmlns:a16="http://schemas.microsoft.com/office/drawing/2014/main" id="{5E745513-DA26-13C6-DFCD-6A0DA19723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10" t="-318" r="45451" b="18228"/>
          <a:stretch>
            <a:fillRect/>
          </a:stretch>
        </p:blipFill>
        <p:spPr>
          <a:xfrm>
            <a:off x="6099268" y="1158680"/>
            <a:ext cx="4621925" cy="4271678"/>
          </a:xfrm>
          <a:prstGeom prst="rect">
            <a:avLst/>
          </a:prstGeom>
        </p:spPr>
      </p:pic>
      <p:pic>
        <p:nvPicPr>
          <p:cNvPr id="4" name="Picture 3" descr="Colorful liquid art">
            <a:extLst>
              <a:ext uri="{FF2B5EF4-FFF2-40B4-BE49-F238E27FC236}">
                <a16:creationId xmlns:a16="http://schemas.microsoft.com/office/drawing/2014/main" id="{62F03F3A-68C7-DFAA-BBB6-B2BE3F2C75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55" r="14713" b="-18"/>
          <a:stretch>
            <a:fillRect/>
          </a:stretch>
        </p:blipFill>
        <p:spPr>
          <a:xfrm>
            <a:off x="10845900" y="10"/>
            <a:ext cx="1344024" cy="134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18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A80DF5-C475-23E7-961E-11EC3D229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0A97F9-87C9-4710-B480-406EA55C9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6F0AC2-F229-46DE-A0A2-5CB386CE9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8E4398-A9E7-F57F-6914-4B68FFDA8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777240"/>
            <a:ext cx="3948953" cy="1812537"/>
          </a:xfrm>
        </p:spPr>
        <p:txBody>
          <a:bodyPr anchor="b">
            <a:normAutofit/>
          </a:bodyPr>
          <a:lstStyle/>
          <a:p>
            <a:r>
              <a:rPr lang="en-US" sz="3100">
                <a:latin typeface="Gill Sans Nova"/>
                <a:ea typeface="Calibri"/>
                <a:cs typeface="Calibri"/>
              </a:rPr>
              <a:t>Anchors: High-Precision Model-Agnostic Explanations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C4D770-2844-0D09-0885-3BC9B7227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786743"/>
            <a:ext cx="3948953" cy="3390220"/>
          </a:xfrm>
        </p:spPr>
        <p:txBody>
          <a:bodyPr anchor="t">
            <a:normAutofit/>
          </a:bodyPr>
          <a:lstStyle/>
          <a:p>
            <a:pPr>
              <a:buClr>
                <a:srgbClr val="D6658F"/>
              </a:buClr>
            </a:pPr>
            <a:r>
              <a:rPr lang="en-US">
                <a:ea typeface="Calibri"/>
                <a:cs typeface="Calibri"/>
              </a:rPr>
              <a:t>A is an anchor if  ED(z|A)[1f(x)=f(z)] ≥ τ,A(x)=1.</a:t>
            </a:r>
            <a:endParaRPr lang="en-US"/>
          </a:p>
          <a:p>
            <a:pPr>
              <a:buClr>
                <a:srgbClr val="D6658F"/>
              </a:buClr>
            </a:pPr>
            <a:endParaRPr lang="en-US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>
                <a:ea typeface="Calibri"/>
                <a:cs typeface="Calibri"/>
              </a:rPr>
              <a:t>Anchors are faithful over larger coverages</a:t>
            </a:r>
          </a:p>
          <a:p>
            <a:pPr>
              <a:buClr>
                <a:srgbClr val="D6658F"/>
              </a:buClr>
            </a:pPr>
            <a:endParaRPr lang="en-US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>
                <a:ea typeface="Calibri"/>
                <a:cs typeface="Calibri"/>
              </a:rPr>
              <a:t>Anchors can capture nonlinear relationships, even locally</a:t>
            </a:r>
          </a:p>
          <a:p>
            <a:pPr>
              <a:buClr>
                <a:srgbClr val="D6658F"/>
              </a:buClr>
            </a:pPr>
            <a:endParaRPr lang="en-US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endParaRPr lang="en-US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88DF46-BB01-4433-86D4-321BC88CE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24167" y="476600"/>
            <a:ext cx="5888959" cy="59063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llage of a dog&#10;&#10;AI-generated content may be incorrect.">
            <a:extLst>
              <a:ext uri="{FF2B5EF4-FFF2-40B4-BE49-F238E27FC236}">
                <a16:creationId xmlns:a16="http://schemas.microsoft.com/office/drawing/2014/main" id="{AC48BDBD-3766-3503-8059-69E5CCD42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347" y="1676379"/>
            <a:ext cx="7283560" cy="3869230"/>
          </a:xfrm>
          <a:prstGeom prst="rect">
            <a:avLst/>
          </a:prstGeom>
        </p:spPr>
      </p:pic>
      <p:pic>
        <p:nvPicPr>
          <p:cNvPr id="4" name="Picture 3" descr="Colorful liquid art">
            <a:extLst>
              <a:ext uri="{FF2B5EF4-FFF2-40B4-BE49-F238E27FC236}">
                <a16:creationId xmlns:a16="http://schemas.microsoft.com/office/drawing/2014/main" id="{22B985C7-5FBD-B27D-012C-185B9708F2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55" r="14713" b="-18"/>
          <a:stretch>
            <a:fillRect/>
          </a:stretch>
        </p:blipFill>
        <p:spPr>
          <a:xfrm>
            <a:off x="10845900" y="10"/>
            <a:ext cx="1344024" cy="134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815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F6C4D7-6973-CCD9-6C42-CF30EB73B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A8091-60D6-AC92-B895-AA3E53C5C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2" y="365125"/>
            <a:ext cx="8955368" cy="1124280"/>
          </a:xfrm>
        </p:spPr>
        <p:txBody>
          <a:bodyPr anchor="b">
            <a:normAutofit fontScale="90000"/>
          </a:bodyPr>
          <a:lstStyle/>
          <a:p>
            <a:r>
              <a:rPr lang="en-US" sz="4900" dirty="0">
                <a:solidFill>
                  <a:srgbClr val="FFFFFF"/>
                </a:solidFill>
                <a:latin typeface="Gill Sans Nova"/>
                <a:ea typeface="Calibri"/>
                <a:cs typeface="Calibri"/>
              </a:rPr>
              <a:t>Approaches for constructing anchors</a:t>
            </a:r>
            <a:endParaRPr lang="en-US" dirty="0" err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62AE2E-46F3-F561-574C-29A0D3845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695" y="1897511"/>
            <a:ext cx="11457027" cy="4279452"/>
          </a:xfrm>
        </p:spPr>
        <p:txBody>
          <a:bodyPr anchor="t">
            <a:normAutofit/>
          </a:bodyPr>
          <a:lstStyle/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Bottom-up approach and Beam-search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Beam-search approach is preferred as the prior approach only maintains a single rule at a time, and bottom-up approach does not prioritize coverage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</p:txBody>
      </p:sp>
      <p:pic>
        <p:nvPicPr>
          <p:cNvPr id="4" name="Picture 3" descr="Colorful liquid art">
            <a:extLst>
              <a:ext uri="{FF2B5EF4-FFF2-40B4-BE49-F238E27FC236}">
                <a16:creationId xmlns:a16="http://schemas.microsoft.com/office/drawing/2014/main" id="{80CFC980-BB36-3D50-0846-D6CF0371C7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55" r="14713" b="-18"/>
          <a:stretch>
            <a:fillRect/>
          </a:stretch>
        </p:blipFill>
        <p:spPr>
          <a:xfrm>
            <a:off x="10845900" y="10"/>
            <a:ext cx="1344024" cy="134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491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13A6A0-37D8-A048-1114-5544CD085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D03D9-FC55-8F92-545D-E37D105ED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2" y="365125"/>
            <a:ext cx="8955368" cy="1124280"/>
          </a:xfrm>
        </p:spPr>
        <p:txBody>
          <a:bodyPr anchor="b">
            <a:normAutofit/>
          </a:bodyPr>
          <a:lstStyle/>
          <a:p>
            <a:r>
              <a:rPr lang="en-US" sz="4900" dirty="0">
                <a:solidFill>
                  <a:srgbClr val="FFFFFF"/>
                </a:solidFill>
                <a:latin typeface="Gill Sans Nova"/>
                <a:ea typeface="Calibri"/>
                <a:cs typeface="Calibri"/>
              </a:rPr>
              <a:t>Experiment</a:t>
            </a:r>
            <a:endParaRPr lang="en-US" dirty="0" err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C1D8F-681D-D30F-6F71-50F8843F1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695" y="1897511"/>
            <a:ext cx="11457027" cy="4279452"/>
          </a:xfrm>
        </p:spPr>
        <p:txBody>
          <a:bodyPr anchor="t">
            <a:normAutofit/>
          </a:bodyPr>
          <a:lstStyle/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models, logistic regression, 400 gradient boosted trees, and multilayer perceptron with two layers of 50 units each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Both linear LIME and anchor were used to explain them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The experiment compared instances of explainability, asking users to make predictions without an explanation</a:t>
            </a: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</p:txBody>
      </p:sp>
      <p:pic>
        <p:nvPicPr>
          <p:cNvPr id="4" name="Picture 3" descr="Colorful liquid art">
            <a:extLst>
              <a:ext uri="{FF2B5EF4-FFF2-40B4-BE49-F238E27FC236}">
                <a16:creationId xmlns:a16="http://schemas.microsoft.com/office/drawing/2014/main" id="{32D82DF7-00B1-B705-3C98-7A237DB272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55" r="14713" b="-18"/>
          <a:stretch>
            <a:fillRect/>
          </a:stretch>
        </p:blipFill>
        <p:spPr>
          <a:xfrm>
            <a:off x="10845900" y="10"/>
            <a:ext cx="1344024" cy="134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765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788C2B-7624-639E-A1A6-BBFAD1F7A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DA97C-689B-FB15-47EF-A7042D424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2" y="365125"/>
            <a:ext cx="8955368" cy="1124280"/>
          </a:xfrm>
        </p:spPr>
        <p:txBody>
          <a:bodyPr anchor="b">
            <a:normAutofit/>
          </a:bodyPr>
          <a:lstStyle/>
          <a:p>
            <a:r>
              <a:rPr lang="en-US" sz="4900" dirty="0">
                <a:solidFill>
                  <a:srgbClr val="FFFFFF"/>
                </a:solidFill>
                <a:latin typeface="Gill Sans Nova"/>
                <a:ea typeface="Calibri"/>
                <a:cs typeface="Calibri"/>
              </a:rPr>
              <a:t>Experiment results</a:t>
            </a:r>
            <a:endParaRPr lang="en-US" dirty="0" err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9A049-6BA6-E26F-5779-1D7775C10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695" y="1897511"/>
            <a:ext cx="11457027" cy="4279452"/>
          </a:xfrm>
        </p:spPr>
        <p:txBody>
          <a:bodyPr anchor="t">
            <a:normAutofit/>
          </a:bodyPr>
          <a:lstStyle/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The precision, coverage, and time taken to learn the explainability was recorded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it showed that anchors are much more efficient at explaining the model predictions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</p:txBody>
      </p:sp>
      <p:pic>
        <p:nvPicPr>
          <p:cNvPr id="4" name="Picture 3" descr="Colorful liquid art">
            <a:extLst>
              <a:ext uri="{FF2B5EF4-FFF2-40B4-BE49-F238E27FC236}">
                <a16:creationId xmlns:a16="http://schemas.microsoft.com/office/drawing/2014/main" id="{136C8162-04DB-9D24-8A53-499216D87C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55" r="14713" b="-18"/>
          <a:stretch>
            <a:fillRect/>
          </a:stretch>
        </p:blipFill>
        <p:spPr>
          <a:xfrm>
            <a:off x="10845900" y="10"/>
            <a:ext cx="1344024" cy="134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07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7F8BBA-2BA7-854C-1060-335AB3476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E283-FFBB-A8A7-EE7E-9EC9ACBD5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2" y="365125"/>
            <a:ext cx="8955368" cy="1124280"/>
          </a:xfrm>
        </p:spPr>
        <p:txBody>
          <a:bodyPr anchor="b">
            <a:normAutofit/>
          </a:bodyPr>
          <a:lstStyle/>
          <a:p>
            <a:r>
              <a:rPr lang="en-US" sz="4900" dirty="0">
                <a:ea typeface="Calibri"/>
                <a:cs typeface="Calibri"/>
              </a:rPr>
              <a:t>Limitations and future use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8501D-5217-043D-5AC1-1851224C8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695" y="1897511"/>
            <a:ext cx="11457027" cy="4279452"/>
          </a:xfrm>
        </p:spPr>
        <p:txBody>
          <a:bodyPr anchor="t">
            <a:normAutofit/>
          </a:bodyPr>
          <a:lstStyle/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Overly specific anchors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Potentially conflicting anchors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Complex output spaces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Realistic perturbation distributions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</p:txBody>
      </p:sp>
      <p:pic>
        <p:nvPicPr>
          <p:cNvPr id="4" name="Picture 3" descr="Colorful liquid art">
            <a:extLst>
              <a:ext uri="{FF2B5EF4-FFF2-40B4-BE49-F238E27FC236}">
                <a16:creationId xmlns:a16="http://schemas.microsoft.com/office/drawing/2014/main" id="{98FABAB9-CB1A-6F2E-F46E-99BCF14592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55" r="14713" b="-18"/>
          <a:stretch>
            <a:fillRect/>
          </a:stretch>
        </p:blipFill>
        <p:spPr>
          <a:xfrm>
            <a:off x="10845900" y="10"/>
            <a:ext cx="1344024" cy="134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383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03B49-5450-F5A5-9024-1534D8993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4E443-F61A-1EFF-FBD0-28DDB26E9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034" y="250106"/>
            <a:ext cx="10349970" cy="1210543"/>
          </a:xfrm>
        </p:spPr>
        <p:txBody>
          <a:bodyPr anchor="b">
            <a:normAutofit fontScale="90000"/>
          </a:bodyPr>
          <a:lstStyle/>
          <a:p>
            <a:r>
              <a:rPr lang="en-US" sz="4900" err="1">
                <a:ea typeface="Calibri"/>
                <a:cs typeface="Calibri"/>
              </a:rPr>
              <a:t>ExplAIner</a:t>
            </a:r>
            <a:r>
              <a:rPr lang="en-US" sz="4900" dirty="0">
                <a:ea typeface="Calibri"/>
                <a:cs typeface="Calibri"/>
              </a:rPr>
              <a:t>: A Visual Analytics Framework for interactive and explainable Machine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2CBD8-2EE0-F97F-4B09-909C75131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695" y="1897511"/>
            <a:ext cx="11457027" cy="4279452"/>
          </a:xfrm>
        </p:spPr>
        <p:txBody>
          <a:bodyPr anchor="t">
            <a:normAutofit/>
          </a:bodyPr>
          <a:lstStyle/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This research focuses on interactive machine learning with explainable visual analytics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 sz="3200" dirty="0" err="1">
                <a:ea typeface="Calibri"/>
                <a:cs typeface="Calibri"/>
              </a:rPr>
              <a:t>ExplAIner</a:t>
            </a:r>
            <a:r>
              <a:rPr lang="en-US" sz="3200" dirty="0">
                <a:ea typeface="Calibri"/>
                <a:cs typeface="Calibri"/>
              </a:rPr>
              <a:t> is a framework that operationalizes the theoretical workflow and concepts of XAI models in a system implementation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</p:txBody>
      </p:sp>
      <p:pic>
        <p:nvPicPr>
          <p:cNvPr id="4" name="Picture 3" descr="Colorful liquid art">
            <a:extLst>
              <a:ext uri="{FF2B5EF4-FFF2-40B4-BE49-F238E27FC236}">
                <a16:creationId xmlns:a16="http://schemas.microsoft.com/office/drawing/2014/main" id="{960E9127-E673-F64C-47FB-D5BD7CA503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55" r="14713" b="-18"/>
          <a:stretch>
            <a:fillRect/>
          </a:stretch>
        </p:blipFill>
        <p:spPr>
          <a:xfrm>
            <a:off x="10845900" y="10"/>
            <a:ext cx="1344024" cy="134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017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583697-C1CE-78FB-57B7-D01074828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2673-486C-885E-3866-63E87F25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034" y="250106"/>
            <a:ext cx="10349970" cy="1210543"/>
          </a:xfrm>
        </p:spPr>
        <p:txBody>
          <a:bodyPr anchor="b">
            <a:normAutofit fontScale="90000"/>
          </a:bodyPr>
          <a:lstStyle/>
          <a:p>
            <a:r>
              <a:rPr lang="en-US" sz="4900" err="1">
                <a:ea typeface="Calibri"/>
                <a:cs typeface="Calibri"/>
              </a:rPr>
              <a:t>ExplAIner</a:t>
            </a:r>
            <a:r>
              <a:rPr lang="en-US" sz="4900" dirty="0">
                <a:ea typeface="Calibri"/>
                <a:cs typeface="Calibri"/>
              </a:rPr>
              <a:t>: A Visual Analytics Framework for interactive and explainable Machine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5FC5DA-30F3-C6AA-10EC-A1E116FFD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695" y="1897511"/>
            <a:ext cx="11457027" cy="4279452"/>
          </a:xfrm>
        </p:spPr>
        <p:txBody>
          <a:bodyPr anchor="t">
            <a:normAutofit/>
          </a:bodyPr>
          <a:lstStyle/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It is integrated on Tensor Board (TB)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provides interactive exploration of the model graph, on-demand aggregation and visualization of performance metrics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integration of high-level explainers like LIME and LRP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</p:txBody>
      </p:sp>
      <p:pic>
        <p:nvPicPr>
          <p:cNvPr id="4" name="Picture 3" descr="Colorful liquid art">
            <a:extLst>
              <a:ext uri="{FF2B5EF4-FFF2-40B4-BE49-F238E27FC236}">
                <a16:creationId xmlns:a16="http://schemas.microsoft.com/office/drawing/2014/main" id="{AF97BA5F-91D9-9D9D-B800-01B7E68C26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55" r="14713" b="-18"/>
          <a:stretch>
            <a:fillRect/>
          </a:stretch>
        </p:blipFill>
        <p:spPr>
          <a:xfrm>
            <a:off x="10845900" y="10"/>
            <a:ext cx="1344024" cy="134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382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52E49C-F652-2743-2486-7EB1D88F7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2B9BE-42CF-C944-40D9-3EAAC62BB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034" y="250106"/>
            <a:ext cx="10349970" cy="1210543"/>
          </a:xfrm>
        </p:spPr>
        <p:txBody>
          <a:bodyPr anchor="b">
            <a:normAutofit fontScale="90000"/>
          </a:bodyPr>
          <a:lstStyle/>
          <a:p>
            <a:r>
              <a:rPr lang="en-US" sz="4900" err="1">
                <a:ea typeface="Calibri"/>
                <a:cs typeface="Calibri"/>
              </a:rPr>
              <a:t>ExplAIner</a:t>
            </a:r>
            <a:r>
              <a:rPr lang="en-US" sz="4900" dirty="0">
                <a:ea typeface="Calibri"/>
                <a:cs typeface="Calibri"/>
              </a:rPr>
              <a:t>: A Visual Analytics Framework for interactive and explainable Machine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F830A-5A32-EDC5-5EFA-9E5E3D8E3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695" y="1897511"/>
            <a:ext cx="11457027" cy="4279452"/>
          </a:xfrm>
        </p:spPr>
        <p:txBody>
          <a:bodyPr anchor="t">
            <a:normAutofit/>
          </a:bodyPr>
          <a:lstStyle/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The pipeline is built around the tasks of understanding, diagnosis and refining</a:t>
            </a: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r>
              <a:rPr lang="en-US" sz="3200" dirty="0">
                <a:ea typeface="Calibri"/>
                <a:cs typeface="Calibri"/>
              </a:rPr>
              <a:t> </a:t>
            </a:r>
            <a:r>
              <a:rPr lang="en-US" sz="3200">
                <a:ea typeface="Calibri"/>
                <a:cs typeface="Calibri"/>
              </a:rPr>
              <a:t>Explainers are the main building blocks of the framework</a:t>
            </a: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  <a:p>
            <a:pPr>
              <a:buClr>
                <a:srgbClr val="D6658F"/>
              </a:buClr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Clr>
                <a:srgbClr val="D6658F"/>
              </a:buClr>
              <a:buNone/>
            </a:pPr>
            <a:endParaRPr lang="en-US" sz="3200" dirty="0">
              <a:ea typeface="Calibri"/>
              <a:cs typeface="Calibri"/>
            </a:endParaRPr>
          </a:p>
        </p:txBody>
      </p:sp>
      <p:pic>
        <p:nvPicPr>
          <p:cNvPr id="4" name="Picture 3" descr="Colorful liquid art">
            <a:extLst>
              <a:ext uri="{FF2B5EF4-FFF2-40B4-BE49-F238E27FC236}">
                <a16:creationId xmlns:a16="http://schemas.microsoft.com/office/drawing/2014/main" id="{75085664-C674-0505-C555-20D57A99C3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55" r="14713" b="-18"/>
          <a:stretch>
            <a:fillRect/>
          </a:stretch>
        </p:blipFill>
        <p:spPr>
          <a:xfrm>
            <a:off x="10845900" y="10"/>
            <a:ext cx="1344024" cy="134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442536"/>
      </p:ext>
    </p:extLst>
  </p:cSld>
  <p:clrMapOvr>
    <a:masterClrMapping/>
  </p:clrMapOvr>
</p:sld>
</file>

<file path=ppt/theme/theme1.xml><?xml version="1.0" encoding="utf-8"?>
<a:theme xmlns:a="http://schemas.openxmlformats.org/drawingml/2006/main" name="CelebrationVTI">
  <a:themeElements>
    <a:clrScheme name="Custom 25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1274F"/>
      </a:accent1>
      <a:accent2>
        <a:srgbClr val="97446E"/>
      </a:accent2>
      <a:accent3>
        <a:srgbClr val="24BEEE"/>
      </a:accent3>
      <a:accent4>
        <a:srgbClr val="A52B3A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brationVTI" id="{BAD6E4D6-FB5F-472A-BAD2-154760D77BE0}" vid="{59D360FE-6438-46F1-A5A6-11415132A23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CelebrationVTI</vt:lpstr>
      <vt:lpstr>PHD Progression 4</vt:lpstr>
      <vt:lpstr>AttentionVIZ </vt:lpstr>
      <vt:lpstr>How Transformers Learn Causal Structure with Gradient descent</vt:lpstr>
      <vt:lpstr>Experiment</vt:lpstr>
      <vt:lpstr>Layer one( half of induction head)</vt:lpstr>
      <vt:lpstr>Layer two(second half of induction head)</vt:lpstr>
      <vt:lpstr>Layer three( half of induction head)</vt:lpstr>
      <vt:lpstr>Gaps in research</vt:lpstr>
      <vt:lpstr>Anchors: High-Precision Model-Agnostic Explanations</vt:lpstr>
      <vt:lpstr>Anchors: High-Precision Model-Agnostic Explanations</vt:lpstr>
      <vt:lpstr>Anchors: High-Precision Model-Agnostic Explanations</vt:lpstr>
      <vt:lpstr>Approaches for constructing anchors</vt:lpstr>
      <vt:lpstr>Experiment</vt:lpstr>
      <vt:lpstr>Experiment results</vt:lpstr>
      <vt:lpstr>Limitations and future use</vt:lpstr>
      <vt:lpstr>ExplAIner: A Visual Analytics Framework for interactive and explainable Machine</vt:lpstr>
      <vt:lpstr>ExplAIner: A Visual Analytics Framework for interactive and explainable Machine</vt:lpstr>
      <vt:lpstr>ExplAIner: A Visual Analytics Framework for interactive and explainable Machine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325</cp:revision>
  <dcterms:created xsi:type="dcterms:W3CDTF">2025-12-04T21:52:34Z</dcterms:created>
  <dcterms:modified xsi:type="dcterms:W3CDTF">2025-12-04T23:45:55Z</dcterms:modified>
</cp:coreProperties>
</file>