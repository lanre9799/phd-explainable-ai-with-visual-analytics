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7" r:id="rId3"/>
    <p:sldId id="260" r:id="rId4"/>
    <p:sldId id="259" r:id="rId5"/>
    <p:sldId id="262" r:id="rId6"/>
    <p:sldId id="264" r:id="rId7"/>
    <p:sldId id="266" r:id="rId8"/>
    <p:sldId id="265" r:id="rId9"/>
    <p:sldId id="283" r:id="rId10"/>
    <p:sldId id="279" r:id="rId11"/>
    <p:sldId id="280" r:id="rId12"/>
    <p:sldId id="267" r:id="rId13"/>
    <p:sldId id="268" r:id="rId14"/>
    <p:sldId id="281" r:id="rId15"/>
    <p:sldId id="284" r:id="rId16"/>
    <p:sldId id="285"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906D2E-2F2A-4ECB-9ED5-FBC836576C72}" v="24" dt="2025-12-12T12:42:42.056"/>
    <p1510:client id="{81A4CB5D-AB4D-4C9D-9284-A0CFAE0E8D08}" v="200" dt="2025-12-12T13:24:42.2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783759-A8F4-4EB2-9725-147D1FF48CFB}" type="datetimeFigureOut">
              <a:rPr lang="en-GB" smtClean="0"/>
              <a:t>05/01/2026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C2D1CA-67A0-4B08-A8A3-D9A0C8C668C2}" type="slidenum">
              <a:rPr lang="en-GB" smtClean="0"/>
              <a:t>‹#›</a:t>
            </a:fld>
            <a:endParaRPr lang="en-GB"/>
          </a:p>
        </p:txBody>
      </p:sp>
    </p:spTree>
    <p:extLst>
      <p:ext uri="{BB962C8B-B14F-4D97-AF65-F5344CB8AC3E}">
        <p14:creationId xmlns:p14="http://schemas.microsoft.com/office/powerpoint/2010/main" val="1688988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6C2D1CA-67A0-4B08-A8A3-D9A0C8C668C2}" type="slidenum">
              <a:rPr lang="en-GB" smtClean="0"/>
              <a:t>19</a:t>
            </a:fld>
            <a:endParaRPr lang="en-GB"/>
          </a:p>
        </p:txBody>
      </p:sp>
    </p:spTree>
    <p:extLst>
      <p:ext uri="{BB962C8B-B14F-4D97-AF65-F5344CB8AC3E}">
        <p14:creationId xmlns:p14="http://schemas.microsoft.com/office/powerpoint/2010/main" val="42611075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01D569F-403D-4D8B-A270-78E243560B07}" type="datetimeFigureOut">
              <a:rPr lang="en-GB" smtClean="0"/>
              <a:t>05/01/2026</a:t>
            </a:fld>
            <a:endParaRPr lang="en-GB"/>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GB"/>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Slide Number Placeholder 5"/>
          <p:cNvSpPr>
            <a:spLocks noGrp="1"/>
          </p:cNvSpPr>
          <p:nvPr>
            <p:ph type="sldNum" sz="quarter" idx="12"/>
          </p:nvPr>
        </p:nvSpPr>
        <p:spPr>
          <a:xfrm>
            <a:off x="10352540" y="295729"/>
            <a:ext cx="838199" cy="767687"/>
          </a:xfrm>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2399206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1D569F-403D-4D8B-A270-78E243560B07}" type="datetimeFigureOut">
              <a:rPr lang="en-GB" smtClean="0"/>
              <a:t>05/01/2026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4261687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1D569F-403D-4D8B-A270-78E243560B07}" type="datetimeFigureOut">
              <a:rPr lang="en-GB" smtClean="0"/>
              <a:t>05/01/2026</a:t>
            </a:fld>
            <a:endParaRPr lang="en-GB"/>
          </a:p>
        </p:txBody>
      </p:sp>
      <p:sp>
        <p:nvSpPr>
          <p:cNvPr id="5" name="Footer Placeholder 4"/>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285020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1D569F-403D-4D8B-A270-78E243560B07}" type="datetimeFigureOut">
              <a:rPr lang="en-GB" smtClean="0"/>
              <a:t>05/01/2026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874085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D569F-403D-4D8B-A270-78E243560B07}" type="datetimeFigureOut">
              <a:rPr lang="en-GB" smtClean="0"/>
              <a:t>05/01/2026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3443873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501D569F-403D-4D8B-A270-78E243560B07}" type="datetimeFigureOut">
              <a:rPr lang="en-GB" smtClean="0"/>
              <a:t>05/01/2026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510660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1D569F-403D-4D8B-A270-78E243560B07}" type="datetimeFigureOut">
              <a:rPr lang="en-GB" smtClean="0"/>
              <a:t>05/01/2026</a:t>
            </a:fld>
            <a:endParaRPr lang="en-GB"/>
          </a:p>
        </p:txBody>
      </p:sp>
      <p:sp>
        <p:nvSpPr>
          <p:cNvPr id="3" name="Footer Placeholder 2"/>
          <p:cNvSpPr>
            <a:spLocks noGrp="1"/>
          </p:cNvSpPr>
          <p:nvPr>
            <p:ph type="ftr" sz="quarter" idx="11"/>
          </p:nvPr>
        </p:nvSpPr>
        <p:spPr/>
        <p:txBody>
          <a:bodyPr/>
          <a:lstStyle/>
          <a:p>
            <a:endParaRPr lang="en-GB"/>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3104820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1D569F-403D-4D8B-A270-78E243560B07}" type="datetimeFigureOut">
              <a:rPr lang="en-GB" smtClean="0"/>
              <a:t>05/01/2026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4042363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1D569F-403D-4D8B-A270-78E243560B07}" type="datetimeFigureOut">
              <a:rPr lang="en-GB" smtClean="0"/>
              <a:t>05/01/2026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563262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1D569F-403D-4D8B-A270-78E243560B07}" type="datetimeFigureOut">
              <a:rPr lang="en-GB" smtClean="0"/>
              <a:t>05/01/2026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38805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01D569F-403D-4D8B-A270-78E243560B07}" type="datetimeFigureOut">
              <a:rPr lang="en-GB" smtClean="0"/>
              <a:t>05/01/2026</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3238794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01D569F-403D-4D8B-A270-78E243560B07}" type="datetimeFigureOut">
              <a:rPr lang="en-GB" smtClean="0"/>
              <a:t>05/01/2026</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296784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1D569F-403D-4D8B-A270-78E243560B07}" type="datetimeFigureOut">
              <a:rPr lang="en-GB" smtClean="0"/>
              <a:t>05/01/2026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933145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01D569F-403D-4D8B-A270-78E243560B07}" type="datetimeFigureOut">
              <a:rPr lang="en-GB" smtClean="0"/>
              <a:t>05/01/2026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214457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01D569F-403D-4D8B-A270-78E243560B07}" type="datetimeFigureOut">
              <a:rPr lang="en-GB" smtClean="0"/>
              <a:t>05/01/2026</a:t>
            </a:fld>
            <a:endParaRPr lang="en-GB"/>
          </a:p>
        </p:txBody>
      </p:sp>
      <p:sp>
        <p:nvSpPr>
          <p:cNvPr id="8" name="Footer Placeholder 7"/>
          <p:cNvSpPr>
            <a:spLocks noGrp="1"/>
          </p:cNvSpPr>
          <p:nvPr>
            <p:ph type="ftr" sz="quarter" idx="11"/>
          </p:nvPr>
        </p:nvSpPr>
        <p:spPr>
          <a:xfrm>
            <a:off x="561111" y="6391838"/>
            <a:ext cx="3644282" cy="304801"/>
          </a:xfrm>
        </p:spPr>
        <p:txBody>
          <a:bodyPr/>
          <a:lstStyle/>
          <a:p>
            <a:endParaRPr lang="en-GB"/>
          </a:p>
        </p:txBody>
      </p:sp>
      <p:sp>
        <p:nvSpPr>
          <p:cNvPr id="9" name="Slide Number Placeholder 8"/>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1979139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95439" y="6391838"/>
            <a:ext cx="990599" cy="304799"/>
          </a:xfrm>
        </p:spPr>
        <p:txBody>
          <a:bodyPr/>
          <a:lstStyle/>
          <a:p>
            <a:fld id="{501D569F-403D-4D8B-A270-78E243560B07}" type="datetimeFigureOut">
              <a:rPr lang="en-GB" smtClean="0"/>
              <a:t>05/01/2026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6585199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53104" y="6391838"/>
            <a:ext cx="992135" cy="304799"/>
          </a:xfrm>
        </p:spPr>
        <p:txBody>
          <a:bodyPr/>
          <a:lstStyle/>
          <a:p>
            <a:fld id="{501D569F-403D-4D8B-A270-78E243560B07}" type="datetimeFigureOut">
              <a:rPr lang="en-GB" smtClean="0"/>
              <a:t>05/01/2026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EC06815-B781-4AC7-B10D-5A1F4DF3DF1E}" type="slidenum">
              <a:rPr lang="en-GB" smtClean="0"/>
              <a:t>‹#›</a:t>
            </a:fld>
            <a:endParaRPr lang="en-GB"/>
          </a:p>
        </p:txBody>
      </p:sp>
    </p:spTree>
    <p:extLst>
      <p:ext uri="{BB962C8B-B14F-4D97-AF65-F5344CB8AC3E}">
        <p14:creationId xmlns:p14="http://schemas.microsoft.com/office/powerpoint/2010/main" val="3850567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501D569F-403D-4D8B-A270-78E243560B07}" type="datetimeFigureOut">
              <a:rPr lang="en-GB" smtClean="0"/>
              <a:t>05/01/2026</a:t>
            </a:fld>
            <a:endParaRPr lang="en-GB"/>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EC06815-B781-4AC7-B10D-5A1F4DF3DF1E}" type="slidenum">
              <a:rPr lang="en-GB" smtClean="0"/>
              <a:t>‹#›</a:t>
            </a:fld>
            <a:endParaRPr lang="en-GB"/>
          </a:p>
        </p:txBody>
      </p:sp>
    </p:spTree>
    <p:extLst>
      <p:ext uri="{BB962C8B-B14F-4D97-AF65-F5344CB8AC3E}">
        <p14:creationId xmlns:p14="http://schemas.microsoft.com/office/powerpoint/2010/main" val="2375024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visbert.demo.datexis.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5D31B-AFFA-1EA2-AF22-59B3B93EFBC7}"/>
              </a:ext>
            </a:extLst>
          </p:cNvPr>
          <p:cNvSpPr>
            <a:spLocks noGrp="1"/>
          </p:cNvSpPr>
          <p:nvPr>
            <p:ph type="ctrTitle"/>
          </p:nvPr>
        </p:nvSpPr>
        <p:spPr/>
        <p:txBody>
          <a:bodyPr/>
          <a:lstStyle/>
          <a:p>
            <a:r>
              <a:rPr lang="en-US" dirty="0"/>
              <a:t>PHD Progression 6</a:t>
            </a:r>
            <a:endParaRPr lang="en-GB" dirty="0"/>
          </a:p>
        </p:txBody>
      </p:sp>
      <p:sp>
        <p:nvSpPr>
          <p:cNvPr id="3" name="Subtitle 2">
            <a:extLst>
              <a:ext uri="{FF2B5EF4-FFF2-40B4-BE49-F238E27FC236}">
                <a16:creationId xmlns:a16="http://schemas.microsoft.com/office/drawing/2014/main" id="{93DD0195-92E0-A7BF-5C7D-47B67AECACE7}"/>
              </a:ext>
            </a:extLst>
          </p:cNvPr>
          <p:cNvSpPr>
            <a:spLocks noGrp="1"/>
          </p:cNvSpPr>
          <p:nvPr>
            <p:ph type="subTitle" idx="1"/>
          </p:nvPr>
        </p:nvSpPr>
        <p:spPr/>
        <p:txBody>
          <a:bodyPr/>
          <a:lstStyle/>
          <a:p>
            <a:r>
              <a:rPr lang="en-US"/>
              <a:t>Explainable AI with visual analytics</a:t>
            </a:r>
            <a:endParaRPr lang="en-GB"/>
          </a:p>
        </p:txBody>
      </p:sp>
    </p:spTree>
    <p:extLst>
      <p:ext uri="{BB962C8B-B14F-4D97-AF65-F5344CB8AC3E}">
        <p14:creationId xmlns:p14="http://schemas.microsoft.com/office/powerpoint/2010/main" val="4283977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58402-64F7-4E10-CC3C-295AFE167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FC174-B74D-93DE-D69A-0CC59ACD964F}"/>
              </a:ext>
            </a:extLst>
          </p:cNvPr>
          <p:cNvSpPr>
            <a:spLocks noGrp="1"/>
          </p:cNvSpPr>
          <p:nvPr>
            <p:ph type="title"/>
          </p:nvPr>
        </p:nvSpPr>
        <p:spPr/>
        <p:txBody>
          <a:bodyPr/>
          <a:lstStyle/>
          <a:p>
            <a:r>
              <a:rPr lang="en-US" sz="2400"/>
              <a:t>How Does BERT Answer Questions? A Layer-wise Analysis of Transformer Representations</a:t>
            </a:r>
            <a:br>
              <a:rPr lang="en-GB"/>
            </a:br>
            <a:endParaRPr lang="en-GB"/>
          </a:p>
        </p:txBody>
      </p:sp>
      <p:sp>
        <p:nvSpPr>
          <p:cNvPr id="3" name="Subtitle 2">
            <a:extLst>
              <a:ext uri="{FF2B5EF4-FFF2-40B4-BE49-F238E27FC236}">
                <a16:creationId xmlns:a16="http://schemas.microsoft.com/office/drawing/2014/main" id="{11442074-8D15-48F8-15E9-6972BD4D5AFC}"/>
              </a:ext>
            </a:extLst>
          </p:cNvPr>
          <p:cNvSpPr>
            <a:spLocks noGrp="1"/>
          </p:cNvSpPr>
          <p:nvPr>
            <p:ph idx="1"/>
          </p:nvPr>
        </p:nvSpPr>
        <p:spPr/>
        <p:txBody>
          <a:bodyPr/>
          <a:lstStyle/>
          <a:p>
            <a:r>
              <a:rPr lang="en-US"/>
              <a:t>Proposing a layer-wise visualization of token representations that reveals information about the internal state of Transformer networks</a:t>
            </a:r>
          </a:p>
          <a:p>
            <a:endParaRPr lang="en-US"/>
          </a:p>
          <a:p>
            <a:r>
              <a:rPr lang="en-US"/>
              <a:t>A set of general NLP probing tasks were applied and extended by the QA-specific tasks of question type classification and supporting fact extraction</a:t>
            </a:r>
          </a:p>
          <a:p>
            <a:endParaRPr lang="en-US"/>
          </a:p>
          <a:p>
            <a:r>
              <a:rPr lang="en-US"/>
              <a:t>The third contribution is to show that BERT’s layers go through similar phases even if fine-tuned on different tasks</a:t>
            </a:r>
            <a:endParaRPr lang="en-GB"/>
          </a:p>
        </p:txBody>
      </p:sp>
    </p:spTree>
    <p:extLst>
      <p:ext uri="{BB962C8B-B14F-4D97-AF65-F5344CB8AC3E}">
        <p14:creationId xmlns:p14="http://schemas.microsoft.com/office/powerpoint/2010/main" val="2272507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2980B-5B47-BDEB-0582-729FD5725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2F71D-9119-7782-3AAA-5465FDBF54C4}"/>
              </a:ext>
            </a:extLst>
          </p:cNvPr>
          <p:cNvSpPr>
            <a:spLocks noGrp="1"/>
          </p:cNvSpPr>
          <p:nvPr>
            <p:ph type="title"/>
          </p:nvPr>
        </p:nvSpPr>
        <p:spPr/>
        <p:txBody>
          <a:bodyPr/>
          <a:lstStyle/>
          <a:p>
            <a:r>
              <a:rPr lang="en-US" sz="2400"/>
              <a:t>How Does BERT Answer Questions? A Layer-wise Analysis of Transformer Representations</a:t>
            </a:r>
            <a:br>
              <a:rPr lang="en-GB"/>
            </a:br>
            <a:endParaRPr lang="en-GB"/>
          </a:p>
        </p:txBody>
      </p:sp>
      <p:sp>
        <p:nvSpPr>
          <p:cNvPr id="3" name="Subtitle 2">
            <a:extLst>
              <a:ext uri="{FF2B5EF4-FFF2-40B4-BE49-F238E27FC236}">
                <a16:creationId xmlns:a16="http://schemas.microsoft.com/office/drawing/2014/main" id="{C1DC426B-0E3B-CC3E-88DF-5DCFA571502A}"/>
              </a:ext>
            </a:extLst>
          </p:cNvPr>
          <p:cNvSpPr>
            <a:spLocks noGrp="1"/>
          </p:cNvSpPr>
          <p:nvPr>
            <p:ph idx="1"/>
          </p:nvPr>
        </p:nvSpPr>
        <p:spPr>
          <a:xfrm>
            <a:off x="1154954" y="2387600"/>
            <a:ext cx="4720913" cy="3632200"/>
          </a:xfrm>
        </p:spPr>
        <p:txBody>
          <a:bodyPr>
            <a:normAutofit fontScale="92500" lnSpcReduction="10000"/>
          </a:bodyPr>
          <a:lstStyle/>
          <a:p>
            <a:r>
              <a:rPr lang="en-US" b="1"/>
              <a:t>Dimensionality reduction: </a:t>
            </a:r>
            <a:r>
              <a:rPr lang="en-US"/>
              <a:t>BERT’s pretrained models use vector dimensions of 1024 and 512. Dimensionality reduction is used to visualize relations between tokens. </a:t>
            </a:r>
          </a:p>
          <a:p>
            <a:endParaRPr lang="en-US"/>
          </a:p>
          <a:p>
            <a:r>
              <a:rPr lang="en-US" b="1"/>
              <a:t>K-means Clustering: </a:t>
            </a:r>
            <a:r>
              <a:rPr lang="en-US"/>
              <a:t>To verify that clusters in 2D space represent the actual distribution in high dimensional vector space, we apply k-means clustering. </a:t>
            </a:r>
          </a:p>
          <a:p>
            <a:endParaRPr lang="en-US"/>
          </a:p>
          <a:p>
            <a:r>
              <a:rPr lang="en-US"/>
              <a:t>We use principle of Edge probing</a:t>
            </a:r>
            <a:endParaRPr lang="en-GB"/>
          </a:p>
        </p:txBody>
      </p:sp>
      <p:pic>
        <p:nvPicPr>
          <p:cNvPr id="5" name="Picture 4">
            <a:extLst>
              <a:ext uri="{FF2B5EF4-FFF2-40B4-BE49-F238E27FC236}">
                <a16:creationId xmlns:a16="http://schemas.microsoft.com/office/drawing/2014/main" id="{4B106A11-4890-7375-4D3C-A66C157CCDE3}"/>
              </a:ext>
            </a:extLst>
          </p:cNvPr>
          <p:cNvPicPr>
            <a:picLocks noChangeAspect="1"/>
          </p:cNvPicPr>
          <p:nvPr/>
        </p:nvPicPr>
        <p:blipFill>
          <a:blip r:embed="rId2"/>
          <a:stretch>
            <a:fillRect/>
          </a:stretch>
        </p:blipFill>
        <p:spPr>
          <a:xfrm>
            <a:off x="6744650" y="2300288"/>
            <a:ext cx="4563533" cy="4134379"/>
          </a:xfrm>
          <a:prstGeom prst="rect">
            <a:avLst/>
          </a:prstGeom>
        </p:spPr>
      </p:pic>
    </p:spTree>
    <p:extLst>
      <p:ext uri="{BB962C8B-B14F-4D97-AF65-F5344CB8AC3E}">
        <p14:creationId xmlns:p14="http://schemas.microsoft.com/office/powerpoint/2010/main" val="3636877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7490A-E3AC-AA4F-1CFD-B6627E605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FDEE9-7B97-3CE1-DD0A-2CF99507E5EC}"/>
              </a:ext>
            </a:extLst>
          </p:cNvPr>
          <p:cNvSpPr>
            <a:spLocks noGrp="1"/>
          </p:cNvSpPr>
          <p:nvPr>
            <p:ph type="title"/>
          </p:nvPr>
        </p:nvSpPr>
        <p:spPr/>
        <p:txBody>
          <a:bodyPr/>
          <a:lstStyle/>
          <a:p>
            <a:r>
              <a:rPr lang="en-US" sz="2400"/>
              <a:t>How Does BERT Answer Questions? A Layer-wise Analysis of Transformer Representations</a:t>
            </a:r>
            <a:br>
              <a:rPr lang="en-GB"/>
            </a:br>
            <a:endParaRPr lang="en-GB"/>
          </a:p>
        </p:txBody>
      </p:sp>
      <p:sp>
        <p:nvSpPr>
          <p:cNvPr id="3" name="Subtitle 2">
            <a:extLst>
              <a:ext uri="{FF2B5EF4-FFF2-40B4-BE49-F238E27FC236}">
                <a16:creationId xmlns:a16="http://schemas.microsoft.com/office/drawing/2014/main" id="{17B07BA7-C959-B5D5-EF7E-C73A1A85DD60}"/>
              </a:ext>
            </a:extLst>
          </p:cNvPr>
          <p:cNvSpPr>
            <a:spLocks noGrp="1"/>
          </p:cNvSpPr>
          <p:nvPr>
            <p:ph idx="1"/>
          </p:nvPr>
        </p:nvSpPr>
        <p:spPr/>
        <p:txBody>
          <a:bodyPr/>
          <a:lstStyle/>
          <a:p>
            <a:r>
              <a:rPr lang="en-US"/>
              <a:t>We use principle of Edge probing: this translates core NLP tasks into classification tasks by focusing solely on their labeling part.</a:t>
            </a:r>
          </a:p>
          <a:p>
            <a:endParaRPr lang="en-US"/>
          </a:p>
          <a:p>
            <a:r>
              <a:rPr lang="en-US"/>
              <a:t>The research adopts the tasks Named Entity Labeling, Conference Resolution, Relation classification </a:t>
            </a:r>
          </a:p>
          <a:p>
            <a:endParaRPr lang="en-US"/>
          </a:p>
          <a:p>
            <a:r>
              <a:rPr lang="en-US"/>
              <a:t>The researcher also adds question type classification and supporting fact identification due to their importance for question answering.</a:t>
            </a:r>
            <a:endParaRPr lang="en-GB"/>
          </a:p>
          <a:p>
            <a:endParaRPr lang="en-GB"/>
          </a:p>
        </p:txBody>
      </p:sp>
    </p:spTree>
    <p:extLst>
      <p:ext uri="{BB962C8B-B14F-4D97-AF65-F5344CB8AC3E}">
        <p14:creationId xmlns:p14="http://schemas.microsoft.com/office/powerpoint/2010/main" val="181923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67CC2-68EC-9370-76CC-1C7D1AC81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34B7B-9A70-5DA5-7159-D7A21C4253C9}"/>
              </a:ext>
            </a:extLst>
          </p:cNvPr>
          <p:cNvSpPr>
            <a:spLocks noGrp="1"/>
          </p:cNvSpPr>
          <p:nvPr>
            <p:ph type="title"/>
          </p:nvPr>
        </p:nvSpPr>
        <p:spPr>
          <a:xfrm>
            <a:off x="1103439" y="973668"/>
            <a:ext cx="9727693" cy="764980"/>
          </a:xfrm>
        </p:spPr>
        <p:txBody>
          <a:bodyPr/>
          <a:lstStyle/>
          <a:p>
            <a:r>
              <a:rPr lang="en-US" sz="2400"/>
              <a:t>How Does BERT Answer Questions? A Layer-wise Analysis of Transformer Representations</a:t>
            </a:r>
            <a:endParaRPr lang="en-GB" sz="2400"/>
          </a:p>
        </p:txBody>
      </p:sp>
      <p:sp>
        <p:nvSpPr>
          <p:cNvPr id="3" name="Subtitle 2">
            <a:extLst>
              <a:ext uri="{FF2B5EF4-FFF2-40B4-BE49-F238E27FC236}">
                <a16:creationId xmlns:a16="http://schemas.microsoft.com/office/drawing/2014/main" id="{57700E62-BADA-F107-306B-0A772ACC96A6}"/>
              </a:ext>
            </a:extLst>
          </p:cNvPr>
          <p:cNvSpPr>
            <a:spLocks noGrp="1"/>
          </p:cNvSpPr>
          <p:nvPr>
            <p:ph idx="1"/>
          </p:nvPr>
        </p:nvSpPr>
        <p:spPr>
          <a:xfrm>
            <a:off x="533400" y="2285999"/>
            <a:ext cx="9228786" cy="4217831"/>
          </a:xfrm>
        </p:spPr>
        <p:txBody>
          <a:bodyPr>
            <a:normAutofit/>
          </a:bodyPr>
          <a:lstStyle/>
          <a:p>
            <a:r>
              <a:rPr lang="en-US" b="1"/>
              <a:t>Named Entity Labeling</a:t>
            </a:r>
            <a:r>
              <a:rPr lang="en-US"/>
              <a:t>: This is based on Named Entity Recognition but formulated as a Classification problem</a:t>
            </a:r>
            <a:endParaRPr lang="en-GB"/>
          </a:p>
          <a:p>
            <a:endParaRPr lang="en-US" b="1"/>
          </a:p>
          <a:p>
            <a:r>
              <a:rPr lang="en-US" b="1"/>
              <a:t>Coreference Resolution: </a:t>
            </a:r>
            <a:r>
              <a:rPr lang="en-US"/>
              <a:t>The Coreference task requires the model to predict whether two mentions within a text refer to the same entity.</a:t>
            </a:r>
          </a:p>
          <a:p>
            <a:endParaRPr lang="en-US" b="1"/>
          </a:p>
          <a:p>
            <a:r>
              <a:rPr lang="en-US" b="1"/>
              <a:t>Relation Classification:</a:t>
            </a:r>
            <a:r>
              <a:rPr lang="en-US"/>
              <a:t> In Relation Classification the model has to predict which relation type connects two known entities.</a:t>
            </a:r>
            <a:endParaRPr lang="en-GB"/>
          </a:p>
          <a:p>
            <a:endParaRPr lang="en-US" b="1"/>
          </a:p>
          <a:p>
            <a:r>
              <a:rPr lang="en-US" b="1"/>
              <a:t>Question Type Classification:</a:t>
            </a:r>
            <a:r>
              <a:rPr lang="en-US"/>
              <a:t> A fundamental part of answering a question is to correctly identify its question type.</a:t>
            </a:r>
            <a:endParaRPr lang="en-GB"/>
          </a:p>
          <a:p>
            <a:endParaRPr lang="en-GB"/>
          </a:p>
        </p:txBody>
      </p:sp>
    </p:spTree>
    <p:extLst>
      <p:ext uri="{BB962C8B-B14F-4D97-AF65-F5344CB8AC3E}">
        <p14:creationId xmlns:p14="http://schemas.microsoft.com/office/powerpoint/2010/main" val="3134801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9A610-C804-67B5-B2C9-DB0EFDD5E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725570-0573-39C7-9201-7D26D3A5C5C1}"/>
              </a:ext>
            </a:extLst>
          </p:cNvPr>
          <p:cNvSpPr>
            <a:spLocks noGrp="1"/>
          </p:cNvSpPr>
          <p:nvPr>
            <p:ph type="title"/>
          </p:nvPr>
        </p:nvSpPr>
        <p:spPr/>
        <p:txBody>
          <a:bodyPr/>
          <a:lstStyle/>
          <a:p>
            <a:r>
              <a:rPr lang="en-GB"/>
              <a:t>Experiment</a:t>
            </a:r>
            <a:br>
              <a:rPr lang="en-GB"/>
            </a:br>
            <a:endParaRPr lang="en-GB"/>
          </a:p>
        </p:txBody>
      </p:sp>
      <p:sp>
        <p:nvSpPr>
          <p:cNvPr id="3" name="Subtitle 2">
            <a:extLst>
              <a:ext uri="{FF2B5EF4-FFF2-40B4-BE49-F238E27FC236}">
                <a16:creationId xmlns:a16="http://schemas.microsoft.com/office/drawing/2014/main" id="{6F33DD44-BC95-B073-CCF6-52CEE94D43D3}"/>
              </a:ext>
            </a:extLst>
          </p:cNvPr>
          <p:cNvSpPr>
            <a:spLocks noGrp="1"/>
          </p:cNvSpPr>
          <p:nvPr>
            <p:ph idx="1"/>
          </p:nvPr>
        </p:nvSpPr>
        <p:spPr>
          <a:xfrm>
            <a:off x="533400" y="2285999"/>
            <a:ext cx="6104585" cy="4217831"/>
          </a:xfrm>
        </p:spPr>
        <p:txBody>
          <a:bodyPr>
            <a:normAutofit/>
          </a:bodyPr>
          <a:lstStyle/>
          <a:p>
            <a:r>
              <a:rPr lang="en-US"/>
              <a:t>SQUAD, HotpotQA and </a:t>
            </a:r>
            <a:r>
              <a:rPr lang="en-US" err="1"/>
              <a:t>babI</a:t>
            </a:r>
            <a:r>
              <a:rPr lang="en-US"/>
              <a:t> dataset</a:t>
            </a:r>
          </a:p>
          <a:p>
            <a:endParaRPr lang="en-US"/>
          </a:p>
          <a:p>
            <a:r>
              <a:rPr lang="en-US"/>
              <a:t>The two models these dataset was tried on was BERT and GPT-2</a:t>
            </a:r>
            <a:endParaRPr lang="en-GB"/>
          </a:p>
        </p:txBody>
      </p:sp>
      <p:pic>
        <p:nvPicPr>
          <p:cNvPr id="5" name="Picture 4">
            <a:extLst>
              <a:ext uri="{FF2B5EF4-FFF2-40B4-BE49-F238E27FC236}">
                <a16:creationId xmlns:a16="http://schemas.microsoft.com/office/drawing/2014/main" id="{8E91DB5E-ECEA-93E5-83C9-7CBC2CF9E12C}"/>
              </a:ext>
            </a:extLst>
          </p:cNvPr>
          <p:cNvPicPr>
            <a:picLocks noChangeAspect="1"/>
          </p:cNvPicPr>
          <p:nvPr/>
        </p:nvPicPr>
        <p:blipFill>
          <a:blip r:embed="rId2"/>
          <a:stretch>
            <a:fillRect/>
          </a:stretch>
        </p:blipFill>
        <p:spPr>
          <a:xfrm>
            <a:off x="250063" y="4309598"/>
            <a:ext cx="6387921" cy="2060619"/>
          </a:xfrm>
          <a:prstGeom prst="rect">
            <a:avLst/>
          </a:prstGeom>
        </p:spPr>
      </p:pic>
      <p:pic>
        <p:nvPicPr>
          <p:cNvPr id="6" name="Picture 5">
            <a:extLst>
              <a:ext uri="{FF2B5EF4-FFF2-40B4-BE49-F238E27FC236}">
                <a16:creationId xmlns:a16="http://schemas.microsoft.com/office/drawing/2014/main" id="{ED79CA54-A779-4D7C-33E7-7E2AE5263ED7}"/>
              </a:ext>
            </a:extLst>
          </p:cNvPr>
          <p:cNvPicPr>
            <a:picLocks noChangeAspect="1"/>
          </p:cNvPicPr>
          <p:nvPr/>
        </p:nvPicPr>
        <p:blipFill>
          <a:blip r:embed="rId3"/>
          <a:stretch>
            <a:fillRect/>
          </a:stretch>
        </p:blipFill>
        <p:spPr>
          <a:xfrm>
            <a:off x="6637985" y="1491237"/>
            <a:ext cx="5554015" cy="3086100"/>
          </a:xfrm>
          <a:prstGeom prst="rect">
            <a:avLst/>
          </a:prstGeom>
        </p:spPr>
      </p:pic>
      <p:pic>
        <p:nvPicPr>
          <p:cNvPr id="8" name="Picture 7">
            <a:extLst>
              <a:ext uri="{FF2B5EF4-FFF2-40B4-BE49-F238E27FC236}">
                <a16:creationId xmlns:a16="http://schemas.microsoft.com/office/drawing/2014/main" id="{D6FA9BBD-C045-FEFC-9995-FE34695BFC84}"/>
              </a:ext>
            </a:extLst>
          </p:cNvPr>
          <p:cNvPicPr>
            <a:picLocks noChangeAspect="1"/>
          </p:cNvPicPr>
          <p:nvPr/>
        </p:nvPicPr>
        <p:blipFill>
          <a:blip r:embed="rId4"/>
          <a:stretch>
            <a:fillRect/>
          </a:stretch>
        </p:blipFill>
        <p:spPr>
          <a:xfrm>
            <a:off x="6637984" y="4120203"/>
            <a:ext cx="5554016" cy="2737797"/>
          </a:xfrm>
          <a:prstGeom prst="rect">
            <a:avLst/>
          </a:prstGeom>
        </p:spPr>
      </p:pic>
    </p:spTree>
    <p:extLst>
      <p:ext uri="{BB962C8B-B14F-4D97-AF65-F5344CB8AC3E}">
        <p14:creationId xmlns:p14="http://schemas.microsoft.com/office/powerpoint/2010/main" val="1446934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BDCF1-0CAD-99CB-04EF-4912E4493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4849A-03CF-BA6C-DB21-3B091D9AA7D3}"/>
              </a:ext>
            </a:extLst>
          </p:cNvPr>
          <p:cNvSpPr>
            <a:spLocks noGrp="1"/>
          </p:cNvSpPr>
          <p:nvPr>
            <p:ph type="title"/>
          </p:nvPr>
        </p:nvSpPr>
        <p:spPr/>
        <p:txBody>
          <a:bodyPr/>
          <a:lstStyle/>
          <a:p>
            <a:r>
              <a:rPr lang="en-GB"/>
              <a:t>Results</a:t>
            </a:r>
            <a:br>
              <a:rPr lang="en-GB"/>
            </a:br>
            <a:endParaRPr lang="en-GB"/>
          </a:p>
        </p:txBody>
      </p:sp>
      <p:sp>
        <p:nvSpPr>
          <p:cNvPr id="3" name="Subtitle 2">
            <a:extLst>
              <a:ext uri="{FF2B5EF4-FFF2-40B4-BE49-F238E27FC236}">
                <a16:creationId xmlns:a16="http://schemas.microsoft.com/office/drawing/2014/main" id="{DF5B3F99-180E-0980-5F5A-9CA27E763146}"/>
              </a:ext>
            </a:extLst>
          </p:cNvPr>
          <p:cNvSpPr>
            <a:spLocks noGrp="1"/>
          </p:cNvSpPr>
          <p:nvPr>
            <p:ph idx="1"/>
          </p:nvPr>
        </p:nvSpPr>
        <p:spPr>
          <a:xfrm>
            <a:off x="95517" y="2285999"/>
            <a:ext cx="11225013" cy="4572001"/>
          </a:xfrm>
        </p:spPr>
        <p:txBody>
          <a:bodyPr>
            <a:normAutofit/>
          </a:bodyPr>
          <a:lstStyle/>
          <a:p>
            <a:r>
              <a:rPr lang="en-US" b="1"/>
              <a:t>Semantic Clustering: </a:t>
            </a:r>
            <a:r>
              <a:rPr lang="en-US"/>
              <a:t>Early layers within BERT-based models group tokens into topical clusters. This clustering still holds little task-specific information.</a:t>
            </a:r>
          </a:p>
          <a:p>
            <a:endParaRPr lang="en-US" b="1"/>
          </a:p>
          <a:p>
            <a:r>
              <a:rPr lang="en-US" b="1"/>
              <a:t>Connecting Entities with Mentions and Attributes:</a:t>
            </a:r>
            <a:r>
              <a:rPr lang="en-US"/>
              <a:t> In the middle layer, clustering is less connected by their topical similarities. Tokens are connected by their relation to certain input contexts.</a:t>
            </a:r>
          </a:p>
          <a:p>
            <a:endParaRPr lang="en-US" b="1"/>
          </a:p>
          <a:p>
            <a:r>
              <a:rPr lang="en-US" b="1"/>
              <a:t>Matching Questions with Supporting Facts: </a:t>
            </a:r>
            <a:r>
              <a:rPr lang="en-US"/>
              <a:t>Identifying relevant parts of the context is crucial for QA and information retrieval. BERT performs this task by transforming the tokens so that question tokens are matched onto relevant tokens.</a:t>
            </a:r>
          </a:p>
          <a:p>
            <a:endParaRPr lang="en-US" b="1"/>
          </a:p>
          <a:p>
            <a:r>
              <a:rPr lang="en-US" b="1"/>
              <a:t>Answer Extraction: </a:t>
            </a:r>
            <a:r>
              <a:rPr lang="en-US"/>
              <a:t>In the last network layers, the model dissolves most of the previous clusters. It then separates the correct answer token, and sometimes other possible candidates, from the rest of the tokens.</a:t>
            </a:r>
          </a:p>
          <a:p>
            <a:endParaRPr lang="en-GB"/>
          </a:p>
        </p:txBody>
      </p:sp>
    </p:spTree>
    <p:extLst>
      <p:ext uri="{BB962C8B-B14F-4D97-AF65-F5344CB8AC3E}">
        <p14:creationId xmlns:p14="http://schemas.microsoft.com/office/powerpoint/2010/main" val="3817686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4EFF6-FA8C-525F-199E-FAC1E99C2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09E3E-0C8E-ADCF-DEFB-0E9E3D7CE861}"/>
              </a:ext>
            </a:extLst>
          </p:cNvPr>
          <p:cNvSpPr>
            <a:spLocks noGrp="1"/>
          </p:cNvSpPr>
          <p:nvPr>
            <p:ph type="title"/>
          </p:nvPr>
        </p:nvSpPr>
        <p:spPr/>
        <p:txBody>
          <a:bodyPr/>
          <a:lstStyle/>
          <a:p>
            <a:r>
              <a:rPr lang="en-GB"/>
              <a:t>Results</a:t>
            </a:r>
            <a:br>
              <a:rPr lang="en-GB"/>
            </a:br>
            <a:endParaRPr lang="en-GB"/>
          </a:p>
        </p:txBody>
      </p:sp>
      <p:pic>
        <p:nvPicPr>
          <p:cNvPr id="6" name="Picture 5">
            <a:extLst>
              <a:ext uri="{FF2B5EF4-FFF2-40B4-BE49-F238E27FC236}">
                <a16:creationId xmlns:a16="http://schemas.microsoft.com/office/drawing/2014/main" id="{43FAAA3C-C73A-36DC-0D2A-24301786D36F}"/>
              </a:ext>
            </a:extLst>
          </p:cNvPr>
          <p:cNvPicPr>
            <a:picLocks noChangeAspect="1"/>
          </p:cNvPicPr>
          <p:nvPr/>
        </p:nvPicPr>
        <p:blipFill>
          <a:blip r:embed="rId2"/>
          <a:stretch>
            <a:fillRect/>
          </a:stretch>
        </p:blipFill>
        <p:spPr>
          <a:xfrm>
            <a:off x="0" y="1327150"/>
            <a:ext cx="12191999" cy="5434258"/>
          </a:xfrm>
          <a:prstGeom prst="rect">
            <a:avLst/>
          </a:prstGeom>
        </p:spPr>
      </p:pic>
    </p:spTree>
    <p:extLst>
      <p:ext uri="{BB962C8B-B14F-4D97-AF65-F5344CB8AC3E}">
        <p14:creationId xmlns:p14="http://schemas.microsoft.com/office/powerpoint/2010/main" val="2931374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AAC6-1EC6-4B1A-1824-F09BB652043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310FA536-E8DA-347F-DA19-304BD72489F1}"/>
              </a:ext>
            </a:extLst>
          </p:cNvPr>
          <p:cNvSpPr>
            <a:spLocks noGrp="1"/>
          </p:cNvSpPr>
          <p:nvPr>
            <p:ph idx="1"/>
          </p:nvPr>
        </p:nvSpPr>
        <p:spPr>
          <a:xfrm>
            <a:off x="832104" y="2377440"/>
            <a:ext cx="9148509" cy="3642360"/>
          </a:xfrm>
        </p:spPr>
        <p:txBody>
          <a:bodyPr/>
          <a:lstStyle/>
          <a:p>
            <a:r>
              <a:rPr lang="en-GB" dirty="0"/>
              <a:t>PC1 (Principal Component 1) and PC2 (Principal Component 2) are the primary axes in </a:t>
            </a:r>
            <a:r>
              <a:rPr lang="en-GB" b="1" dirty="0"/>
              <a:t>Principal Component Analysis (PCA)</a:t>
            </a:r>
            <a:r>
              <a:rPr lang="en-GB" dirty="0"/>
              <a:t>, a dimensionality reduction technique</a:t>
            </a:r>
          </a:p>
          <a:p>
            <a:endParaRPr lang="en-GB" dirty="0"/>
          </a:p>
          <a:p>
            <a:endParaRPr lang="en-GB" dirty="0"/>
          </a:p>
          <a:p>
            <a:r>
              <a:rPr lang="en-GB" dirty="0"/>
              <a:t>PC1 captures the </a:t>
            </a:r>
            <a:r>
              <a:rPr lang="en-GB" i="1" dirty="0"/>
              <a:t>most</a:t>
            </a:r>
            <a:r>
              <a:rPr lang="en-GB" dirty="0"/>
              <a:t> variance in data (the longest dimension), while PC2 captures the </a:t>
            </a:r>
            <a:r>
              <a:rPr lang="en-GB" i="1" dirty="0"/>
              <a:t>next</a:t>
            </a:r>
            <a:r>
              <a:rPr lang="en-GB" dirty="0"/>
              <a:t> most variance, is </a:t>
            </a:r>
            <a:r>
              <a:rPr lang="en-GB" i="1" dirty="0"/>
              <a:t>orthogonal</a:t>
            </a:r>
            <a:r>
              <a:rPr lang="en-GB" dirty="0"/>
              <a:t> (perpendicular) to PC1, and shows the second-largest spread, allowing complex data to be visualized on a 2D plot to reveal patterns.</a:t>
            </a:r>
          </a:p>
        </p:txBody>
      </p:sp>
    </p:spTree>
    <p:extLst>
      <p:ext uri="{BB962C8B-B14F-4D97-AF65-F5344CB8AC3E}">
        <p14:creationId xmlns:p14="http://schemas.microsoft.com/office/powerpoint/2010/main" val="1665371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2ED06-65CF-5563-6EAD-1B047E61E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7FA52-8950-AC56-1637-73ACBB152EF1}"/>
              </a:ext>
            </a:extLst>
          </p:cNvPr>
          <p:cNvSpPr>
            <a:spLocks noGrp="1"/>
          </p:cNvSpPr>
          <p:nvPr>
            <p:ph type="title"/>
          </p:nvPr>
        </p:nvSpPr>
        <p:spPr/>
        <p:txBody>
          <a:bodyPr/>
          <a:lstStyle/>
          <a:p>
            <a:r>
              <a:rPr lang="en-GB"/>
              <a:t>Results</a:t>
            </a:r>
            <a:br>
              <a:rPr lang="en-GB"/>
            </a:br>
            <a:endParaRPr lang="en-GB"/>
          </a:p>
        </p:txBody>
      </p:sp>
      <p:pic>
        <p:nvPicPr>
          <p:cNvPr id="4" name="Picture 3">
            <a:extLst>
              <a:ext uri="{FF2B5EF4-FFF2-40B4-BE49-F238E27FC236}">
                <a16:creationId xmlns:a16="http://schemas.microsoft.com/office/drawing/2014/main" id="{79389FF6-1485-D436-CE6E-C7C8837A7694}"/>
              </a:ext>
            </a:extLst>
          </p:cNvPr>
          <p:cNvPicPr>
            <a:picLocks noChangeAspect="1"/>
          </p:cNvPicPr>
          <p:nvPr/>
        </p:nvPicPr>
        <p:blipFill>
          <a:blip r:embed="rId2"/>
          <a:stretch>
            <a:fillRect/>
          </a:stretch>
        </p:blipFill>
        <p:spPr>
          <a:xfrm>
            <a:off x="463638" y="1867436"/>
            <a:ext cx="11217499" cy="4990563"/>
          </a:xfrm>
          <a:prstGeom prst="rect">
            <a:avLst/>
          </a:prstGeom>
        </p:spPr>
      </p:pic>
    </p:spTree>
    <p:extLst>
      <p:ext uri="{BB962C8B-B14F-4D97-AF65-F5344CB8AC3E}">
        <p14:creationId xmlns:p14="http://schemas.microsoft.com/office/powerpoint/2010/main" val="3429275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B8917-09C9-B999-7FC5-9A2178150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41AC5-9844-EBDC-EF00-59B13DA6BE2A}"/>
              </a:ext>
            </a:extLst>
          </p:cNvPr>
          <p:cNvSpPr>
            <a:spLocks noGrp="1"/>
          </p:cNvSpPr>
          <p:nvPr>
            <p:ph type="title"/>
          </p:nvPr>
        </p:nvSpPr>
        <p:spPr/>
        <p:txBody>
          <a:bodyPr/>
          <a:lstStyle/>
          <a:p>
            <a:r>
              <a:rPr lang="en-GB"/>
              <a:t>Results</a:t>
            </a:r>
            <a:br>
              <a:rPr lang="en-GB"/>
            </a:br>
            <a:endParaRPr lang="en-GB"/>
          </a:p>
        </p:txBody>
      </p:sp>
      <p:pic>
        <p:nvPicPr>
          <p:cNvPr id="5" name="Picture 4">
            <a:extLst>
              <a:ext uri="{FF2B5EF4-FFF2-40B4-BE49-F238E27FC236}">
                <a16:creationId xmlns:a16="http://schemas.microsoft.com/office/drawing/2014/main" id="{90A862FD-A1CA-5E5A-B4E7-6D6181E13927}"/>
              </a:ext>
            </a:extLst>
          </p:cNvPr>
          <p:cNvPicPr>
            <a:picLocks noChangeAspect="1"/>
          </p:cNvPicPr>
          <p:nvPr/>
        </p:nvPicPr>
        <p:blipFill>
          <a:blip r:embed="rId2"/>
          <a:stretch>
            <a:fillRect/>
          </a:stretch>
        </p:blipFill>
        <p:spPr>
          <a:xfrm>
            <a:off x="1553246" y="2869104"/>
            <a:ext cx="8724900" cy="2562225"/>
          </a:xfrm>
          <a:prstGeom prst="rect">
            <a:avLst/>
          </a:prstGeom>
        </p:spPr>
      </p:pic>
    </p:spTree>
    <p:extLst>
      <p:ext uri="{BB962C8B-B14F-4D97-AF65-F5344CB8AC3E}">
        <p14:creationId xmlns:p14="http://schemas.microsoft.com/office/powerpoint/2010/main" val="1998252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D1B6-6044-C190-3BB2-3CDD29F6C1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3B67D-E52E-3507-818C-5A97E57F8BA0}"/>
              </a:ext>
            </a:extLst>
          </p:cNvPr>
          <p:cNvSpPr>
            <a:spLocks noGrp="1"/>
          </p:cNvSpPr>
          <p:nvPr>
            <p:ph type="title"/>
          </p:nvPr>
        </p:nvSpPr>
        <p:spPr/>
        <p:txBody>
          <a:bodyPr/>
          <a:lstStyle/>
          <a:p>
            <a:r>
              <a:rPr lang="en-GB"/>
              <a:t>Results</a:t>
            </a:r>
            <a:br>
              <a:rPr lang="en-GB"/>
            </a:br>
            <a:endParaRPr lang="en-GB"/>
          </a:p>
        </p:txBody>
      </p:sp>
      <p:sp>
        <p:nvSpPr>
          <p:cNvPr id="4" name="Subtitle 2">
            <a:extLst>
              <a:ext uri="{FF2B5EF4-FFF2-40B4-BE49-F238E27FC236}">
                <a16:creationId xmlns:a16="http://schemas.microsoft.com/office/drawing/2014/main" id="{7C4DABE8-C49F-7BBD-0D02-3C18C5B8F0B4}"/>
              </a:ext>
            </a:extLst>
          </p:cNvPr>
          <p:cNvSpPr>
            <a:spLocks noGrp="1"/>
          </p:cNvSpPr>
          <p:nvPr>
            <p:ph idx="1"/>
          </p:nvPr>
        </p:nvSpPr>
        <p:spPr>
          <a:xfrm>
            <a:off x="95517" y="2285999"/>
            <a:ext cx="11225013" cy="4572001"/>
          </a:xfrm>
        </p:spPr>
        <p:txBody>
          <a:bodyPr>
            <a:normAutofit fontScale="85000" lnSpcReduction="20000"/>
          </a:bodyPr>
          <a:lstStyle/>
          <a:p>
            <a:r>
              <a:rPr lang="en-US" sz="2400" b="1"/>
              <a:t>Comparison to GPT-2 </a:t>
            </a:r>
          </a:p>
          <a:p>
            <a:endParaRPr lang="en-US" sz="2400"/>
          </a:p>
          <a:p>
            <a:r>
              <a:rPr lang="en-US" sz="2400"/>
              <a:t>Both give particular attention to the first token sequence</a:t>
            </a:r>
          </a:p>
          <a:p>
            <a:endParaRPr lang="en-US" sz="2400"/>
          </a:p>
          <a:p>
            <a:r>
              <a:rPr lang="en-US" sz="2400"/>
              <a:t>Attention is given to the first token in every layer, except for the Embedding layer, the first transformer block, and the last one.</a:t>
            </a:r>
          </a:p>
          <a:p>
            <a:endParaRPr lang="en-US" sz="2400"/>
          </a:p>
          <a:p>
            <a:r>
              <a:rPr lang="en-US" sz="2400"/>
              <a:t>separates the relevant supporting Facts and the question in the vector space</a:t>
            </a:r>
          </a:p>
          <a:p>
            <a:endParaRPr lang="en-US" sz="2400"/>
          </a:p>
          <a:p>
            <a:r>
              <a:rPr lang="en-US" sz="2400"/>
              <a:t>Unlike BERT the final answer is not separated but left as part of the sentence</a:t>
            </a:r>
          </a:p>
          <a:p>
            <a:endParaRPr lang="en-US" sz="2400"/>
          </a:p>
          <a:p>
            <a:r>
              <a:rPr lang="en-US" sz="2400"/>
              <a:t>Possible future research can be done to further probe GPT-2</a:t>
            </a:r>
          </a:p>
          <a:p>
            <a:endParaRPr lang="en-GB"/>
          </a:p>
        </p:txBody>
      </p:sp>
    </p:spTree>
    <p:extLst>
      <p:ext uri="{BB962C8B-B14F-4D97-AF65-F5344CB8AC3E}">
        <p14:creationId xmlns:p14="http://schemas.microsoft.com/office/powerpoint/2010/main" val="3142779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9238B-4EEE-6C8A-9B3D-86E17FDC7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32983-8E16-5F1A-6D93-2895835F3C9A}"/>
              </a:ext>
            </a:extLst>
          </p:cNvPr>
          <p:cNvSpPr>
            <a:spLocks noGrp="1"/>
          </p:cNvSpPr>
          <p:nvPr>
            <p:ph type="title"/>
          </p:nvPr>
        </p:nvSpPr>
        <p:spPr/>
        <p:txBody>
          <a:bodyPr/>
          <a:lstStyle/>
          <a:p>
            <a:r>
              <a:rPr lang="en-GB"/>
              <a:t>Results</a:t>
            </a:r>
            <a:br>
              <a:rPr lang="en-GB"/>
            </a:br>
            <a:endParaRPr lang="en-GB"/>
          </a:p>
        </p:txBody>
      </p:sp>
      <p:sp>
        <p:nvSpPr>
          <p:cNvPr id="4" name="Subtitle 2">
            <a:extLst>
              <a:ext uri="{FF2B5EF4-FFF2-40B4-BE49-F238E27FC236}">
                <a16:creationId xmlns:a16="http://schemas.microsoft.com/office/drawing/2014/main" id="{9A5E6765-7650-85B6-5D9F-1C37DBB58545}"/>
              </a:ext>
            </a:extLst>
          </p:cNvPr>
          <p:cNvSpPr>
            <a:spLocks noGrp="1"/>
          </p:cNvSpPr>
          <p:nvPr>
            <p:ph idx="1"/>
          </p:nvPr>
        </p:nvSpPr>
        <p:spPr>
          <a:xfrm>
            <a:off x="95517" y="2427666"/>
            <a:ext cx="5790128" cy="4572001"/>
          </a:xfrm>
        </p:spPr>
        <p:txBody>
          <a:bodyPr>
            <a:normAutofit fontScale="70000" lnSpcReduction="20000"/>
          </a:bodyPr>
          <a:lstStyle/>
          <a:p>
            <a:endParaRPr lang="en-US" sz="2400">
              <a:hlinkClick r:id="rId2"/>
            </a:endParaRPr>
          </a:p>
          <a:p>
            <a:r>
              <a:rPr lang="en-US" sz="2400"/>
              <a:t>While GPT-2 performs </a:t>
            </a:r>
            <a:r>
              <a:rPr lang="en-US" sz="2400" err="1"/>
              <a:t>signifi</a:t>
            </a:r>
            <a:r>
              <a:rPr lang="en-US" sz="2400"/>
              <a:t> </a:t>
            </a:r>
            <a:r>
              <a:rPr lang="en-US" sz="2400" err="1"/>
              <a:t>cantly</a:t>
            </a:r>
            <a:r>
              <a:rPr lang="en-US" sz="2400"/>
              <a:t> worse in the more difficult tasks of </a:t>
            </a:r>
            <a:r>
              <a:rPr lang="en-US" sz="2400" err="1"/>
              <a:t>SQuAD</a:t>
            </a:r>
            <a:r>
              <a:rPr lang="en-US" sz="2400"/>
              <a:t> and HotpotQA, </a:t>
            </a:r>
          </a:p>
          <a:p>
            <a:r>
              <a:rPr lang="en-US" sz="2400"/>
              <a:t>it does considerably better on </a:t>
            </a:r>
            <a:r>
              <a:rPr lang="en-US" sz="2400" err="1"/>
              <a:t>bAbi</a:t>
            </a:r>
            <a:r>
              <a:rPr lang="en-US" sz="2400"/>
              <a:t> reducing the validation error to nearly 0. Both tasks require positional or geometric reasoning</a:t>
            </a:r>
          </a:p>
          <a:p>
            <a:r>
              <a:rPr lang="en-US" sz="2400"/>
              <a:t>it is reasonable to assume that this is a skill where GPT-2 improves on BERT’s reasoning capabilities.</a:t>
            </a:r>
            <a:endParaRPr lang="en-US" sz="2400">
              <a:hlinkClick r:id="rId2"/>
            </a:endParaRPr>
          </a:p>
          <a:p>
            <a:endParaRPr lang="en-US" sz="2400">
              <a:hlinkClick r:id="rId2"/>
            </a:endParaRPr>
          </a:p>
          <a:p>
            <a:endParaRPr lang="en-US" sz="2400">
              <a:hlinkClick r:id="rId2"/>
            </a:endParaRPr>
          </a:p>
          <a:p>
            <a:endParaRPr lang="en-US" sz="2400">
              <a:hlinkClick r:id="rId2"/>
            </a:endParaRPr>
          </a:p>
          <a:p>
            <a:endParaRPr lang="en-US" sz="2400">
              <a:hlinkClick r:id="rId2"/>
            </a:endParaRPr>
          </a:p>
          <a:p>
            <a:endParaRPr lang="en-US" sz="2400">
              <a:hlinkClick r:id="rId2"/>
            </a:endParaRPr>
          </a:p>
          <a:p>
            <a:r>
              <a:rPr lang="en-US" sz="2400">
                <a:hlinkClick r:id="rId2"/>
              </a:rPr>
              <a:t>https://visbert.demo.datexis.com/</a:t>
            </a:r>
            <a:endParaRPr lang="en-US" sz="2400"/>
          </a:p>
          <a:p>
            <a:endParaRPr lang="en-GB"/>
          </a:p>
        </p:txBody>
      </p:sp>
      <p:pic>
        <p:nvPicPr>
          <p:cNvPr id="5" name="Picture 4">
            <a:extLst>
              <a:ext uri="{FF2B5EF4-FFF2-40B4-BE49-F238E27FC236}">
                <a16:creationId xmlns:a16="http://schemas.microsoft.com/office/drawing/2014/main" id="{D1F698CC-49F0-8809-A86B-C2C44CDC88B6}"/>
              </a:ext>
            </a:extLst>
          </p:cNvPr>
          <p:cNvPicPr>
            <a:picLocks noChangeAspect="1"/>
          </p:cNvPicPr>
          <p:nvPr/>
        </p:nvPicPr>
        <p:blipFill>
          <a:blip r:embed="rId3"/>
          <a:stretch>
            <a:fillRect/>
          </a:stretch>
        </p:blipFill>
        <p:spPr>
          <a:xfrm>
            <a:off x="5795492" y="2427667"/>
            <a:ext cx="6078829" cy="3846726"/>
          </a:xfrm>
          <a:prstGeom prst="rect">
            <a:avLst/>
          </a:prstGeom>
        </p:spPr>
      </p:pic>
    </p:spTree>
    <p:extLst>
      <p:ext uri="{BB962C8B-B14F-4D97-AF65-F5344CB8AC3E}">
        <p14:creationId xmlns:p14="http://schemas.microsoft.com/office/powerpoint/2010/main" val="1508764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42E2C-A855-01BF-7E8C-8A0C5238A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7865C-D145-703B-DA49-4C6ECC97B713}"/>
              </a:ext>
            </a:extLst>
          </p:cNvPr>
          <p:cNvSpPr>
            <a:spLocks noGrp="1"/>
          </p:cNvSpPr>
          <p:nvPr>
            <p:ph type="title"/>
          </p:nvPr>
        </p:nvSpPr>
        <p:spPr/>
        <p:txBody>
          <a:bodyPr/>
          <a:lstStyle/>
          <a:p>
            <a:r>
              <a:rPr lang="en-GB" dirty="0" err="1"/>
              <a:t>AttentionVIZ</a:t>
            </a:r>
            <a:endParaRPr lang="en-GB" dirty="0"/>
          </a:p>
        </p:txBody>
      </p:sp>
      <p:sp>
        <p:nvSpPr>
          <p:cNvPr id="4" name="Subtitle 2">
            <a:extLst>
              <a:ext uri="{FF2B5EF4-FFF2-40B4-BE49-F238E27FC236}">
                <a16:creationId xmlns:a16="http://schemas.microsoft.com/office/drawing/2014/main" id="{C0CC158A-61B5-1814-7015-EA84FA6221F9}"/>
              </a:ext>
            </a:extLst>
          </p:cNvPr>
          <p:cNvSpPr>
            <a:spLocks noGrp="1"/>
          </p:cNvSpPr>
          <p:nvPr>
            <p:ph idx="1"/>
          </p:nvPr>
        </p:nvSpPr>
        <p:spPr>
          <a:xfrm>
            <a:off x="99574" y="2153346"/>
            <a:ext cx="11992851" cy="4572001"/>
          </a:xfrm>
        </p:spPr>
        <p:txBody>
          <a:bodyPr>
            <a:normAutofit/>
          </a:bodyPr>
          <a:lstStyle/>
          <a:p>
            <a:endParaRPr lang="en-US" dirty="0"/>
          </a:p>
          <a:p>
            <a:r>
              <a:rPr lang="en-US" dirty="0"/>
              <a:t>The goal of this study is to understand the self-attention mechanism of transformers</a:t>
            </a:r>
          </a:p>
          <a:p>
            <a:endParaRPr lang="en-US" dirty="0"/>
          </a:p>
          <a:p>
            <a:r>
              <a:rPr lang="en-US" dirty="0"/>
              <a:t>previous techniques generally visualize information related to just a single input sequence at a time.</a:t>
            </a:r>
          </a:p>
          <a:p>
            <a:endParaRPr lang="en-US" sz="2400" dirty="0"/>
          </a:p>
          <a:p>
            <a:r>
              <a:rPr lang="en-US" dirty="0"/>
              <a:t>The primary technique of this research is visualizing a joint embedding of the query and key vectors used by transformers.</a:t>
            </a:r>
          </a:p>
          <a:p>
            <a:endParaRPr lang="en-US" sz="2400" dirty="0"/>
          </a:p>
          <a:p>
            <a:endParaRPr lang="en-US" sz="2400" dirty="0"/>
          </a:p>
        </p:txBody>
      </p:sp>
    </p:spTree>
    <p:extLst>
      <p:ext uri="{BB962C8B-B14F-4D97-AF65-F5344CB8AC3E}">
        <p14:creationId xmlns:p14="http://schemas.microsoft.com/office/powerpoint/2010/main" val="1189211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C31A48-C6A5-4A77-DD52-EB60C61CBD3E}"/>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4" name="Freeform: Shape 13">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6"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FDF2506E-B8EA-764C-D709-6D203BEB60F3}"/>
              </a:ext>
            </a:extLst>
          </p:cNvPr>
          <p:cNvSpPr>
            <a:spLocks noGrp="1"/>
          </p:cNvSpPr>
          <p:nvPr>
            <p:ph type="title"/>
          </p:nvPr>
        </p:nvSpPr>
        <p:spPr>
          <a:xfrm>
            <a:off x="1154955" y="973668"/>
            <a:ext cx="2942210" cy="1020232"/>
          </a:xfrm>
        </p:spPr>
        <p:txBody>
          <a:bodyPr>
            <a:normAutofit/>
          </a:bodyPr>
          <a:lstStyle/>
          <a:p>
            <a:r>
              <a:rPr lang="en-GB">
                <a:solidFill>
                  <a:srgbClr val="EBEBEB"/>
                </a:solidFill>
              </a:rPr>
              <a:t>AttentionVIZ</a:t>
            </a:r>
          </a:p>
        </p:txBody>
      </p:sp>
      <p:pic>
        <p:nvPicPr>
          <p:cNvPr id="7" name="Picture 6">
            <a:extLst>
              <a:ext uri="{FF2B5EF4-FFF2-40B4-BE49-F238E27FC236}">
                <a16:creationId xmlns:a16="http://schemas.microsoft.com/office/drawing/2014/main" id="{EB2DC665-E3E9-068C-985F-767A0B646DCE}"/>
              </a:ext>
            </a:extLst>
          </p:cNvPr>
          <p:cNvPicPr>
            <a:picLocks noChangeAspect="1"/>
          </p:cNvPicPr>
          <p:nvPr/>
        </p:nvPicPr>
        <p:blipFill>
          <a:blip r:embed="rId2"/>
          <a:stretch>
            <a:fillRect/>
          </a:stretch>
        </p:blipFill>
        <p:spPr>
          <a:xfrm>
            <a:off x="5194607" y="1527519"/>
            <a:ext cx="6391533" cy="3802962"/>
          </a:xfrm>
          <a:prstGeom prst="rect">
            <a:avLst/>
          </a:prstGeom>
        </p:spPr>
      </p:pic>
      <p:sp>
        <p:nvSpPr>
          <p:cNvPr id="18" name="Rectangle 17">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Oval 19">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2" name="Oval 21">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mc:AlternateContent xmlns:mc="http://schemas.openxmlformats.org/markup-compatibility/2006" xmlns:a14="http://schemas.microsoft.com/office/drawing/2010/main">
        <mc:Choice Requires="a14">
          <p:sp>
            <p:nvSpPr>
              <p:cNvPr id="4" name="Subtitle 2">
                <a:extLst>
                  <a:ext uri="{FF2B5EF4-FFF2-40B4-BE49-F238E27FC236}">
                    <a16:creationId xmlns:a16="http://schemas.microsoft.com/office/drawing/2014/main" id="{469B2811-79D1-90CF-509B-369681BF7856}"/>
                  </a:ext>
                </a:extLst>
              </p:cNvPr>
              <p:cNvSpPr>
                <a:spLocks noGrp="1"/>
              </p:cNvSpPr>
              <p:nvPr>
                <p:ph idx="1"/>
              </p:nvPr>
            </p:nvSpPr>
            <p:spPr>
              <a:xfrm>
                <a:off x="1154955" y="2120900"/>
                <a:ext cx="3133726" cy="3898900"/>
              </a:xfrm>
            </p:spPr>
            <p:txBody>
              <a:bodyPr>
                <a:normAutofit/>
              </a:bodyPr>
              <a:lstStyle/>
              <a:p>
                <a:pPr>
                  <a:lnSpc>
                    <a:spcPct val="90000"/>
                  </a:lnSpc>
                </a:pPr>
                <a:endParaRPr lang="en-US" sz="1100">
                  <a:solidFill>
                    <a:srgbClr val="FFFFFF"/>
                  </a:solidFill>
                </a:endParaRPr>
              </a:p>
              <a:p>
                <a:pPr>
                  <a:lnSpc>
                    <a:spcPct val="90000"/>
                  </a:lnSpc>
                </a:pPr>
                <a:r>
                  <a:rPr lang="en-US" sz="1100">
                    <a:solidFill>
                      <a:srgbClr val="FFFFFF"/>
                    </a:solidFill>
                  </a:rPr>
                  <a:t>An effective method to visualize multiple inputs is to visualize a collection of embedded vectors from multiple input sequences. </a:t>
                </a:r>
              </a:p>
              <a:p>
                <a:pPr>
                  <a:lnSpc>
                    <a:spcPct val="90000"/>
                  </a:lnSpc>
                </a:pPr>
                <a:endParaRPr lang="en-US" sz="1100">
                  <a:solidFill>
                    <a:srgbClr val="FFFFFF"/>
                  </a:solidFill>
                </a:endParaRPr>
              </a:p>
              <a:p>
                <a:pPr>
                  <a:lnSpc>
                    <a:spcPct val="90000"/>
                  </a:lnSpc>
                </a:pPr>
                <a:r>
                  <a:rPr lang="en-US" sz="1100">
                    <a:solidFill>
                      <a:srgbClr val="FFFFFF"/>
                    </a:solidFill>
                  </a:rPr>
                  <a:t>Each attention transformer head turns input embedding into query vectors and key vectors by applying matrices </a:t>
                </a:r>
                <a14:m>
                  <m:oMath xmlns:m="http://schemas.openxmlformats.org/officeDocument/2006/math">
                    <m:sSub>
                      <m:sSubPr>
                        <m:ctrlPr>
                          <a:rPr lang="en-GB" sz="1100" i="1">
                            <a:solidFill>
                              <a:srgbClr val="FFFFFF"/>
                            </a:solidFill>
                            <a:latin typeface="Cambria Math" panose="02040503050406030204" pitchFamily="18" charset="0"/>
                          </a:rPr>
                        </m:ctrlPr>
                      </m:sSubPr>
                      <m:e>
                        <m:r>
                          <a:rPr lang="en-US" sz="1100" i="1">
                            <a:solidFill>
                              <a:srgbClr val="FFFFFF"/>
                            </a:solidFill>
                            <a:latin typeface="Cambria Math" panose="02040503050406030204" pitchFamily="18" charset="0"/>
                          </a:rPr>
                          <m:t>𝑊</m:t>
                        </m:r>
                      </m:e>
                      <m:sub>
                        <m:r>
                          <a:rPr lang="en-US" sz="1100" i="1">
                            <a:solidFill>
                              <a:srgbClr val="FFFFFF"/>
                            </a:solidFill>
                            <a:latin typeface="Cambria Math" panose="02040503050406030204" pitchFamily="18" charset="0"/>
                          </a:rPr>
                          <m:t>𝑄</m:t>
                        </m:r>
                      </m:sub>
                    </m:sSub>
                    <m:r>
                      <a:rPr lang="en-US" sz="1100" i="1">
                        <a:solidFill>
                          <a:srgbClr val="FFFFFF"/>
                        </a:solidFill>
                        <a:latin typeface="Cambria Math" panose="02040503050406030204" pitchFamily="18" charset="0"/>
                      </a:rPr>
                      <m:t> </m:t>
                    </m:r>
                    <m:r>
                      <a:rPr lang="en-US" sz="1100" i="1">
                        <a:solidFill>
                          <a:srgbClr val="FFFFFF"/>
                        </a:solidFill>
                        <a:latin typeface="Cambria Math" panose="02040503050406030204" pitchFamily="18" charset="0"/>
                      </a:rPr>
                      <m:t>𝑎𝑛𝑑</m:t>
                    </m:r>
                    <m:r>
                      <a:rPr lang="en-US" sz="1100" i="1">
                        <a:solidFill>
                          <a:srgbClr val="FFFFFF"/>
                        </a:solidFill>
                        <a:latin typeface="Cambria Math" panose="02040503050406030204" pitchFamily="18" charset="0"/>
                      </a:rPr>
                      <m:t> </m:t>
                    </m:r>
                    <m:sSub>
                      <m:sSubPr>
                        <m:ctrlPr>
                          <a:rPr lang="en-GB" sz="1100" i="1">
                            <a:solidFill>
                              <a:srgbClr val="FFFFFF"/>
                            </a:solidFill>
                            <a:latin typeface="Cambria Math" panose="02040503050406030204" pitchFamily="18" charset="0"/>
                          </a:rPr>
                        </m:ctrlPr>
                      </m:sSubPr>
                      <m:e>
                        <m:r>
                          <a:rPr lang="en-US" sz="1100" i="1">
                            <a:solidFill>
                              <a:srgbClr val="FFFFFF"/>
                            </a:solidFill>
                            <a:latin typeface="Cambria Math" panose="02040503050406030204" pitchFamily="18" charset="0"/>
                          </a:rPr>
                          <m:t>𝑊</m:t>
                        </m:r>
                      </m:e>
                      <m:sub>
                        <m:r>
                          <a:rPr lang="en-US" sz="1100" i="1">
                            <a:solidFill>
                              <a:srgbClr val="FFFFFF"/>
                            </a:solidFill>
                            <a:latin typeface="Cambria Math" panose="02040503050406030204" pitchFamily="18" charset="0"/>
                          </a:rPr>
                          <m:t>𝐾</m:t>
                        </m:r>
                      </m:sub>
                    </m:sSub>
                  </m:oMath>
                </a14:m>
                <a:r>
                  <a:rPr lang="en-US" sz="1100">
                    <a:solidFill>
                      <a:srgbClr val="FFFFFF"/>
                    </a:solidFill>
                  </a:rPr>
                  <a:t> </a:t>
                </a:r>
              </a:p>
              <a:p>
                <a:pPr>
                  <a:lnSpc>
                    <a:spcPct val="90000"/>
                  </a:lnSpc>
                </a:pPr>
                <a:endParaRPr lang="en-US" sz="1100">
                  <a:solidFill>
                    <a:srgbClr val="FFFFFF"/>
                  </a:solidFill>
                </a:endParaRPr>
              </a:p>
              <a:p>
                <a:pPr>
                  <a:lnSpc>
                    <a:spcPct val="90000"/>
                  </a:lnSpc>
                </a:pPr>
                <a:r>
                  <a:rPr lang="en-US" sz="1100">
                    <a:solidFill>
                      <a:srgbClr val="FFFFFF"/>
                    </a:solidFill>
                  </a:rPr>
                  <a:t>These matrices then project the vector embedding to a lower dimensional space, getting only specific information from the higher-dimensional vector embedding</a:t>
                </a:r>
              </a:p>
              <a:p>
                <a:pPr>
                  <a:lnSpc>
                    <a:spcPct val="90000"/>
                  </a:lnSpc>
                </a:pPr>
                <a:endParaRPr lang="en-US" sz="1100">
                  <a:solidFill>
                    <a:srgbClr val="FFFFFF"/>
                  </a:solidFill>
                </a:endParaRPr>
              </a:p>
            </p:txBody>
          </p:sp>
        </mc:Choice>
        <mc:Fallback xmlns="">
          <p:sp>
            <p:nvSpPr>
              <p:cNvPr id="4" name="Subtitle 2">
                <a:extLst>
                  <a:ext uri="{FF2B5EF4-FFF2-40B4-BE49-F238E27FC236}">
                    <a16:creationId xmlns:a16="http://schemas.microsoft.com/office/drawing/2014/main" id="{469B2811-79D1-90CF-509B-369681BF7856}"/>
                  </a:ext>
                </a:extLst>
              </p:cNvPr>
              <p:cNvSpPr>
                <a:spLocks noGrp="1" noRot="1" noChangeAspect="1" noMove="1" noResize="1" noEditPoints="1" noAdjustHandles="1" noChangeArrowheads="1" noChangeShapeType="1" noTextEdit="1"/>
              </p:cNvSpPr>
              <p:nvPr>
                <p:ph idx="1"/>
              </p:nvPr>
            </p:nvSpPr>
            <p:spPr>
              <a:xfrm>
                <a:off x="1154955" y="2120900"/>
                <a:ext cx="3133726" cy="3898900"/>
              </a:xfrm>
              <a:blipFill>
                <a:blip r:embed="rId3"/>
                <a:stretch>
                  <a:fillRect/>
                </a:stretch>
              </a:blipFill>
            </p:spPr>
            <p:txBody>
              <a:bodyPr/>
              <a:lstStyle/>
              <a:p>
                <a:r>
                  <a:rPr lang="en-GB">
                    <a:noFill/>
                  </a:rPr>
                  <a:t> </a:t>
                </a:r>
              </a:p>
            </p:txBody>
          </p:sp>
        </mc:Fallback>
      </mc:AlternateContent>
      <p:sp>
        <p:nvSpPr>
          <p:cNvPr id="24"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Tree>
    <p:extLst>
      <p:ext uri="{BB962C8B-B14F-4D97-AF65-F5344CB8AC3E}">
        <p14:creationId xmlns:p14="http://schemas.microsoft.com/office/powerpoint/2010/main" val="3000403039"/>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0370FB-123A-1CF4-2795-61B7ECCC253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2" name="Freeform: Shape 11">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4"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8F279D3C-358D-9D0A-F56B-595D28C285CB}"/>
              </a:ext>
            </a:extLst>
          </p:cNvPr>
          <p:cNvSpPr>
            <a:spLocks noGrp="1"/>
          </p:cNvSpPr>
          <p:nvPr>
            <p:ph type="title"/>
          </p:nvPr>
        </p:nvSpPr>
        <p:spPr>
          <a:xfrm>
            <a:off x="1154955" y="973668"/>
            <a:ext cx="2942210" cy="1020232"/>
          </a:xfrm>
        </p:spPr>
        <p:txBody>
          <a:bodyPr>
            <a:normAutofit/>
          </a:bodyPr>
          <a:lstStyle/>
          <a:p>
            <a:r>
              <a:rPr lang="en-GB">
                <a:solidFill>
                  <a:srgbClr val="EBEBEB"/>
                </a:solidFill>
              </a:rPr>
              <a:t>AttentionVIZ</a:t>
            </a:r>
          </a:p>
        </p:txBody>
      </p:sp>
      <p:pic>
        <p:nvPicPr>
          <p:cNvPr id="5" name="Picture 4">
            <a:extLst>
              <a:ext uri="{FF2B5EF4-FFF2-40B4-BE49-F238E27FC236}">
                <a16:creationId xmlns:a16="http://schemas.microsoft.com/office/drawing/2014/main" id="{BC1833E5-2906-B0A2-1482-4CA25FADE220}"/>
              </a:ext>
            </a:extLst>
          </p:cNvPr>
          <p:cNvPicPr>
            <a:picLocks noChangeAspect="1"/>
          </p:cNvPicPr>
          <p:nvPr/>
        </p:nvPicPr>
        <p:blipFill>
          <a:blip r:embed="rId2"/>
          <a:stretch>
            <a:fillRect/>
          </a:stretch>
        </p:blipFill>
        <p:spPr>
          <a:xfrm>
            <a:off x="5194607" y="1879054"/>
            <a:ext cx="6391533" cy="3099892"/>
          </a:xfrm>
          <a:prstGeom prst="rect">
            <a:avLst/>
          </a:prstGeom>
        </p:spPr>
      </p:pic>
      <p:sp>
        <p:nvSpPr>
          <p:cNvPr id="16" name="Rectangle 15">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Oval 17">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Oval 19">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 name="Subtitle 2">
            <a:extLst>
              <a:ext uri="{FF2B5EF4-FFF2-40B4-BE49-F238E27FC236}">
                <a16:creationId xmlns:a16="http://schemas.microsoft.com/office/drawing/2014/main" id="{CE4B772B-B49E-2FF4-DA4A-3B4E2E236046}"/>
              </a:ext>
            </a:extLst>
          </p:cNvPr>
          <p:cNvSpPr>
            <a:spLocks noGrp="1"/>
          </p:cNvSpPr>
          <p:nvPr>
            <p:ph idx="1"/>
          </p:nvPr>
        </p:nvSpPr>
        <p:spPr>
          <a:xfrm>
            <a:off x="423336" y="2120900"/>
            <a:ext cx="4347936" cy="3898900"/>
          </a:xfrm>
        </p:spPr>
        <p:txBody>
          <a:bodyPr>
            <a:normAutofit/>
          </a:bodyPr>
          <a:lstStyle/>
          <a:p>
            <a:pPr>
              <a:lnSpc>
                <a:spcPct val="90000"/>
              </a:lnSpc>
            </a:pPr>
            <a:endParaRPr lang="en-US" sz="1100" dirty="0">
              <a:solidFill>
                <a:srgbClr val="FFFFFF"/>
              </a:solidFill>
            </a:endParaRPr>
          </a:p>
          <a:p>
            <a:pPr>
              <a:lnSpc>
                <a:spcPct val="90000"/>
              </a:lnSpc>
            </a:pPr>
            <a:r>
              <a:rPr lang="en-US" sz="1100" dirty="0">
                <a:solidFill>
                  <a:srgbClr val="FFFFFF"/>
                </a:solidFill>
              </a:rPr>
              <a:t>attention coefficients depend on the dot product between queries and keys, Closer distance directly shows higher attention coefficients.</a:t>
            </a:r>
          </a:p>
          <a:p>
            <a:pPr>
              <a:lnSpc>
                <a:spcPct val="90000"/>
              </a:lnSpc>
            </a:pPr>
            <a:endParaRPr lang="en-US" sz="1100" dirty="0">
              <a:solidFill>
                <a:srgbClr val="FFFFFF"/>
              </a:solidFill>
            </a:endParaRPr>
          </a:p>
          <a:p>
            <a:pPr>
              <a:lnSpc>
                <a:spcPct val="90000"/>
              </a:lnSpc>
            </a:pPr>
            <a:r>
              <a:rPr lang="en-US" sz="1100" dirty="0">
                <a:solidFill>
                  <a:srgbClr val="FFFFFF"/>
                </a:solidFill>
              </a:rPr>
              <a:t>the relationship between dot product and distance is not precise, as query and key vary in norm</a:t>
            </a:r>
          </a:p>
          <a:p>
            <a:pPr>
              <a:lnSpc>
                <a:spcPct val="90000"/>
              </a:lnSpc>
            </a:pPr>
            <a:endParaRPr lang="en-US" sz="1100" dirty="0">
              <a:solidFill>
                <a:srgbClr val="FFFFFF"/>
              </a:solidFill>
            </a:endParaRPr>
          </a:p>
          <a:p>
            <a:pPr>
              <a:lnSpc>
                <a:spcPct val="90000"/>
              </a:lnSpc>
            </a:pPr>
            <a:endParaRPr lang="en-US" sz="1100" dirty="0">
              <a:solidFill>
                <a:srgbClr val="FFFFFF"/>
              </a:solidFill>
            </a:endParaRPr>
          </a:p>
          <a:p>
            <a:pPr>
              <a:lnSpc>
                <a:spcPct val="90000"/>
              </a:lnSpc>
            </a:pPr>
            <a:r>
              <a:rPr lang="en-US" sz="1100" dirty="0">
                <a:solidFill>
                  <a:srgbClr val="FFFFFF"/>
                </a:solidFill>
              </a:rPr>
              <a:t>Vector normalization is applied prior to dimensionality reduction; this is to tune the ‘free parameters’ and create a closer relationship between embedding distance and attention weights (SoftMax function)</a:t>
            </a:r>
          </a:p>
          <a:p>
            <a:pPr>
              <a:lnSpc>
                <a:spcPct val="90000"/>
              </a:lnSpc>
            </a:pPr>
            <a:endParaRPr lang="en-US" sz="1100" dirty="0">
              <a:solidFill>
                <a:srgbClr val="FFFFFF"/>
              </a:solidFill>
            </a:endParaRPr>
          </a:p>
          <a:p>
            <a:pPr>
              <a:lnSpc>
                <a:spcPct val="90000"/>
              </a:lnSpc>
            </a:pPr>
            <a:endParaRPr lang="en-US" sz="1100" dirty="0">
              <a:solidFill>
                <a:srgbClr val="FFFFFF"/>
              </a:solidFill>
            </a:endParaRPr>
          </a:p>
          <a:p>
            <a:pPr>
              <a:lnSpc>
                <a:spcPct val="90000"/>
              </a:lnSpc>
            </a:pPr>
            <a:endParaRPr lang="en-US" sz="1100" dirty="0">
              <a:solidFill>
                <a:srgbClr val="FFFFFF"/>
              </a:solidFill>
            </a:endParaRPr>
          </a:p>
          <a:p>
            <a:pPr>
              <a:lnSpc>
                <a:spcPct val="90000"/>
              </a:lnSpc>
            </a:pPr>
            <a:endParaRPr lang="en-US" sz="1100" dirty="0">
              <a:solidFill>
                <a:srgbClr val="FFFFFF"/>
              </a:solidFill>
            </a:endParaRPr>
          </a:p>
        </p:txBody>
      </p:sp>
      <p:sp>
        <p:nvSpPr>
          <p:cNvPr id="22"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Tree>
    <p:extLst>
      <p:ext uri="{BB962C8B-B14F-4D97-AF65-F5344CB8AC3E}">
        <p14:creationId xmlns:p14="http://schemas.microsoft.com/office/powerpoint/2010/main" val="635889209"/>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BE4DC4-C9FC-BB10-E91F-1D379C20D47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2"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14" name="Freeform: Shape 13">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6"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0E67A6F2-86C8-2C41-D7E6-0598ED15A29C}"/>
              </a:ext>
            </a:extLst>
          </p:cNvPr>
          <p:cNvSpPr>
            <a:spLocks noGrp="1"/>
          </p:cNvSpPr>
          <p:nvPr>
            <p:ph type="title"/>
          </p:nvPr>
        </p:nvSpPr>
        <p:spPr>
          <a:xfrm>
            <a:off x="639098" y="629265"/>
            <a:ext cx="5132438" cy="1622322"/>
          </a:xfrm>
        </p:spPr>
        <p:txBody>
          <a:bodyPr>
            <a:normAutofit/>
          </a:bodyPr>
          <a:lstStyle/>
          <a:p>
            <a:r>
              <a:rPr lang="en-GB">
                <a:solidFill>
                  <a:srgbClr val="EBEBEB"/>
                </a:solidFill>
              </a:rPr>
              <a:t>AttentionVIZ</a:t>
            </a:r>
          </a:p>
        </p:txBody>
      </p:sp>
      <p:pic>
        <p:nvPicPr>
          <p:cNvPr id="5" name="Picture 4">
            <a:extLst>
              <a:ext uri="{FF2B5EF4-FFF2-40B4-BE49-F238E27FC236}">
                <a16:creationId xmlns:a16="http://schemas.microsoft.com/office/drawing/2014/main" id="{137A17F8-3F63-A434-90E4-93B948685942}"/>
              </a:ext>
            </a:extLst>
          </p:cNvPr>
          <p:cNvPicPr>
            <a:picLocks noChangeAspect="1"/>
          </p:cNvPicPr>
          <p:nvPr/>
        </p:nvPicPr>
        <p:blipFill>
          <a:blip r:embed="rId2"/>
          <a:stretch>
            <a:fillRect/>
          </a:stretch>
        </p:blipFill>
        <p:spPr>
          <a:xfrm>
            <a:off x="6523048" y="1543578"/>
            <a:ext cx="5581866" cy="3409422"/>
          </a:xfrm>
          <a:prstGeom prst="rect">
            <a:avLst/>
          </a:prstGeom>
        </p:spPr>
      </p:pic>
      <p:sp>
        <p:nvSpPr>
          <p:cNvPr id="18" name="Rectangle 17">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 name="Subtitle 2">
            <a:extLst>
              <a:ext uri="{FF2B5EF4-FFF2-40B4-BE49-F238E27FC236}">
                <a16:creationId xmlns:a16="http://schemas.microsoft.com/office/drawing/2014/main" id="{4DA2FBAD-E0D3-A961-E8FC-BDDDD4A8BCD1}"/>
              </a:ext>
            </a:extLst>
          </p:cNvPr>
          <p:cNvSpPr>
            <a:spLocks noGrp="1"/>
          </p:cNvSpPr>
          <p:nvPr>
            <p:ph idx="1"/>
          </p:nvPr>
        </p:nvSpPr>
        <p:spPr>
          <a:xfrm>
            <a:off x="639098" y="2418735"/>
            <a:ext cx="5132439" cy="3811742"/>
          </a:xfrm>
        </p:spPr>
        <p:txBody>
          <a:bodyPr anchor="ctr">
            <a:normAutofit/>
          </a:bodyPr>
          <a:lstStyle/>
          <a:p>
            <a:pPr>
              <a:lnSpc>
                <a:spcPct val="90000"/>
              </a:lnSpc>
            </a:pPr>
            <a:endParaRPr lang="en-US" sz="1500">
              <a:solidFill>
                <a:srgbClr val="FFFFFF"/>
              </a:solidFill>
            </a:endParaRPr>
          </a:p>
          <a:p>
            <a:pPr>
              <a:lnSpc>
                <a:spcPct val="90000"/>
              </a:lnSpc>
            </a:pPr>
            <a:r>
              <a:rPr lang="en-US" sz="1500">
                <a:solidFill>
                  <a:srgbClr val="FFFFFF"/>
                </a:solidFill>
              </a:rPr>
              <a:t>we obtain the key and query vector representation of each token in each sentence, then use dimensionality reduction techniques such as t-SNE, UMAP or PCA to project the high-dimensional vector into low-dimensional space.</a:t>
            </a:r>
          </a:p>
          <a:p>
            <a:pPr>
              <a:lnSpc>
                <a:spcPct val="90000"/>
              </a:lnSpc>
            </a:pPr>
            <a:endParaRPr lang="en-US" sz="1500">
              <a:solidFill>
                <a:srgbClr val="FFFFFF"/>
              </a:solidFill>
            </a:endParaRPr>
          </a:p>
          <a:p>
            <a:pPr>
              <a:lnSpc>
                <a:spcPct val="90000"/>
              </a:lnSpc>
            </a:pPr>
            <a:r>
              <a:rPr lang="en-US" sz="1500">
                <a:solidFill>
                  <a:srgbClr val="FFFFFF"/>
                </a:solidFill>
              </a:rPr>
              <a:t>This attentionVIZ is used for language and vision transformers</a:t>
            </a:r>
          </a:p>
          <a:p>
            <a:pPr>
              <a:lnSpc>
                <a:spcPct val="90000"/>
              </a:lnSpc>
            </a:pPr>
            <a:endParaRPr lang="en-US" sz="1500">
              <a:solidFill>
                <a:srgbClr val="FFFFFF"/>
              </a:solidFill>
            </a:endParaRPr>
          </a:p>
          <a:p>
            <a:pPr>
              <a:lnSpc>
                <a:spcPct val="90000"/>
              </a:lnSpc>
            </a:pPr>
            <a:r>
              <a:rPr lang="en-US" sz="1500">
                <a:solidFill>
                  <a:srgbClr val="FFFFFF"/>
                </a:solidFill>
              </a:rPr>
              <a:t>It's important to note that each dimensionality reduction technique will produce different patterns.</a:t>
            </a:r>
          </a:p>
          <a:p>
            <a:pPr>
              <a:lnSpc>
                <a:spcPct val="90000"/>
              </a:lnSpc>
            </a:pPr>
            <a:endParaRPr lang="en-US" sz="1500">
              <a:solidFill>
                <a:srgbClr val="FFFFFF"/>
              </a:solidFill>
            </a:endParaRPr>
          </a:p>
          <a:p>
            <a:pPr>
              <a:lnSpc>
                <a:spcPct val="90000"/>
              </a:lnSpc>
            </a:pPr>
            <a:endParaRPr lang="en-US" sz="1500">
              <a:solidFill>
                <a:srgbClr val="FFFFFF"/>
              </a:solidFill>
            </a:endParaRPr>
          </a:p>
          <a:p>
            <a:pPr>
              <a:lnSpc>
                <a:spcPct val="90000"/>
              </a:lnSpc>
            </a:pPr>
            <a:endParaRPr lang="en-US" sz="1500">
              <a:solidFill>
                <a:srgbClr val="FFFFFF"/>
              </a:solidFill>
            </a:endParaRPr>
          </a:p>
          <a:p>
            <a:pPr marL="0" indent="0">
              <a:lnSpc>
                <a:spcPct val="90000"/>
              </a:lnSpc>
              <a:buNone/>
            </a:pPr>
            <a:endParaRPr lang="en-US" sz="1500">
              <a:solidFill>
                <a:srgbClr val="FFFFFF"/>
              </a:solidFill>
            </a:endParaRPr>
          </a:p>
          <a:p>
            <a:pPr>
              <a:lnSpc>
                <a:spcPct val="90000"/>
              </a:lnSpc>
            </a:pPr>
            <a:endParaRPr lang="en-US" sz="1500">
              <a:solidFill>
                <a:srgbClr val="FFFFFF"/>
              </a:solidFill>
            </a:endParaRPr>
          </a:p>
          <a:p>
            <a:pPr>
              <a:lnSpc>
                <a:spcPct val="90000"/>
              </a:lnSpc>
            </a:pPr>
            <a:endParaRPr lang="en-US" sz="1500">
              <a:solidFill>
                <a:srgbClr val="FFFFFF"/>
              </a:solidFill>
            </a:endParaRPr>
          </a:p>
        </p:txBody>
      </p:sp>
    </p:spTree>
    <p:extLst>
      <p:ext uri="{BB962C8B-B14F-4D97-AF65-F5344CB8AC3E}">
        <p14:creationId xmlns:p14="http://schemas.microsoft.com/office/powerpoint/2010/main" val="2244235212"/>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D316F-69B1-EAF4-FD42-9BAA6A20B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8E01C-A638-31B3-1787-F028C828763F}"/>
              </a:ext>
            </a:extLst>
          </p:cNvPr>
          <p:cNvSpPr>
            <a:spLocks noGrp="1"/>
          </p:cNvSpPr>
          <p:nvPr>
            <p:ph type="title"/>
          </p:nvPr>
        </p:nvSpPr>
        <p:spPr/>
        <p:txBody>
          <a:bodyPr/>
          <a:lstStyle/>
          <a:p>
            <a:r>
              <a:rPr lang="en-GB" dirty="0" err="1"/>
              <a:t>AttentionVIZ</a:t>
            </a:r>
            <a:r>
              <a:rPr lang="en-GB" dirty="0"/>
              <a:t>: views and interactivity</a:t>
            </a:r>
          </a:p>
        </p:txBody>
      </p:sp>
      <p:sp>
        <p:nvSpPr>
          <p:cNvPr id="4" name="Subtitle 2">
            <a:extLst>
              <a:ext uri="{FF2B5EF4-FFF2-40B4-BE49-F238E27FC236}">
                <a16:creationId xmlns:a16="http://schemas.microsoft.com/office/drawing/2014/main" id="{0FDDF12D-0769-0CD4-FC19-4D414828F29A}"/>
              </a:ext>
            </a:extLst>
          </p:cNvPr>
          <p:cNvSpPr>
            <a:spLocks noGrp="1"/>
          </p:cNvSpPr>
          <p:nvPr>
            <p:ph idx="1"/>
          </p:nvPr>
        </p:nvSpPr>
        <p:spPr>
          <a:xfrm>
            <a:off x="99574" y="2153346"/>
            <a:ext cx="11992851" cy="4572001"/>
          </a:xfrm>
        </p:spPr>
        <p:txBody>
          <a:bodyPr>
            <a:normAutofit/>
          </a:bodyPr>
          <a:lstStyle/>
          <a:p>
            <a:endParaRPr lang="en-US" dirty="0"/>
          </a:p>
          <a:p>
            <a:r>
              <a:rPr lang="en-US" dirty="0" err="1"/>
              <a:t>Attentionviz</a:t>
            </a:r>
            <a:r>
              <a:rPr lang="en-US" dirty="0"/>
              <a:t> offers various color customizations for token types (key or query). For vision transformers, users can color by image patch row or column to visualize positional patterns. For language models, color options are normalized and discrete.</a:t>
            </a:r>
          </a:p>
          <a:p>
            <a:endParaRPr lang="en-US" dirty="0"/>
          </a:p>
          <a:p>
            <a:endParaRPr lang="en-US" dirty="0"/>
          </a:p>
          <a:p>
            <a:r>
              <a:rPr lang="en-US" dirty="0"/>
              <a:t>This research framework provides three interactive views, Matrix view, single view, and sentence/Image view. </a:t>
            </a:r>
          </a:p>
          <a:p>
            <a:endParaRPr lang="en-US" dirty="0"/>
          </a:p>
          <a:p>
            <a:pPr marL="0" indent="0">
              <a:buNone/>
            </a:pPr>
            <a:endParaRPr lang="en-US" sz="2400" dirty="0"/>
          </a:p>
          <a:p>
            <a:endParaRPr lang="en-US" sz="2400" dirty="0"/>
          </a:p>
          <a:p>
            <a:endParaRPr lang="en-US" sz="2400" dirty="0"/>
          </a:p>
        </p:txBody>
      </p:sp>
    </p:spTree>
    <p:extLst>
      <p:ext uri="{BB962C8B-B14F-4D97-AF65-F5344CB8AC3E}">
        <p14:creationId xmlns:p14="http://schemas.microsoft.com/office/powerpoint/2010/main" val="3079212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9AED58-E346-D7D5-5929-BB0BC0964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EBF70-80D5-64A6-4EE7-0AC49A07C5BB}"/>
              </a:ext>
            </a:extLst>
          </p:cNvPr>
          <p:cNvSpPr>
            <a:spLocks noGrp="1"/>
          </p:cNvSpPr>
          <p:nvPr>
            <p:ph type="title"/>
          </p:nvPr>
        </p:nvSpPr>
        <p:spPr>
          <a:xfrm>
            <a:off x="1154954" y="973668"/>
            <a:ext cx="8761413" cy="706964"/>
          </a:xfrm>
        </p:spPr>
        <p:txBody>
          <a:bodyPr>
            <a:normAutofit/>
          </a:bodyPr>
          <a:lstStyle/>
          <a:p>
            <a:r>
              <a:rPr lang="en-GB">
                <a:solidFill>
                  <a:srgbClr val="EBEBEB"/>
                </a:solidFill>
              </a:rPr>
              <a:t>AttentionVIZ: views and interactivity</a:t>
            </a:r>
          </a:p>
        </p:txBody>
      </p:sp>
      <p:pic>
        <p:nvPicPr>
          <p:cNvPr id="6" name="Picture 5">
            <a:extLst>
              <a:ext uri="{FF2B5EF4-FFF2-40B4-BE49-F238E27FC236}">
                <a16:creationId xmlns:a16="http://schemas.microsoft.com/office/drawing/2014/main" id="{38CE1F9D-8EDF-ADB4-6095-20C6F38E7EF3}"/>
              </a:ext>
            </a:extLst>
          </p:cNvPr>
          <p:cNvPicPr>
            <a:picLocks noChangeAspect="1"/>
          </p:cNvPicPr>
          <p:nvPr/>
        </p:nvPicPr>
        <p:blipFill>
          <a:blip r:embed="rId3"/>
          <a:stretch>
            <a:fillRect/>
          </a:stretch>
        </p:blipFill>
        <p:spPr>
          <a:xfrm>
            <a:off x="718457" y="2895600"/>
            <a:ext cx="4778034" cy="1919041"/>
          </a:xfrm>
          <a:prstGeom prst="roundRect">
            <a:avLst>
              <a:gd name="adj" fmla="val 1858"/>
            </a:avLst>
          </a:prstGeom>
          <a:effectLst>
            <a:outerShdw blurRad="50800" dist="50800" dir="5400000" algn="tl" rotWithShape="0">
              <a:srgbClr val="000000">
                <a:alpha val="43000"/>
              </a:srgbClr>
            </a:outerShdw>
          </a:effectLst>
        </p:spPr>
      </p:pic>
      <p:sp>
        <p:nvSpPr>
          <p:cNvPr id="4" name="Subtitle 2">
            <a:extLst>
              <a:ext uri="{FF2B5EF4-FFF2-40B4-BE49-F238E27FC236}">
                <a16:creationId xmlns:a16="http://schemas.microsoft.com/office/drawing/2014/main" id="{76378D7D-470E-43EE-75F5-1D52B1769385}"/>
              </a:ext>
            </a:extLst>
          </p:cNvPr>
          <p:cNvSpPr>
            <a:spLocks noGrp="1"/>
          </p:cNvSpPr>
          <p:nvPr>
            <p:ph idx="1"/>
          </p:nvPr>
        </p:nvSpPr>
        <p:spPr>
          <a:xfrm>
            <a:off x="5980954" y="2603500"/>
            <a:ext cx="5211979" cy="3416300"/>
          </a:xfrm>
        </p:spPr>
        <p:txBody>
          <a:bodyPr anchor="ctr">
            <a:normAutofit fontScale="92500" lnSpcReduction="10000"/>
          </a:bodyPr>
          <a:lstStyle/>
          <a:p>
            <a:pPr>
              <a:lnSpc>
                <a:spcPct val="90000"/>
              </a:lnSpc>
            </a:pPr>
            <a:endParaRPr lang="en-US" sz="1500" dirty="0"/>
          </a:p>
          <a:p>
            <a:pPr>
              <a:lnSpc>
                <a:spcPct val="90000"/>
              </a:lnSpc>
            </a:pPr>
            <a:endParaRPr lang="en-US" sz="1500" dirty="0"/>
          </a:p>
          <a:p>
            <a:pPr>
              <a:lnSpc>
                <a:spcPct val="90000"/>
              </a:lnSpc>
            </a:pPr>
            <a:endParaRPr lang="en-US" sz="1500" dirty="0"/>
          </a:p>
          <a:p>
            <a:pPr>
              <a:lnSpc>
                <a:spcPct val="90000"/>
              </a:lnSpc>
            </a:pPr>
            <a:r>
              <a:rPr lang="en-US" sz="1500" dirty="0"/>
              <a:t>In GPT-2 average query norm was different from average key norm, causing query to appear as small clusters, surrounded by loose cloud of keys.</a:t>
            </a:r>
          </a:p>
          <a:p>
            <a:pPr>
              <a:lnSpc>
                <a:spcPct val="90000"/>
              </a:lnSpc>
            </a:pPr>
            <a:endParaRPr lang="en-US" sz="1500" dirty="0"/>
          </a:p>
          <a:p>
            <a:pPr>
              <a:lnSpc>
                <a:spcPct val="90000"/>
              </a:lnSpc>
            </a:pPr>
            <a:r>
              <a:rPr lang="en-US" sz="1500" dirty="0"/>
              <a:t>Both key and query tokens are scales by C</a:t>
            </a:r>
          </a:p>
          <a:p>
            <a:pPr>
              <a:lnSpc>
                <a:spcPct val="90000"/>
              </a:lnSpc>
            </a:pPr>
            <a:endParaRPr lang="en-US" sz="1500" dirty="0"/>
          </a:p>
          <a:p>
            <a:pPr>
              <a:lnSpc>
                <a:spcPct val="90000"/>
              </a:lnSpc>
            </a:pPr>
            <a:r>
              <a:rPr lang="en-US" sz="1500" dirty="0"/>
              <a:t>Matrix view uses small multiples to visualize the attention heads in the transformer at once. Each row corresponds to a model layer. This provides a Global perspective that users can easily scan for patterns across different transformer layers and heads.</a:t>
            </a:r>
          </a:p>
          <a:p>
            <a:pPr>
              <a:lnSpc>
                <a:spcPct val="90000"/>
              </a:lnSpc>
            </a:pPr>
            <a:endParaRPr lang="en-US" sz="1500" dirty="0"/>
          </a:p>
          <a:p>
            <a:pPr>
              <a:lnSpc>
                <a:spcPct val="90000"/>
              </a:lnSpc>
            </a:pPr>
            <a:endParaRPr lang="en-US" sz="1500" dirty="0"/>
          </a:p>
          <a:p>
            <a:pPr marL="0" indent="0">
              <a:lnSpc>
                <a:spcPct val="90000"/>
              </a:lnSpc>
              <a:buNone/>
            </a:pPr>
            <a:endParaRPr lang="en-US" sz="1500" dirty="0"/>
          </a:p>
          <a:p>
            <a:pPr>
              <a:lnSpc>
                <a:spcPct val="90000"/>
              </a:lnSpc>
            </a:pPr>
            <a:endParaRPr lang="en-US" sz="1500" dirty="0"/>
          </a:p>
          <a:p>
            <a:pPr>
              <a:lnSpc>
                <a:spcPct val="90000"/>
              </a:lnSpc>
            </a:pPr>
            <a:endParaRPr lang="en-US" sz="1500" dirty="0"/>
          </a:p>
        </p:txBody>
      </p:sp>
    </p:spTree>
    <p:extLst>
      <p:ext uri="{BB962C8B-B14F-4D97-AF65-F5344CB8AC3E}">
        <p14:creationId xmlns:p14="http://schemas.microsoft.com/office/powerpoint/2010/main" val="3926839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E7B3FD-3289-DF4F-B376-102B5A2376E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2"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14" name="Freeform: Shape 13">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6"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D6C2A72F-1D5E-D2BC-626A-F9A0B6134B49}"/>
              </a:ext>
            </a:extLst>
          </p:cNvPr>
          <p:cNvSpPr>
            <a:spLocks noGrp="1"/>
          </p:cNvSpPr>
          <p:nvPr>
            <p:ph type="title"/>
          </p:nvPr>
        </p:nvSpPr>
        <p:spPr>
          <a:xfrm>
            <a:off x="639098" y="629265"/>
            <a:ext cx="5132438" cy="1622322"/>
          </a:xfrm>
        </p:spPr>
        <p:txBody>
          <a:bodyPr>
            <a:normAutofit/>
          </a:bodyPr>
          <a:lstStyle/>
          <a:p>
            <a:r>
              <a:rPr lang="en-GB">
                <a:solidFill>
                  <a:srgbClr val="EBEBEB"/>
                </a:solidFill>
              </a:rPr>
              <a:t>AttentionVIZ: views and interactivity</a:t>
            </a:r>
          </a:p>
        </p:txBody>
      </p:sp>
      <p:pic>
        <p:nvPicPr>
          <p:cNvPr id="5" name="Picture 4">
            <a:extLst>
              <a:ext uri="{FF2B5EF4-FFF2-40B4-BE49-F238E27FC236}">
                <a16:creationId xmlns:a16="http://schemas.microsoft.com/office/drawing/2014/main" id="{7B4C10A0-9925-6739-6CEC-B0FF4D32841E}"/>
              </a:ext>
            </a:extLst>
          </p:cNvPr>
          <p:cNvPicPr>
            <a:picLocks noChangeAspect="1"/>
          </p:cNvPicPr>
          <p:nvPr/>
        </p:nvPicPr>
        <p:blipFill>
          <a:blip r:embed="rId2"/>
          <a:stretch>
            <a:fillRect/>
          </a:stretch>
        </p:blipFill>
        <p:spPr>
          <a:xfrm>
            <a:off x="6714836" y="1952964"/>
            <a:ext cx="4828707" cy="2969653"/>
          </a:xfrm>
          <a:prstGeom prst="rect">
            <a:avLst/>
          </a:prstGeom>
        </p:spPr>
      </p:pic>
      <p:sp>
        <p:nvSpPr>
          <p:cNvPr id="18" name="Rectangle 17">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 name="Subtitle 2">
            <a:extLst>
              <a:ext uri="{FF2B5EF4-FFF2-40B4-BE49-F238E27FC236}">
                <a16:creationId xmlns:a16="http://schemas.microsoft.com/office/drawing/2014/main" id="{7876307E-3050-8391-356B-034DFF287F21}"/>
              </a:ext>
            </a:extLst>
          </p:cNvPr>
          <p:cNvSpPr>
            <a:spLocks noGrp="1"/>
          </p:cNvSpPr>
          <p:nvPr>
            <p:ph idx="1"/>
          </p:nvPr>
        </p:nvSpPr>
        <p:spPr>
          <a:xfrm>
            <a:off x="639098" y="2418735"/>
            <a:ext cx="5132439" cy="3811742"/>
          </a:xfrm>
        </p:spPr>
        <p:txBody>
          <a:bodyPr anchor="ctr">
            <a:normAutofit/>
          </a:bodyPr>
          <a:lstStyle/>
          <a:p>
            <a:endParaRPr lang="en-US" dirty="0">
              <a:solidFill>
                <a:srgbClr val="FFFFFF"/>
              </a:solidFill>
            </a:endParaRPr>
          </a:p>
          <a:p>
            <a:r>
              <a:rPr lang="en-US" dirty="0">
                <a:solidFill>
                  <a:srgbClr val="FFFFFF"/>
                </a:solidFill>
              </a:rPr>
              <a:t>Single view, any plot in the matrix view can be clicked on to zoom into a single view, which allows the exploration of a single attention head in closer detail. It allows for the same customizations available in Matrix view. Users also have the option to project attention lines onto the scatterplots, which connect query and key tokens, and show only the top two attention weights for readability.</a:t>
            </a:r>
            <a:endParaRPr lang="en-GB" dirty="0">
              <a:solidFill>
                <a:srgbClr val="FFFFFF"/>
              </a:solidFill>
            </a:endParaRPr>
          </a:p>
          <a:p>
            <a:endParaRPr lang="en-US" dirty="0">
              <a:solidFill>
                <a:srgbClr val="FFFFFF"/>
              </a:solidFill>
            </a:endParaRPr>
          </a:p>
          <a:p>
            <a:pPr marL="0" indent="0">
              <a:buNone/>
            </a:pPr>
            <a:endParaRPr lang="en-US" dirty="0">
              <a:solidFill>
                <a:srgbClr val="FFFFFF"/>
              </a:solidFill>
            </a:endParaRPr>
          </a:p>
          <a:p>
            <a:endParaRPr lang="en-US" dirty="0">
              <a:solidFill>
                <a:srgbClr val="FFFFFF"/>
              </a:solidFill>
            </a:endParaRPr>
          </a:p>
          <a:p>
            <a:endParaRPr lang="en-US" dirty="0">
              <a:solidFill>
                <a:srgbClr val="FFFFFF"/>
              </a:solidFill>
            </a:endParaRPr>
          </a:p>
        </p:txBody>
      </p:sp>
    </p:spTree>
    <p:extLst>
      <p:ext uri="{BB962C8B-B14F-4D97-AF65-F5344CB8AC3E}">
        <p14:creationId xmlns:p14="http://schemas.microsoft.com/office/powerpoint/2010/main" val="263932020"/>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745F24-23D2-0944-EB6A-FEFC6D900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2D37D-11C2-9CB5-7A6A-5A80B91B7D0F}"/>
              </a:ext>
            </a:extLst>
          </p:cNvPr>
          <p:cNvSpPr>
            <a:spLocks noGrp="1"/>
          </p:cNvSpPr>
          <p:nvPr>
            <p:ph type="title"/>
          </p:nvPr>
        </p:nvSpPr>
        <p:spPr>
          <a:xfrm>
            <a:off x="1154954" y="973668"/>
            <a:ext cx="8761413" cy="706964"/>
          </a:xfrm>
        </p:spPr>
        <p:txBody>
          <a:bodyPr>
            <a:normAutofit/>
          </a:bodyPr>
          <a:lstStyle/>
          <a:p>
            <a:r>
              <a:rPr lang="en-GB" dirty="0" err="1"/>
              <a:t>AttentionVIZ</a:t>
            </a:r>
            <a:r>
              <a:rPr lang="en-GB" dirty="0"/>
              <a:t>: views and interactivity</a:t>
            </a:r>
          </a:p>
        </p:txBody>
      </p:sp>
      <p:pic>
        <p:nvPicPr>
          <p:cNvPr id="5" name="Picture 4">
            <a:extLst>
              <a:ext uri="{FF2B5EF4-FFF2-40B4-BE49-F238E27FC236}">
                <a16:creationId xmlns:a16="http://schemas.microsoft.com/office/drawing/2014/main" id="{229B1608-808F-5699-D32F-84D9DE686859}"/>
              </a:ext>
            </a:extLst>
          </p:cNvPr>
          <p:cNvPicPr>
            <a:picLocks noChangeAspect="1"/>
          </p:cNvPicPr>
          <p:nvPr/>
        </p:nvPicPr>
        <p:blipFill>
          <a:blip r:embed="rId2"/>
          <a:srcRect r="4" b="1962"/>
          <a:stretch>
            <a:fillRect/>
          </a:stretch>
        </p:blipFill>
        <p:spPr>
          <a:xfrm>
            <a:off x="1151467" y="2775951"/>
            <a:ext cx="4345024" cy="3067163"/>
          </a:xfrm>
          <a:prstGeom prst="roundRect">
            <a:avLst>
              <a:gd name="adj" fmla="val 1858"/>
            </a:avLst>
          </a:prstGeom>
          <a:effectLst>
            <a:outerShdw blurRad="50800" dist="50800" dir="5400000" algn="tl" rotWithShape="0">
              <a:srgbClr val="000000">
                <a:alpha val="43000"/>
              </a:srgbClr>
            </a:outerShdw>
          </a:effectLst>
        </p:spPr>
      </p:pic>
      <p:sp>
        <p:nvSpPr>
          <p:cNvPr id="4" name="Subtitle 2">
            <a:extLst>
              <a:ext uri="{FF2B5EF4-FFF2-40B4-BE49-F238E27FC236}">
                <a16:creationId xmlns:a16="http://schemas.microsoft.com/office/drawing/2014/main" id="{8D0E675A-9D7E-50E4-3975-978B9F44C727}"/>
              </a:ext>
            </a:extLst>
          </p:cNvPr>
          <p:cNvSpPr>
            <a:spLocks noGrp="1"/>
          </p:cNvSpPr>
          <p:nvPr>
            <p:ph idx="1"/>
          </p:nvPr>
        </p:nvSpPr>
        <p:spPr>
          <a:xfrm>
            <a:off x="5980954" y="2603500"/>
            <a:ext cx="5211979" cy="3416300"/>
          </a:xfrm>
        </p:spPr>
        <p:txBody>
          <a:bodyPr anchor="ctr">
            <a:normAutofit/>
          </a:bodyPr>
          <a:lstStyle/>
          <a:p>
            <a:pPr>
              <a:lnSpc>
                <a:spcPct val="90000"/>
              </a:lnSpc>
            </a:pPr>
            <a:endParaRPr lang="en-US" sz="1500" dirty="0"/>
          </a:p>
          <a:p>
            <a:pPr>
              <a:lnSpc>
                <a:spcPct val="90000"/>
              </a:lnSpc>
            </a:pPr>
            <a:r>
              <a:rPr lang="en-US" sz="1500" dirty="0"/>
              <a:t>Sentence view: When using BERT or GPT-2 users can click on a point in single view to open sentence view in the left sidebar, which displays </a:t>
            </a:r>
            <a:r>
              <a:rPr lang="en-US" sz="1500" dirty="0" err="1"/>
              <a:t>BertViz</a:t>
            </a:r>
            <a:r>
              <a:rPr lang="en-US" sz="1500" dirty="0"/>
              <a:t>-inspired visualization of sentence-level attention with the clicked token highlighted, bipartite approach offers the best readability. The opacity of connecting query tokens to key tokens shows the strength of attention. </a:t>
            </a:r>
          </a:p>
          <a:p>
            <a:pPr>
              <a:lnSpc>
                <a:spcPct val="90000"/>
              </a:lnSpc>
            </a:pPr>
            <a:endParaRPr lang="en-US" sz="1500" dirty="0"/>
          </a:p>
          <a:p>
            <a:pPr>
              <a:lnSpc>
                <a:spcPct val="90000"/>
              </a:lnSpc>
            </a:pPr>
            <a:r>
              <a:rPr lang="en-US" sz="1500" dirty="0"/>
              <a:t>Hovering over a token highlights a token-specific attention line. To reduce noise from classification tokens and separators, attention lines can be hidden.</a:t>
            </a:r>
            <a:endParaRPr lang="en-GB" sz="1500" dirty="0"/>
          </a:p>
          <a:p>
            <a:pPr>
              <a:lnSpc>
                <a:spcPct val="90000"/>
              </a:lnSpc>
            </a:pPr>
            <a:endParaRPr lang="en-US" sz="1500" dirty="0"/>
          </a:p>
          <a:p>
            <a:pPr marL="0" indent="0">
              <a:lnSpc>
                <a:spcPct val="90000"/>
              </a:lnSpc>
              <a:buNone/>
            </a:pPr>
            <a:endParaRPr lang="en-US" sz="1500" dirty="0"/>
          </a:p>
          <a:p>
            <a:pPr>
              <a:lnSpc>
                <a:spcPct val="90000"/>
              </a:lnSpc>
            </a:pPr>
            <a:endParaRPr lang="en-US" sz="1500" dirty="0"/>
          </a:p>
          <a:p>
            <a:pPr>
              <a:lnSpc>
                <a:spcPct val="90000"/>
              </a:lnSpc>
            </a:pPr>
            <a:endParaRPr lang="en-US" sz="1500" dirty="0"/>
          </a:p>
        </p:txBody>
      </p:sp>
    </p:spTree>
    <p:extLst>
      <p:ext uri="{BB962C8B-B14F-4D97-AF65-F5344CB8AC3E}">
        <p14:creationId xmlns:p14="http://schemas.microsoft.com/office/powerpoint/2010/main" val="3423217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588006-1D7B-4FBD-99EA-30FDD1DFC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2499E-CB51-8D4F-B97F-6CF63FC95BE3}"/>
              </a:ext>
            </a:extLst>
          </p:cNvPr>
          <p:cNvSpPr>
            <a:spLocks noGrp="1"/>
          </p:cNvSpPr>
          <p:nvPr>
            <p:ph type="title"/>
          </p:nvPr>
        </p:nvSpPr>
        <p:spPr>
          <a:xfrm>
            <a:off x="1154954" y="973668"/>
            <a:ext cx="8761413" cy="706964"/>
          </a:xfrm>
        </p:spPr>
        <p:txBody>
          <a:bodyPr>
            <a:normAutofit/>
          </a:bodyPr>
          <a:lstStyle/>
          <a:p>
            <a:r>
              <a:rPr lang="en-GB" dirty="0" err="1"/>
              <a:t>AttentionVIZ</a:t>
            </a:r>
            <a:r>
              <a:rPr lang="en-GB" dirty="0"/>
              <a:t>: views and interactivity</a:t>
            </a:r>
          </a:p>
        </p:txBody>
      </p:sp>
      <p:pic>
        <p:nvPicPr>
          <p:cNvPr id="5" name="Picture 4">
            <a:extLst>
              <a:ext uri="{FF2B5EF4-FFF2-40B4-BE49-F238E27FC236}">
                <a16:creationId xmlns:a16="http://schemas.microsoft.com/office/drawing/2014/main" id="{88C3F7E5-D991-62E2-ACB2-E55794EF115D}"/>
              </a:ext>
            </a:extLst>
          </p:cNvPr>
          <p:cNvPicPr>
            <a:picLocks noChangeAspect="1"/>
          </p:cNvPicPr>
          <p:nvPr/>
        </p:nvPicPr>
        <p:blipFill>
          <a:blip r:embed="rId2"/>
          <a:srcRect r="4" b="1962"/>
          <a:stretch>
            <a:fillRect/>
          </a:stretch>
        </p:blipFill>
        <p:spPr>
          <a:xfrm>
            <a:off x="1151467" y="2775951"/>
            <a:ext cx="4345024" cy="3067163"/>
          </a:xfrm>
          <a:prstGeom prst="roundRect">
            <a:avLst>
              <a:gd name="adj" fmla="val 1858"/>
            </a:avLst>
          </a:prstGeom>
          <a:effectLst>
            <a:outerShdw blurRad="50800" dist="50800" dir="5400000" algn="tl" rotWithShape="0">
              <a:srgbClr val="000000">
                <a:alpha val="43000"/>
              </a:srgbClr>
            </a:outerShdw>
          </a:effectLst>
        </p:spPr>
      </p:pic>
      <p:sp>
        <p:nvSpPr>
          <p:cNvPr id="4" name="Subtitle 2">
            <a:extLst>
              <a:ext uri="{FF2B5EF4-FFF2-40B4-BE49-F238E27FC236}">
                <a16:creationId xmlns:a16="http://schemas.microsoft.com/office/drawing/2014/main" id="{3567F627-B3C4-1F30-C821-E87A1653174B}"/>
              </a:ext>
            </a:extLst>
          </p:cNvPr>
          <p:cNvSpPr>
            <a:spLocks noGrp="1"/>
          </p:cNvSpPr>
          <p:nvPr>
            <p:ph idx="1"/>
          </p:nvPr>
        </p:nvSpPr>
        <p:spPr>
          <a:xfrm>
            <a:off x="5980954" y="2307771"/>
            <a:ext cx="5211979" cy="4245429"/>
          </a:xfrm>
        </p:spPr>
        <p:txBody>
          <a:bodyPr anchor="ctr">
            <a:normAutofit/>
          </a:bodyPr>
          <a:lstStyle/>
          <a:p>
            <a:pPr>
              <a:lnSpc>
                <a:spcPct val="90000"/>
              </a:lnSpc>
            </a:pPr>
            <a:endParaRPr lang="en-US" sz="1100" dirty="0"/>
          </a:p>
          <a:p>
            <a:pPr>
              <a:lnSpc>
                <a:spcPct val="90000"/>
              </a:lnSpc>
            </a:pPr>
            <a:r>
              <a:rPr lang="en-US" sz="1100" dirty="0"/>
              <a:t>Image view: For image-based input in </a:t>
            </a:r>
            <a:r>
              <a:rPr lang="en-US" sz="1100" dirty="0" err="1"/>
              <a:t>ViT</a:t>
            </a:r>
            <a:r>
              <a:rPr lang="en-US" sz="1100" dirty="0"/>
              <a:t>, when an image patch is clicked on, the clicked token is highlighted with colored border, users also see an image overlaid with an attention heatmap, transparency indicates the attention weight between the clicked image patch and other regions of the image. </a:t>
            </a:r>
          </a:p>
          <a:p>
            <a:pPr>
              <a:lnSpc>
                <a:spcPct val="90000"/>
              </a:lnSpc>
            </a:pPr>
            <a:endParaRPr lang="en-US" sz="1100" dirty="0"/>
          </a:p>
          <a:p>
            <a:pPr>
              <a:lnSpc>
                <a:spcPct val="90000"/>
              </a:lnSpc>
            </a:pPr>
            <a:r>
              <a:rPr lang="en-US" sz="1100" dirty="0"/>
              <a:t>The overall attention pattern within an image can also be explored by showing arrowed lines between different image patches. </a:t>
            </a:r>
          </a:p>
          <a:p>
            <a:pPr>
              <a:lnSpc>
                <a:spcPct val="90000"/>
              </a:lnSpc>
            </a:pPr>
            <a:endParaRPr lang="en-US" sz="1100" dirty="0"/>
          </a:p>
          <a:p>
            <a:pPr>
              <a:lnSpc>
                <a:spcPct val="90000"/>
              </a:lnSpc>
            </a:pPr>
            <a:r>
              <a:rPr lang="en-US" sz="1100" dirty="0"/>
              <a:t>There are two options available for visualizing attention arrows; the first option overlays heatmap on the top of the original image patches, with transparency indicating the attention weight between clicked image patch and other regions. </a:t>
            </a:r>
          </a:p>
          <a:p>
            <a:pPr>
              <a:lnSpc>
                <a:spcPct val="90000"/>
              </a:lnSpc>
            </a:pPr>
            <a:r>
              <a:rPr lang="en-US" sz="1100" dirty="0"/>
              <a:t>The second option shows the attention pattern of the whole image.</a:t>
            </a:r>
            <a:endParaRPr lang="en-GB" sz="1100" dirty="0"/>
          </a:p>
          <a:p>
            <a:pPr>
              <a:lnSpc>
                <a:spcPct val="90000"/>
              </a:lnSpc>
            </a:pPr>
            <a:endParaRPr lang="en-US" sz="1100" dirty="0"/>
          </a:p>
          <a:p>
            <a:pPr marL="0" indent="0">
              <a:lnSpc>
                <a:spcPct val="90000"/>
              </a:lnSpc>
              <a:buNone/>
            </a:pPr>
            <a:endParaRPr lang="en-US" sz="1100" dirty="0"/>
          </a:p>
          <a:p>
            <a:pPr>
              <a:lnSpc>
                <a:spcPct val="90000"/>
              </a:lnSpc>
            </a:pPr>
            <a:endParaRPr lang="en-US" sz="1100" dirty="0"/>
          </a:p>
          <a:p>
            <a:pPr>
              <a:lnSpc>
                <a:spcPct val="90000"/>
              </a:lnSpc>
            </a:pPr>
            <a:endParaRPr lang="en-US" sz="1100" dirty="0"/>
          </a:p>
        </p:txBody>
      </p:sp>
    </p:spTree>
    <p:extLst>
      <p:ext uri="{BB962C8B-B14F-4D97-AF65-F5344CB8AC3E}">
        <p14:creationId xmlns:p14="http://schemas.microsoft.com/office/powerpoint/2010/main" val="3864533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67FD4-19FA-FF6B-0E23-6ACD8DF36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DF159-5BDF-70A2-C08E-453D84CE19F0}"/>
              </a:ext>
            </a:extLst>
          </p:cNvPr>
          <p:cNvSpPr>
            <a:spLocks noGrp="1"/>
          </p:cNvSpPr>
          <p:nvPr>
            <p:ph type="title"/>
          </p:nvPr>
        </p:nvSpPr>
        <p:spPr/>
        <p:txBody>
          <a:bodyPr/>
          <a:lstStyle/>
          <a:p>
            <a:r>
              <a:rPr lang="en-GB" dirty="0" err="1"/>
              <a:t>AttentionVIZ</a:t>
            </a:r>
            <a:r>
              <a:rPr lang="en-GB" dirty="0"/>
              <a:t>: Findings and Evaluation</a:t>
            </a:r>
          </a:p>
        </p:txBody>
      </p:sp>
      <p:sp>
        <p:nvSpPr>
          <p:cNvPr id="4" name="Subtitle 2">
            <a:extLst>
              <a:ext uri="{FF2B5EF4-FFF2-40B4-BE49-F238E27FC236}">
                <a16:creationId xmlns:a16="http://schemas.microsoft.com/office/drawing/2014/main" id="{79A5204F-CF67-5655-CD65-14B43997B1EC}"/>
              </a:ext>
            </a:extLst>
          </p:cNvPr>
          <p:cNvSpPr>
            <a:spLocks noGrp="1"/>
          </p:cNvSpPr>
          <p:nvPr>
            <p:ph idx="1"/>
          </p:nvPr>
        </p:nvSpPr>
        <p:spPr>
          <a:xfrm>
            <a:off x="99574" y="2153346"/>
            <a:ext cx="11992851" cy="4572001"/>
          </a:xfrm>
        </p:spPr>
        <p:txBody>
          <a:bodyPr>
            <a:normAutofit/>
          </a:bodyPr>
          <a:lstStyle/>
          <a:p>
            <a:endParaRPr lang="en-US" dirty="0"/>
          </a:p>
          <a:p>
            <a:r>
              <a:rPr lang="en-US" sz="2400" dirty="0"/>
              <a:t>Experts in the field were invited to evaluate the tool and its results</a:t>
            </a:r>
          </a:p>
          <a:p>
            <a:endParaRPr lang="en-US" sz="2400" dirty="0"/>
          </a:p>
          <a:p>
            <a:r>
              <a:rPr lang="en-US" sz="2400" dirty="0"/>
              <a:t>We were curious if any visual attention heads specialize in either color-based and brightness-based patterns. PCA patterns in the matrix view, showed two attention heads that resemble color and colorless vision</a:t>
            </a:r>
          </a:p>
          <a:p>
            <a:endParaRPr lang="en-US" sz="2400" dirty="0"/>
          </a:p>
          <a:p>
            <a:r>
              <a:rPr lang="en-US" sz="2400" dirty="0"/>
              <a:t>Tokens pay the most attention to other tokens with the same color or brightness</a:t>
            </a:r>
          </a:p>
          <a:p>
            <a:endParaRPr lang="en-US" sz="2400" dirty="0"/>
          </a:p>
          <a:p>
            <a:endParaRPr lang="en-US" sz="2400" dirty="0"/>
          </a:p>
        </p:txBody>
      </p:sp>
    </p:spTree>
    <p:extLst>
      <p:ext uri="{BB962C8B-B14F-4D97-AF65-F5344CB8AC3E}">
        <p14:creationId xmlns:p14="http://schemas.microsoft.com/office/powerpoint/2010/main" val="102018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4C71A-34F5-65BC-7A38-D3DED1BBC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D6E26-479E-C45C-103E-202FD97FAE21}"/>
              </a:ext>
            </a:extLst>
          </p:cNvPr>
          <p:cNvSpPr>
            <a:spLocks noGrp="1"/>
          </p:cNvSpPr>
          <p:nvPr>
            <p:ph type="title"/>
          </p:nvPr>
        </p:nvSpPr>
        <p:spPr/>
        <p:txBody>
          <a:bodyPr/>
          <a:lstStyle/>
          <a:p>
            <a:r>
              <a:rPr lang="en-GB" dirty="0" err="1"/>
              <a:t>AttentionVIZ</a:t>
            </a:r>
            <a:r>
              <a:rPr lang="en-GB" dirty="0"/>
              <a:t>: Findings and Evaluation</a:t>
            </a:r>
          </a:p>
        </p:txBody>
      </p:sp>
      <p:sp>
        <p:nvSpPr>
          <p:cNvPr id="4" name="Subtitle 2">
            <a:extLst>
              <a:ext uri="{FF2B5EF4-FFF2-40B4-BE49-F238E27FC236}">
                <a16:creationId xmlns:a16="http://schemas.microsoft.com/office/drawing/2014/main" id="{EC968473-67AF-9AC4-3A79-22B3AABDA5D1}"/>
              </a:ext>
            </a:extLst>
          </p:cNvPr>
          <p:cNvSpPr>
            <a:spLocks noGrp="1"/>
          </p:cNvSpPr>
          <p:nvPr>
            <p:ph idx="1"/>
          </p:nvPr>
        </p:nvSpPr>
        <p:spPr>
          <a:xfrm>
            <a:off x="99574" y="2153346"/>
            <a:ext cx="11992851" cy="4572001"/>
          </a:xfrm>
        </p:spPr>
        <p:txBody>
          <a:bodyPr>
            <a:normAutofit lnSpcReduction="10000"/>
          </a:bodyPr>
          <a:lstStyle/>
          <a:p>
            <a:endParaRPr lang="en-US" dirty="0"/>
          </a:p>
          <a:p>
            <a:r>
              <a:rPr lang="en-US" sz="2400" dirty="0"/>
              <a:t>They identified an attention head that separates image tokens based on their spatial pattern’s frequencies and angles (similar shapes and angles paid attention to each other).</a:t>
            </a:r>
          </a:p>
          <a:p>
            <a:endParaRPr lang="en-US" sz="2400" dirty="0"/>
          </a:p>
          <a:p>
            <a:r>
              <a:rPr lang="en-US" sz="2400" dirty="0"/>
              <a:t>Self attention attends more broadly across images in deeper layers of vision transformers</a:t>
            </a:r>
          </a:p>
          <a:p>
            <a:endParaRPr lang="en-US" sz="2400" dirty="0"/>
          </a:p>
          <a:p>
            <a:r>
              <a:rPr lang="en-US" sz="2400" dirty="0"/>
              <a:t>Unlike CNN which processes images using square filter, the self-attention mechanism in transformers often processes images row by row and column by column, analogous to an elongated filter.</a:t>
            </a:r>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1601373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C5EA9-B1E3-EB03-2BD0-65106E179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28546-2B53-D373-3C30-2C9D3DA0A3F1}"/>
              </a:ext>
            </a:extLst>
          </p:cNvPr>
          <p:cNvSpPr>
            <a:spLocks noGrp="1"/>
          </p:cNvSpPr>
          <p:nvPr>
            <p:ph type="title"/>
          </p:nvPr>
        </p:nvSpPr>
        <p:spPr/>
        <p:txBody>
          <a:bodyPr/>
          <a:lstStyle/>
          <a:p>
            <a:r>
              <a:rPr lang="en-GB" dirty="0" err="1"/>
              <a:t>AttentionVIZ</a:t>
            </a:r>
            <a:r>
              <a:rPr lang="en-GB" dirty="0"/>
              <a:t>: Findings and Evaluation</a:t>
            </a:r>
          </a:p>
        </p:txBody>
      </p:sp>
      <p:sp>
        <p:nvSpPr>
          <p:cNvPr id="4" name="Subtitle 2">
            <a:extLst>
              <a:ext uri="{FF2B5EF4-FFF2-40B4-BE49-F238E27FC236}">
                <a16:creationId xmlns:a16="http://schemas.microsoft.com/office/drawing/2014/main" id="{0ACB7FB0-7EFE-7610-DA5D-2B04D0700E50}"/>
              </a:ext>
            </a:extLst>
          </p:cNvPr>
          <p:cNvSpPr>
            <a:spLocks noGrp="1"/>
          </p:cNvSpPr>
          <p:nvPr>
            <p:ph idx="1"/>
          </p:nvPr>
        </p:nvSpPr>
        <p:spPr>
          <a:xfrm>
            <a:off x="99574" y="2153346"/>
            <a:ext cx="11992851" cy="4572001"/>
          </a:xfrm>
        </p:spPr>
        <p:txBody>
          <a:bodyPr>
            <a:normAutofit/>
          </a:bodyPr>
          <a:lstStyle/>
          <a:p>
            <a:endParaRPr lang="en-US" dirty="0"/>
          </a:p>
          <a:p>
            <a:r>
              <a:rPr lang="en-US" sz="2400" dirty="0"/>
              <a:t>They identified that plots with spirals and clump tokens encode positional patterns; token position increases as we move from the outside to the inside of the spiral.</a:t>
            </a:r>
          </a:p>
          <a:p>
            <a:r>
              <a:rPr lang="en-US" sz="2400" dirty="0"/>
              <a:t>The difference between spirals and clumps appear to be whether token attends selectively to others one position away, vs several different positions</a:t>
            </a:r>
          </a:p>
          <a:p>
            <a:endParaRPr lang="en-US" sz="2400" dirty="0"/>
          </a:p>
          <a:p>
            <a:r>
              <a:rPr lang="en-US" sz="2400" dirty="0"/>
              <a:t>Heads with high query-key overlap. Tokens typically attend to themselves and other instances of the same token</a:t>
            </a:r>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2100249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03816-32EC-720A-3118-57CCE1B0D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E3B5F-E70F-C8DC-40F2-2B4100F4AFF8}"/>
              </a:ext>
            </a:extLst>
          </p:cNvPr>
          <p:cNvSpPr>
            <a:spLocks noGrp="1"/>
          </p:cNvSpPr>
          <p:nvPr>
            <p:ph type="title"/>
          </p:nvPr>
        </p:nvSpPr>
        <p:spPr/>
        <p:txBody>
          <a:bodyPr/>
          <a:lstStyle/>
          <a:p>
            <a:r>
              <a:rPr lang="en-GB" dirty="0" err="1"/>
              <a:t>AttentionVIZ</a:t>
            </a:r>
            <a:r>
              <a:rPr lang="en-GB" dirty="0"/>
              <a:t>: Findings and Evaluation</a:t>
            </a:r>
          </a:p>
        </p:txBody>
      </p:sp>
      <p:sp>
        <p:nvSpPr>
          <p:cNvPr id="4" name="Subtitle 2">
            <a:extLst>
              <a:ext uri="{FF2B5EF4-FFF2-40B4-BE49-F238E27FC236}">
                <a16:creationId xmlns:a16="http://schemas.microsoft.com/office/drawing/2014/main" id="{45829145-F024-53EB-B0B7-947D6676370F}"/>
              </a:ext>
            </a:extLst>
          </p:cNvPr>
          <p:cNvSpPr>
            <a:spLocks noGrp="1"/>
          </p:cNvSpPr>
          <p:nvPr>
            <p:ph idx="1"/>
          </p:nvPr>
        </p:nvSpPr>
        <p:spPr>
          <a:xfrm>
            <a:off x="99574" y="2153346"/>
            <a:ext cx="11992851" cy="4572001"/>
          </a:xfrm>
        </p:spPr>
        <p:txBody>
          <a:bodyPr>
            <a:normAutofit/>
          </a:bodyPr>
          <a:lstStyle/>
          <a:p>
            <a:endParaRPr lang="en-US" dirty="0"/>
          </a:p>
          <a:p>
            <a:r>
              <a:rPr lang="en-US" sz="2400" dirty="0"/>
              <a:t>Earlier layers have more have the most information about linear word order</a:t>
            </a:r>
          </a:p>
          <a:p>
            <a:endParaRPr lang="en-US" sz="2400" dirty="0"/>
          </a:p>
          <a:p>
            <a:endParaRPr lang="en-US" sz="2400" dirty="0"/>
          </a:p>
          <a:p>
            <a:r>
              <a:rPr lang="en-US" sz="2400" dirty="0"/>
              <a:t>Mid-to-later model layers contains syntactic and task-specific information; for instance, later layers have query-key sandwich, where keys and queries at the beginning of text are stacked, followed by being in reverse order at the end of the text.</a:t>
            </a:r>
          </a:p>
          <a:p>
            <a:endParaRPr lang="en-US" sz="2400" dirty="0"/>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1844548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23571-EDF8-83F2-03E0-2A73B850A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783DB-9CC4-216C-5F27-8EC8529870D6}"/>
              </a:ext>
            </a:extLst>
          </p:cNvPr>
          <p:cNvSpPr>
            <a:spLocks noGrp="1"/>
          </p:cNvSpPr>
          <p:nvPr>
            <p:ph type="title"/>
          </p:nvPr>
        </p:nvSpPr>
        <p:spPr/>
        <p:txBody>
          <a:bodyPr/>
          <a:lstStyle/>
          <a:p>
            <a:r>
              <a:rPr lang="en-GB" dirty="0" err="1"/>
              <a:t>AttentionVIZ</a:t>
            </a:r>
            <a:r>
              <a:rPr lang="en-GB" dirty="0"/>
              <a:t>: Findings and Evaluation</a:t>
            </a:r>
          </a:p>
        </p:txBody>
      </p:sp>
      <p:sp>
        <p:nvSpPr>
          <p:cNvPr id="4" name="Subtitle 2">
            <a:extLst>
              <a:ext uri="{FF2B5EF4-FFF2-40B4-BE49-F238E27FC236}">
                <a16:creationId xmlns:a16="http://schemas.microsoft.com/office/drawing/2014/main" id="{6A8CFA40-A6EA-7B8F-62DA-A9A6E564CD56}"/>
              </a:ext>
            </a:extLst>
          </p:cNvPr>
          <p:cNvSpPr>
            <a:spLocks noGrp="1"/>
          </p:cNvSpPr>
          <p:nvPr>
            <p:ph idx="1"/>
          </p:nvPr>
        </p:nvSpPr>
        <p:spPr>
          <a:xfrm>
            <a:off x="99574" y="2153346"/>
            <a:ext cx="11992851" cy="4572001"/>
          </a:xfrm>
        </p:spPr>
        <p:txBody>
          <a:bodyPr>
            <a:normAutofit/>
          </a:bodyPr>
          <a:lstStyle/>
          <a:p>
            <a:pPr marL="0" indent="0">
              <a:buNone/>
            </a:pPr>
            <a:endParaRPr lang="en-US" sz="2400" dirty="0"/>
          </a:p>
          <a:p>
            <a:r>
              <a:rPr lang="en-US" sz="2400" dirty="0"/>
              <a:t>An overview of the global search pattern shows that patterns in clumps and spirals have more dispersed search results, indicative of their underlying positional attention patterns. Heads with the “look at self” attention pattern only have one cluster of search results, emphasizing the strong interaction between query and keys</a:t>
            </a:r>
          </a:p>
          <a:p>
            <a:endParaRPr lang="en-US" sz="2400" dirty="0"/>
          </a:p>
          <a:p>
            <a:r>
              <a:rPr lang="en-US" sz="2400" dirty="0"/>
              <a:t>Even when there was no distinctive shape, if there were a few search result clusters, the head may display more semantic behavior.</a:t>
            </a:r>
          </a:p>
          <a:p>
            <a:endParaRPr lang="en-US" sz="2400" dirty="0"/>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2219087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C1337-6F11-4FD9-5CEC-C7F6E43DF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1FFA7-DF0D-5207-9475-8F0F25B266E6}"/>
              </a:ext>
            </a:extLst>
          </p:cNvPr>
          <p:cNvSpPr>
            <a:spLocks noGrp="1"/>
          </p:cNvSpPr>
          <p:nvPr>
            <p:ph type="title"/>
          </p:nvPr>
        </p:nvSpPr>
        <p:spPr/>
        <p:txBody>
          <a:bodyPr/>
          <a:lstStyle/>
          <a:p>
            <a:r>
              <a:rPr lang="en-GB" dirty="0" err="1"/>
              <a:t>AttentionVIZ</a:t>
            </a:r>
            <a:r>
              <a:rPr lang="en-GB" dirty="0"/>
              <a:t>: identifying anomalies and unexpected Behaviour</a:t>
            </a:r>
          </a:p>
        </p:txBody>
      </p:sp>
      <p:sp>
        <p:nvSpPr>
          <p:cNvPr id="4" name="Subtitle 2">
            <a:extLst>
              <a:ext uri="{FF2B5EF4-FFF2-40B4-BE49-F238E27FC236}">
                <a16:creationId xmlns:a16="http://schemas.microsoft.com/office/drawing/2014/main" id="{40FFD65F-F71D-4CFF-5634-FBABBDC4FDDB}"/>
              </a:ext>
            </a:extLst>
          </p:cNvPr>
          <p:cNvSpPr>
            <a:spLocks noGrp="1"/>
          </p:cNvSpPr>
          <p:nvPr>
            <p:ph idx="1"/>
          </p:nvPr>
        </p:nvSpPr>
        <p:spPr>
          <a:xfrm>
            <a:off x="99574" y="2153346"/>
            <a:ext cx="11992851" cy="4572001"/>
          </a:xfrm>
        </p:spPr>
        <p:txBody>
          <a:bodyPr>
            <a:normAutofit/>
          </a:bodyPr>
          <a:lstStyle/>
          <a:p>
            <a:pPr marL="0" indent="0">
              <a:buNone/>
            </a:pPr>
            <a:endParaRPr lang="en-US" sz="2400" dirty="0"/>
          </a:p>
          <a:p>
            <a:r>
              <a:rPr lang="en-US" sz="2400" dirty="0"/>
              <a:t> In GPT-2 they noticed large disparity in the norm of query and key, there was no explanation for this, how ever a paper published points to out-of-control query and key norms as cause of training instability.</a:t>
            </a:r>
          </a:p>
          <a:p>
            <a:endParaRPr lang="en-US" sz="2400" dirty="0"/>
          </a:p>
          <a:p>
            <a:r>
              <a:rPr lang="en-US" sz="2400" dirty="0"/>
              <a:t>In many GPT-2 heads, attention was mostly directed to the first token, especially in the later layers</a:t>
            </a:r>
          </a:p>
          <a:p>
            <a:endParaRPr lang="en-US" sz="2400" dirty="0"/>
          </a:p>
          <a:p>
            <a:r>
              <a:rPr lang="en-US" sz="2400" dirty="0"/>
              <a:t>Self attending attention heads</a:t>
            </a:r>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1566349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F54B-0BDE-58AC-E26E-4ADF87DF7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3C5C8-38D8-FE87-C29C-CBCAF9D4DE46}"/>
              </a:ext>
            </a:extLst>
          </p:cNvPr>
          <p:cNvSpPr>
            <a:spLocks noGrp="1"/>
          </p:cNvSpPr>
          <p:nvPr>
            <p:ph type="title"/>
          </p:nvPr>
        </p:nvSpPr>
        <p:spPr/>
        <p:txBody>
          <a:bodyPr/>
          <a:lstStyle/>
          <a:p>
            <a:r>
              <a:rPr lang="en-GB" dirty="0"/>
              <a:t>Supervisors Feedback</a:t>
            </a:r>
          </a:p>
        </p:txBody>
      </p:sp>
      <p:sp>
        <p:nvSpPr>
          <p:cNvPr id="4" name="Subtitle 2">
            <a:extLst>
              <a:ext uri="{FF2B5EF4-FFF2-40B4-BE49-F238E27FC236}">
                <a16:creationId xmlns:a16="http://schemas.microsoft.com/office/drawing/2014/main" id="{7C863207-55F2-A4B9-38EA-5135182C984B}"/>
              </a:ext>
            </a:extLst>
          </p:cNvPr>
          <p:cNvSpPr>
            <a:spLocks noGrp="1"/>
          </p:cNvSpPr>
          <p:nvPr>
            <p:ph idx="1"/>
          </p:nvPr>
        </p:nvSpPr>
        <p:spPr>
          <a:xfrm>
            <a:off x="99574" y="2153346"/>
            <a:ext cx="11992851" cy="4572001"/>
          </a:xfrm>
        </p:spPr>
        <p:txBody>
          <a:bodyPr>
            <a:normAutofit/>
          </a:bodyPr>
          <a:lstStyle/>
          <a:p>
            <a:pPr marL="0" indent="0">
              <a:buNone/>
            </a:pPr>
            <a:endParaRPr lang="en-US" sz="2400" dirty="0"/>
          </a:p>
          <a:p>
            <a:r>
              <a:rPr lang="en-US" sz="2400" dirty="0"/>
              <a:t>Look at </a:t>
            </a:r>
            <a:r>
              <a:rPr lang="en-US" sz="2400" dirty="0" err="1"/>
              <a:t>attentionviz</a:t>
            </a:r>
            <a:r>
              <a:rPr lang="en-US" sz="2400" dirty="0"/>
              <a:t>, study it more</a:t>
            </a:r>
          </a:p>
          <a:p>
            <a:r>
              <a:rPr lang="en-US" sz="2400" dirty="0"/>
              <a:t>Understand and try to implement a new document with </a:t>
            </a:r>
            <a:r>
              <a:rPr lang="en-US" sz="2400" dirty="0" err="1"/>
              <a:t>visBERT</a:t>
            </a:r>
            <a:endParaRPr lang="en-US" sz="2400" dirty="0"/>
          </a:p>
          <a:p>
            <a:r>
              <a:rPr lang="en-US" sz="2400" dirty="0"/>
              <a:t>What are keys and query</a:t>
            </a:r>
          </a:p>
          <a:p>
            <a:r>
              <a:rPr lang="en-US" sz="2400" dirty="0"/>
              <a:t>Find where the model is and how it’s implemented</a:t>
            </a:r>
          </a:p>
          <a:p>
            <a:r>
              <a:rPr lang="en-US" sz="2400" dirty="0"/>
              <a:t>How dimensionality reduction is applied to the model</a:t>
            </a:r>
          </a:p>
          <a:p>
            <a:r>
              <a:rPr lang="en-US" sz="2400" dirty="0"/>
              <a:t>Push to </a:t>
            </a:r>
            <a:r>
              <a:rPr lang="en-US" sz="2400" dirty="0" err="1"/>
              <a:t>GitHUB</a:t>
            </a:r>
            <a:r>
              <a:rPr lang="en-US" sz="2400" dirty="0"/>
              <a:t> and send to Dr. </a:t>
            </a:r>
            <a:r>
              <a:rPr lang="en-US" sz="2400"/>
              <a:t>Gopal</a:t>
            </a:r>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11701438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4051</TotalTime>
  <Words>1865</Words>
  <Application>Microsoft Office PowerPoint</Application>
  <PresentationFormat>Widescreen</PresentationFormat>
  <Paragraphs>212</Paragraphs>
  <Slides>29</Slides>
  <Notes>1</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Ion Boardroom</vt:lpstr>
      <vt:lpstr>PHD Progression 6</vt:lpstr>
      <vt:lpstr>How Does BERT Answer Questions? A Layer-wise Analysis of Transformer Representations </vt:lpstr>
      <vt:lpstr>How Does BERT Answer Questions? A Layer-wise Analysis of Transformer Representations </vt:lpstr>
      <vt:lpstr>How Does BERT Answer Questions? A Layer-wise Analysis of Transformer Representations </vt:lpstr>
      <vt:lpstr>How Does BERT Answer Questions? A Layer-wise Analysis of Transformer Representations</vt:lpstr>
      <vt:lpstr>Experiment </vt:lpstr>
      <vt:lpstr>Results </vt:lpstr>
      <vt:lpstr>Results </vt:lpstr>
      <vt:lpstr>PowerPoint Presentation</vt:lpstr>
      <vt:lpstr>Results </vt:lpstr>
      <vt:lpstr>Results </vt:lpstr>
      <vt:lpstr>Results </vt:lpstr>
      <vt:lpstr>Results </vt:lpstr>
      <vt:lpstr>AttentionVIZ</vt:lpstr>
      <vt:lpstr>AttentionVIZ</vt:lpstr>
      <vt:lpstr>AttentionVIZ</vt:lpstr>
      <vt:lpstr>AttentionVIZ</vt:lpstr>
      <vt:lpstr>AttentionVIZ: views and interactivity</vt:lpstr>
      <vt:lpstr>AttentionVIZ: views and interactivity</vt:lpstr>
      <vt:lpstr>AttentionVIZ: views and interactivity</vt:lpstr>
      <vt:lpstr>AttentionVIZ: views and interactivity</vt:lpstr>
      <vt:lpstr>AttentionVIZ: views and interactivity</vt:lpstr>
      <vt:lpstr>AttentionVIZ: Findings and Evaluation</vt:lpstr>
      <vt:lpstr>AttentionVIZ: Findings and Evaluation</vt:lpstr>
      <vt:lpstr>AttentionVIZ: Findings and Evaluation</vt:lpstr>
      <vt:lpstr>AttentionVIZ: Findings and Evaluation</vt:lpstr>
      <vt:lpstr>AttentionVIZ: Findings and Evaluation</vt:lpstr>
      <vt:lpstr>AttentionVIZ: identifying anomalies and unexpected Behaviour</vt:lpstr>
      <vt:lpstr>Supervisors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Olanrewaju</dc:creator>
  <cp:lastModifiedBy>Olanrewaju, Emmanuel (Student)</cp:lastModifiedBy>
  <cp:revision>10</cp:revision>
  <dcterms:created xsi:type="dcterms:W3CDTF">2025-12-11T20:11:21Z</dcterms:created>
  <dcterms:modified xsi:type="dcterms:W3CDTF">2026-01-05T12:35:26Z</dcterms:modified>
</cp:coreProperties>
</file>