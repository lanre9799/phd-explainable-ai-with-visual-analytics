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 id="2147483690" r:id="rId2"/>
  </p:sldMasterIdLst>
  <p:notesMasterIdLst>
    <p:notesMasterId r:id="rId29"/>
  </p:notesMasterIdLst>
  <p:sldIdLst>
    <p:sldId id="256" r:id="rId3"/>
    <p:sldId id="257" r:id="rId4"/>
    <p:sldId id="258" r:id="rId5"/>
    <p:sldId id="259" r:id="rId6"/>
    <p:sldId id="261" r:id="rId7"/>
    <p:sldId id="260" r:id="rId8"/>
    <p:sldId id="281" r:id="rId9"/>
    <p:sldId id="284" r:id="rId10"/>
    <p:sldId id="285" r:id="rId11"/>
    <p:sldId id="287" r:id="rId12"/>
    <p:sldId id="300" r:id="rId13"/>
    <p:sldId id="301" r:id="rId14"/>
    <p:sldId id="288" r:id="rId15"/>
    <p:sldId id="289" r:id="rId16"/>
    <p:sldId id="290" r:id="rId17"/>
    <p:sldId id="291" r:id="rId18"/>
    <p:sldId id="292" r:id="rId19"/>
    <p:sldId id="293" r:id="rId20"/>
    <p:sldId id="294" r:id="rId21"/>
    <p:sldId id="295" r:id="rId22"/>
    <p:sldId id="296" r:id="rId23"/>
    <p:sldId id="297" r:id="rId24"/>
    <p:sldId id="298" r:id="rId25"/>
    <p:sldId id="302" r:id="rId26"/>
    <p:sldId id="303" r:id="rId27"/>
    <p:sldId id="299"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46A6CE-D0FA-4856-BA07-25A22491528E}" v="8" dt="2026-01-09T12:57:02.7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AD436E-55BC-4BE6-B170-5878583971E9}" type="datetimeFigureOut">
              <a:rPr lang="en-GB" smtClean="0"/>
              <a:t>13/01/2026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056C38-0CC7-43ED-83A7-5A5A90D13484}" type="slidenum">
              <a:rPr lang="en-GB" smtClean="0"/>
              <a:t>‹#›</a:t>
            </a:fld>
            <a:endParaRPr lang="en-GB"/>
          </a:p>
        </p:txBody>
      </p:sp>
    </p:spTree>
    <p:extLst>
      <p:ext uri="{BB962C8B-B14F-4D97-AF65-F5344CB8AC3E}">
        <p14:creationId xmlns:p14="http://schemas.microsoft.com/office/powerpoint/2010/main" val="177788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6C2D1CA-67A0-4B08-A8A3-D9A0C8C668C2}"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611075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1B698BF8-004E-4D82-A2C5-966C6FB24924}" type="datetimeFigureOut">
              <a:rPr lang="en-GB" smtClean="0"/>
              <a:t>13/01/2026</a:t>
            </a:fld>
            <a:endParaRPr lang="en-GB"/>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GB"/>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59A68E41-4D18-4305-B394-BC78AF0E2CA1}" type="slidenum">
              <a:rPr lang="en-GB" smtClean="0"/>
              <a:t>‹#›</a:t>
            </a:fld>
            <a:endParaRPr lang="en-GB"/>
          </a:p>
        </p:txBody>
      </p:sp>
    </p:spTree>
    <p:extLst>
      <p:ext uri="{BB962C8B-B14F-4D97-AF65-F5344CB8AC3E}">
        <p14:creationId xmlns:p14="http://schemas.microsoft.com/office/powerpoint/2010/main" val="2959314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B698BF8-004E-4D82-A2C5-966C6FB24924}" type="datetimeFigureOut">
              <a:rPr lang="en-GB" smtClean="0"/>
              <a:t>13/01/2026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10558300" y="5956137"/>
            <a:ext cx="1052508" cy="365125"/>
          </a:xfrm>
        </p:spPr>
        <p:txBody>
          <a:bodyPr/>
          <a:lstStyle/>
          <a:p>
            <a:fld id="{59A68E41-4D18-4305-B394-BC78AF0E2CA1}" type="slidenum">
              <a:rPr lang="en-GB" smtClean="0"/>
              <a:t>‹#›</a:t>
            </a:fld>
            <a:endParaRPr lang="en-GB"/>
          </a:p>
        </p:txBody>
      </p:sp>
    </p:spTree>
    <p:extLst>
      <p:ext uri="{BB962C8B-B14F-4D97-AF65-F5344CB8AC3E}">
        <p14:creationId xmlns:p14="http://schemas.microsoft.com/office/powerpoint/2010/main" val="2960170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1B698BF8-004E-4D82-A2C5-966C6FB24924}" type="datetimeFigureOut">
              <a:rPr lang="en-GB" smtClean="0"/>
              <a:t>13/01/2026</a:t>
            </a:fld>
            <a:endParaRPr lang="en-GB"/>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GB"/>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59A68E41-4D18-4305-B394-BC78AF0E2CA1}" type="slidenum">
              <a:rPr lang="en-GB" smtClean="0"/>
              <a:t>‹#›</a:t>
            </a:fld>
            <a:endParaRPr lang="en-GB"/>
          </a:p>
        </p:txBody>
      </p:sp>
    </p:spTree>
    <p:extLst>
      <p:ext uri="{BB962C8B-B14F-4D97-AF65-F5344CB8AC3E}">
        <p14:creationId xmlns:p14="http://schemas.microsoft.com/office/powerpoint/2010/main" val="711481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B698BF8-004E-4D82-A2C5-966C6FB24924}" type="datetimeFigureOut">
              <a:rPr lang="en-GB" smtClean="0"/>
              <a:t>13/01/2026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9A68E41-4D18-4305-B394-BC78AF0E2CA1}" type="slidenum">
              <a:rPr lang="en-GB" smtClean="0"/>
              <a:t>‹#›</a:t>
            </a:fld>
            <a:endParaRPr lang="en-GB"/>
          </a:p>
        </p:txBody>
      </p:sp>
    </p:spTree>
    <p:extLst>
      <p:ext uri="{BB962C8B-B14F-4D97-AF65-F5344CB8AC3E}">
        <p14:creationId xmlns:p14="http://schemas.microsoft.com/office/powerpoint/2010/main" val="688592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B698BF8-004E-4D82-A2C5-966C6FB24924}" type="datetimeFigureOut">
              <a:rPr lang="en-GB" smtClean="0"/>
              <a:t>13/01/2026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9A68E41-4D18-4305-B394-BC78AF0E2CA1}" type="slidenum">
              <a:rPr lang="en-GB" smtClean="0"/>
              <a:t>‹#›</a:t>
            </a:fld>
            <a:endParaRPr lang="en-GB"/>
          </a:p>
        </p:txBody>
      </p:sp>
    </p:spTree>
    <p:extLst>
      <p:ext uri="{BB962C8B-B14F-4D97-AF65-F5344CB8AC3E}">
        <p14:creationId xmlns:p14="http://schemas.microsoft.com/office/powerpoint/2010/main" val="3221511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1B698BF8-004E-4D82-A2C5-966C6FB24924}" type="datetimeFigureOut">
              <a:rPr lang="en-GB" smtClean="0"/>
              <a:t>13/01/2026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9A68E41-4D18-4305-B394-BC78AF0E2CA1}" type="slidenum">
              <a:rPr lang="en-GB" smtClean="0"/>
              <a:t>‹#›</a:t>
            </a:fld>
            <a:endParaRPr lang="en-GB"/>
          </a:p>
        </p:txBody>
      </p:sp>
    </p:spTree>
    <p:extLst>
      <p:ext uri="{BB962C8B-B14F-4D97-AF65-F5344CB8AC3E}">
        <p14:creationId xmlns:p14="http://schemas.microsoft.com/office/powerpoint/2010/main" val="641399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698BF8-004E-4D82-A2C5-966C6FB24924}" type="datetimeFigureOut">
              <a:rPr lang="en-GB" smtClean="0"/>
              <a:t>13/01/2026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9A68E41-4D18-4305-B394-BC78AF0E2CA1}" type="slidenum">
              <a:rPr lang="en-GB" smtClean="0"/>
              <a:t>‹#›</a:t>
            </a:fld>
            <a:endParaRPr lang="en-GB"/>
          </a:p>
        </p:txBody>
      </p:sp>
    </p:spTree>
    <p:extLst>
      <p:ext uri="{BB962C8B-B14F-4D97-AF65-F5344CB8AC3E}">
        <p14:creationId xmlns:p14="http://schemas.microsoft.com/office/powerpoint/2010/main" val="2527440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1B698BF8-004E-4D82-A2C5-966C6FB24924}" type="datetimeFigureOut">
              <a:rPr lang="en-GB" smtClean="0"/>
              <a:t>13/01/2026</a:t>
            </a:fld>
            <a:endParaRPr lang="en-GB"/>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GB"/>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59A68E41-4D18-4305-B394-BC78AF0E2CA1}" type="slidenum">
              <a:rPr lang="en-GB" smtClean="0"/>
              <a:t>‹#›</a:t>
            </a:fld>
            <a:endParaRPr lang="en-GB"/>
          </a:p>
        </p:txBody>
      </p:sp>
    </p:spTree>
    <p:extLst>
      <p:ext uri="{BB962C8B-B14F-4D97-AF65-F5344CB8AC3E}">
        <p14:creationId xmlns:p14="http://schemas.microsoft.com/office/powerpoint/2010/main" val="26818153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B698BF8-004E-4D82-A2C5-966C6FB24924}" type="datetimeFigureOut">
              <a:rPr lang="en-GB" smtClean="0"/>
              <a:t>13/01/2026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9A68E41-4D18-4305-B394-BC78AF0E2CA1}" type="slidenum">
              <a:rPr lang="en-GB" smtClean="0"/>
              <a:t>‹#›</a:t>
            </a:fld>
            <a:endParaRPr lang="en-GB"/>
          </a:p>
        </p:txBody>
      </p:sp>
    </p:spTree>
    <p:extLst>
      <p:ext uri="{BB962C8B-B14F-4D97-AF65-F5344CB8AC3E}">
        <p14:creationId xmlns:p14="http://schemas.microsoft.com/office/powerpoint/2010/main" val="2228081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B698BF8-004E-4D82-A2C5-966C6FB24924}" type="datetimeFigureOut">
              <a:rPr lang="en-GB" smtClean="0"/>
              <a:t>13/01/2026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9A68E41-4D18-4305-B394-BC78AF0E2CA1}" type="slidenum">
              <a:rPr lang="en-GB" smtClean="0"/>
              <a:t>‹#›</a:t>
            </a:fld>
            <a:endParaRPr lang="en-GB"/>
          </a:p>
        </p:txBody>
      </p:sp>
    </p:spTree>
    <p:extLst>
      <p:ext uri="{BB962C8B-B14F-4D97-AF65-F5344CB8AC3E}">
        <p14:creationId xmlns:p14="http://schemas.microsoft.com/office/powerpoint/2010/main" val="4079801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1B698BF8-004E-4D82-A2C5-966C6FB24924}" type="datetimeFigureOut">
              <a:rPr lang="en-GB" smtClean="0"/>
              <a:t>13/01/2026</a:t>
            </a:fld>
            <a:endParaRPr lang="en-GB"/>
          </a:p>
        </p:txBody>
      </p:sp>
      <p:sp>
        <p:nvSpPr>
          <p:cNvPr id="5" name="Footer Placeholder 4"/>
          <p:cNvSpPr>
            <a:spLocks noGrp="1"/>
          </p:cNvSpPr>
          <p:nvPr>
            <p:ph type="ftr" sz="quarter" idx="11"/>
          </p:nvPr>
        </p:nvSpPr>
        <p:spPr>
          <a:xfrm>
            <a:off x="774923" y="5951811"/>
            <a:ext cx="7896279" cy="365125"/>
          </a:xfrm>
        </p:spPr>
        <p:txBody>
          <a:bodyPr/>
          <a:lstStyle/>
          <a:p>
            <a:endParaRPr lang="en-GB"/>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59A68E41-4D18-4305-B394-BC78AF0E2CA1}" type="slidenum">
              <a:rPr lang="en-GB" smtClean="0"/>
              <a:t>‹#›</a:t>
            </a:fld>
            <a:endParaRPr lang="en-GB"/>
          </a:p>
        </p:txBody>
      </p:sp>
    </p:spTree>
    <p:extLst>
      <p:ext uri="{BB962C8B-B14F-4D97-AF65-F5344CB8AC3E}">
        <p14:creationId xmlns:p14="http://schemas.microsoft.com/office/powerpoint/2010/main" val="25068127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a:p>
          </p:txBody>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01D569F-403D-4D8B-A270-78E243560B07}" type="datetimeFigureOut">
              <a:rPr lang="en-GB" smtClean="0"/>
              <a:t>13/01/2026</a:t>
            </a:fld>
            <a:endParaRPr lang="en-GB"/>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GB"/>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2" name="Slide Number Placeholder 5"/>
          <p:cNvSpPr>
            <a:spLocks noGrp="1"/>
          </p:cNvSpPr>
          <p:nvPr>
            <p:ph type="sldNum" sz="quarter" idx="12"/>
          </p:nvPr>
        </p:nvSpPr>
        <p:spPr>
          <a:xfrm>
            <a:off x="10352540" y="295729"/>
            <a:ext cx="838199" cy="767687"/>
          </a:xfrm>
        </p:spPr>
        <p:txBody>
          <a:bodyPr/>
          <a:lstStyle/>
          <a:p>
            <a:fld id="{8EC06815-B781-4AC7-B10D-5A1F4DF3DF1E}" type="slidenum">
              <a:rPr lang="en-GB" smtClean="0"/>
              <a:t>‹#›</a:t>
            </a:fld>
            <a:endParaRPr lang="en-GB"/>
          </a:p>
        </p:txBody>
      </p:sp>
    </p:spTree>
    <p:extLst>
      <p:ext uri="{BB962C8B-B14F-4D97-AF65-F5344CB8AC3E}">
        <p14:creationId xmlns:p14="http://schemas.microsoft.com/office/powerpoint/2010/main" val="22180446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1D569F-403D-4D8B-A270-78E243560B07}" type="datetimeFigureOut">
              <a:rPr lang="en-GB" smtClean="0"/>
              <a:t>13/01/2026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EC06815-B781-4AC7-B10D-5A1F4DF3DF1E}" type="slidenum">
              <a:rPr lang="en-GB" smtClean="0"/>
              <a:t>‹#›</a:t>
            </a:fld>
            <a:endParaRPr lang="en-GB"/>
          </a:p>
        </p:txBody>
      </p:sp>
    </p:spTree>
    <p:extLst>
      <p:ext uri="{BB962C8B-B14F-4D97-AF65-F5344CB8AC3E}">
        <p14:creationId xmlns:p14="http://schemas.microsoft.com/office/powerpoint/2010/main" val="20109237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01D569F-403D-4D8B-A270-78E243560B07}" type="datetimeFigureOut">
              <a:rPr lang="en-GB" smtClean="0"/>
              <a:t>13/01/2026</a:t>
            </a:fld>
            <a:endParaRPr lang="en-GB"/>
          </a:p>
        </p:txBody>
      </p:sp>
      <p:sp>
        <p:nvSpPr>
          <p:cNvPr id="5" name="Footer Placeholder 4"/>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EC06815-B781-4AC7-B10D-5A1F4DF3DF1E}" type="slidenum">
              <a:rPr lang="en-GB" smtClean="0"/>
              <a:t>‹#›</a:t>
            </a:fld>
            <a:endParaRPr lang="en-GB"/>
          </a:p>
        </p:txBody>
      </p:sp>
    </p:spTree>
    <p:extLst>
      <p:ext uri="{BB962C8B-B14F-4D97-AF65-F5344CB8AC3E}">
        <p14:creationId xmlns:p14="http://schemas.microsoft.com/office/powerpoint/2010/main" val="32529749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01D569F-403D-4D8B-A270-78E243560B07}" type="datetimeFigureOut">
              <a:rPr lang="en-GB" smtClean="0"/>
              <a:t>13/01/2026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EC06815-B781-4AC7-B10D-5A1F4DF3DF1E}" type="slidenum">
              <a:rPr lang="en-GB" smtClean="0"/>
              <a:t>‹#›</a:t>
            </a:fld>
            <a:endParaRPr lang="en-GB"/>
          </a:p>
        </p:txBody>
      </p:sp>
    </p:spTree>
    <p:extLst>
      <p:ext uri="{BB962C8B-B14F-4D97-AF65-F5344CB8AC3E}">
        <p14:creationId xmlns:p14="http://schemas.microsoft.com/office/powerpoint/2010/main" val="12467262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01D569F-403D-4D8B-A270-78E243560B07}" type="datetimeFigureOut">
              <a:rPr lang="en-GB" smtClean="0"/>
              <a:t>13/01/2026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EC06815-B781-4AC7-B10D-5A1F4DF3DF1E}" type="slidenum">
              <a:rPr lang="en-GB" smtClean="0"/>
              <a:t>‹#›</a:t>
            </a:fld>
            <a:endParaRPr lang="en-GB"/>
          </a:p>
        </p:txBody>
      </p:sp>
    </p:spTree>
    <p:extLst>
      <p:ext uri="{BB962C8B-B14F-4D97-AF65-F5344CB8AC3E}">
        <p14:creationId xmlns:p14="http://schemas.microsoft.com/office/powerpoint/2010/main" val="29494867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p>
        </p:txBody>
      </p:sp>
      <p:sp>
        <p:nvSpPr>
          <p:cNvPr id="3" name="Date Placeholder 2"/>
          <p:cNvSpPr>
            <a:spLocks noGrp="1"/>
          </p:cNvSpPr>
          <p:nvPr>
            <p:ph type="dt" sz="half" idx="10"/>
          </p:nvPr>
        </p:nvSpPr>
        <p:spPr/>
        <p:txBody>
          <a:bodyPr/>
          <a:lstStyle/>
          <a:p>
            <a:fld id="{501D569F-403D-4D8B-A270-78E243560B07}" type="datetimeFigureOut">
              <a:rPr lang="en-GB" smtClean="0"/>
              <a:t>13/01/2026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EC06815-B781-4AC7-B10D-5A1F4DF3DF1E}" type="slidenum">
              <a:rPr lang="en-GB" smtClean="0"/>
              <a:t>‹#›</a:t>
            </a:fld>
            <a:endParaRPr lang="en-GB"/>
          </a:p>
        </p:txBody>
      </p:sp>
    </p:spTree>
    <p:extLst>
      <p:ext uri="{BB962C8B-B14F-4D97-AF65-F5344CB8AC3E}">
        <p14:creationId xmlns:p14="http://schemas.microsoft.com/office/powerpoint/2010/main" val="27009322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1D569F-403D-4D8B-A270-78E243560B07}" type="datetimeFigureOut">
              <a:rPr lang="en-GB" smtClean="0"/>
              <a:t>13/01/2026</a:t>
            </a:fld>
            <a:endParaRPr lang="en-GB"/>
          </a:p>
        </p:txBody>
      </p:sp>
      <p:sp>
        <p:nvSpPr>
          <p:cNvPr id="3" name="Footer Placeholder 2"/>
          <p:cNvSpPr>
            <a:spLocks noGrp="1"/>
          </p:cNvSpPr>
          <p:nvPr>
            <p:ph type="ftr" sz="quarter" idx="11"/>
          </p:nvPr>
        </p:nvSpPr>
        <p:spPr/>
        <p:txBody>
          <a:bodyPr/>
          <a:lstStyle/>
          <a:p>
            <a:endParaRPr lang="en-GB"/>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8EC06815-B781-4AC7-B10D-5A1F4DF3DF1E}" type="slidenum">
              <a:rPr lang="en-GB" smtClean="0"/>
              <a:t>‹#›</a:t>
            </a:fld>
            <a:endParaRPr lang="en-GB"/>
          </a:p>
        </p:txBody>
      </p:sp>
    </p:spTree>
    <p:extLst>
      <p:ext uri="{BB962C8B-B14F-4D97-AF65-F5344CB8AC3E}">
        <p14:creationId xmlns:p14="http://schemas.microsoft.com/office/powerpoint/2010/main" val="11052235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1D569F-403D-4D8B-A270-78E243560B07}" type="datetimeFigureOut">
              <a:rPr lang="en-GB" smtClean="0"/>
              <a:t>13/01/2026</a:t>
            </a:fld>
            <a:endParaRPr lang="en-GB"/>
          </a:p>
        </p:txBody>
      </p:sp>
      <p:sp>
        <p:nvSpPr>
          <p:cNvPr id="6" name="Footer Placeholder 5"/>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EC06815-B781-4AC7-B10D-5A1F4DF3DF1E}" type="slidenum">
              <a:rPr lang="en-GB" smtClean="0"/>
              <a:t>‹#›</a:t>
            </a:fld>
            <a:endParaRPr lang="en-GB"/>
          </a:p>
        </p:txBody>
      </p:sp>
    </p:spTree>
    <p:extLst>
      <p:ext uri="{BB962C8B-B14F-4D97-AF65-F5344CB8AC3E}">
        <p14:creationId xmlns:p14="http://schemas.microsoft.com/office/powerpoint/2010/main" val="7536072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1D569F-403D-4D8B-A270-78E243560B07}" type="datetimeFigureOut">
              <a:rPr lang="en-GB" smtClean="0"/>
              <a:t>13/01/2026</a:t>
            </a:fld>
            <a:endParaRPr lang="en-GB"/>
          </a:p>
        </p:txBody>
      </p:sp>
      <p:sp>
        <p:nvSpPr>
          <p:cNvPr id="6" name="Footer Placeholder 5"/>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EC06815-B781-4AC7-B10D-5A1F4DF3DF1E}" type="slidenum">
              <a:rPr lang="en-GB" smtClean="0"/>
              <a:t>‹#›</a:t>
            </a:fld>
            <a:endParaRPr lang="en-GB"/>
          </a:p>
        </p:txBody>
      </p:sp>
    </p:spTree>
    <p:extLst>
      <p:ext uri="{BB962C8B-B14F-4D97-AF65-F5344CB8AC3E}">
        <p14:creationId xmlns:p14="http://schemas.microsoft.com/office/powerpoint/2010/main" val="11115120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1D569F-403D-4D8B-A270-78E243560B07}" type="datetimeFigureOut">
              <a:rPr lang="en-GB" smtClean="0"/>
              <a:t>13/01/2026</a:t>
            </a:fld>
            <a:endParaRPr lang="en-GB"/>
          </a:p>
        </p:txBody>
      </p:sp>
      <p:sp>
        <p:nvSpPr>
          <p:cNvPr id="6" name="Footer Placeholder 5"/>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EC06815-B781-4AC7-B10D-5A1F4DF3DF1E}" type="slidenum">
              <a:rPr lang="en-GB" smtClean="0"/>
              <a:t>‹#›</a:t>
            </a:fld>
            <a:endParaRPr lang="en-GB"/>
          </a:p>
        </p:txBody>
      </p:sp>
    </p:spTree>
    <p:extLst>
      <p:ext uri="{BB962C8B-B14F-4D97-AF65-F5344CB8AC3E}">
        <p14:creationId xmlns:p14="http://schemas.microsoft.com/office/powerpoint/2010/main" val="1547449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01D569F-403D-4D8B-A270-78E243560B07}" type="datetimeFigureOut">
              <a:rPr lang="en-GB" smtClean="0"/>
              <a:t>13/01/2026</a:t>
            </a:fld>
            <a:endParaRPr lang="en-GB"/>
          </a:p>
        </p:txBody>
      </p:sp>
      <p:sp>
        <p:nvSpPr>
          <p:cNvPr id="5" name="Footer Placeholder 4"/>
          <p:cNvSpPr>
            <a:spLocks noGrp="1"/>
          </p:cNvSpPr>
          <p:nvPr>
            <p:ph type="ftr" sz="quarter" idx="11"/>
          </p:nvPr>
        </p:nvSpPr>
        <p:spPr/>
        <p:txBody>
          <a:bodyPr/>
          <a:lstStyle/>
          <a:p>
            <a:endParaRPr lang="en-GB"/>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EC06815-B781-4AC7-B10D-5A1F4DF3DF1E}" type="slidenum">
              <a:rPr lang="en-GB" smtClean="0"/>
              <a:t>‹#›</a:t>
            </a:fld>
            <a:endParaRPr lang="en-GB"/>
          </a:p>
        </p:txBody>
      </p:sp>
    </p:spTree>
    <p:extLst>
      <p:ext uri="{BB962C8B-B14F-4D97-AF65-F5344CB8AC3E}">
        <p14:creationId xmlns:p14="http://schemas.microsoft.com/office/powerpoint/2010/main" val="13284234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01D569F-403D-4D8B-A270-78E243560B07}" type="datetimeFigureOut">
              <a:rPr lang="en-GB" smtClean="0"/>
              <a:t>13/01/2026</a:t>
            </a:fld>
            <a:endParaRPr lang="en-GB"/>
          </a:p>
        </p:txBody>
      </p:sp>
      <p:sp>
        <p:nvSpPr>
          <p:cNvPr id="5" name="Footer Placeholder 4"/>
          <p:cNvSpPr>
            <a:spLocks noGrp="1"/>
          </p:cNvSpPr>
          <p:nvPr>
            <p:ph type="ftr" sz="quarter" idx="11"/>
          </p:nvPr>
        </p:nvSpPr>
        <p:spPr/>
        <p:txBody>
          <a:bodyPr/>
          <a:lstStyle/>
          <a:p>
            <a:endParaRPr lang="en-GB"/>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EC06815-B781-4AC7-B10D-5A1F4DF3DF1E}" type="slidenum">
              <a:rPr lang="en-GB" smtClean="0"/>
              <a:t>‹#›</a:t>
            </a:fld>
            <a:endParaRPr lang="en-GB"/>
          </a:p>
        </p:txBody>
      </p:sp>
    </p:spTree>
    <p:extLst>
      <p:ext uri="{BB962C8B-B14F-4D97-AF65-F5344CB8AC3E}">
        <p14:creationId xmlns:p14="http://schemas.microsoft.com/office/powerpoint/2010/main" val="283108816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01D569F-403D-4D8B-A270-78E243560B07}" type="datetimeFigureOut">
              <a:rPr lang="en-GB" smtClean="0"/>
              <a:t>13/01/2026</a:t>
            </a:fld>
            <a:endParaRPr lang="en-GB"/>
          </a:p>
        </p:txBody>
      </p:sp>
      <p:sp>
        <p:nvSpPr>
          <p:cNvPr id="5" name="Footer Placeholder 4"/>
          <p:cNvSpPr>
            <a:spLocks noGrp="1"/>
          </p:cNvSpPr>
          <p:nvPr>
            <p:ph type="ftr" sz="quarter" idx="11"/>
          </p:nvPr>
        </p:nvSpPr>
        <p:spPr/>
        <p:txBody>
          <a:bodyPr/>
          <a:lstStyle/>
          <a:p>
            <a:endParaRPr lang="en-GB"/>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EC06815-B781-4AC7-B10D-5A1F4DF3DF1E}" type="slidenum">
              <a:rPr lang="en-GB" smtClean="0"/>
              <a:t>‹#›</a:t>
            </a:fld>
            <a:endParaRPr lang="en-GB"/>
          </a:p>
        </p:txBody>
      </p:sp>
    </p:spTree>
    <p:extLst>
      <p:ext uri="{BB962C8B-B14F-4D97-AF65-F5344CB8AC3E}">
        <p14:creationId xmlns:p14="http://schemas.microsoft.com/office/powerpoint/2010/main" val="3056786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01D569F-403D-4D8B-A270-78E243560B07}" type="datetimeFigureOut">
              <a:rPr lang="en-GB" smtClean="0"/>
              <a:t>13/01/2026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EC06815-B781-4AC7-B10D-5A1F4DF3DF1E}" type="slidenum">
              <a:rPr lang="en-GB" smtClean="0"/>
              <a:t>‹#›</a:t>
            </a:fld>
            <a:endParaRPr lang="en-GB"/>
          </a:p>
        </p:txBody>
      </p:sp>
    </p:spTree>
    <p:extLst>
      <p:ext uri="{BB962C8B-B14F-4D97-AF65-F5344CB8AC3E}">
        <p14:creationId xmlns:p14="http://schemas.microsoft.com/office/powerpoint/2010/main" val="6274573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01D569F-403D-4D8B-A270-78E243560B07}" type="datetimeFigureOut">
              <a:rPr lang="en-GB" smtClean="0"/>
              <a:t>13/01/2026</a:t>
            </a:fld>
            <a:endParaRPr lang="en-GB"/>
          </a:p>
        </p:txBody>
      </p:sp>
      <p:sp>
        <p:nvSpPr>
          <p:cNvPr id="8" name="Footer Placeholder 7"/>
          <p:cNvSpPr>
            <a:spLocks noGrp="1"/>
          </p:cNvSpPr>
          <p:nvPr>
            <p:ph type="ftr" sz="quarter" idx="11"/>
          </p:nvPr>
        </p:nvSpPr>
        <p:spPr>
          <a:xfrm>
            <a:off x="561111" y="6391838"/>
            <a:ext cx="3644282" cy="304801"/>
          </a:xfrm>
        </p:spPr>
        <p:txBody>
          <a:bodyPr/>
          <a:lstStyle/>
          <a:p>
            <a:endParaRPr lang="en-GB"/>
          </a:p>
        </p:txBody>
      </p:sp>
      <p:sp>
        <p:nvSpPr>
          <p:cNvPr id="9" name="Slide Number Placeholder 8"/>
          <p:cNvSpPr>
            <a:spLocks noGrp="1"/>
          </p:cNvSpPr>
          <p:nvPr>
            <p:ph type="sldNum" sz="quarter" idx="12"/>
          </p:nvPr>
        </p:nvSpPr>
        <p:spPr/>
        <p:txBody>
          <a:bodyPr/>
          <a:lstStyle/>
          <a:p>
            <a:fld id="{8EC06815-B781-4AC7-B10D-5A1F4DF3DF1E}" type="slidenum">
              <a:rPr lang="en-GB" smtClean="0"/>
              <a:t>‹#›</a:t>
            </a:fld>
            <a:endParaRPr lang="en-GB"/>
          </a:p>
        </p:txBody>
      </p:sp>
    </p:spTree>
    <p:extLst>
      <p:ext uri="{BB962C8B-B14F-4D97-AF65-F5344CB8AC3E}">
        <p14:creationId xmlns:p14="http://schemas.microsoft.com/office/powerpoint/2010/main" val="77606015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695439" y="6391838"/>
            <a:ext cx="990599" cy="304799"/>
          </a:xfrm>
        </p:spPr>
        <p:txBody>
          <a:bodyPr/>
          <a:lstStyle/>
          <a:p>
            <a:fld id="{501D569F-403D-4D8B-A270-78E243560B07}" type="datetimeFigureOut">
              <a:rPr lang="en-GB" smtClean="0"/>
              <a:t>13/01/2026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EC06815-B781-4AC7-B10D-5A1F4DF3DF1E}" type="slidenum">
              <a:rPr lang="en-GB" smtClean="0"/>
              <a:t>‹#›</a:t>
            </a:fld>
            <a:endParaRPr lang="en-GB"/>
          </a:p>
        </p:txBody>
      </p:sp>
    </p:spTree>
    <p:extLst>
      <p:ext uri="{BB962C8B-B14F-4D97-AF65-F5344CB8AC3E}">
        <p14:creationId xmlns:p14="http://schemas.microsoft.com/office/powerpoint/2010/main" val="43303807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653104" y="6391838"/>
            <a:ext cx="992135" cy="304799"/>
          </a:xfrm>
        </p:spPr>
        <p:txBody>
          <a:bodyPr/>
          <a:lstStyle/>
          <a:p>
            <a:fld id="{501D569F-403D-4D8B-A270-78E243560B07}" type="datetimeFigureOut">
              <a:rPr lang="en-GB" smtClean="0"/>
              <a:t>13/01/2026</a:t>
            </a:fld>
            <a:endParaRPr lang="en-GB"/>
          </a:p>
        </p:txBody>
      </p:sp>
      <p:sp>
        <p:nvSpPr>
          <p:cNvPr id="5" name="Footer Placeholder 4"/>
          <p:cNvSpPr>
            <a:spLocks noGrp="1"/>
          </p:cNvSpPr>
          <p:nvPr>
            <p:ph type="ftr" sz="quarter" idx="11"/>
          </p:nvPr>
        </p:nvSpPr>
        <p:spPr/>
        <p:txBody>
          <a:bodyPr/>
          <a:lstStyle/>
          <a:p>
            <a:endParaRPr lang="en-GB"/>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EC06815-B781-4AC7-B10D-5A1F4DF3DF1E}" type="slidenum">
              <a:rPr lang="en-GB" smtClean="0"/>
              <a:t>‹#›</a:t>
            </a:fld>
            <a:endParaRPr lang="en-GB"/>
          </a:p>
        </p:txBody>
      </p:sp>
    </p:spTree>
    <p:extLst>
      <p:ext uri="{BB962C8B-B14F-4D97-AF65-F5344CB8AC3E}">
        <p14:creationId xmlns:p14="http://schemas.microsoft.com/office/powerpoint/2010/main" val="656446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image" Target="../media/image1.jpe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1B698BF8-004E-4D82-A2C5-966C6FB24924}" type="datetimeFigureOut">
              <a:rPr lang="en-GB" smtClean="0"/>
              <a:t>13/01/2026</a:t>
            </a:fld>
            <a:endParaRPr lang="en-GB"/>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GB"/>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59A68E41-4D18-4305-B394-BC78AF0E2CA1}" type="slidenum">
              <a:rPr lang="en-GB" smtClean="0"/>
              <a:t>‹#›</a:t>
            </a:fld>
            <a:endParaRPr lang="en-GB"/>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3705241264"/>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GB"/>
            </a:p>
          </p:txBody>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GB"/>
            </a:p>
          </p:txBody>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a:p>
          </p:txBody>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501D569F-403D-4D8B-A270-78E243560B07}" type="datetimeFigureOut">
              <a:rPr lang="en-GB" smtClean="0"/>
              <a:t>13/01/2026</a:t>
            </a:fld>
            <a:endParaRPr lang="en-GB"/>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GB"/>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8EC06815-B781-4AC7-B10D-5A1F4DF3DF1E}" type="slidenum">
              <a:rPr lang="en-GB" smtClean="0"/>
              <a:t>‹#›</a:t>
            </a:fld>
            <a:endParaRPr lang="en-GB"/>
          </a:p>
        </p:txBody>
      </p:sp>
    </p:spTree>
    <p:extLst>
      <p:ext uri="{BB962C8B-B14F-4D97-AF65-F5344CB8AC3E}">
        <p14:creationId xmlns:p14="http://schemas.microsoft.com/office/powerpoint/2010/main" val="44116993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39D37-0BCC-D0F5-C94A-8B53EF29540C}"/>
              </a:ext>
            </a:extLst>
          </p:cNvPr>
          <p:cNvSpPr>
            <a:spLocks noGrp="1"/>
          </p:cNvSpPr>
          <p:nvPr>
            <p:ph type="ctrTitle"/>
          </p:nvPr>
        </p:nvSpPr>
        <p:spPr/>
        <p:txBody>
          <a:bodyPr/>
          <a:lstStyle/>
          <a:p>
            <a:r>
              <a:rPr lang="en-US"/>
              <a:t>PHD Progression 7</a:t>
            </a:r>
            <a:endParaRPr lang="en-GB"/>
          </a:p>
        </p:txBody>
      </p:sp>
      <p:sp>
        <p:nvSpPr>
          <p:cNvPr id="3" name="Subtitle 2">
            <a:extLst>
              <a:ext uri="{FF2B5EF4-FFF2-40B4-BE49-F238E27FC236}">
                <a16:creationId xmlns:a16="http://schemas.microsoft.com/office/drawing/2014/main" id="{DB657ABD-288E-68AA-5495-460CD6F7070E}"/>
              </a:ext>
            </a:extLst>
          </p:cNvPr>
          <p:cNvSpPr>
            <a:spLocks noGrp="1"/>
          </p:cNvSpPr>
          <p:nvPr>
            <p:ph type="subTitle" idx="1"/>
          </p:nvPr>
        </p:nvSpPr>
        <p:spPr/>
        <p:txBody>
          <a:bodyPr/>
          <a:lstStyle/>
          <a:p>
            <a:r>
              <a:rPr lang="en-US"/>
              <a:t>Explainable AI with Visual analytics</a:t>
            </a:r>
            <a:endParaRPr lang="en-GB"/>
          </a:p>
        </p:txBody>
      </p:sp>
    </p:spTree>
    <p:extLst>
      <p:ext uri="{BB962C8B-B14F-4D97-AF65-F5344CB8AC3E}">
        <p14:creationId xmlns:p14="http://schemas.microsoft.com/office/powerpoint/2010/main" val="3682366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F6D7C-967E-6A6A-DC2A-12E07FC54C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6E2A4E-16F9-70C9-00AB-590C84E3B333}"/>
              </a:ext>
            </a:extLst>
          </p:cNvPr>
          <p:cNvSpPr>
            <a:spLocks noGrp="1"/>
          </p:cNvSpPr>
          <p:nvPr>
            <p:ph type="title"/>
          </p:nvPr>
        </p:nvSpPr>
        <p:spPr/>
        <p:txBody>
          <a:bodyPr/>
          <a:lstStyle/>
          <a:p>
            <a:r>
              <a:rPr lang="en-US" b="1" baseline="30000"/>
              <a:t>Uploading </a:t>
            </a:r>
            <a:r>
              <a:rPr lang="en-US" b="1" baseline="30000" err="1"/>
              <a:t>visbert</a:t>
            </a:r>
            <a:r>
              <a:rPr lang="en-US" b="1" baseline="30000"/>
              <a:t>  and </a:t>
            </a:r>
            <a:r>
              <a:rPr lang="en-US" b="1" baseline="30000" err="1"/>
              <a:t>attentionviz</a:t>
            </a:r>
            <a:r>
              <a:rPr lang="en-US" b="1" baseline="30000"/>
              <a:t> to </a:t>
            </a:r>
            <a:r>
              <a:rPr lang="en-US" b="1" baseline="30000" err="1"/>
              <a:t>gitHUB</a:t>
            </a:r>
            <a:r>
              <a:rPr lang="en-US"/>
              <a:t> </a:t>
            </a:r>
            <a:endParaRPr lang="en-GB"/>
          </a:p>
        </p:txBody>
      </p:sp>
      <p:sp>
        <p:nvSpPr>
          <p:cNvPr id="3" name="Subtitle 2">
            <a:extLst>
              <a:ext uri="{FF2B5EF4-FFF2-40B4-BE49-F238E27FC236}">
                <a16:creationId xmlns:a16="http://schemas.microsoft.com/office/drawing/2014/main" id="{77373DBA-4C0B-3429-E9E5-376522AF5BF1}"/>
              </a:ext>
            </a:extLst>
          </p:cNvPr>
          <p:cNvSpPr>
            <a:spLocks noGrp="1"/>
          </p:cNvSpPr>
          <p:nvPr>
            <p:ph idx="1"/>
          </p:nvPr>
        </p:nvSpPr>
        <p:spPr/>
        <p:txBody>
          <a:bodyPr/>
          <a:lstStyle/>
          <a:p>
            <a:r>
              <a:rPr lang="en-US"/>
              <a:t>Error message pushing to GitHub</a:t>
            </a:r>
          </a:p>
          <a:p>
            <a:r>
              <a:rPr lang="en-US"/>
              <a:t>Due to file size, I’ve tried to reduce size with no success so far</a:t>
            </a:r>
          </a:p>
          <a:p>
            <a:r>
              <a:rPr lang="en-US"/>
              <a:t>$ git push -u origin main Enumerating objects: 373, done. Counting objects: 100% (373/373), done. Delta compression using up to 4 threads Compressing objects: 100% (149/149), done. error: RPC failed; HTTP 408 curl 22 The requested URL returned error: 408 send-pack: unexpected disconnect while reading sideband packet Writing objects: 100% (373/373), 978.31 MiB | 6.11 MiB/s, done. Total 373 (delta 203), reused 360 (delta 198), pack-reused 0 fatal: the remote end hung up unexpectedly Everything up-to-date</a:t>
            </a:r>
            <a:endParaRPr lang="en-GB"/>
          </a:p>
        </p:txBody>
      </p:sp>
    </p:spTree>
    <p:extLst>
      <p:ext uri="{BB962C8B-B14F-4D97-AF65-F5344CB8AC3E}">
        <p14:creationId xmlns:p14="http://schemas.microsoft.com/office/powerpoint/2010/main" val="2229606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502AA-F292-2D8E-E6F4-045D85949A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8B292D-06B2-0FC9-6735-8B49979CE2B4}"/>
              </a:ext>
            </a:extLst>
          </p:cNvPr>
          <p:cNvSpPr>
            <a:spLocks noGrp="1"/>
          </p:cNvSpPr>
          <p:nvPr>
            <p:ph type="title"/>
          </p:nvPr>
        </p:nvSpPr>
        <p:spPr/>
        <p:txBody>
          <a:bodyPr/>
          <a:lstStyle/>
          <a:p>
            <a:r>
              <a:rPr lang="en-US" b="1" baseline="30000"/>
              <a:t>Understanding the </a:t>
            </a:r>
            <a:r>
              <a:rPr lang="en-US" b="1" baseline="30000" err="1"/>
              <a:t>visBERT</a:t>
            </a:r>
            <a:r>
              <a:rPr lang="en-US" b="1" baseline="30000"/>
              <a:t> code</a:t>
            </a:r>
            <a:endParaRPr lang="en-GB"/>
          </a:p>
        </p:txBody>
      </p:sp>
      <p:sp>
        <p:nvSpPr>
          <p:cNvPr id="3" name="Subtitle 2">
            <a:extLst>
              <a:ext uri="{FF2B5EF4-FFF2-40B4-BE49-F238E27FC236}">
                <a16:creationId xmlns:a16="http://schemas.microsoft.com/office/drawing/2014/main" id="{464890DA-4D94-22B0-6048-DF3854869C15}"/>
              </a:ext>
            </a:extLst>
          </p:cNvPr>
          <p:cNvSpPr>
            <a:spLocks noGrp="1"/>
          </p:cNvSpPr>
          <p:nvPr>
            <p:ph idx="1"/>
          </p:nvPr>
        </p:nvSpPr>
        <p:spPr/>
        <p:txBody>
          <a:bodyPr/>
          <a:lstStyle/>
          <a:p>
            <a:r>
              <a:rPr lang="en-GB"/>
              <a:t>Spent time breaking down the </a:t>
            </a:r>
            <a:r>
              <a:rPr lang="en-GB" err="1"/>
              <a:t>VisBERT</a:t>
            </a:r>
            <a:r>
              <a:rPr lang="en-GB"/>
              <a:t> code to understand what each part of the code does</a:t>
            </a:r>
          </a:p>
          <a:p>
            <a:r>
              <a:rPr lang="en-GB"/>
              <a:t>Visualize: contains the dimensionality reduction function</a:t>
            </a:r>
          </a:p>
          <a:p>
            <a:r>
              <a:rPr lang="en-GB"/>
              <a:t>Utils: contains functions for event time logging and conversion from web data to normal text</a:t>
            </a:r>
          </a:p>
          <a:p>
            <a:r>
              <a:rPr lang="en-GB"/>
              <a:t>Data utils: This is the SQUAD dataset loader and processor for question-answering tasks, designed for BERT-like transformer models</a:t>
            </a:r>
          </a:p>
          <a:p>
            <a:endParaRPr lang="en-GB"/>
          </a:p>
        </p:txBody>
      </p:sp>
    </p:spTree>
    <p:extLst>
      <p:ext uri="{BB962C8B-B14F-4D97-AF65-F5344CB8AC3E}">
        <p14:creationId xmlns:p14="http://schemas.microsoft.com/office/powerpoint/2010/main" val="22121917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8832E-7EF6-B7E1-C7DC-246EA1E9B0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7F03D8-0219-0DE1-F875-202D25E74709}"/>
              </a:ext>
            </a:extLst>
          </p:cNvPr>
          <p:cNvSpPr>
            <a:spLocks noGrp="1"/>
          </p:cNvSpPr>
          <p:nvPr>
            <p:ph type="title"/>
          </p:nvPr>
        </p:nvSpPr>
        <p:spPr/>
        <p:txBody>
          <a:bodyPr/>
          <a:lstStyle/>
          <a:p>
            <a:r>
              <a:rPr lang="en-US" b="1" baseline="30000"/>
              <a:t>Changing the document input for </a:t>
            </a:r>
            <a:r>
              <a:rPr lang="en-US" b="1" baseline="30000" err="1"/>
              <a:t>visBERT</a:t>
            </a:r>
            <a:endParaRPr lang="en-GB"/>
          </a:p>
        </p:txBody>
      </p:sp>
      <p:sp>
        <p:nvSpPr>
          <p:cNvPr id="3" name="Subtitle 2">
            <a:extLst>
              <a:ext uri="{FF2B5EF4-FFF2-40B4-BE49-F238E27FC236}">
                <a16:creationId xmlns:a16="http://schemas.microsoft.com/office/drawing/2014/main" id="{F27E9CE2-07C3-2913-56B6-D282CE195FD9}"/>
              </a:ext>
            </a:extLst>
          </p:cNvPr>
          <p:cNvSpPr>
            <a:spLocks noGrp="1"/>
          </p:cNvSpPr>
          <p:nvPr>
            <p:ph idx="1"/>
          </p:nvPr>
        </p:nvSpPr>
        <p:spPr/>
        <p:txBody>
          <a:bodyPr/>
          <a:lstStyle/>
          <a:p>
            <a:r>
              <a:rPr lang="en-GB" dirty="0"/>
              <a:t>I tried changing the </a:t>
            </a:r>
            <a:r>
              <a:rPr lang="en-GB" dirty="0" err="1"/>
              <a:t>squad_examples.json</a:t>
            </a:r>
            <a:r>
              <a:rPr lang="en-GB" dirty="0"/>
              <a:t> for the </a:t>
            </a:r>
            <a:r>
              <a:rPr lang="en-GB" dirty="0" err="1"/>
              <a:t>VisBERT</a:t>
            </a:r>
            <a:r>
              <a:rPr lang="en-GB" dirty="0"/>
              <a:t> data set with other SQUAD question answer examples I found online.</a:t>
            </a:r>
          </a:p>
          <a:p>
            <a:endParaRPr lang="en-GB" dirty="0"/>
          </a:p>
          <a:p>
            <a:r>
              <a:rPr lang="en-GB" dirty="0"/>
              <a:t>I copied pasted and ran the code on new examples, the code ran but the SQUAD portion was inactive.</a:t>
            </a:r>
          </a:p>
          <a:p>
            <a:endParaRPr lang="en-GB" dirty="0"/>
          </a:p>
          <a:p>
            <a:r>
              <a:rPr lang="en-GB" dirty="0"/>
              <a:t>Bin files for model fine-tuning disappeared and had to be redownloaded when </a:t>
            </a:r>
            <a:r>
              <a:rPr lang="en-GB" dirty="0" err="1"/>
              <a:t>VisBERT</a:t>
            </a:r>
            <a:r>
              <a:rPr lang="en-GB" dirty="0"/>
              <a:t> was stopped</a:t>
            </a:r>
          </a:p>
        </p:txBody>
      </p:sp>
    </p:spTree>
    <p:extLst>
      <p:ext uri="{BB962C8B-B14F-4D97-AF65-F5344CB8AC3E}">
        <p14:creationId xmlns:p14="http://schemas.microsoft.com/office/powerpoint/2010/main" val="1255596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A1026-72E4-DE4B-04BB-E85AECDCC9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2D8D7C-30A6-30C3-F41C-1B518E8FD155}"/>
              </a:ext>
            </a:extLst>
          </p:cNvPr>
          <p:cNvSpPr>
            <a:spLocks noGrp="1"/>
          </p:cNvSpPr>
          <p:nvPr>
            <p:ph type="title"/>
          </p:nvPr>
        </p:nvSpPr>
        <p:spPr/>
        <p:txBody>
          <a:bodyPr/>
          <a:lstStyle/>
          <a:p>
            <a:r>
              <a:rPr lang="en-US" b="1" baseline="30000" err="1"/>
              <a:t>DATa</a:t>
            </a:r>
            <a:r>
              <a:rPr lang="en-US" b="1" baseline="30000"/>
              <a:t> preparation</a:t>
            </a:r>
            <a:endParaRPr lang="en-GB"/>
          </a:p>
        </p:txBody>
      </p:sp>
      <p:sp>
        <p:nvSpPr>
          <p:cNvPr id="3" name="Subtitle 2">
            <a:extLst>
              <a:ext uri="{FF2B5EF4-FFF2-40B4-BE49-F238E27FC236}">
                <a16:creationId xmlns:a16="http://schemas.microsoft.com/office/drawing/2014/main" id="{7017C33C-D646-A1CE-A251-033FFBE0BF87}"/>
              </a:ext>
            </a:extLst>
          </p:cNvPr>
          <p:cNvSpPr>
            <a:spLocks noGrp="1"/>
          </p:cNvSpPr>
          <p:nvPr>
            <p:ph idx="1"/>
          </p:nvPr>
        </p:nvSpPr>
        <p:spPr/>
        <p:txBody>
          <a:bodyPr/>
          <a:lstStyle/>
          <a:p>
            <a:r>
              <a:rPr lang="en-GB" dirty="0"/>
              <a:t>After comparisons were made of the SQUAD dataset found online and that of </a:t>
            </a:r>
            <a:r>
              <a:rPr lang="en-GB" dirty="0" err="1"/>
              <a:t>VisBERT</a:t>
            </a:r>
            <a:r>
              <a:rPr lang="en-GB" dirty="0"/>
              <a:t>,  I noticed they were formatted differently</a:t>
            </a:r>
          </a:p>
          <a:p>
            <a:endParaRPr lang="en-GB" dirty="0"/>
          </a:p>
          <a:p>
            <a:r>
              <a:rPr lang="en-GB" dirty="0"/>
              <a:t>This means the data was clean for the purpose of this task</a:t>
            </a:r>
          </a:p>
          <a:p>
            <a:endParaRPr lang="en-GB" dirty="0"/>
          </a:p>
          <a:p>
            <a:r>
              <a:rPr lang="en-GB" dirty="0"/>
              <a:t>SQUAD example in </a:t>
            </a:r>
            <a:r>
              <a:rPr lang="en-GB" dirty="0" err="1"/>
              <a:t>VisBERT</a:t>
            </a:r>
            <a:r>
              <a:rPr lang="en-GB" dirty="0"/>
              <a:t> only requires context, question, id, and answer</a:t>
            </a:r>
          </a:p>
          <a:p>
            <a:endParaRPr lang="en-GB" dirty="0"/>
          </a:p>
          <a:p>
            <a:r>
              <a:rPr lang="en-GB" dirty="0"/>
              <a:t>Cleaning the Data set and trying the process again</a:t>
            </a:r>
          </a:p>
          <a:p>
            <a:pPr marL="0" indent="0">
              <a:buNone/>
            </a:pPr>
            <a:endParaRPr lang="en-GB" dirty="0"/>
          </a:p>
        </p:txBody>
      </p:sp>
    </p:spTree>
    <p:extLst>
      <p:ext uri="{BB962C8B-B14F-4D97-AF65-F5344CB8AC3E}">
        <p14:creationId xmlns:p14="http://schemas.microsoft.com/office/powerpoint/2010/main" val="39476788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4D6EB-5A17-4E3E-B5B4-09ACC662C4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D96592-C729-C923-D219-E4C5474FC956}"/>
              </a:ext>
            </a:extLst>
          </p:cNvPr>
          <p:cNvSpPr>
            <a:spLocks noGrp="1"/>
          </p:cNvSpPr>
          <p:nvPr>
            <p:ph type="title"/>
          </p:nvPr>
        </p:nvSpPr>
        <p:spPr/>
        <p:txBody>
          <a:bodyPr/>
          <a:lstStyle/>
          <a:p>
            <a:r>
              <a:rPr lang="en-US"/>
              <a:t>Hugging  face for transformers and finetuning</a:t>
            </a:r>
            <a:endParaRPr lang="en-GB"/>
          </a:p>
        </p:txBody>
      </p:sp>
      <p:sp>
        <p:nvSpPr>
          <p:cNvPr id="3" name="Subtitle 2">
            <a:extLst>
              <a:ext uri="{FF2B5EF4-FFF2-40B4-BE49-F238E27FC236}">
                <a16:creationId xmlns:a16="http://schemas.microsoft.com/office/drawing/2014/main" id="{A0B397B3-36AA-E0BC-DADE-0AC434A3617C}"/>
              </a:ext>
            </a:extLst>
          </p:cNvPr>
          <p:cNvSpPr>
            <a:spLocks noGrp="1"/>
          </p:cNvSpPr>
          <p:nvPr>
            <p:ph idx="1"/>
          </p:nvPr>
        </p:nvSpPr>
        <p:spPr/>
        <p:txBody>
          <a:bodyPr/>
          <a:lstStyle/>
          <a:p>
            <a:r>
              <a:rPr lang="en-GB"/>
              <a:t>Both </a:t>
            </a:r>
            <a:r>
              <a:rPr lang="en-GB" err="1"/>
              <a:t>VisBERT</a:t>
            </a:r>
            <a:r>
              <a:rPr lang="en-GB"/>
              <a:t> and </a:t>
            </a:r>
            <a:r>
              <a:rPr lang="en-GB" err="1"/>
              <a:t>AttentionVIZ</a:t>
            </a:r>
            <a:r>
              <a:rPr lang="en-GB"/>
              <a:t> contain some sort of data or model file which is required for the systems to run on my system, after running, it creates </a:t>
            </a:r>
            <a:r>
              <a:rPr lang="en-GB" err="1"/>
              <a:t>json</a:t>
            </a:r>
            <a:r>
              <a:rPr lang="en-GB"/>
              <a:t> files.</a:t>
            </a:r>
          </a:p>
          <a:p>
            <a:endParaRPr lang="en-GB"/>
          </a:p>
          <a:p>
            <a:pPr marL="0" indent="0">
              <a:buNone/>
            </a:pPr>
            <a:endParaRPr lang="en-GB"/>
          </a:p>
          <a:p>
            <a:r>
              <a:rPr lang="en-GB"/>
              <a:t>Downloaded bin file in </a:t>
            </a:r>
            <a:r>
              <a:rPr lang="en-GB" err="1"/>
              <a:t>VisBERT</a:t>
            </a:r>
            <a:r>
              <a:rPr lang="en-GB"/>
              <a:t> and </a:t>
            </a:r>
            <a:r>
              <a:rPr lang="en-GB" err="1"/>
              <a:t>AttentionViZ</a:t>
            </a:r>
            <a:r>
              <a:rPr lang="en-GB"/>
              <a:t> are pretrained model finetuned on hugging face, containing attention weights and parameters required for visualization</a:t>
            </a:r>
          </a:p>
        </p:txBody>
      </p:sp>
    </p:spTree>
    <p:extLst>
      <p:ext uri="{BB962C8B-B14F-4D97-AF65-F5344CB8AC3E}">
        <p14:creationId xmlns:p14="http://schemas.microsoft.com/office/powerpoint/2010/main" val="2024243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42E2C-A855-01BF-7E8C-8A0C5238AA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47865C-D145-703B-DA49-4C6ECC97B713}"/>
              </a:ext>
            </a:extLst>
          </p:cNvPr>
          <p:cNvSpPr>
            <a:spLocks noGrp="1"/>
          </p:cNvSpPr>
          <p:nvPr>
            <p:ph type="title"/>
          </p:nvPr>
        </p:nvSpPr>
        <p:spPr/>
        <p:txBody>
          <a:bodyPr/>
          <a:lstStyle/>
          <a:p>
            <a:r>
              <a:rPr lang="en-GB" err="1"/>
              <a:t>AttentionVIZ</a:t>
            </a:r>
            <a:endParaRPr lang="en-GB"/>
          </a:p>
        </p:txBody>
      </p:sp>
      <p:sp>
        <p:nvSpPr>
          <p:cNvPr id="4" name="Subtitle 2">
            <a:extLst>
              <a:ext uri="{FF2B5EF4-FFF2-40B4-BE49-F238E27FC236}">
                <a16:creationId xmlns:a16="http://schemas.microsoft.com/office/drawing/2014/main" id="{C0CC158A-61B5-1814-7015-EA84FA6221F9}"/>
              </a:ext>
            </a:extLst>
          </p:cNvPr>
          <p:cNvSpPr>
            <a:spLocks noGrp="1"/>
          </p:cNvSpPr>
          <p:nvPr>
            <p:ph idx="1"/>
          </p:nvPr>
        </p:nvSpPr>
        <p:spPr>
          <a:xfrm>
            <a:off x="99574" y="2153346"/>
            <a:ext cx="11992851" cy="4572001"/>
          </a:xfrm>
        </p:spPr>
        <p:txBody>
          <a:bodyPr>
            <a:normAutofit/>
          </a:bodyPr>
          <a:lstStyle/>
          <a:p>
            <a:endParaRPr lang="en-US"/>
          </a:p>
          <a:p>
            <a:r>
              <a:rPr lang="en-US"/>
              <a:t>The goal of this study is to understand the self-attention mechanism of transformers</a:t>
            </a:r>
          </a:p>
          <a:p>
            <a:endParaRPr lang="en-US"/>
          </a:p>
          <a:p>
            <a:r>
              <a:rPr lang="en-US"/>
              <a:t>previous techniques generally visualize information related to just a single input sequence at a time.</a:t>
            </a:r>
          </a:p>
          <a:p>
            <a:endParaRPr lang="en-US" sz="2400"/>
          </a:p>
          <a:p>
            <a:r>
              <a:rPr lang="en-US"/>
              <a:t>The primary technique of this research is visualizing a joint embedding of the query and key vectors used by transformers.</a:t>
            </a:r>
          </a:p>
          <a:p>
            <a:endParaRPr lang="en-US" sz="2400"/>
          </a:p>
          <a:p>
            <a:endParaRPr lang="en-US" sz="2400"/>
          </a:p>
        </p:txBody>
      </p:sp>
    </p:spTree>
    <p:extLst>
      <p:ext uri="{BB962C8B-B14F-4D97-AF65-F5344CB8AC3E}">
        <p14:creationId xmlns:p14="http://schemas.microsoft.com/office/powerpoint/2010/main" val="1189211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C31A48-C6A5-4A77-DD52-EB60C61CBD3E}"/>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643780CE-2BE5-46F6-97B2-60DF30217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4" name="Freeform: Shape 13">
            <a:extLst>
              <a:ext uri="{FF2B5EF4-FFF2-40B4-BE49-F238E27FC236}">
                <a16:creationId xmlns:a16="http://schemas.microsoft.com/office/drawing/2014/main" id="{61A87A49-68E6-459E-A5A6-46229FF42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6" name="Freeform 5">
            <a:extLst>
              <a:ext uri="{FF2B5EF4-FFF2-40B4-BE49-F238E27FC236}">
                <a16:creationId xmlns:a16="http://schemas.microsoft.com/office/drawing/2014/main" id="{F6ACD5FC-CAFE-48EB-B765-60EED2E0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 name="Title 1">
            <a:extLst>
              <a:ext uri="{FF2B5EF4-FFF2-40B4-BE49-F238E27FC236}">
                <a16:creationId xmlns:a16="http://schemas.microsoft.com/office/drawing/2014/main" id="{FDF2506E-B8EA-764C-D709-6D203BEB60F3}"/>
              </a:ext>
            </a:extLst>
          </p:cNvPr>
          <p:cNvSpPr>
            <a:spLocks noGrp="1"/>
          </p:cNvSpPr>
          <p:nvPr>
            <p:ph type="title"/>
          </p:nvPr>
        </p:nvSpPr>
        <p:spPr>
          <a:xfrm>
            <a:off x="1154955" y="973668"/>
            <a:ext cx="2942210" cy="1020232"/>
          </a:xfrm>
        </p:spPr>
        <p:txBody>
          <a:bodyPr>
            <a:normAutofit/>
          </a:bodyPr>
          <a:lstStyle/>
          <a:p>
            <a:r>
              <a:rPr lang="en-GB">
                <a:solidFill>
                  <a:srgbClr val="EBEBEB"/>
                </a:solidFill>
              </a:rPr>
              <a:t>AttentionVIZ</a:t>
            </a:r>
          </a:p>
        </p:txBody>
      </p:sp>
      <p:pic>
        <p:nvPicPr>
          <p:cNvPr id="7" name="Picture 6">
            <a:extLst>
              <a:ext uri="{FF2B5EF4-FFF2-40B4-BE49-F238E27FC236}">
                <a16:creationId xmlns:a16="http://schemas.microsoft.com/office/drawing/2014/main" id="{EB2DC665-E3E9-068C-985F-767A0B646DCE}"/>
              </a:ext>
            </a:extLst>
          </p:cNvPr>
          <p:cNvPicPr>
            <a:picLocks noChangeAspect="1"/>
          </p:cNvPicPr>
          <p:nvPr/>
        </p:nvPicPr>
        <p:blipFill>
          <a:blip r:embed="rId2"/>
          <a:stretch>
            <a:fillRect/>
          </a:stretch>
        </p:blipFill>
        <p:spPr>
          <a:xfrm>
            <a:off x="5194607" y="1527519"/>
            <a:ext cx="6391533" cy="3802962"/>
          </a:xfrm>
          <a:prstGeom prst="rect">
            <a:avLst/>
          </a:prstGeom>
        </p:spPr>
      </p:pic>
      <p:sp>
        <p:nvSpPr>
          <p:cNvPr id="18" name="Rectangle 17">
            <a:extLst>
              <a:ext uri="{FF2B5EF4-FFF2-40B4-BE49-F238E27FC236}">
                <a16:creationId xmlns:a16="http://schemas.microsoft.com/office/drawing/2014/main" id="{9F33B405-D785-4738-B1C0-6A0AA5E9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0" name="Oval 19">
            <a:extLst>
              <a:ext uri="{FF2B5EF4-FFF2-40B4-BE49-F238E27FC236}">
                <a16:creationId xmlns:a16="http://schemas.microsoft.com/office/drawing/2014/main" id="{4233DC0E-DE6C-4FB6-A529-51B162641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2" name="Oval 21">
            <a:extLst>
              <a:ext uri="{FF2B5EF4-FFF2-40B4-BE49-F238E27FC236}">
                <a16:creationId xmlns:a16="http://schemas.microsoft.com/office/drawing/2014/main" id="{3870477F-E451-4BC3-863F-0E2FC5728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mc:AlternateContent xmlns:mc="http://schemas.openxmlformats.org/markup-compatibility/2006" xmlns:a14="http://schemas.microsoft.com/office/drawing/2010/main">
        <mc:Choice Requires="a14">
          <p:sp>
            <p:nvSpPr>
              <p:cNvPr id="4" name="Subtitle 2">
                <a:extLst>
                  <a:ext uri="{FF2B5EF4-FFF2-40B4-BE49-F238E27FC236}">
                    <a16:creationId xmlns:a16="http://schemas.microsoft.com/office/drawing/2014/main" id="{469B2811-79D1-90CF-509B-369681BF7856}"/>
                  </a:ext>
                </a:extLst>
              </p:cNvPr>
              <p:cNvSpPr>
                <a:spLocks noGrp="1"/>
              </p:cNvSpPr>
              <p:nvPr>
                <p:ph idx="1"/>
              </p:nvPr>
            </p:nvSpPr>
            <p:spPr>
              <a:xfrm>
                <a:off x="1154955" y="2120900"/>
                <a:ext cx="3133726" cy="3898900"/>
              </a:xfrm>
            </p:spPr>
            <p:txBody>
              <a:bodyPr>
                <a:normAutofit/>
              </a:bodyPr>
              <a:lstStyle/>
              <a:p>
                <a:pPr>
                  <a:lnSpc>
                    <a:spcPct val="90000"/>
                  </a:lnSpc>
                </a:pPr>
                <a:endParaRPr lang="en-US" sz="1100">
                  <a:solidFill>
                    <a:srgbClr val="FFFFFF"/>
                  </a:solidFill>
                </a:endParaRPr>
              </a:p>
              <a:p>
                <a:pPr>
                  <a:lnSpc>
                    <a:spcPct val="90000"/>
                  </a:lnSpc>
                </a:pPr>
                <a:r>
                  <a:rPr lang="en-US" sz="1100">
                    <a:solidFill>
                      <a:srgbClr val="FFFFFF"/>
                    </a:solidFill>
                  </a:rPr>
                  <a:t>An effective method to visualize multiple inputs is to visualize a collection of embedded vectors from multiple input sequences. </a:t>
                </a:r>
              </a:p>
              <a:p>
                <a:pPr>
                  <a:lnSpc>
                    <a:spcPct val="90000"/>
                  </a:lnSpc>
                </a:pPr>
                <a:endParaRPr lang="en-US" sz="1100">
                  <a:solidFill>
                    <a:srgbClr val="FFFFFF"/>
                  </a:solidFill>
                </a:endParaRPr>
              </a:p>
              <a:p>
                <a:pPr>
                  <a:lnSpc>
                    <a:spcPct val="90000"/>
                  </a:lnSpc>
                </a:pPr>
                <a:r>
                  <a:rPr lang="en-US" sz="1100">
                    <a:solidFill>
                      <a:srgbClr val="FFFFFF"/>
                    </a:solidFill>
                  </a:rPr>
                  <a:t>Each attention transformer head turns input embedding into query vectors and key vectors by applying matrices </a:t>
                </a:r>
                <a14:m>
                  <m:oMath xmlns:m="http://schemas.openxmlformats.org/officeDocument/2006/math">
                    <m:sSub>
                      <m:sSubPr>
                        <m:ctrlPr>
                          <a:rPr lang="en-GB" sz="1100" i="1">
                            <a:solidFill>
                              <a:srgbClr val="FFFFFF"/>
                            </a:solidFill>
                            <a:latin typeface="Cambria Math" panose="02040503050406030204" pitchFamily="18" charset="0"/>
                          </a:rPr>
                        </m:ctrlPr>
                      </m:sSubPr>
                      <m:e>
                        <m:r>
                          <a:rPr lang="en-US" sz="1100" i="1">
                            <a:solidFill>
                              <a:srgbClr val="FFFFFF"/>
                            </a:solidFill>
                            <a:latin typeface="Cambria Math" panose="02040503050406030204" pitchFamily="18" charset="0"/>
                          </a:rPr>
                          <m:t>𝑊</m:t>
                        </m:r>
                      </m:e>
                      <m:sub>
                        <m:r>
                          <a:rPr lang="en-US" sz="1100" i="1">
                            <a:solidFill>
                              <a:srgbClr val="FFFFFF"/>
                            </a:solidFill>
                            <a:latin typeface="Cambria Math" panose="02040503050406030204" pitchFamily="18" charset="0"/>
                          </a:rPr>
                          <m:t>𝑄</m:t>
                        </m:r>
                      </m:sub>
                    </m:sSub>
                    <m:r>
                      <a:rPr lang="en-US" sz="1100" i="1">
                        <a:solidFill>
                          <a:srgbClr val="FFFFFF"/>
                        </a:solidFill>
                        <a:latin typeface="Cambria Math" panose="02040503050406030204" pitchFamily="18" charset="0"/>
                      </a:rPr>
                      <m:t> </m:t>
                    </m:r>
                    <m:r>
                      <a:rPr lang="en-US" sz="1100" i="1">
                        <a:solidFill>
                          <a:srgbClr val="FFFFFF"/>
                        </a:solidFill>
                        <a:latin typeface="Cambria Math" panose="02040503050406030204" pitchFamily="18" charset="0"/>
                      </a:rPr>
                      <m:t>𝑎𝑛𝑑</m:t>
                    </m:r>
                    <m:r>
                      <a:rPr lang="en-US" sz="1100" i="1">
                        <a:solidFill>
                          <a:srgbClr val="FFFFFF"/>
                        </a:solidFill>
                        <a:latin typeface="Cambria Math" panose="02040503050406030204" pitchFamily="18" charset="0"/>
                      </a:rPr>
                      <m:t> </m:t>
                    </m:r>
                    <m:sSub>
                      <m:sSubPr>
                        <m:ctrlPr>
                          <a:rPr lang="en-GB" sz="1100" i="1">
                            <a:solidFill>
                              <a:srgbClr val="FFFFFF"/>
                            </a:solidFill>
                            <a:latin typeface="Cambria Math" panose="02040503050406030204" pitchFamily="18" charset="0"/>
                          </a:rPr>
                        </m:ctrlPr>
                      </m:sSubPr>
                      <m:e>
                        <m:r>
                          <a:rPr lang="en-US" sz="1100" i="1">
                            <a:solidFill>
                              <a:srgbClr val="FFFFFF"/>
                            </a:solidFill>
                            <a:latin typeface="Cambria Math" panose="02040503050406030204" pitchFamily="18" charset="0"/>
                          </a:rPr>
                          <m:t>𝑊</m:t>
                        </m:r>
                      </m:e>
                      <m:sub>
                        <m:r>
                          <a:rPr lang="en-US" sz="1100" i="1">
                            <a:solidFill>
                              <a:srgbClr val="FFFFFF"/>
                            </a:solidFill>
                            <a:latin typeface="Cambria Math" panose="02040503050406030204" pitchFamily="18" charset="0"/>
                          </a:rPr>
                          <m:t>𝐾</m:t>
                        </m:r>
                      </m:sub>
                    </m:sSub>
                  </m:oMath>
                </a14:m>
                <a:r>
                  <a:rPr lang="en-US" sz="1100">
                    <a:solidFill>
                      <a:srgbClr val="FFFFFF"/>
                    </a:solidFill>
                  </a:rPr>
                  <a:t> </a:t>
                </a:r>
              </a:p>
              <a:p>
                <a:pPr>
                  <a:lnSpc>
                    <a:spcPct val="90000"/>
                  </a:lnSpc>
                </a:pPr>
                <a:endParaRPr lang="en-US" sz="1100">
                  <a:solidFill>
                    <a:srgbClr val="FFFFFF"/>
                  </a:solidFill>
                </a:endParaRPr>
              </a:p>
              <a:p>
                <a:pPr>
                  <a:lnSpc>
                    <a:spcPct val="90000"/>
                  </a:lnSpc>
                </a:pPr>
                <a:r>
                  <a:rPr lang="en-US" sz="1100">
                    <a:solidFill>
                      <a:srgbClr val="FFFFFF"/>
                    </a:solidFill>
                  </a:rPr>
                  <a:t>These matrices then project the vector embedding to a lower dimensional space, getting only specific information from the higher-dimensional vector embedding</a:t>
                </a:r>
              </a:p>
              <a:p>
                <a:pPr>
                  <a:lnSpc>
                    <a:spcPct val="90000"/>
                  </a:lnSpc>
                </a:pPr>
                <a:endParaRPr lang="en-US" sz="1100">
                  <a:solidFill>
                    <a:srgbClr val="FFFFFF"/>
                  </a:solidFill>
                </a:endParaRPr>
              </a:p>
            </p:txBody>
          </p:sp>
        </mc:Choice>
        <mc:Fallback xmlns="">
          <p:sp>
            <p:nvSpPr>
              <p:cNvPr id="4" name="Subtitle 2">
                <a:extLst>
                  <a:ext uri="{FF2B5EF4-FFF2-40B4-BE49-F238E27FC236}">
                    <a16:creationId xmlns:a16="http://schemas.microsoft.com/office/drawing/2014/main" id="{469B2811-79D1-90CF-509B-369681BF7856}"/>
                  </a:ext>
                </a:extLst>
              </p:cNvPr>
              <p:cNvSpPr>
                <a:spLocks noGrp="1" noRot="1" noChangeAspect="1" noMove="1" noResize="1" noEditPoints="1" noAdjustHandles="1" noChangeArrowheads="1" noChangeShapeType="1" noTextEdit="1"/>
              </p:cNvSpPr>
              <p:nvPr>
                <p:ph idx="1"/>
              </p:nvPr>
            </p:nvSpPr>
            <p:spPr>
              <a:xfrm>
                <a:off x="1154955" y="2120900"/>
                <a:ext cx="3133726" cy="3898900"/>
              </a:xfrm>
              <a:blipFill>
                <a:blip r:embed="rId3"/>
                <a:stretch>
                  <a:fillRect/>
                </a:stretch>
              </a:blipFill>
            </p:spPr>
            <p:txBody>
              <a:bodyPr/>
              <a:lstStyle/>
              <a:p>
                <a:r>
                  <a:rPr lang="en-GB">
                    <a:noFill/>
                  </a:rPr>
                  <a:t> </a:t>
                </a:r>
              </a:p>
            </p:txBody>
          </p:sp>
        </mc:Fallback>
      </mc:AlternateContent>
      <p:sp>
        <p:nvSpPr>
          <p:cNvPr id="24" name="Freeform 5">
            <a:extLst>
              <a:ext uri="{FF2B5EF4-FFF2-40B4-BE49-F238E27FC236}">
                <a16:creationId xmlns:a16="http://schemas.microsoft.com/office/drawing/2014/main" id="{B4A81DE1-E2BC-4A31-99EE-71350421B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3000403039"/>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0370FB-123A-1CF4-2795-61B7ECCC2533}"/>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643780CE-2BE5-46F6-97B2-60DF30217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2" name="Freeform: Shape 11">
            <a:extLst>
              <a:ext uri="{FF2B5EF4-FFF2-40B4-BE49-F238E27FC236}">
                <a16:creationId xmlns:a16="http://schemas.microsoft.com/office/drawing/2014/main" id="{61A87A49-68E6-459E-A5A6-46229FF42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4" name="Freeform 5">
            <a:extLst>
              <a:ext uri="{FF2B5EF4-FFF2-40B4-BE49-F238E27FC236}">
                <a16:creationId xmlns:a16="http://schemas.microsoft.com/office/drawing/2014/main" id="{F6ACD5FC-CAFE-48EB-B765-60EED2E0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 name="Title 1">
            <a:extLst>
              <a:ext uri="{FF2B5EF4-FFF2-40B4-BE49-F238E27FC236}">
                <a16:creationId xmlns:a16="http://schemas.microsoft.com/office/drawing/2014/main" id="{8F279D3C-358D-9D0A-F56B-595D28C285CB}"/>
              </a:ext>
            </a:extLst>
          </p:cNvPr>
          <p:cNvSpPr>
            <a:spLocks noGrp="1"/>
          </p:cNvSpPr>
          <p:nvPr>
            <p:ph type="title"/>
          </p:nvPr>
        </p:nvSpPr>
        <p:spPr>
          <a:xfrm>
            <a:off x="1154955" y="973668"/>
            <a:ext cx="2942210" cy="1020232"/>
          </a:xfrm>
        </p:spPr>
        <p:txBody>
          <a:bodyPr>
            <a:normAutofit/>
          </a:bodyPr>
          <a:lstStyle/>
          <a:p>
            <a:r>
              <a:rPr lang="en-GB">
                <a:solidFill>
                  <a:srgbClr val="EBEBEB"/>
                </a:solidFill>
              </a:rPr>
              <a:t>AttentionVIZ</a:t>
            </a:r>
          </a:p>
        </p:txBody>
      </p:sp>
      <p:pic>
        <p:nvPicPr>
          <p:cNvPr id="5" name="Picture 4">
            <a:extLst>
              <a:ext uri="{FF2B5EF4-FFF2-40B4-BE49-F238E27FC236}">
                <a16:creationId xmlns:a16="http://schemas.microsoft.com/office/drawing/2014/main" id="{BC1833E5-2906-B0A2-1482-4CA25FADE220}"/>
              </a:ext>
            </a:extLst>
          </p:cNvPr>
          <p:cNvPicPr>
            <a:picLocks noChangeAspect="1"/>
          </p:cNvPicPr>
          <p:nvPr/>
        </p:nvPicPr>
        <p:blipFill>
          <a:blip r:embed="rId2"/>
          <a:stretch>
            <a:fillRect/>
          </a:stretch>
        </p:blipFill>
        <p:spPr>
          <a:xfrm>
            <a:off x="5580893" y="1257262"/>
            <a:ext cx="6062760" cy="3104426"/>
          </a:xfrm>
          <a:prstGeom prst="rect">
            <a:avLst/>
          </a:prstGeom>
        </p:spPr>
      </p:pic>
      <p:sp>
        <p:nvSpPr>
          <p:cNvPr id="16" name="Rectangle 15">
            <a:extLst>
              <a:ext uri="{FF2B5EF4-FFF2-40B4-BE49-F238E27FC236}">
                <a16:creationId xmlns:a16="http://schemas.microsoft.com/office/drawing/2014/main" id="{9F33B405-D785-4738-B1C0-6A0AA5E9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8" name="Oval 17">
            <a:extLst>
              <a:ext uri="{FF2B5EF4-FFF2-40B4-BE49-F238E27FC236}">
                <a16:creationId xmlns:a16="http://schemas.microsoft.com/office/drawing/2014/main" id="{4233DC0E-DE6C-4FB6-A529-51B162641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0" name="Oval 19">
            <a:extLst>
              <a:ext uri="{FF2B5EF4-FFF2-40B4-BE49-F238E27FC236}">
                <a16:creationId xmlns:a16="http://schemas.microsoft.com/office/drawing/2014/main" id="{3870477F-E451-4BC3-863F-0E2FC5728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4" name="Subtitle 2">
            <a:extLst>
              <a:ext uri="{FF2B5EF4-FFF2-40B4-BE49-F238E27FC236}">
                <a16:creationId xmlns:a16="http://schemas.microsoft.com/office/drawing/2014/main" id="{CE4B772B-B49E-2FF4-DA4A-3B4E2E236046}"/>
              </a:ext>
            </a:extLst>
          </p:cNvPr>
          <p:cNvSpPr>
            <a:spLocks noGrp="1"/>
          </p:cNvSpPr>
          <p:nvPr>
            <p:ph idx="1"/>
          </p:nvPr>
        </p:nvSpPr>
        <p:spPr>
          <a:xfrm>
            <a:off x="423336" y="2120900"/>
            <a:ext cx="4347936" cy="3898900"/>
          </a:xfrm>
        </p:spPr>
        <p:txBody>
          <a:bodyPr>
            <a:normAutofit/>
          </a:bodyPr>
          <a:lstStyle/>
          <a:p>
            <a:pPr>
              <a:lnSpc>
                <a:spcPct val="90000"/>
              </a:lnSpc>
            </a:pPr>
            <a:endParaRPr lang="en-US" sz="1100">
              <a:solidFill>
                <a:srgbClr val="FFFFFF"/>
              </a:solidFill>
            </a:endParaRPr>
          </a:p>
          <a:p>
            <a:pPr>
              <a:lnSpc>
                <a:spcPct val="90000"/>
              </a:lnSpc>
            </a:pPr>
            <a:r>
              <a:rPr lang="en-US" sz="1100">
                <a:solidFill>
                  <a:srgbClr val="FFFFFF"/>
                </a:solidFill>
              </a:rPr>
              <a:t>attention coefficients depend on the dot product between queries and keys; Closer distance directly shows higher attention coefficients.</a:t>
            </a:r>
          </a:p>
          <a:p>
            <a:pPr>
              <a:lnSpc>
                <a:spcPct val="90000"/>
              </a:lnSpc>
            </a:pPr>
            <a:endParaRPr lang="en-US" sz="1100">
              <a:solidFill>
                <a:srgbClr val="FFFFFF"/>
              </a:solidFill>
            </a:endParaRPr>
          </a:p>
          <a:p>
            <a:pPr>
              <a:lnSpc>
                <a:spcPct val="90000"/>
              </a:lnSpc>
            </a:pPr>
            <a:r>
              <a:rPr lang="en-US" sz="1100">
                <a:solidFill>
                  <a:srgbClr val="FFFFFF"/>
                </a:solidFill>
              </a:rPr>
              <a:t>the relationship between dot product and distance is not precise, as query and key vary in norm</a:t>
            </a:r>
          </a:p>
          <a:p>
            <a:pPr>
              <a:lnSpc>
                <a:spcPct val="90000"/>
              </a:lnSpc>
            </a:pPr>
            <a:endParaRPr lang="en-US" sz="1100">
              <a:solidFill>
                <a:srgbClr val="FFFFFF"/>
              </a:solidFill>
            </a:endParaRPr>
          </a:p>
          <a:p>
            <a:pPr>
              <a:lnSpc>
                <a:spcPct val="90000"/>
              </a:lnSpc>
            </a:pPr>
            <a:endParaRPr lang="en-US" sz="1100">
              <a:solidFill>
                <a:srgbClr val="FFFFFF"/>
              </a:solidFill>
            </a:endParaRPr>
          </a:p>
          <a:p>
            <a:pPr>
              <a:lnSpc>
                <a:spcPct val="90000"/>
              </a:lnSpc>
            </a:pPr>
            <a:r>
              <a:rPr lang="en-US" sz="1100">
                <a:solidFill>
                  <a:srgbClr val="FFFFFF"/>
                </a:solidFill>
              </a:rPr>
              <a:t>Vector normalization is applied prior to dimensionality reduction; this is to tune the ‘2 free parameters’ and create a closer relationship between embedding distance and attention weights</a:t>
            </a:r>
          </a:p>
          <a:p>
            <a:pPr>
              <a:lnSpc>
                <a:spcPct val="90000"/>
              </a:lnSpc>
            </a:pPr>
            <a:endParaRPr lang="en-US" sz="1100">
              <a:solidFill>
                <a:srgbClr val="FFFFFF"/>
              </a:solidFill>
            </a:endParaRPr>
          </a:p>
          <a:p>
            <a:pPr>
              <a:lnSpc>
                <a:spcPct val="90000"/>
              </a:lnSpc>
            </a:pPr>
            <a:endParaRPr lang="en-US" sz="1100">
              <a:solidFill>
                <a:srgbClr val="FFFFFF"/>
              </a:solidFill>
            </a:endParaRPr>
          </a:p>
          <a:p>
            <a:pPr>
              <a:lnSpc>
                <a:spcPct val="90000"/>
              </a:lnSpc>
            </a:pPr>
            <a:endParaRPr lang="en-US" sz="1100">
              <a:solidFill>
                <a:srgbClr val="FFFFFF"/>
              </a:solidFill>
            </a:endParaRPr>
          </a:p>
        </p:txBody>
      </p:sp>
      <p:sp>
        <p:nvSpPr>
          <p:cNvPr id="22" name="Freeform 5">
            <a:extLst>
              <a:ext uri="{FF2B5EF4-FFF2-40B4-BE49-F238E27FC236}">
                <a16:creationId xmlns:a16="http://schemas.microsoft.com/office/drawing/2014/main" id="{B4A81DE1-E2BC-4A31-99EE-71350421B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635889209"/>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BE4DC4-C9FC-BB10-E91F-1D379C20D47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F70C2B8F-6B1B-46D5-86E6-40F36C695F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2" name="Freeform 5">
            <a:extLst>
              <a:ext uri="{FF2B5EF4-FFF2-40B4-BE49-F238E27FC236}">
                <a16:creationId xmlns:a16="http://schemas.microsoft.com/office/drawing/2014/main" id="{DB521824-592C-476A-AB0A-CA0C6D1F34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4" name="Freeform: Shape 13">
            <a:extLst>
              <a:ext uri="{FF2B5EF4-FFF2-40B4-BE49-F238E27FC236}">
                <a16:creationId xmlns:a16="http://schemas.microsoft.com/office/drawing/2014/main" id="{A2749EFA-8EE4-4EB8-9424-8E593B9320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950898" y="638067"/>
            <a:ext cx="6053670" cy="5581866"/>
          </a:xfrm>
          <a:custGeom>
            <a:avLst/>
            <a:gdLst>
              <a:gd name="connsiteX0" fmla="*/ 6053670 w 6053670"/>
              <a:gd name="connsiteY0" fmla="*/ 1098 h 5581866"/>
              <a:gd name="connsiteX1" fmla="*/ 6053670 w 6053670"/>
              <a:gd name="connsiteY1" fmla="*/ 514028 h 5581866"/>
              <a:gd name="connsiteX2" fmla="*/ 6053670 w 6053670"/>
              <a:gd name="connsiteY2" fmla="*/ 1254558 h 5581866"/>
              <a:gd name="connsiteX3" fmla="*/ 6053670 w 6053670"/>
              <a:gd name="connsiteY3" fmla="*/ 5581866 h 5581866"/>
              <a:gd name="connsiteX4" fmla="*/ 0 w 6053670"/>
              <a:gd name="connsiteY4" fmla="*/ 5581866 h 5581866"/>
              <a:gd name="connsiteX5" fmla="*/ 0 w 6053670"/>
              <a:gd name="connsiteY5" fmla="*/ 1249853 h 5581866"/>
              <a:gd name="connsiteX6" fmla="*/ 0 w 6053670"/>
              <a:gd name="connsiteY6" fmla="*/ 514028 h 5581866"/>
              <a:gd name="connsiteX7" fmla="*/ 0 w 6053670"/>
              <a:gd name="connsiteY7" fmla="*/ 0 h 5581866"/>
              <a:gd name="connsiteX8" fmla="*/ 35717 w 6053670"/>
              <a:gd name="connsiteY8" fmla="*/ 5488 h 5581866"/>
              <a:gd name="connsiteX9" fmla="*/ 140445 w 6053670"/>
              <a:gd name="connsiteY9" fmla="*/ 21641 h 5581866"/>
              <a:gd name="connsiteX10" fmla="*/ 216722 w 6053670"/>
              <a:gd name="connsiteY10" fmla="*/ 32932 h 5581866"/>
              <a:gd name="connsiteX11" fmla="*/ 307527 w 6053670"/>
              <a:gd name="connsiteY11" fmla="*/ 44850 h 5581866"/>
              <a:gd name="connsiteX12" fmla="*/ 415282 w 6053670"/>
              <a:gd name="connsiteY12" fmla="*/ 59121 h 5581866"/>
              <a:gd name="connsiteX13" fmla="*/ 534539 w 6053670"/>
              <a:gd name="connsiteY13" fmla="*/ 74175 h 5581866"/>
              <a:gd name="connsiteX14" fmla="*/ 668931 w 6053670"/>
              <a:gd name="connsiteY14" fmla="*/ 90014 h 5581866"/>
              <a:gd name="connsiteX15" fmla="*/ 815430 w 6053670"/>
              <a:gd name="connsiteY15" fmla="*/ 106794 h 5581866"/>
              <a:gd name="connsiteX16" fmla="*/ 974641 w 6053670"/>
              <a:gd name="connsiteY16" fmla="*/ 123574 h 5581866"/>
              <a:gd name="connsiteX17" fmla="*/ 1144144 w 6053670"/>
              <a:gd name="connsiteY17" fmla="*/ 140667 h 5581866"/>
              <a:gd name="connsiteX18" fmla="*/ 1326965 w 6053670"/>
              <a:gd name="connsiteY18" fmla="*/ 156506 h 5581866"/>
              <a:gd name="connsiteX19" fmla="*/ 1518261 w 6053670"/>
              <a:gd name="connsiteY19" fmla="*/ 171717 h 5581866"/>
              <a:gd name="connsiteX20" fmla="*/ 1720453 w 6053670"/>
              <a:gd name="connsiteY20" fmla="*/ 185518 h 5581866"/>
              <a:gd name="connsiteX21" fmla="*/ 1931121 w 6053670"/>
              <a:gd name="connsiteY21" fmla="*/ 198690 h 5581866"/>
              <a:gd name="connsiteX22" fmla="*/ 2150869 w 6053670"/>
              <a:gd name="connsiteY22" fmla="*/ 211079 h 5581866"/>
              <a:gd name="connsiteX23" fmla="*/ 2263467 w 6053670"/>
              <a:gd name="connsiteY23" fmla="*/ 215470 h 5581866"/>
              <a:gd name="connsiteX24" fmla="*/ 2378487 w 6053670"/>
              <a:gd name="connsiteY24" fmla="*/ 220332 h 5581866"/>
              <a:gd name="connsiteX25" fmla="*/ 2495323 w 6053670"/>
              <a:gd name="connsiteY25" fmla="*/ 224879 h 5581866"/>
              <a:gd name="connsiteX26" fmla="*/ 2612764 w 6053670"/>
              <a:gd name="connsiteY26" fmla="*/ 227859 h 5581866"/>
              <a:gd name="connsiteX27" fmla="*/ 2732627 w 6053670"/>
              <a:gd name="connsiteY27" fmla="*/ 230525 h 5581866"/>
              <a:gd name="connsiteX28" fmla="*/ 2853700 w 6053670"/>
              <a:gd name="connsiteY28" fmla="*/ 233348 h 5581866"/>
              <a:gd name="connsiteX29" fmla="*/ 2977195 w 6053670"/>
              <a:gd name="connsiteY29" fmla="*/ 235229 h 5581866"/>
              <a:gd name="connsiteX30" fmla="*/ 3101900 w 6053670"/>
              <a:gd name="connsiteY30" fmla="*/ 235229 h 5581866"/>
              <a:gd name="connsiteX31" fmla="*/ 3227817 w 6053670"/>
              <a:gd name="connsiteY31" fmla="*/ 236170 h 5581866"/>
              <a:gd name="connsiteX32" fmla="*/ 3354944 w 6053670"/>
              <a:gd name="connsiteY32" fmla="*/ 235229 h 5581866"/>
              <a:gd name="connsiteX33" fmla="*/ 3483887 w 6053670"/>
              <a:gd name="connsiteY33" fmla="*/ 233348 h 5581866"/>
              <a:gd name="connsiteX34" fmla="*/ 3612830 w 6053670"/>
              <a:gd name="connsiteY34" fmla="*/ 231623 h 5581866"/>
              <a:gd name="connsiteX35" fmla="*/ 3743589 w 6053670"/>
              <a:gd name="connsiteY35" fmla="*/ 227859 h 5581866"/>
              <a:gd name="connsiteX36" fmla="*/ 3875559 w 6053670"/>
              <a:gd name="connsiteY36" fmla="*/ 223938 h 5581866"/>
              <a:gd name="connsiteX37" fmla="*/ 4007529 w 6053670"/>
              <a:gd name="connsiteY37" fmla="*/ 219391 h 5581866"/>
              <a:gd name="connsiteX38" fmla="*/ 4140710 w 6053670"/>
              <a:gd name="connsiteY38" fmla="*/ 212961 h 5581866"/>
              <a:gd name="connsiteX39" fmla="*/ 4275102 w 6053670"/>
              <a:gd name="connsiteY39" fmla="*/ 205277 h 5581866"/>
              <a:gd name="connsiteX40" fmla="*/ 4410098 w 6053670"/>
              <a:gd name="connsiteY40" fmla="*/ 197907 h 5581866"/>
              <a:gd name="connsiteX41" fmla="*/ 4545096 w 6053670"/>
              <a:gd name="connsiteY41" fmla="*/ 188498 h 5581866"/>
              <a:gd name="connsiteX42" fmla="*/ 4681909 w 6053670"/>
              <a:gd name="connsiteY42" fmla="*/ 177207 h 5581866"/>
              <a:gd name="connsiteX43" fmla="*/ 4816905 w 6053670"/>
              <a:gd name="connsiteY43" fmla="*/ 165916 h 5581866"/>
              <a:gd name="connsiteX44" fmla="*/ 4954323 w 6053670"/>
              <a:gd name="connsiteY44" fmla="*/ 152899 h 5581866"/>
              <a:gd name="connsiteX45" fmla="*/ 5092347 w 6053670"/>
              <a:gd name="connsiteY45" fmla="*/ 138629 h 5581866"/>
              <a:gd name="connsiteX46" fmla="*/ 5228555 w 6053670"/>
              <a:gd name="connsiteY46" fmla="*/ 123574 h 5581866"/>
              <a:gd name="connsiteX47" fmla="*/ 5366578 w 6053670"/>
              <a:gd name="connsiteY47" fmla="*/ 106010 h 5581866"/>
              <a:gd name="connsiteX48" fmla="*/ 5503997 w 6053670"/>
              <a:gd name="connsiteY48" fmla="*/ 87192 h 5581866"/>
              <a:gd name="connsiteX49" fmla="*/ 5642020 w 6053670"/>
              <a:gd name="connsiteY49" fmla="*/ 68530 h 5581866"/>
              <a:gd name="connsiteX50" fmla="*/ 5779438 w 6053670"/>
              <a:gd name="connsiteY50" fmla="*/ 46733 h 5581866"/>
              <a:gd name="connsiteX51" fmla="*/ 5916251 w 6053670"/>
              <a:gd name="connsiteY51" fmla="*/ 24464 h 5581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5581866">
                <a:moveTo>
                  <a:pt x="6053670" y="1098"/>
                </a:moveTo>
                <a:lnTo>
                  <a:pt x="6053670" y="514028"/>
                </a:lnTo>
                <a:lnTo>
                  <a:pt x="6053670" y="1254558"/>
                </a:lnTo>
                <a:lnTo>
                  <a:pt x="6053670" y="5581866"/>
                </a:lnTo>
                <a:lnTo>
                  <a:pt x="0" y="5581866"/>
                </a:lnTo>
                <a:lnTo>
                  <a:pt x="0" y="1249853"/>
                </a:lnTo>
                <a:lnTo>
                  <a:pt x="0" y="514028"/>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0" y="235229"/>
                </a:lnTo>
                <a:lnTo>
                  <a:pt x="3227817" y="236170"/>
                </a:lnTo>
                <a:lnTo>
                  <a:pt x="3354944" y="235229"/>
                </a:lnTo>
                <a:lnTo>
                  <a:pt x="3483887" y="233348"/>
                </a:lnTo>
                <a:lnTo>
                  <a:pt x="3612830" y="231623"/>
                </a:lnTo>
                <a:lnTo>
                  <a:pt x="3743589" y="227859"/>
                </a:lnTo>
                <a:lnTo>
                  <a:pt x="3875559" y="223938"/>
                </a:lnTo>
                <a:lnTo>
                  <a:pt x="4007529"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6" name="Freeform 5">
            <a:extLst>
              <a:ext uri="{FF2B5EF4-FFF2-40B4-BE49-F238E27FC236}">
                <a16:creationId xmlns:a16="http://schemas.microsoft.com/office/drawing/2014/main" id="{B5C860C9-D4F9-4350-80DA-0D1CD36C77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 name="Title 1">
            <a:extLst>
              <a:ext uri="{FF2B5EF4-FFF2-40B4-BE49-F238E27FC236}">
                <a16:creationId xmlns:a16="http://schemas.microsoft.com/office/drawing/2014/main" id="{0E67A6F2-86C8-2C41-D7E6-0598ED15A29C}"/>
              </a:ext>
            </a:extLst>
          </p:cNvPr>
          <p:cNvSpPr>
            <a:spLocks noGrp="1"/>
          </p:cNvSpPr>
          <p:nvPr>
            <p:ph type="title"/>
          </p:nvPr>
        </p:nvSpPr>
        <p:spPr>
          <a:xfrm>
            <a:off x="639098" y="629265"/>
            <a:ext cx="5132438" cy="1622322"/>
          </a:xfrm>
        </p:spPr>
        <p:txBody>
          <a:bodyPr>
            <a:normAutofit/>
          </a:bodyPr>
          <a:lstStyle/>
          <a:p>
            <a:r>
              <a:rPr lang="en-GB">
                <a:solidFill>
                  <a:srgbClr val="EBEBEB"/>
                </a:solidFill>
              </a:rPr>
              <a:t>AttentionVIZ</a:t>
            </a:r>
          </a:p>
        </p:txBody>
      </p:sp>
      <p:pic>
        <p:nvPicPr>
          <p:cNvPr id="5" name="Picture 4">
            <a:extLst>
              <a:ext uri="{FF2B5EF4-FFF2-40B4-BE49-F238E27FC236}">
                <a16:creationId xmlns:a16="http://schemas.microsoft.com/office/drawing/2014/main" id="{137A17F8-3F63-A434-90E4-93B948685942}"/>
              </a:ext>
            </a:extLst>
          </p:cNvPr>
          <p:cNvPicPr>
            <a:picLocks noChangeAspect="1"/>
          </p:cNvPicPr>
          <p:nvPr/>
        </p:nvPicPr>
        <p:blipFill>
          <a:blip r:embed="rId2"/>
          <a:stretch>
            <a:fillRect/>
          </a:stretch>
        </p:blipFill>
        <p:spPr>
          <a:xfrm>
            <a:off x="6523048" y="1543578"/>
            <a:ext cx="5581866" cy="3409422"/>
          </a:xfrm>
          <a:prstGeom prst="rect">
            <a:avLst/>
          </a:prstGeom>
        </p:spPr>
      </p:pic>
      <p:sp>
        <p:nvSpPr>
          <p:cNvPr id="18" name="Rectangle 17">
            <a:extLst>
              <a:ext uri="{FF2B5EF4-FFF2-40B4-BE49-F238E27FC236}">
                <a16:creationId xmlns:a16="http://schemas.microsoft.com/office/drawing/2014/main" id="{538A90C8-AE0E-4EBA-9AF8-EEDB206020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4" name="Subtitle 2">
            <a:extLst>
              <a:ext uri="{FF2B5EF4-FFF2-40B4-BE49-F238E27FC236}">
                <a16:creationId xmlns:a16="http://schemas.microsoft.com/office/drawing/2014/main" id="{4DA2FBAD-E0D3-A961-E8FC-BDDDD4A8BCD1}"/>
              </a:ext>
            </a:extLst>
          </p:cNvPr>
          <p:cNvSpPr>
            <a:spLocks noGrp="1"/>
          </p:cNvSpPr>
          <p:nvPr>
            <p:ph idx="1"/>
          </p:nvPr>
        </p:nvSpPr>
        <p:spPr>
          <a:xfrm>
            <a:off x="639098" y="2418735"/>
            <a:ext cx="5132439" cy="3811742"/>
          </a:xfrm>
        </p:spPr>
        <p:txBody>
          <a:bodyPr anchor="ctr">
            <a:normAutofit/>
          </a:bodyPr>
          <a:lstStyle/>
          <a:p>
            <a:pPr>
              <a:lnSpc>
                <a:spcPct val="90000"/>
              </a:lnSpc>
            </a:pPr>
            <a:endParaRPr lang="en-US" sz="1500">
              <a:solidFill>
                <a:srgbClr val="FFFFFF"/>
              </a:solidFill>
            </a:endParaRPr>
          </a:p>
          <a:p>
            <a:pPr>
              <a:lnSpc>
                <a:spcPct val="90000"/>
              </a:lnSpc>
            </a:pPr>
            <a:r>
              <a:rPr lang="en-US" sz="1500">
                <a:solidFill>
                  <a:srgbClr val="FFFFFF"/>
                </a:solidFill>
              </a:rPr>
              <a:t>we obtain the key and query vector representation of each token in each sentence, then use dimensionality reduction techniques such as t-SNE, UMAP or PCA to project the high-dimensional vector into low-dimensional space.</a:t>
            </a:r>
          </a:p>
          <a:p>
            <a:pPr>
              <a:lnSpc>
                <a:spcPct val="90000"/>
              </a:lnSpc>
            </a:pPr>
            <a:endParaRPr lang="en-US" sz="1500">
              <a:solidFill>
                <a:srgbClr val="FFFFFF"/>
              </a:solidFill>
            </a:endParaRPr>
          </a:p>
          <a:p>
            <a:pPr>
              <a:lnSpc>
                <a:spcPct val="90000"/>
              </a:lnSpc>
            </a:pPr>
            <a:r>
              <a:rPr lang="en-US" sz="1500">
                <a:solidFill>
                  <a:srgbClr val="FFFFFF"/>
                </a:solidFill>
              </a:rPr>
              <a:t>This attentionVIZ is used for language and vision transformers</a:t>
            </a:r>
          </a:p>
          <a:p>
            <a:pPr>
              <a:lnSpc>
                <a:spcPct val="90000"/>
              </a:lnSpc>
            </a:pPr>
            <a:endParaRPr lang="en-US" sz="1500">
              <a:solidFill>
                <a:srgbClr val="FFFFFF"/>
              </a:solidFill>
            </a:endParaRPr>
          </a:p>
          <a:p>
            <a:pPr>
              <a:lnSpc>
                <a:spcPct val="90000"/>
              </a:lnSpc>
            </a:pPr>
            <a:r>
              <a:rPr lang="en-US" sz="1500">
                <a:solidFill>
                  <a:srgbClr val="FFFFFF"/>
                </a:solidFill>
              </a:rPr>
              <a:t>It's important to note that each dimensionality reduction technique will produce different patterns.</a:t>
            </a:r>
          </a:p>
          <a:p>
            <a:pPr>
              <a:lnSpc>
                <a:spcPct val="90000"/>
              </a:lnSpc>
            </a:pPr>
            <a:endParaRPr lang="en-US" sz="1500">
              <a:solidFill>
                <a:srgbClr val="FFFFFF"/>
              </a:solidFill>
            </a:endParaRPr>
          </a:p>
          <a:p>
            <a:pPr>
              <a:lnSpc>
                <a:spcPct val="90000"/>
              </a:lnSpc>
            </a:pPr>
            <a:endParaRPr lang="en-US" sz="1500">
              <a:solidFill>
                <a:srgbClr val="FFFFFF"/>
              </a:solidFill>
            </a:endParaRPr>
          </a:p>
          <a:p>
            <a:pPr>
              <a:lnSpc>
                <a:spcPct val="90000"/>
              </a:lnSpc>
            </a:pPr>
            <a:endParaRPr lang="en-US" sz="1500">
              <a:solidFill>
                <a:srgbClr val="FFFFFF"/>
              </a:solidFill>
            </a:endParaRPr>
          </a:p>
          <a:p>
            <a:pPr marL="0" indent="0">
              <a:lnSpc>
                <a:spcPct val="90000"/>
              </a:lnSpc>
              <a:buNone/>
            </a:pPr>
            <a:endParaRPr lang="en-US" sz="1500">
              <a:solidFill>
                <a:srgbClr val="FFFFFF"/>
              </a:solidFill>
            </a:endParaRPr>
          </a:p>
          <a:p>
            <a:pPr>
              <a:lnSpc>
                <a:spcPct val="90000"/>
              </a:lnSpc>
            </a:pPr>
            <a:endParaRPr lang="en-US" sz="1500">
              <a:solidFill>
                <a:srgbClr val="FFFFFF"/>
              </a:solidFill>
            </a:endParaRPr>
          </a:p>
          <a:p>
            <a:pPr>
              <a:lnSpc>
                <a:spcPct val="90000"/>
              </a:lnSpc>
            </a:pPr>
            <a:endParaRPr lang="en-US" sz="1500">
              <a:solidFill>
                <a:srgbClr val="FFFFFF"/>
              </a:solidFill>
            </a:endParaRPr>
          </a:p>
        </p:txBody>
      </p:sp>
    </p:spTree>
    <p:extLst>
      <p:ext uri="{BB962C8B-B14F-4D97-AF65-F5344CB8AC3E}">
        <p14:creationId xmlns:p14="http://schemas.microsoft.com/office/powerpoint/2010/main" val="2244235212"/>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852B0-D210-4F96-EF7E-D2CC279DFF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E9AD82-BDEA-66A8-32E6-98159917C181}"/>
              </a:ext>
            </a:extLst>
          </p:cNvPr>
          <p:cNvSpPr>
            <a:spLocks noGrp="1"/>
          </p:cNvSpPr>
          <p:nvPr>
            <p:ph type="title"/>
          </p:nvPr>
        </p:nvSpPr>
        <p:spPr/>
        <p:txBody>
          <a:bodyPr/>
          <a:lstStyle/>
          <a:p>
            <a:r>
              <a:rPr lang="en-GB" err="1"/>
              <a:t>AttentionVIZ</a:t>
            </a:r>
            <a:r>
              <a:rPr lang="en-GB"/>
              <a:t>: vector normalization</a:t>
            </a:r>
          </a:p>
        </p:txBody>
      </p:sp>
      <p:sp>
        <p:nvSpPr>
          <p:cNvPr id="4" name="Subtitle 2">
            <a:extLst>
              <a:ext uri="{FF2B5EF4-FFF2-40B4-BE49-F238E27FC236}">
                <a16:creationId xmlns:a16="http://schemas.microsoft.com/office/drawing/2014/main" id="{9EFAD764-E29D-FAD8-47E7-4C405158FB57}"/>
              </a:ext>
            </a:extLst>
          </p:cNvPr>
          <p:cNvSpPr>
            <a:spLocks noGrp="1"/>
          </p:cNvSpPr>
          <p:nvPr>
            <p:ph idx="1"/>
          </p:nvPr>
        </p:nvSpPr>
        <p:spPr>
          <a:xfrm>
            <a:off x="99574" y="2153346"/>
            <a:ext cx="11992851" cy="4572001"/>
          </a:xfrm>
        </p:spPr>
        <p:txBody>
          <a:bodyPr>
            <a:normAutofit/>
          </a:bodyPr>
          <a:lstStyle/>
          <a:p>
            <a:endParaRPr lang="en-US"/>
          </a:p>
          <a:p>
            <a:r>
              <a:rPr lang="en-US"/>
              <a:t>Key translation: Due to separation between query and key vectors, we make use of the soft max function to resolve this, this causes key and query to have common centroid</a:t>
            </a:r>
          </a:p>
          <a:p>
            <a:r>
              <a:rPr lang="en-US" err="1"/>
              <a:t>Attentionj</a:t>
            </a:r>
            <a:r>
              <a:rPr lang="en-US"/>
              <a:t>(x) = </a:t>
            </a:r>
            <a:r>
              <a:rPr lang="en-US" err="1"/>
              <a:t>softmax</a:t>
            </a:r>
            <a:r>
              <a:rPr lang="en-US"/>
              <a:t> j((x,y1),(x,y2),….)</a:t>
            </a:r>
          </a:p>
          <a:p>
            <a:pPr marL="0" indent="0">
              <a:buNone/>
            </a:pPr>
            <a:r>
              <a:rPr lang="en-US"/>
              <a:t>                            = </a:t>
            </a:r>
            <a:r>
              <a:rPr lang="en-US" err="1"/>
              <a:t>softmax</a:t>
            </a:r>
            <a:r>
              <a:rPr lang="en-US"/>
              <a:t> j((x,y1)+(</a:t>
            </a:r>
            <a:r>
              <a:rPr lang="en-US" err="1"/>
              <a:t>x,v</a:t>
            </a:r>
            <a:r>
              <a:rPr lang="en-US"/>
              <a:t>),(x,y2)+(</a:t>
            </a:r>
            <a:r>
              <a:rPr lang="en-US" err="1"/>
              <a:t>x,v</a:t>
            </a:r>
            <a:r>
              <a:rPr lang="en-US"/>
              <a:t>),….)</a:t>
            </a:r>
          </a:p>
          <a:p>
            <a:pPr marL="0" indent="0">
              <a:buNone/>
            </a:pPr>
            <a:r>
              <a:rPr lang="en-US"/>
              <a:t>                            = </a:t>
            </a:r>
            <a:r>
              <a:rPr lang="en-US" err="1"/>
              <a:t>softmax</a:t>
            </a:r>
            <a:r>
              <a:rPr lang="en-US"/>
              <a:t> j((x,y1+v),(x,y2+v),….)</a:t>
            </a:r>
          </a:p>
          <a:p>
            <a:pPr marL="0" indent="0">
              <a:buNone/>
            </a:pPr>
            <a:endParaRPr lang="en-US"/>
          </a:p>
          <a:p>
            <a:r>
              <a:rPr lang="en-US"/>
              <a:t>Scaling Queries and Keys: In GPT-2 average query norm was different to average key norm( query were tiny clusters and keys were loose clouds) Scale query by C != 0 and key by C^(-1)</a:t>
            </a:r>
          </a:p>
          <a:p>
            <a:pPr marL="0" indent="0">
              <a:buNone/>
            </a:pPr>
            <a:endParaRPr lang="en-US"/>
          </a:p>
          <a:p>
            <a:pPr marL="0" indent="0">
              <a:buNone/>
            </a:pPr>
            <a:endParaRPr lang="en-US"/>
          </a:p>
          <a:p>
            <a:pPr marL="0" indent="0">
              <a:buNone/>
            </a:pPr>
            <a:endParaRPr lang="en-US"/>
          </a:p>
          <a:p>
            <a:pPr marL="0" indent="0">
              <a:buNone/>
            </a:pPr>
            <a:endParaRPr lang="en-US" sz="2400"/>
          </a:p>
          <a:p>
            <a:endParaRPr lang="en-US" sz="2400"/>
          </a:p>
          <a:p>
            <a:endParaRPr lang="en-US" sz="2400"/>
          </a:p>
        </p:txBody>
      </p:sp>
    </p:spTree>
    <p:extLst>
      <p:ext uri="{BB962C8B-B14F-4D97-AF65-F5344CB8AC3E}">
        <p14:creationId xmlns:p14="http://schemas.microsoft.com/office/powerpoint/2010/main" val="4141272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1CBD3DE-86F1-AA1C-AED3-801CCB52483F}"/>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25" name="Rectangle 24">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6"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a:p>
          </p:txBody>
        </p:sp>
      </p:grpSp>
      <p:sp>
        <p:nvSpPr>
          <p:cNvPr id="27" name="Rectangle 26">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8" name="Freeform 5">
            <a:extLst>
              <a:ext uri="{FF2B5EF4-FFF2-40B4-BE49-F238E27FC236}">
                <a16:creationId xmlns:a16="http://schemas.microsoft.com/office/drawing/2014/main" id="{11CAC6F2-0806-417B-BF5D-5AEF6195FA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GB"/>
          </a:p>
        </p:txBody>
      </p:sp>
      <p:sp>
        <p:nvSpPr>
          <p:cNvPr id="29" name="Rectangle 28">
            <a:extLst>
              <a:ext uri="{FF2B5EF4-FFF2-40B4-BE49-F238E27FC236}">
                <a16:creationId xmlns:a16="http://schemas.microsoft.com/office/drawing/2014/main" id="{D4723B02-0AAB-4F6E-BA41-8ED99D559D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2319B3CA-DF04-DF6A-0434-9FADDB2DCC00}"/>
              </a:ext>
            </a:extLst>
          </p:cNvPr>
          <p:cNvSpPr>
            <a:spLocks noGrp="1"/>
          </p:cNvSpPr>
          <p:nvPr>
            <p:ph type="title"/>
          </p:nvPr>
        </p:nvSpPr>
        <p:spPr>
          <a:xfrm>
            <a:off x="8160773" y="1113062"/>
            <a:ext cx="3382297" cy="3281957"/>
          </a:xfrm>
        </p:spPr>
        <p:txBody>
          <a:bodyPr vert="horz" lIns="91440" tIns="45720" rIns="91440" bIns="45720" rtlCol="0" anchor="b">
            <a:normAutofit/>
          </a:bodyPr>
          <a:lstStyle/>
          <a:p>
            <a:pPr>
              <a:lnSpc>
                <a:spcPct val="90000"/>
              </a:lnSpc>
            </a:pPr>
            <a:r>
              <a:rPr lang="en-US" sz="3800" b="0" i="0" kern="1200">
                <a:solidFill>
                  <a:srgbClr val="EBEBEB"/>
                </a:solidFill>
                <a:latin typeface="+mj-lt"/>
                <a:ea typeface="+mj-ea"/>
                <a:cs typeface="+mj-cs"/>
              </a:rPr>
              <a:t>AttentionVIZ: Dot product vs distance</a:t>
            </a:r>
          </a:p>
        </p:txBody>
      </p:sp>
      <p:pic>
        <p:nvPicPr>
          <p:cNvPr id="5" name="Picture 4">
            <a:extLst>
              <a:ext uri="{FF2B5EF4-FFF2-40B4-BE49-F238E27FC236}">
                <a16:creationId xmlns:a16="http://schemas.microsoft.com/office/drawing/2014/main" id="{930B4CBD-93B6-5DE4-3539-4FAC7E227748}"/>
              </a:ext>
            </a:extLst>
          </p:cNvPr>
          <p:cNvPicPr>
            <a:picLocks noChangeAspect="1"/>
          </p:cNvPicPr>
          <p:nvPr/>
        </p:nvPicPr>
        <p:blipFill>
          <a:blip r:embed="rId3"/>
          <a:stretch>
            <a:fillRect/>
          </a:stretch>
        </p:blipFill>
        <p:spPr>
          <a:xfrm>
            <a:off x="1109763" y="1526613"/>
            <a:ext cx="6470907" cy="3801657"/>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2972620567"/>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D316F-69B1-EAF4-FD42-9BAA6A20BE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A8E01C-A638-31B3-1787-F028C828763F}"/>
              </a:ext>
            </a:extLst>
          </p:cNvPr>
          <p:cNvSpPr>
            <a:spLocks noGrp="1"/>
          </p:cNvSpPr>
          <p:nvPr>
            <p:ph type="title"/>
          </p:nvPr>
        </p:nvSpPr>
        <p:spPr/>
        <p:txBody>
          <a:bodyPr/>
          <a:lstStyle/>
          <a:p>
            <a:r>
              <a:rPr lang="en-GB" err="1"/>
              <a:t>AttentionVIZ</a:t>
            </a:r>
            <a:r>
              <a:rPr lang="en-GB"/>
              <a:t>: views and interactivity</a:t>
            </a:r>
          </a:p>
        </p:txBody>
      </p:sp>
      <p:sp>
        <p:nvSpPr>
          <p:cNvPr id="4" name="Subtitle 2">
            <a:extLst>
              <a:ext uri="{FF2B5EF4-FFF2-40B4-BE49-F238E27FC236}">
                <a16:creationId xmlns:a16="http://schemas.microsoft.com/office/drawing/2014/main" id="{0FDDF12D-0769-0CD4-FC19-4D414828F29A}"/>
              </a:ext>
            </a:extLst>
          </p:cNvPr>
          <p:cNvSpPr>
            <a:spLocks noGrp="1"/>
          </p:cNvSpPr>
          <p:nvPr>
            <p:ph idx="1"/>
          </p:nvPr>
        </p:nvSpPr>
        <p:spPr>
          <a:xfrm>
            <a:off x="99574" y="2153346"/>
            <a:ext cx="11992851" cy="4572001"/>
          </a:xfrm>
        </p:spPr>
        <p:txBody>
          <a:bodyPr>
            <a:normAutofit/>
          </a:bodyPr>
          <a:lstStyle/>
          <a:p>
            <a:endParaRPr lang="en-US"/>
          </a:p>
          <a:p>
            <a:r>
              <a:rPr lang="en-US" err="1"/>
              <a:t>Attentionviz</a:t>
            </a:r>
            <a:r>
              <a:rPr lang="en-US"/>
              <a:t> offers various color customizations for token types (key or query). For vision transformers, users can color by image patch row or column to visualize positional patterns. For language models, color options are normalized and discrete.</a:t>
            </a:r>
          </a:p>
          <a:p>
            <a:endParaRPr lang="en-US"/>
          </a:p>
          <a:p>
            <a:endParaRPr lang="en-US"/>
          </a:p>
          <a:p>
            <a:r>
              <a:rPr lang="en-US"/>
              <a:t>This research framework provides three interactive views, Matrix view, single view, and sentence/Image view. </a:t>
            </a:r>
          </a:p>
          <a:p>
            <a:endParaRPr lang="en-US"/>
          </a:p>
          <a:p>
            <a:pPr marL="0" indent="0">
              <a:buNone/>
            </a:pPr>
            <a:endParaRPr lang="en-US" sz="2400"/>
          </a:p>
          <a:p>
            <a:endParaRPr lang="en-US" sz="2400"/>
          </a:p>
          <a:p>
            <a:endParaRPr lang="en-US" sz="2400"/>
          </a:p>
        </p:txBody>
      </p:sp>
    </p:spTree>
    <p:extLst>
      <p:ext uri="{BB962C8B-B14F-4D97-AF65-F5344CB8AC3E}">
        <p14:creationId xmlns:p14="http://schemas.microsoft.com/office/powerpoint/2010/main" val="30792127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F9AED58-E346-D7D5-5929-BB0BC09647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2EBF70-80D5-64A6-4EE7-0AC49A07C5BB}"/>
              </a:ext>
            </a:extLst>
          </p:cNvPr>
          <p:cNvSpPr>
            <a:spLocks noGrp="1"/>
          </p:cNvSpPr>
          <p:nvPr>
            <p:ph type="title"/>
          </p:nvPr>
        </p:nvSpPr>
        <p:spPr>
          <a:xfrm>
            <a:off x="1154954" y="973668"/>
            <a:ext cx="8761413" cy="706964"/>
          </a:xfrm>
        </p:spPr>
        <p:txBody>
          <a:bodyPr>
            <a:normAutofit/>
          </a:bodyPr>
          <a:lstStyle/>
          <a:p>
            <a:r>
              <a:rPr lang="en-GB">
                <a:solidFill>
                  <a:srgbClr val="EBEBEB"/>
                </a:solidFill>
              </a:rPr>
              <a:t>AttentionVIZ: views and interactivity</a:t>
            </a:r>
          </a:p>
        </p:txBody>
      </p:sp>
      <p:pic>
        <p:nvPicPr>
          <p:cNvPr id="6" name="Picture 5">
            <a:extLst>
              <a:ext uri="{FF2B5EF4-FFF2-40B4-BE49-F238E27FC236}">
                <a16:creationId xmlns:a16="http://schemas.microsoft.com/office/drawing/2014/main" id="{38CE1F9D-8EDF-ADB4-6095-20C6F38E7EF3}"/>
              </a:ext>
            </a:extLst>
          </p:cNvPr>
          <p:cNvPicPr>
            <a:picLocks noChangeAspect="1"/>
          </p:cNvPicPr>
          <p:nvPr/>
        </p:nvPicPr>
        <p:blipFill>
          <a:blip r:embed="rId3"/>
          <a:stretch>
            <a:fillRect/>
          </a:stretch>
        </p:blipFill>
        <p:spPr>
          <a:xfrm>
            <a:off x="718457" y="2895600"/>
            <a:ext cx="4778034" cy="1919041"/>
          </a:xfrm>
          <a:prstGeom prst="roundRect">
            <a:avLst>
              <a:gd name="adj" fmla="val 1858"/>
            </a:avLst>
          </a:prstGeom>
          <a:effectLst>
            <a:outerShdw blurRad="50800" dist="50800" dir="5400000" algn="tl" rotWithShape="0">
              <a:srgbClr val="000000">
                <a:alpha val="43000"/>
              </a:srgbClr>
            </a:outerShdw>
          </a:effectLst>
        </p:spPr>
      </p:pic>
      <p:sp>
        <p:nvSpPr>
          <p:cNvPr id="4" name="Subtitle 2">
            <a:extLst>
              <a:ext uri="{FF2B5EF4-FFF2-40B4-BE49-F238E27FC236}">
                <a16:creationId xmlns:a16="http://schemas.microsoft.com/office/drawing/2014/main" id="{76378D7D-470E-43EE-75F5-1D52B1769385}"/>
              </a:ext>
            </a:extLst>
          </p:cNvPr>
          <p:cNvSpPr>
            <a:spLocks noGrp="1"/>
          </p:cNvSpPr>
          <p:nvPr>
            <p:ph idx="1"/>
          </p:nvPr>
        </p:nvSpPr>
        <p:spPr>
          <a:xfrm>
            <a:off x="5980954" y="2603500"/>
            <a:ext cx="5211979" cy="3416300"/>
          </a:xfrm>
        </p:spPr>
        <p:txBody>
          <a:bodyPr anchor="ctr">
            <a:normAutofit/>
          </a:bodyPr>
          <a:lstStyle/>
          <a:p>
            <a:pPr>
              <a:lnSpc>
                <a:spcPct val="90000"/>
              </a:lnSpc>
            </a:pPr>
            <a:endParaRPr lang="en-US" sz="1500"/>
          </a:p>
          <a:p>
            <a:pPr marL="0" indent="0">
              <a:lnSpc>
                <a:spcPct val="90000"/>
              </a:lnSpc>
              <a:buNone/>
            </a:pPr>
            <a:endParaRPr lang="en-US" sz="1500"/>
          </a:p>
          <a:p>
            <a:pPr>
              <a:lnSpc>
                <a:spcPct val="90000"/>
              </a:lnSpc>
            </a:pPr>
            <a:r>
              <a:rPr lang="en-US" sz="1500"/>
              <a:t>Matrix view uses small multiples to visualize the attention heads in the transformer at once. </a:t>
            </a:r>
          </a:p>
          <a:p>
            <a:pPr>
              <a:lnSpc>
                <a:spcPct val="90000"/>
              </a:lnSpc>
            </a:pPr>
            <a:endParaRPr lang="en-US" sz="1500"/>
          </a:p>
          <a:p>
            <a:pPr>
              <a:lnSpc>
                <a:spcPct val="90000"/>
              </a:lnSpc>
            </a:pPr>
            <a:r>
              <a:rPr lang="en-US" sz="1500"/>
              <a:t>Each row corresponds to a model layer. </a:t>
            </a:r>
          </a:p>
          <a:p>
            <a:pPr>
              <a:lnSpc>
                <a:spcPct val="90000"/>
              </a:lnSpc>
            </a:pPr>
            <a:endParaRPr lang="en-US" sz="1500"/>
          </a:p>
          <a:p>
            <a:pPr>
              <a:lnSpc>
                <a:spcPct val="90000"/>
              </a:lnSpc>
            </a:pPr>
            <a:r>
              <a:rPr lang="en-US" sz="1500"/>
              <a:t>This provides a Global perspective that users can easily scan for patterns across different transformer layers and heads.</a:t>
            </a:r>
          </a:p>
          <a:p>
            <a:pPr>
              <a:lnSpc>
                <a:spcPct val="90000"/>
              </a:lnSpc>
            </a:pPr>
            <a:endParaRPr lang="en-US" sz="1500"/>
          </a:p>
          <a:p>
            <a:pPr>
              <a:lnSpc>
                <a:spcPct val="90000"/>
              </a:lnSpc>
            </a:pPr>
            <a:endParaRPr lang="en-US" sz="1500"/>
          </a:p>
          <a:p>
            <a:pPr marL="0" indent="0">
              <a:lnSpc>
                <a:spcPct val="90000"/>
              </a:lnSpc>
              <a:buNone/>
            </a:pPr>
            <a:endParaRPr lang="en-US" sz="1500"/>
          </a:p>
          <a:p>
            <a:pPr>
              <a:lnSpc>
                <a:spcPct val="90000"/>
              </a:lnSpc>
            </a:pPr>
            <a:endParaRPr lang="en-US" sz="1500"/>
          </a:p>
          <a:p>
            <a:pPr>
              <a:lnSpc>
                <a:spcPct val="90000"/>
              </a:lnSpc>
            </a:pPr>
            <a:endParaRPr lang="en-US" sz="1500"/>
          </a:p>
        </p:txBody>
      </p:sp>
    </p:spTree>
    <p:extLst>
      <p:ext uri="{BB962C8B-B14F-4D97-AF65-F5344CB8AC3E}">
        <p14:creationId xmlns:p14="http://schemas.microsoft.com/office/powerpoint/2010/main" val="39268395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E7B3FD-3289-DF4F-B376-102B5A2376E9}"/>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F70C2B8F-6B1B-46D5-86E6-40F36C695F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2" name="Freeform 5">
            <a:extLst>
              <a:ext uri="{FF2B5EF4-FFF2-40B4-BE49-F238E27FC236}">
                <a16:creationId xmlns:a16="http://schemas.microsoft.com/office/drawing/2014/main" id="{DB521824-592C-476A-AB0A-CA0C6D1F34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4" name="Freeform: Shape 13">
            <a:extLst>
              <a:ext uri="{FF2B5EF4-FFF2-40B4-BE49-F238E27FC236}">
                <a16:creationId xmlns:a16="http://schemas.microsoft.com/office/drawing/2014/main" id="{A2749EFA-8EE4-4EB8-9424-8E593B9320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950898" y="638067"/>
            <a:ext cx="6053670" cy="5581866"/>
          </a:xfrm>
          <a:custGeom>
            <a:avLst/>
            <a:gdLst>
              <a:gd name="connsiteX0" fmla="*/ 6053670 w 6053670"/>
              <a:gd name="connsiteY0" fmla="*/ 1098 h 5581866"/>
              <a:gd name="connsiteX1" fmla="*/ 6053670 w 6053670"/>
              <a:gd name="connsiteY1" fmla="*/ 514028 h 5581866"/>
              <a:gd name="connsiteX2" fmla="*/ 6053670 w 6053670"/>
              <a:gd name="connsiteY2" fmla="*/ 1254558 h 5581866"/>
              <a:gd name="connsiteX3" fmla="*/ 6053670 w 6053670"/>
              <a:gd name="connsiteY3" fmla="*/ 5581866 h 5581866"/>
              <a:gd name="connsiteX4" fmla="*/ 0 w 6053670"/>
              <a:gd name="connsiteY4" fmla="*/ 5581866 h 5581866"/>
              <a:gd name="connsiteX5" fmla="*/ 0 w 6053670"/>
              <a:gd name="connsiteY5" fmla="*/ 1249853 h 5581866"/>
              <a:gd name="connsiteX6" fmla="*/ 0 w 6053670"/>
              <a:gd name="connsiteY6" fmla="*/ 514028 h 5581866"/>
              <a:gd name="connsiteX7" fmla="*/ 0 w 6053670"/>
              <a:gd name="connsiteY7" fmla="*/ 0 h 5581866"/>
              <a:gd name="connsiteX8" fmla="*/ 35717 w 6053670"/>
              <a:gd name="connsiteY8" fmla="*/ 5488 h 5581866"/>
              <a:gd name="connsiteX9" fmla="*/ 140445 w 6053670"/>
              <a:gd name="connsiteY9" fmla="*/ 21641 h 5581866"/>
              <a:gd name="connsiteX10" fmla="*/ 216722 w 6053670"/>
              <a:gd name="connsiteY10" fmla="*/ 32932 h 5581866"/>
              <a:gd name="connsiteX11" fmla="*/ 307527 w 6053670"/>
              <a:gd name="connsiteY11" fmla="*/ 44850 h 5581866"/>
              <a:gd name="connsiteX12" fmla="*/ 415282 w 6053670"/>
              <a:gd name="connsiteY12" fmla="*/ 59121 h 5581866"/>
              <a:gd name="connsiteX13" fmla="*/ 534539 w 6053670"/>
              <a:gd name="connsiteY13" fmla="*/ 74175 h 5581866"/>
              <a:gd name="connsiteX14" fmla="*/ 668931 w 6053670"/>
              <a:gd name="connsiteY14" fmla="*/ 90014 h 5581866"/>
              <a:gd name="connsiteX15" fmla="*/ 815430 w 6053670"/>
              <a:gd name="connsiteY15" fmla="*/ 106794 h 5581866"/>
              <a:gd name="connsiteX16" fmla="*/ 974641 w 6053670"/>
              <a:gd name="connsiteY16" fmla="*/ 123574 h 5581866"/>
              <a:gd name="connsiteX17" fmla="*/ 1144144 w 6053670"/>
              <a:gd name="connsiteY17" fmla="*/ 140667 h 5581866"/>
              <a:gd name="connsiteX18" fmla="*/ 1326965 w 6053670"/>
              <a:gd name="connsiteY18" fmla="*/ 156506 h 5581866"/>
              <a:gd name="connsiteX19" fmla="*/ 1518261 w 6053670"/>
              <a:gd name="connsiteY19" fmla="*/ 171717 h 5581866"/>
              <a:gd name="connsiteX20" fmla="*/ 1720453 w 6053670"/>
              <a:gd name="connsiteY20" fmla="*/ 185518 h 5581866"/>
              <a:gd name="connsiteX21" fmla="*/ 1931121 w 6053670"/>
              <a:gd name="connsiteY21" fmla="*/ 198690 h 5581866"/>
              <a:gd name="connsiteX22" fmla="*/ 2150869 w 6053670"/>
              <a:gd name="connsiteY22" fmla="*/ 211079 h 5581866"/>
              <a:gd name="connsiteX23" fmla="*/ 2263467 w 6053670"/>
              <a:gd name="connsiteY23" fmla="*/ 215470 h 5581866"/>
              <a:gd name="connsiteX24" fmla="*/ 2378487 w 6053670"/>
              <a:gd name="connsiteY24" fmla="*/ 220332 h 5581866"/>
              <a:gd name="connsiteX25" fmla="*/ 2495323 w 6053670"/>
              <a:gd name="connsiteY25" fmla="*/ 224879 h 5581866"/>
              <a:gd name="connsiteX26" fmla="*/ 2612764 w 6053670"/>
              <a:gd name="connsiteY26" fmla="*/ 227859 h 5581866"/>
              <a:gd name="connsiteX27" fmla="*/ 2732627 w 6053670"/>
              <a:gd name="connsiteY27" fmla="*/ 230525 h 5581866"/>
              <a:gd name="connsiteX28" fmla="*/ 2853700 w 6053670"/>
              <a:gd name="connsiteY28" fmla="*/ 233348 h 5581866"/>
              <a:gd name="connsiteX29" fmla="*/ 2977195 w 6053670"/>
              <a:gd name="connsiteY29" fmla="*/ 235229 h 5581866"/>
              <a:gd name="connsiteX30" fmla="*/ 3101900 w 6053670"/>
              <a:gd name="connsiteY30" fmla="*/ 235229 h 5581866"/>
              <a:gd name="connsiteX31" fmla="*/ 3227817 w 6053670"/>
              <a:gd name="connsiteY31" fmla="*/ 236170 h 5581866"/>
              <a:gd name="connsiteX32" fmla="*/ 3354944 w 6053670"/>
              <a:gd name="connsiteY32" fmla="*/ 235229 h 5581866"/>
              <a:gd name="connsiteX33" fmla="*/ 3483887 w 6053670"/>
              <a:gd name="connsiteY33" fmla="*/ 233348 h 5581866"/>
              <a:gd name="connsiteX34" fmla="*/ 3612830 w 6053670"/>
              <a:gd name="connsiteY34" fmla="*/ 231623 h 5581866"/>
              <a:gd name="connsiteX35" fmla="*/ 3743589 w 6053670"/>
              <a:gd name="connsiteY35" fmla="*/ 227859 h 5581866"/>
              <a:gd name="connsiteX36" fmla="*/ 3875559 w 6053670"/>
              <a:gd name="connsiteY36" fmla="*/ 223938 h 5581866"/>
              <a:gd name="connsiteX37" fmla="*/ 4007529 w 6053670"/>
              <a:gd name="connsiteY37" fmla="*/ 219391 h 5581866"/>
              <a:gd name="connsiteX38" fmla="*/ 4140710 w 6053670"/>
              <a:gd name="connsiteY38" fmla="*/ 212961 h 5581866"/>
              <a:gd name="connsiteX39" fmla="*/ 4275102 w 6053670"/>
              <a:gd name="connsiteY39" fmla="*/ 205277 h 5581866"/>
              <a:gd name="connsiteX40" fmla="*/ 4410098 w 6053670"/>
              <a:gd name="connsiteY40" fmla="*/ 197907 h 5581866"/>
              <a:gd name="connsiteX41" fmla="*/ 4545096 w 6053670"/>
              <a:gd name="connsiteY41" fmla="*/ 188498 h 5581866"/>
              <a:gd name="connsiteX42" fmla="*/ 4681909 w 6053670"/>
              <a:gd name="connsiteY42" fmla="*/ 177207 h 5581866"/>
              <a:gd name="connsiteX43" fmla="*/ 4816905 w 6053670"/>
              <a:gd name="connsiteY43" fmla="*/ 165916 h 5581866"/>
              <a:gd name="connsiteX44" fmla="*/ 4954323 w 6053670"/>
              <a:gd name="connsiteY44" fmla="*/ 152899 h 5581866"/>
              <a:gd name="connsiteX45" fmla="*/ 5092347 w 6053670"/>
              <a:gd name="connsiteY45" fmla="*/ 138629 h 5581866"/>
              <a:gd name="connsiteX46" fmla="*/ 5228555 w 6053670"/>
              <a:gd name="connsiteY46" fmla="*/ 123574 h 5581866"/>
              <a:gd name="connsiteX47" fmla="*/ 5366578 w 6053670"/>
              <a:gd name="connsiteY47" fmla="*/ 106010 h 5581866"/>
              <a:gd name="connsiteX48" fmla="*/ 5503997 w 6053670"/>
              <a:gd name="connsiteY48" fmla="*/ 87192 h 5581866"/>
              <a:gd name="connsiteX49" fmla="*/ 5642020 w 6053670"/>
              <a:gd name="connsiteY49" fmla="*/ 68530 h 5581866"/>
              <a:gd name="connsiteX50" fmla="*/ 5779438 w 6053670"/>
              <a:gd name="connsiteY50" fmla="*/ 46733 h 5581866"/>
              <a:gd name="connsiteX51" fmla="*/ 5916251 w 6053670"/>
              <a:gd name="connsiteY51" fmla="*/ 24464 h 5581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5581866">
                <a:moveTo>
                  <a:pt x="6053670" y="1098"/>
                </a:moveTo>
                <a:lnTo>
                  <a:pt x="6053670" y="514028"/>
                </a:lnTo>
                <a:lnTo>
                  <a:pt x="6053670" y="1254558"/>
                </a:lnTo>
                <a:lnTo>
                  <a:pt x="6053670" y="5581866"/>
                </a:lnTo>
                <a:lnTo>
                  <a:pt x="0" y="5581866"/>
                </a:lnTo>
                <a:lnTo>
                  <a:pt x="0" y="1249853"/>
                </a:lnTo>
                <a:lnTo>
                  <a:pt x="0" y="514028"/>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0" y="235229"/>
                </a:lnTo>
                <a:lnTo>
                  <a:pt x="3227817" y="236170"/>
                </a:lnTo>
                <a:lnTo>
                  <a:pt x="3354944" y="235229"/>
                </a:lnTo>
                <a:lnTo>
                  <a:pt x="3483887" y="233348"/>
                </a:lnTo>
                <a:lnTo>
                  <a:pt x="3612830" y="231623"/>
                </a:lnTo>
                <a:lnTo>
                  <a:pt x="3743589" y="227859"/>
                </a:lnTo>
                <a:lnTo>
                  <a:pt x="3875559" y="223938"/>
                </a:lnTo>
                <a:lnTo>
                  <a:pt x="4007529"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6" name="Freeform 5">
            <a:extLst>
              <a:ext uri="{FF2B5EF4-FFF2-40B4-BE49-F238E27FC236}">
                <a16:creationId xmlns:a16="http://schemas.microsoft.com/office/drawing/2014/main" id="{B5C860C9-D4F9-4350-80DA-0D1CD36C77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 name="Title 1">
            <a:extLst>
              <a:ext uri="{FF2B5EF4-FFF2-40B4-BE49-F238E27FC236}">
                <a16:creationId xmlns:a16="http://schemas.microsoft.com/office/drawing/2014/main" id="{D6C2A72F-1D5E-D2BC-626A-F9A0B6134B49}"/>
              </a:ext>
            </a:extLst>
          </p:cNvPr>
          <p:cNvSpPr>
            <a:spLocks noGrp="1"/>
          </p:cNvSpPr>
          <p:nvPr>
            <p:ph type="title"/>
          </p:nvPr>
        </p:nvSpPr>
        <p:spPr>
          <a:xfrm>
            <a:off x="639098" y="629265"/>
            <a:ext cx="5132438" cy="1622322"/>
          </a:xfrm>
        </p:spPr>
        <p:txBody>
          <a:bodyPr>
            <a:normAutofit/>
          </a:bodyPr>
          <a:lstStyle/>
          <a:p>
            <a:r>
              <a:rPr lang="en-GB">
                <a:solidFill>
                  <a:srgbClr val="EBEBEB"/>
                </a:solidFill>
              </a:rPr>
              <a:t>AttentionVIZ: views and interactivity</a:t>
            </a:r>
          </a:p>
        </p:txBody>
      </p:sp>
      <p:pic>
        <p:nvPicPr>
          <p:cNvPr id="5" name="Picture 4">
            <a:extLst>
              <a:ext uri="{FF2B5EF4-FFF2-40B4-BE49-F238E27FC236}">
                <a16:creationId xmlns:a16="http://schemas.microsoft.com/office/drawing/2014/main" id="{7B4C10A0-9925-6739-6CEC-B0FF4D32841E}"/>
              </a:ext>
            </a:extLst>
          </p:cNvPr>
          <p:cNvPicPr>
            <a:picLocks noChangeAspect="1"/>
          </p:cNvPicPr>
          <p:nvPr/>
        </p:nvPicPr>
        <p:blipFill>
          <a:blip r:embed="rId2"/>
          <a:stretch>
            <a:fillRect/>
          </a:stretch>
        </p:blipFill>
        <p:spPr>
          <a:xfrm>
            <a:off x="6714836" y="1952964"/>
            <a:ext cx="4828707" cy="2969653"/>
          </a:xfrm>
          <a:prstGeom prst="rect">
            <a:avLst/>
          </a:prstGeom>
        </p:spPr>
      </p:pic>
      <p:sp>
        <p:nvSpPr>
          <p:cNvPr id="18" name="Rectangle 17">
            <a:extLst>
              <a:ext uri="{FF2B5EF4-FFF2-40B4-BE49-F238E27FC236}">
                <a16:creationId xmlns:a16="http://schemas.microsoft.com/office/drawing/2014/main" id="{538A90C8-AE0E-4EBA-9AF8-EEDB206020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4" name="Subtitle 2">
            <a:extLst>
              <a:ext uri="{FF2B5EF4-FFF2-40B4-BE49-F238E27FC236}">
                <a16:creationId xmlns:a16="http://schemas.microsoft.com/office/drawing/2014/main" id="{7876307E-3050-8391-356B-034DFF287F21}"/>
              </a:ext>
            </a:extLst>
          </p:cNvPr>
          <p:cNvSpPr>
            <a:spLocks noGrp="1"/>
          </p:cNvSpPr>
          <p:nvPr>
            <p:ph idx="1"/>
          </p:nvPr>
        </p:nvSpPr>
        <p:spPr>
          <a:xfrm>
            <a:off x="639098" y="2418735"/>
            <a:ext cx="5770846" cy="3811742"/>
          </a:xfrm>
        </p:spPr>
        <p:txBody>
          <a:bodyPr anchor="ctr">
            <a:normAutofit fontScale="92500" lnSpcReduction="10000"/>
          </a:bodyPr>
          <a:lstStyle/>
          <a:p>
            <a:endParaRPr lang="en-US">
              <a:solidFill>
                <a:srgbClr val="FFFFFF"/>
              </a:solidFill>
            </a:endParaRPr>
          </a:p>
          <a:p>
            <a:r>
              <a:rPr lang="en-US">
                <a:solidFill>
                  <a:srgbClr val="FFFFFF"/>
                </a:solidFill>
              </a:rPr>
              <a:t>Single view, any plot in the matrix view can be clicked on to zoom into a single view, which allows the exploration of a single attention head in closer detail.</a:t>
            </a:r>
          </a:p>
          <a:p>
            <a:endParaRPr lang="en-US">
              <a:solidFill>
                <a:srgbClr val="FFFFFF"/>
              </a:solidFill>
            </a:endParaRPr>
          </a:p>
          <a:p>
            <a:r>
              <a:rPr lang="en-US">
                <a:solidFill>
                  <a:srgbClr val="FFFFFF"/>
                </a:solidFill>
              </a:rPr>
              <a:t> It allows for the same customizations available in Matrix view. </a:t>
            </a:r>
          </a:p>
          <a:p>
            <a:endParaRPr lang="en-US">
              <a:solidFill>
                <a:srgbClr val="FFFFFF"/>
              </a:solidFill>
            </a:endParaRPr>
          </a:p>
          <a:p>
            <a:r>
              <a:rPr lang="en-US">
                <a:solidFill>
                  <a:srgbClr val="FFFFFF"/>
                </a:solidFill>
              </a:rPr>
              <a:t>Users also have the option to project attention lines onto the scatterplots, which connect query and key tokens, and show only the top two attention weights for readability.</a:t>
            </a:r>
            <a:endParaRPr lang="en-GB">
              <a:solidFill>
                <a:srgbClr val="FFFFFF"/>
              </a:solidFill>
            </a:endParaRPr>
          </a:p>
          <a:p>
            <a:endParaRPr lang="en-US">
              <a:solidFill>
                <a:srgbClr val="FFFFFF"/>
              </a:solidFill>
            </a:endParaRPr>
          </a:p>
          <a:p>
            <a:pPr marL="0" indent="0">
              <a:buNone/>
            </a:pPr>
            <a:endParaRPr lang="en-US">
              <a:solidFill>
                <a:srgbClr val="FFFFFF"/>
              </a:solidFill>
            </a:endParaRPr>
          </a:p>
          <a:p>
            <a:endParaRPr lang="en-US">
              <a:solidFill>
                <a:srgbClr val="FFFFFF"/>
              </a:solidFill>
            </a:endParaRPr>
          </a:p>
          <a:p>
            <a:endParaRPr lang="en-US">
              <a:solidFill>
                <a:srgbClr val="FFFFFF"/>
              </a:solidFill>
            </a:endParaRPr>
          </a:p>
        </p:txBody>
      </p:sp>
    </p:spTree>
    <p:extLst>
      <p:ext uri="{BB962C8B-B14F-4D97-AF65-F5344CB8AC3E}">
        <p14:creationId xmlns:p14="http://schemas.microsoft.com/office/powerpoint/2010/main" val="263932020"/>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745F24-23D2-0944-EB6A-FEFC6D900F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B2D37D-11C2-9CB5-7A6A-5A80B91B7D0F}"/>
              </a:ext>
            </a:extLst>
          </p:cNvPr>
          <p:cNvSpPr>
            <a:spLocks noGrp="1"/>
          </p:cNvSpPr>
          <p:nvPr>
            <p:ph type="title"/>
          </p:nvPr>
        </p:nvSpPr>
        <p:spPr>
          <a:xfrm>
            <a:off x="1154954" y="973668"/>
            <a:ext cx="8761413" cy="706964"/>
          </a:xfrm>
        </p:spPr>
        <p:txBody>
          <a:bodyPr>
            <a:normAutofit/>
          </a:bodyPr>
          <a:lstStyle/>
          <a:p>
            <a:r>
              <a:rPr lang="en-GB" err="1"/>
              <a:t>AttentionVIZ</a:t>
            </a:r>
            <a:r>
              <a:rPr lang="en-GB"/>
              <a:t>: views and interactivity</a:t>
            </a:r>
          </a:p>
        </p:txBody>
      </p:sp>
      <p:pic>
        <p:nvPicPr>
          <p:cNvPr id="5" name="Picture 4">
            <a:extLst>
              <a:ext uri="{FF2B5EF4-FFF2-40B4-BE49-F238E27FC236}">
                <a16:creationId xmlns:a16="http://schemas.microsoft.com/office/drawing/2014/main" id="{229B1608-808F-5699-D32F-84D9DE686859}"/>
              </a:ext>
            </a:extLst>
          </p:cNvPr>
          <p:cNvPicPr>
            <a:picLocks noChangeAspect="1"/>
          </p:cNvPicPr>
          <p:nvPr/>
        </p:nvPicPr>
        <p:blipFill>
          <a:blip r:embed="rId2"/>
          <a:srcRect r="4" b="1962"/>
          <a:stretch>
            <a:fillRect/>
          </a:stretch>
        </p:blipFill>
        <p:spPr>
          <a:xfrm>
            <a:off x="1151467" y="2775951"/>
            <a:ext cx="4345024" cy="3067163"/>
          </a:xfrm>
          <a:prstGeom prst="roundRect">
            <a:avLst>
              <a:gd name="adj" fmla="val 1858"/>
            </a:avLst>
          </a:prstGeom>
          <a:effectLst>
            <a:outerShdw blurRad="50800" dist="50800" dir="5400000" algn="tl" rotWithShape="0">
              <a:srgbClr val="000000">
                <a:alpha val="43000"/>
              </a:srgbClr>
            </a:outerShdw>
          </a:effectLst>
        </p:spPr>
      </p:pic>
      <p:sp>
        <p:nvSpPr>
          <p:cNvPr id="4" name="Subtitle 2">
            <a:extLst>
              <a:ext uri="{FF2B5EF4-FFF2-40B4-BE49-F238E27FC236}">
                <a16:creationId xmlns:a16="http://schemas.microsoft.com/office/drawing/2014/main" id="{8D0E675A-9D7E-50E4-3975-978B9F44C727}"/>
              </a:ext>
            </a:extLst>
          </p:cNvPr>
          <p:cNvSpPr>
            <a:spLocks noGrp="1"/>
          </p:cNvSpPr>
          <p:nvPr>
            <p:ph idx="1"/>
          </p:nvPr>
        </p:nvSpPr>
        <p:spPr>
          <a:xfrm>
            <a:off x="5980954" y="2603500"/>
            <a:ext cx="5211979" cy="3416300"/>
          </a:xfrm>
        </p:spPr>
        <p:txBody>
          <a:bodyPr anchor="ctr">
            <a:normAutofit fontScale="92500" lnSpcReduction="20000"/>
          </a:bodyPr>
          <a:lstStyle/>
          <a:p>
            <a:pPr>
              <a:lnSpc>
                <a:spcPct val="90000"/>
              </a:lnSpc>
            </a:pPr>
            <a:endParaRPr lang="en-US" sz="1500"/>
          </a:p>
          <a:p>
            <a:pPr>
              <a:lnSpc>
                <a:spcPct val="90000"/>
              </a:lnSpc>
            </a:pPr>
            <a:r>
              <a:rPr lang="en-US" sz="1500"/>
              <a:t>Sentence view: When using BERT or GPT-2 users can click on a point in single view to open sentence view in the left sidebar, </a:t>
            </a:r>
          </a:p>
          <a:p>
            <a:pPr>
              <a:lnSpc>
                <a:spcPct val="90000"/>
              </a:lnSpc>
            </a:pPr>
            <a:endParaRPr lang="en-US" sz="1500"/>
          </a:p>
          <a:p>
            <a:pPr>
              <a:lnSpc>
                <a:spcPct val="90000"/>
              </a:lnSpc>
            </a:pPr>
            <a:r>
              <a:rPr lang="en-US" sz="1500"/>
              <a:t>which displays </a:t>
            </a:r>
            <a:r>
              <a:rPr lang="en-US" sz="1500" err="1"/>
              <a:t>BertViz</a:t>
            </a:r>
            <a:r>
              <a:rPr lang="en-US" sz="1500"/>
              <a:t>-inspired visualization of sentence-level attention with the clicked token highlighted, bipartite approach offers the best readability.</a:t>
            </a:r>
          </a:p>
          <a:p>
            <a:pPr>
              <a:lnSpc>
                <a:spcPct val="90000"/>
              </a:lnSpc>
            </a:pPr>
            <a:endParaRPr lang="en-US" sz="1500"/>
          </a:p>
          <a:p>
            <a:pPr>
              <a:lnSpc>
                <a:spcPct val="90000"/>
              </a:lnSpc>
            </a:pPr>
            <a:r>
              <a:rPr lang="en-US" sz="1500"/>
              <a:t> The opacity of connecting query tokens to key tokens shows the strength of attention. </a:t>
            </a:r>
          </a:p>
          <a:p>
            <a:pPr>
              <a:lnSpc>
                <a:spcPct val="90000"/>
              </a:lnSpc>
            </a:pPr>
            <a:endParaRPr lang="en-US" sz="1500"/>
          </a:p>
          <a:p>
            <a:pPr>
              <a:lnSpc>
                <a:spcPct val="90000"/>
              </a:lnSpc>
            </a:pPr>
            <a:r>
              <a:rPr lang="en-US" sz="1500"/>
              <a:t>Hovering over a token highlights a token-specific attention line. To reduce noise from classification tokens and separators, attention lines can be hidden.</a:t>
            </a:r>
            <a:endParaRPr lang="en-GB" sz="1500"/>
          </a:p>
          <a:p>
            <a:pPr>
              <a:lnSpc>
                <a:spcPct val="90000"/>
              </a:lnSpc>
            </a:pPr>
            <a:endParaRPr lang="en-US" sz="1500"/>
          </a:p>
          <a:p>
            <a:pPr marL="0" indent="0">
              <a:lnSpc>
                <a:spcPct val="90000"/>
              </a:lnSpc>
              <a:buNone/>
            </a:pPr>
            <a:endParaRPr lang="en-US" sz="1500"/>
          </a:p>
          <a:p>
            <a:pPr>
              <a:lnSpc>
                <a:spcPct val="90000"/>
              </a:lnSpc>
            </a:pPr>
            <a:endParaRPr lang="en-US" sz="1500"/>
          </a:p>
          <a:p>
            <a:pPr>
              <a:lnSpc>
                <a:spcPct val="90000"/>
              </a:lnSpc>
            </a:pPr>
            <a:endParaRPr lang="en-US" sz="1500"/>
          </a:p>
        </p:txBody>
      </p:sp>
    </p:spTree>
    <p:extLst>
      <p:ext uri="{BB962C8B-B14F-4D97-AF65-F5344CB8AC3E}">
        <p14:creationId xmlns:p14="http://schemas.microsoft.com/office/powerpoint/2010/main" val="34232174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7588006-1D7B-4FBD-99EA-30FDD1DFC6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F2499E-CB51-8D4F-B97F-6CF63FC95BE3}"/>
              </a:ext>
            </a:extLst>
          </p:cNvPr>
          <p:cNvSpPr>
            <a:spLocks noGrp="1"/>
          </p:cNvSpPr>
          <p:nvPr>
            <p:ph type="title"/>
          </p:nvPr>
        </p:nvSpPr>
        <p:spPr>
          <a:xfrm>
            <a:off x="1154954" y="973668"/>
            <a:ext cx="8761413" cy="706964"/>
          </a:xfrm>
        </p:spPr>
        <p:txBody>
          <a:bodyPr>
            <a:normAutofit/>
          </a:bodyPr>
          <a:lstStyle/>
          <a:p>
            <a:r>
              <a:rPr lang="en-GB" err="1"/>
              <a:t>AttentionVIZ</a:t>
            </a:r>
            <a:r>
              <a:rPr lang="en-GB"/>
              <a:t>: views and interactivity</a:t>
            </a:r>
          </a:p>
        </p:txBody>
      </p:sp>
      <p:pic>
        <p:nvPicPr>
          <p:cNvPr id="5" name="Picture 4">
            <a:extLst>
              <a:ext uri="{FF2B5EF4-FFF2-40B4-BE49-F238E27FC236}">
                <a16:creationId xmlns:a16="http://schemas.microsoft.com/office/drawing/2014/main" id="{88C3F7E5-D991-62E2-ACB2-E55794EF115D}"/>
              </a:ext>
            </a:extLst>
          </p:cNvPr>
          <p:cNvPicPr>
            <a:picLocks noChangeAspect="1"/>
          </p:cNvPicPr>
          <p:nvPr/>
        </p:nvPicPr>
        <p:blipFill>
          <a:blip r:embed="rId2"/>
          <a:srcRect r="4" b="1962"/>
          <a:stretch>
            <a:fillRect/>
          </a:stretch>
        </p:blipFill>
        <p:spPr>
          <a:xfrm>
            <a:off x="1151467" y="2775951"/>
            <a:ext cx="4345024" cy="3067163"/>
          </a:xfrm>
          <a:prstGeom prst="roundRect">
            <a:avLst>
              <a:gd name="adj" fmla="val 1858"/>
            </a:avLst>
          </a:prstGeom>
          <a:effectLst>
            <a:outerShdw blurRad="50800" dist="50800" dir="5400000" algn="tl" rotWithShape="0">
              <a:srgbClr val="000000">
                <a:alpha val="43000"/>
              </a:srgbClr>
            </a:outerShdw>
          </a:effectLst>
        </p:spPr>
      </p:pic>
      <p:sp>
        <p:nvSpPr>
          <p:cNvPr id="4" name="Subtitle 2">
            <a:extLst>
              <a:ext uri="{FF2B5EF4-FFF2-40B4-BE49-F238E27FC236}">
                <a16:creationId xmlns:a16="http://schemas.microsoft.com/office/drawing/2014/main" id="{3567F627-B3C4-1F30-C821-E87A1653174B}"/>
              </a:ext>
            </a:extLst>
          </p:cNvPr>
          <p:cNvSpPr>
            <a:spLocks noGrp="1"/>
          </p:cNvSpPr>
          <p:nvPr>
            <p:ph idx="1"/>
          </p:nvPr>
        </p:nvSpPr>
        <p:spPr>
          <a:xfrm>
            <a:off x="5980954" y="2307771"/>
            <a:ext cx="5211979" cy="4245429"/>
          </a:xfrm>
        </p:spPr>
        <p:txBody>
          <a:bodyPr anchor="ctr">
            <a:normAutofit/>
          </a:bodyPr>
          <a:lstStyle/>
          <a:p>
            <a:pPr>
              <a:lnSpc>
                <a:spcPct val="90000"/>
              </a:lnSpc>
            </a:pPr>
            <a:endParaRPr lang="en-US" sz="1100"/>
          </a:p>
          <a:p>
            <a:pPr>
              <a:lnSpc>
                <a:spcPct val="90000"/>
              </a:lnSpc>
            </a:pPr>
            <a:r>
              <a:rPr lang="en-US" sz="1100"/>
              <a:t>Image view: For image-based input in </a:t>
            </a:r>
            <a:r>
              <a:rPr lang="en-US" sz="1100" err="1"/>
              <a:t>ViT</a:t>
            </a:r>
            <a:r>
              <a:rPr lang="en-US" sz="1100"/>
              <a:t>, when an image patch is clicked on, the clicked token is highlighted with colored border, users also see an image overlaid with an attention heatmap</a:t>
            </a:r>
          </a:p>
          <a:p>
            <a:pPr>
              <a:lnSpc>
                <a:spcPct val="90000"/>
              </a:lnSpc>
            </a:pPr>
            <a:r>
              <a:rPr lang="en-US" sz="1100"/>
              <a:t>The overall attention pattern within an image can also be explored by showing arrowed lines between different image patches. </a:t>
            </a:r>
          </a:p>
          <a:p>
            <a:pPr>
              <a:lnSpc>
                <a:spcPct val="90000"/>
              </a:lnSpc>
            </a:pPr>
            <a:endParaRPr lang="en-US" sz="1100"/>
          </a:p>
          <a:p>
            <a:pPr>
              <a:lnSpc>
                <a:spcPct val="90000"/>
              </a:lnSpc>
            </a:pPr>
            <a:r>
              <a:rPr lang="en-US" sz="1100"/>
              <a:t>There are two options available for visualizing attention arrows; the first option overlays heatmap on the top of the original image patches, with transparency indicating the attention weight between clicked image patch and other regions. </a:t>
            </a:r>
          </a:p>
          <a:p>
            <a:pPr>
              <a:lnSpc>
                <a:spcPct val="90000"/>
              </a:lnSpc>
            </a:pPr>
            <a:r>
              <a:rPr lang="en-US" sz="1100"/>
              <a:t>The second option shows the attention pattern of the whole image.</a:t>
            </a:r>
            <a:endParaRPr lang="en-GB" sz="1100"/>
          </a:p>
          <a:p>
            <a:pPr>
              <a:lnSpc>
                <a:spcPct val="90000"/>
              </a:lnSpc>
            </a:pPr>
            <a:endParaRPr lang="en-US" sz="1100"/>
          </a:p>
          <a:p>
            <a:pPr marL="0" indent="0">
              <a:lnSpc>
                <a:spcPct val="90000"/>
              </a:lnSpc>
              <a:buNone/>
            </a:pPr>
            <a:endParaRPr lang="en-US" sz="1100"/>
          </a:p>
          <a:p>
            <a:pPr>
              <a:lnSpc>
                <a:spcPct val="90000"/>
              </a:lnSpc>
            </a:pPr>
            <a:endParaRPr lang="en-US" sz="1100"/>
          </a:p>
          <a:p>
            <a:pPr>
              <a:lnSpc>
                <a:spcPct val="90000"/>
              </a:lnSpc>
            </a:pPr>
            <a:endParaRPr lang="en-US" sz="1100"/>
          </a:p>
        </p:txBody>
      </p:sp>
    </p:spTree>
    <p:extLst>
      <p:ext uri="{BB962C8B-B14F-4D97-AF65-F5344CB8AC3E}">
        <p14:creationId xmlns:p14="http://schemas.microsoft.com/office/powerpoint/2010/main" val="38645330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67FD4-19FA-FF6B-0E23-6ACD8DF36A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6DF159-5BDF-70A2-C08E-453D84CE19F0}"/>
              </a:ext>
            </a:extLst>
          </p:cNvPr>
          <p:cNvSpPr>
            <a:spLocks noGrp="1"/>
          </p:cNvSpPr>
          <p:nvPr>
            <p:ph type="title"/>
          </p:nvPr>
        </p:nvSpPr>
        <p:spPr/>
        <p:txBody>
          <a:bodyPr/>
          <a:lstStyle/>
          <a:p>
            <a:r>
              <a:rPr lang="en-GB" err="1"/>
              <a:t>AttentionVIZ</a:t>
            </a:r>
            <a:r>
              <a:rPr lang="en-GB"/>
              <a:t>: Findings and Evaluation</a:t>
            </a:r>
          </a:p>
        </p:txBody>
      </p:sp>
      <p:sp>
        <p:nvSpPr>
          <p:cNvPr id="4" name="Subtitle 2">
            <a:extLst>
              <a:ext uri="{FF2B5EF4-FFF2-40B4-BE49-F238E27FC236}">
                <a16:creationId xmlns:a16="http://schemas.microsoft.com/office/drawing/2014/main" id="{79A5204F-CF67-5655-CD65-14B43997B1EC}"/>
              </a:ext>
            </a:extLst>
          </p:cNvPr>
          <p:cNvSpPr>
            <a:spLocks noGrp="1"/>
          </p:cNvSpPr>
          <p:nvPr>
            <p:ph idx="1"/>
          </p:nvPr>
        </p:nvSpPr>
        <p:spPr>
          <a:xfrm>
            <a:off x="99574" y="2153346"/>
            <a:ext cx="11992851" cy="4572001"/>
          </a:xfrm>
        </p:spPr>
        <p:txBody>
          <a:bodyPr>
            <a:normAutofit/>
          </a:bodyPr>
          <a:lstStyle/>
          <a:p>
            <a:endParaRPr lang="en-US"/>
          </a:p>
          <a:p>
            <a:r>
              <a:rPr lang="en-US" sz="2400"/>
              <a:t>Experts in the field were invited to evaluate the tool and its results</a:t>
            </a:r>
          </a:p>
          <a:p>
            <a:endParaRPr lang="en-US" sz="2400"/>
          </a:p>
          <a:p>
            <a:r>
              <a:rPr lang="en-US" sz="2400"/>
              <a:t>We were curious if any visual attention heads specialize in either color-based and brightness-based patterns. PCA patterns in the matrix view, showed two attention heads that resemble color and colorless vision</a:t>
            </a:r>
          </a:p>
          <a:p>
            <a:endParaRPr lang="en-US" sz="2400"/>
          </a:p>
          <a:p>
            <a:r>
              <a:rPr lang="en-US" sz="2400"/>
              <a:t>Tokens pay the most attention to other tokens with the same color or brightness</a:t>
            </a:r>
          </a:p>
          <a:p>
            <a:endParaRPr lang="en-US" sz="2400"/>
          </a:p>
          <a:p>
            <a:endParaRPr lang="en-US" sz="2400"/>
          </a:p>
        </p:txBody>
      </p:sp>
    </p:spTree>
    <p:extLst>
      <p:ext uri="{BB962C8B-B14F-4D97-AF65-F5344CB8AC3E}">
        <p14:creationId xmlns:p14="http://schemas.microsoft.com/office/powerpoint/2010/main" val="1020182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4C71A-34F5-65BC-7A38-D3DED1BBC9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FD6E26-479E-C45C-103E-202FD97FAE21}"/>
              </a:ext>
            </a:extLst>
          </p:cNvPr>
          <p:cNvSpPr>
            <a:spLocks noGrp="1"/>
          </p:cNvSpPr>
          <p:nvPr>
            <p:ph type="title"/>
          </p:nvPr>
        </p:nvSpPr>
        <p:spPr/>
        <p:txBody>
          <a:bodyPr/>
          <a:lstStyle/>
          <a:p>
            <a:r>
              <a:rPr lang="en-GB" err="1"/>
              <a:t>AttentionVIZ</a:t>
            </a:r>
            <a:r>
              <a:rPr lang="en-GB"/>
              <a:t>: Findings and Evaluation</a:t>
            </a:r>
          </a:p>
        </p:txBody>
      </p:sp>
      <p:sp>
        <p:nvSpPr>
          <p:cNvPr id="4" name="Subtitle 2">
            <a:extLst>
              <a:ext uri="{FF2B5EF4-FFF2-40B4-BE49-F238E27FC236}">
                <a16:creationId xmlns:a16="http://schemas.microsoft.com/office/drawing/2014/main" id="{EC968473-67AF-9AC4-3A79-22B3AABDA5D1}"/>
              </a:ext>
            </a:extLst>
          </p:cNvPr>
          <p:cNvSpPr>
            <a:spLocks noGrp="1"/>
          </p:cNvSpPr>
          <p:nvPr>
            <p:ph idx="1"/>
          </p:nvPr>
        </p:nvSpPr>
        <p:spPr>
          <a:xfrm>
            <a:off x="99574" y="2153346"/>
            <a:ext cx="11992851" cy="4572001"/>
          </a:xfrm>
        </p:spPr>
        <p:txBody>
          <a:bodyPr>
            <a:normAutofit lnSpcReduction="10000"/>
          </a:bodyPr>
          <a:lstStyle/>
          <a:p>
            <a:endParaRPr lang="en-US"/>
          </a:p>
          <a:p>
            <a:r>
              <a:rPr lang="en-US" sz="2400"/>
              <a:t>They identified an attention head that separates image tokens based on their spatial pattern’s frequencies and angles (similar shapes and angles paid attention to each other).</a:t>
            </a:r>
          </a:p>
          <a:p>
            <a:endParaRPr lang="en-US" sz="2400"/>
          </a:p>
          <a:p>
            <a:r>
              <a:rPr lang="en-US" sz="2400"/>
              <a:t>Self attention attends more broadly across images in deeper layers of vision transformers</a:t>
            </a:r>
          </a:p>
          <a:p>
            <a:endParaRPr lang="en-US" sz="2400"/>
          </a:p>
          <a:p>
            <a:r>
              <a:rPr lang="en-US" sz="2400"/>
              <a:t>Unlike CNN which processes images using square filter, the self-attention mechanism in transformers often processes images row by row and column by column, analogous to an elongated filter.</a:t>
            </a:r>
          </a:p>
          <a:p>
            <a:endParaRPr lang="en-US" sz="2400"/>
          </a:p>
          <a:p>
            <a:endParaRPr lang="en-US" sz="2400"/>
          </a:p>
          <a:p>
            <a:endParaRPr lang="en-US" sz="2400"/>
          </a:p>
          <a:p>
            <a:endParaRPr lang="en-US" sz="2400"/>
          </a:p>
          <a:p>
            <a:endParaRPr lang="en-US" sz="2400"/>
          </a:p>
        </p:txBody>
      </p:sp>
    </p:spTree>
    <p:extLst>
      <p:ext uri="{BB962C8B-B14F-4D97-AF65-F5344CB8AC3E}">
        <p14:creationId xmlns:p14="http://schemas.microsoft.com/office/powerpoint/2010/main" val="1601373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C5EA9-B1E3-EB03-2BD0-65106E1795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928546-2B53-D373-3C30-2C9D3DA0A3F1}"/>
              </a:ext>
            </a:extLst>
          </p:cNvPr>
          <p:cNvSpPr>
            <a:spLocks noGrp="1"/>
          </p:cNvSpPr>
          <p:nvPr>
            <p:ph type="title"/>
          </p:nvPr>
        </p:nvSpPr>
        <p:spPr/>
        <p:txBody>
          <a:bodyPr/>
          <a:lstStyle/>
          <a:p>
            <a:r>
              <a:rPr lang="en-GB" err="1"/>
              <a:t>AttentionVIZ</a:t>
            </a:r>
            <a:r>
              <a:rPr lang="en-GB"/>
              <a:t>: Findings and Evaluation</a:t>
            </a:r>
          </a:p>
        </p:txBody>
      </p:sp>
      <p:sp>
        <p:nvSpPr>
          <p:cNvPr id="4" name="Subtitle 2">
            <a:extLst>
              <a:ext uri="{FF2B5EF4-FFF2-40B4-BE49-F238E27FC236}">
                <a16:creationId xmlns:a16="http://schemas.microsoft.com/office/drawing/2014/main" id="{0ACB7FB0-7EFE-7610-DA5D-2B04D0700E50}"/>
              </a:ext>
            </a:extLst>
          </p:cNvPr>
          <p:cNvSpPr>
            <a:spLocks noGrp="1"/>
          </p:cNvSpPr>
          <p:nvPr>
            <p:ph idx="1"/>
          </p:nvPr>
        </p:nvSpPr>
        <p:spPr>
          <a:xfrm>
            <a:off x="99574" y="2153346"/>
            <a:ext cx="11992851" cy="4572001"/>
          </a:xfrm>
        </p:spPr>
        <p:txBody>
          <a:bodyPr>
            <a:normAutofit/>
          </a:bodyPr>
          <a:lstStyle/>
          <a:p>
            <a:endParaRPr lang="en-US"/>
          </a:p>
          <a:p>
            <a:r>
              <a:rPr lang="en-US" sz="2400"/>
              <a:t>They identified in the global view of </a:t>
            </a:r>
            <a:r>
              <a:rPr lang="en-US" sz="2400" b="1"/>
              <a:t>TSNE</a:t>
            </a:r>
            <a:r>
              <a:rPr lang="en-US" sz="2400"/>
              <a:t> that plots with spirals and clump tokens encode positional patterns; token position increases as we move from the outside to the inside of the spiral.</a:t>
            </a:r>
          </a:p>
          <a:p>
            <a:endParaRPr lang="en-US" sz="2400"/>
          </a:p>
          <a:p>
            <a:r>
              <a:rPr lang="en-US" sz="2400"/>
              <a:t>The difference between spirals and clumps appear to be whether token attends selectively to others one position away, vs several different positions</a:t>
            </a:r>
          </a:p>
          <a:p>
            <a:endParaRPr lang="en-US" sz="2400"/>
          </a:p>
          <a:p>
            <a:r>
              <a:rPr lang="en-US" sz="2400"/>
              <a:t>Heads with high query-key overlap. Tokens typically attend to themselves and other instances of the same token</a:t>
            </a:r>
          </a:p>
          <a:p>
            <a:endParaRPr lang="en-US" sz="2400"/>
          </a:p>
          <a:p>
            <a:endParaRPr lang="en-US" sz="2400"/>
          </a:p>
          <a:p>
            <a:endParaRPr lang="en-US" sz="2400"/>
          </a:p>
          <a:p>
            <a:endParaRPr lang="en-US" sz="2400"/>
          </a:p>
        </p:txBody>
      </p:sp>
    </p:spTree>
    <p:extLst>
      <p:ext uri="{BB962C8B-B14F-4D97-AF65-F5344CB8AC3E}">
        <p14:creationId xmlns:p14="http://schemas.microsoft.com/office/powerpoint/2010/main" val="21002497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03816-32EC-720A-3118-57CCE1B0D3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8E3B5F-E70F-C8DC-40F2-2B4100F4AFF8}"/>
              </a:ext>
            </a:extLst>
          </p:cNvPr>
          <p:cNvSpPr>
            <a:spLocks noGrp="1"/>
          </p:cNvSpPr>
          <p:nvPr>
            <p:ph type="title"/>
          </p:nvPr>
        </p:nvSpPr>
        <p:spPr/>
        <p:txBody>
          <a:bodyPr/>
          <a:lstStyle/>
          <a:p>
            <a:r>
              <a:rPr lang="en-GB" err="1"/>
              <a:t>AttentionVIZ</a:t>
            </a:r>
            <a:r>
              <a:rPr lang="en-GB"/>
              <a:t>: Findings and Evaluation</a:t>
            </a:r>
          </a:p>
        </p:txBody>
      </p:sp>
      <p:sp>
        <p:nvSpPr>
          <p:cNvPr id="4" name="Subtitle 2">
            <a:extLst>
              <a:ext uri="{FF2B5EF4-FFF2-40B4-BE49-F238E27FC236}">
                <a16:creationId xmlns:a16="http://schemas.microsoft.com/office/drawing/2014/main" id="{45829145-F024-53EB-B0B7-947D6676370F}"/>
              </a:ext>
            </a:extLst>
          </p:cNvPr>
          <p:cNvSpPr>
            <a:spLocks noGrp="1"/>
          </p:cNvSpPr>
          <p:nvPr>
            <p:ph idx="1"/>
          </p:nvPr>
        </p:nvSpPr>
        <p:spPr>
          <a:xfrm>
            <a:off x="99574" y="2153346"/>
            <a:ext cx="11992851" cy="4572001"/>
          </a:xfrm>
        </p:spPr>
        <p:txBody>
          <a:bodyPr>
            <a:normAutofit/>
          </a:bodyPr>
          <a:lstStyle/>
          <a:p>
            <a:endParaRPr lang="en-US"/>
          </a:p>
          <a:p>
            <a:r>
              <a:rPr lang="en-US" sz="2400"/>
              <a:t>Earlier layers have more have the most information about linear word order</a:t>
            </a:r>
          </a:p>
          <a:p>
            <a:endParaRPr lang="en-US" sz="2400"/>
          </a:p>
          <a:p>
            <a:endParaRPr lang="en-US" sz="2400"/>
          </a:p>
          <a:p>
            <a:r>
              <a:rPr lang="en-US" sz="2400"/>
              <a:t>Mid-to-later model layers contains syntactic and task-specific information; for instance, later layers have query-key sandwich, where keys and queries at the beginning of text are stacked, followed by being in reverse order at the end of the text.</a:t>
            </a:r>
          </a:p>
          <a:p>
            <a:endParaRPr lang="en-US" sz="2400"/>
          </a:p>
          <a:p>
            <a:endParaRPr lang="en-US" sz="2400"/>
          </a:p>
          <a:p>
            <a:endParaRPr lang="en-US" sz="2400"/>
          </a:p>
          <a:p>
            <a:endParaRPr lang="en-US" sz="2400"/>
          </a:p>
          <a:p>
            <a:endParaRPr lang="en-US" sz="2400"/>
          </a:p>
          <a:p>
            <a:endParaRPr lang="en-US" sz="2400"/>
          </a:p>
        </p:txBody>
      </p:sp>
    </p:spTree>
    <p:extLst>
      <p:ext uri="{BB962C8B-B14F-4D97-AF65-F5344CB8AC3E}">
        <p14:creationId xmlns:p14="http://schemas.microsoft.com/office/powerpoint/2010/main" val="18445482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23571-EDF8-83F2-03E0-2A73B850A7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8783DB-9CC4-216C-5F27-8EC8529870D6}"/>
              </a:ext>
            </a:extLst>
          </p:cNvPr>
          <p:cNvSpPr>
            <a:spLocks noGrp="1"/>
          </p:cNvSpPr>
          <p:nvPr>
            <p:ph type="title"/>
          </p:nvPr>
        </p:nvSpPr>
        <p:spPr/>
        <p:txBody>
          <a:bodyPr/>
          <a:lstStyle/>
          <a:p>
            <a:r>
              <a:rPr lang="en-GB" err="1"/>
              <a:t>AttentionVIZ</a:t>
            </a:r>
            <a:r>
              <a:rPr lang="en-GB"/>
              <a:t>: Findings and Evaluation</a:t>
            </a:r>
          </a:p>
        </p:txBody>
      </p:sp>
      <p:sp>
        <p:nvSpPr>
          <p:cNvPr id="4" name="Subtitle 2">
            <a:extLst>
              <a:ext uri="{FF2B5EF4-FFF2-40B4-BE49-F238E27FC236}">
                <a16:creationId xmlns:a16="http://schemas.microsoft.com/office/drawing/2014/main" id="{6A8CFA40-A6EA-7B8F-62DA-A9A6E564CD56}"/>
              </a:ext>
            </a:extLst>
          </p:cNvPr>
          <p:cNvSpPr>
            <a:spLocks noGrp="1"/>
          </p:cNvSpPr>
          <p:nvPr>
            <p:ph idx="1"/>
          </p:nvPr>
        </p:nvSpPr>
        <p:spPr>
          <a:xfrm>
            <a:off x="99574" y="2153346"/>
            <a:ext cx="11992851" cy="4572001"/>
          </a:xfrm>
        </p:spPr>
        <p:txBody>
          <a:bodyPr>
            <a:normAutofit/>
          </a:bodyPr>
          <a:lstStyle/>
          <a:p>
            <a:pPr marL="0" indent="0">
              <a:buNone/>
            </a:pPr>
            <a:endParaRPr lang="en-US" sz="2400"/>
          </a:p>
          <a:p>
            <a:r>
              <a:rPr lang="en-US" sz="2400"/>
              <a:t>An overview of the </a:t>
            </a:r>
            <a:r>
              <a:rPr lang="en-US" sz="2400" b="1"/>
              <a:t>TSNE</a:t>
            </a:r>
            <a:r>
              <a:rPr lang="en-US" sz="2400"/>
              <a:t> global search pattern shows that patterns in clumps and spirals have more dispersed search results, indicative of their underlying positional attention patterns.</a:t>
            </a:r>
          </a:p>
          <a:p>
            <a:endParaRPr lang="en-US" sz="2400"/>
          </a:p>
          <a:p>
            <a:r>
              <a:rPr lang="en-US" sz="2400"/>
              <a:t> Heads with the “look at self” attention pattern only have one cluster of search results, emphasizing the strong interaction between query and keys</a:t>
            </a:r>
          </a:p>
          <a:p>
            <a:endParaRPr lang="en-US" sz="2400"/>
          </a:p>
          <a:p>
            <a:r>
              <a:rPr lang="en-US" sz="2400"/>
              <a:t>Even when there was no distinctive shape, if there were a few search result clusters, the head may display more semantic behavior.</a:t>
            </a:r>
          </a:p>
          <a:p>
            <a:endParaRPr lang="en-US" sz="2400"/>
          </a:p>
          <a:p>
            <a:endParaRPr lang="en-US" sz="2400"/>
          </a:p>
          <a:p>
            <a:endParaRPr lang="en-US" sz="2400"/>
          </a:p>
          <a:p>
            <a:endParaRPr lang="en-US" sz="2400"/>
          </a:p>
          <a:p>
            <a:endParaRPr lang="en-US" sz="2400"/>
          </a:p>
          <a:p>
            <a:endParaRPr lang="en-US" sz="2400"/>
          </a:p>
        </p:txBody>
      </p:sp>
    </p:spTree>
    <p:extLst>
      <p:ext uri="{BB962C8B-B14F-4D97-AF65-F5344CB8AC3E}">
        <p14:creationId xmlns:p14="http://schemas.microsoft.com/office/powerpoint/2010/main" val="22190876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C1337-6F11-4FD9-5CEC-C7F6E43DFB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41FFA7-DF0D-5207-9475-8F0F25B266E6}"/>
              </a:ext>
            </a:extLst>
          </p:cNvPr>
          <p:cNvSpPr>
            <a:spLocks noGrp="1"/>
          </p:cNvSpPr>
          <p:nvPr>
            <p:ph type="title"/>
          </p:nvPr>
        </p:nvSpPr>
        <p:spPr/>
        <p:txBody>
          <a:bodyPr/>
          <a:lstStyle/>
          <a:p>
            <a:r>
              <a:rPr lang="en-GB" err="1"/>
              <a:t>AttentionVIZ</a:t>
            </a:r>
            <a:r>
              <a:rPr lang="en-GB"/>
              <a:t>: identifying anomalies and unexpected Behaviour</a:t>
            </a:r>
          </a:p>
        </p:txBody>
      </p:sp>
      <p:sp>
        <p:nvSpPr>
          <p:cNvPr id="4" name="Subtitle 2">
            <a:extLst>
              <a:ext uri="{FF2B5EF4-FFF2-40B4-BE49-F238E27FC236}">
                <a16:creationId xmlns:a16="http://schemas.microsoft.com/office/drawing/2014/main" id="{40FFD65F-F71D-4CFF-5634-FBABBDC4FDDB}"/>
              </a:ext>
            </a:extLst>
          </p:cNvPr>
          <p:cNvSpPr>
            <a:spLocks noGrp="1"/>
          </p:cNvSpPr>
          <p:nvPr>
            <p:ph idx="1"/>
          </p:nvPr>
        </p:nvSpPr>
        <p:spPr>
          <a:xfrm>
            <a:off x="99574" y="2153346"/>
            <a:ext cx="11992851" cy="4572001"/>
          </a:xfrm>
        </p:spPr>
        <p:txBody>
          <a:bodyPr>
            <a:normAutofit/>
          </a:bodyPr>
          <a:lstStyle/>
          <a:p>
            <a:pPr marL="0" indent="0">
              <a:buNone/>
            </a:pPr>
            <a:endParaRPr lang="en-US" sz="2400"/>
          </a:p>
          <a:p>
            <a:r>
              <a:rPr lang="en-US" sz="2400"/>
              <a:t> In GPT-2 they noticed large disparity in the norm of query and key, there was no explanation for this, how ever a paper published points to out-of-control query and key norms as cause of training instability.</a:t>
            </a:r>
          </a:p>
          <a:p>
            <a:endParaRPr lang="en-US" sz="2400"/>
          </a:p>
          <a:p>
            <a:r>
              <a:rPr lang="en-US" sz="2400"/>
              <a:t>In many GPT-2 heads, attention was mostly directed to the first token, especially in the later layers</a:t>
            </a:r>
          </a:p>
          <a:p>
            <a:endParaRPr lang="en-US" sz="2400"/>
          </a:p>
          <a:p>
            <a:r>
              <a:rPr lang="en-US" sz="2400"/>
              <a:t>Self attending attention heads</a:t>
            </a:r>
          </a:p>
          <a:p>
            <a:endParaRPr lang="en-US" sz="2400"/>
          </a:p>
          <a:p>
            <a:endParaRPr lang="en-US" sz="2400"/>
          </a:p>
          <a:p>
            <a:endParaRPr lang="en-US" sz="2400"/>
          </a:p>
          <a:p>
            <a:endParaRPr lang="en-US" sz="2400"/>
          </a:p>
          <a:p>
            <a:endParaRPr lang="en-US" sz="2400"/>
          </a:p>
        </p:txBody>
      </p:sp>
    </p:spTree>
    <p:extLst>
      <p:ext uri="{BB962C8B-B14F-4D97-AF65-F5344CB8AC3E}">
        <p14:creationId xmlns:p14="http://schemas.microsoft.com/office/powerpoint/2010/main" val="15663499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CF0E6-F276-2E2B-03C5-AF03C0D885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15C96-34FB-5208-BECE-594FD41C1D88}"/>
              </a:ext>
            </a:extLst>
          </p:cNvPr>
          <p:cNvSpPr>
            <a:spLocks noGrp="1"/>
          </p:cNvSpPr>
          <p:nvPr>
            <p:ph type="title"/>
          </p:nvPr>
        </p:nvSpPr>
        <p:spPr/>
        <p:txBody>
          <a:bodyPr/>
          <a:lstStyle/>
          <a:p>
            <a:r>
              <a:rPr lang="en-GB" err="1"/>
              <a:t>AttentionVIZ</a:t>
            </a:r>
            <a:r>
              <a:rPr lang="en-GB"/>
              <a:t>: Future works</a:t>
            </a:r>
          </a:p>
        </p:txBody>
      </p:sp>
      <p:sp>
        <p:nvSpPr>
          <p:cNvPr id="4" name="Subtitle 2">
            <a:extLst>
              <a:ext uri="{FF2B5EF4-FFF2-40B4-BE49-F238E27FC236}">
                <a16:creationId xmlns:a16="http://schemas.microsoft.com/office/drawing/2014/main" id="{273DD762-83B5-BCE4-590C-BC8B5CF6FBD1}"/>
              </a:ext>
            </a:extLst>
          </p:cNvPr>
          <p:cNvSpPr>
            <a:spLocks noGrp="1"/>
          </p:cNvSpPr>
          <p:nvPr>
            <p:ph idx="1"/>
          </p:nvPr>
        </p:nvSpPr>
        <p:spPr>
          <a:xfrm>
            <a:off x="99574" y="2153346"/>
            <a:ext cx="11992851" cy="4572001"/>
          </a:xfrm>
        </p:spPr>
        <p:txBody>
          <a:bodyPr>
            <a:normAutofit/>
          </a:bodyPr>
          <a:lstStyle/>
          <a:p>
            <a:pPr marL="0" indent="0">
              <a:buNone/>
            </a:pPr>
            <a:endParaRPr lang="en-US" sz="2400"/>
          </a:p>
          <a:p>
            <a:r>
              <a:rPr lang="en-US" sz="2400"/>
              <a:t> generalized to other attention mechanism e.g., cross attention, with modifications to vector normalization.</a:t>
            </a:r>
          </a:p>
          <a:p>
            <a:endParaRPr lang="en-US" sz="2400"/>
          </a:p>
          <a:p>
            <a:endParaRPr lang="en-US" sz="2400"/>
          </a:p>
          <a:p>
            <a:r>
              <a:rPr lang="en-US" sz="2400"/>
              <a:t>Focusing on syntactic features e.g. NLP libraries to add metadata such as part of speech</a:t>
            </a:r>
          </a:p>
          <a:p>
            <a:endParaRPr lang="en-GB" sz="2400"/>
          </a:p>
          <a:p>
            <a:pPr marL="0" indent="0">
              <a:buNone/>
            </a:pPr>
            <a:endParaRPr lang="en-US" sz="2400"/>
          </a:p>
          <a:p>
            <a:endParaRPr lang="en-US" sz="2400"/>
          </a:p>
          <a:p>
            <a:endParaRPr lang="en-US" sz="2400"/>
          </a:p>
          <a:p>
            <a:endParaRPr lang="en-US" sz="2400"/>
          </a:p>
        </p:txBody>
      </p:sp>
    </p:spTree>
    <p:extLst>
      <p:ext uri="{BB962C8B-B14F-4D97-AF65-F5344CB8AC3E}">
        <p14:creationId xmlns:p14="http://schemas.microsoft.com/office/powerpoint/2010/main" val="31458263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C33C2-92A7-FF3E-B58B-48579C0B1A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5B35AA-A7BC-599F-AE16-D811C88194C3}"/>
              </a:ext>
            </a:extLst>
          </p:cNvPr>
          <p:cNvSpPr>
            <a:spLocks noGrp="1"/>
          </p:cNvSpPr>
          <p:nvPr>
            <p:ph type="title"/>
          </p:nvPr>
        </p:nvSpPr>
        <p:spPr/>
        <p:txBody>
          <a:bodyPr/>
          <a:lstStyle/>
          <a:p>
            <a:r>
              <a:rPr lang="en-GB" err="1"/>
              <a:t>AttentionVIZ</a:t>
            </a:r>
            <a:r>
              <a:rPr lang="en-GB"/>
              <a:t>: Future works</a:t>
            </a:r>
          </a:p>
        </p:txBody>
      </p:sp>
      <p:sp>
        <p:nvSpPr>
          <p:cNvPr id="4" name="Subtitle 2">
            <a:extLst>
              <a:ext uri="{FF2B5EF4-FFF2-40B4-BE49-F238E27FC236}">
                <a16:creationId xmlns:a16="http://schemas.microsoft.com/office/drawing/2014/main" id="{7F079936-E8FE-5B15-F025-CDE13AC5A655}"/>
              </a:ext>
            </a:extLst>
          </p:cNvPr>
          <p:cNvSpPr>
            <a:spLocks noGrp="1"/>
          </p:cNvSpPr>
          <p:nvPr>
            <p:ph idx="1"/>
          </p:nvPr>
        </p:nvSpPr>
        <p:spPr>
          <a:xfrm>
            <a:off x="99574" y="2153346"/>
            <a:ext cx="11992851" cy="4572001"/>
          </a:xfrm>
        </p:spPr>
        <p:txBody>
          <a:bodyPr>
            <a:normAutofit/>
          </a:bodyPr>
          <a:lstStyle/>
          <a:p>
            <a:pPr marL="0" indent="0">
              <a:buNone/>
            </a:pPr>
            <a:endParaRPr lang="en-US" sz="2400" dirty="0"/>
          </a:p>
          <a:p>
            <a:r>
              <a:rPr lang="en-US" sz="2400" dirty="0"/>
              <a:t> </a:t>
            </a:r>
            <a:r>
              <a:rPr lang="en-GB" sz="2400" dirty="0"/>
              <a:t>finding ways to manage the complexity of multiple embedding visualizations and focus users on features of interest.</a:t>
            </a:r>
            <a:endParaRPr lang="en-US" sz="2400" dirty="0"/>
          </a:p>
          <a:p>
            <a:endParaRPr lang="en-US" sz="2400" dirty="0"/>
          </a:p>
          <a:p>
            <a:endParaRPr lang="en-US" sz="2400" dirty="0"/>
          </a:p>
          <a:p>
            <a:r>
              <a:rPr lang="en-GB" sz="2400" dirty="0"/>
              <a:t>Another natural direction for future research is exploring how to incorporate information from value vectors in each attention head.</a:t>
            </a:r>
          </a:p>
          <a:p>
            <a:endParaRPr lang="en-GB" sz="2400" dirty="0"/>
          </a:p>
          <a:p>
            <a:endParaRPr lang="en-GB" sz="2400" dirty="0"/>
          </a:p>
          <a:p>
            <a:endParaRPr lang="en-US" sz="2400" dirty="0"/>
          </a:p>
          <a:p>
            <a:endParaRPr lang="en-GB" sz="2400" dirty="0"/>
          </a:p>
          <a:p>
            <a:endParaRPr lang="en-GB" sz="2400" dirty="0"/>
          </a:p>
          <a:p>
            <a:endParaRPr lang="en-US" sz="2400" dirty="0"/>
          </a:p>
          <a:p>
            <a:endParaRPr lang="en-US" sz="2400" dirty="0"/>
          </a:p>
          <a:p>
            <a:endParaRPr lang="en-US" sz="2400" dirty="0"/>
          </a:p>
          <a:p>
            <a:endParaRPr lang="en-US" sz="2400" dirty="0"/>
          </a:p>
          <a:p>
            <a:endParaRPr lang="en-US" sz="2400" dirty="0"/>
          </a:p>
        </p:txBody>
      </p:sp>
    </p:spTree>
    <p:extLst>
      <p:ext uri="{BB962C8B-B14F-4D97-AF65-F5344CB8AC3E}">
        <p14:creationId xmlns:p14="http://schemas.microsoft.com/office/powerpoint/2010/main" val="14206118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DF54B-0BDE-58AC-E26E-4ADF87DF7A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63C5C8-38D8-FE87-C29C-CBCAF9D4DE46}"/>
              </a:ext>
            </a:extLst>
          </p:cNvPr>
          <p:cNvSpPr>
            <a:spLocks noGrp="1"/>
          </p:cNvSpPr>
          <p:nvPr>
            <p:ph type="title"/>
          </p:nvPr>
        </p:nvSpPr>
        <p:spPr/>
        <p:txBody>
          <a:bodyPr/>
          <a:lstStyle/>
          <a:p>
            <a:r>
              <a:rPr lang="en-GB"/>
              <a:t>Supervisors Feedback</a:t>
            </a:r>
          </a:p>
        </p:txBody>
      </p:sp>
      <p:sp>
        <p:nvSpPr>
          <p:cNvPr id="4" name="Subtitle 2">
            <a:extLst>
              <a:ext uri="{FF2B5EF4-FFF2-40B4-BE49-F238E27FC236}">
                <a16:creationId xmlns:a16="http://schemas.microsoft.com/office/drawing/2014/main" id="{7C863207-55F2-A4B9-38EA-5135182C984B}"/>
              </a:ext>
            </a:extLst>
          </p:cNvPr>
          <p:cNvSpPr>
            <a:spLocks noGrp="1"/>
          </p:cNvSpPr>
          <p:nvPr>
            <p:ph idx="1"/>
          </p:nvPr>
        </p:nvSpPr>
        <p:spPr>
          <a:xfrm>
            <a:off x="99574" y="2153346"/>
            <a:ext cx="11992851" cy="4572001"/>
          </a:xfrm>
        </p:spPr>
        <p:txBody>
          <a:bodyPr>
            <a:normAutofit/>
          </a:bodyPr>
          <a:lstStyle/>
          <a:p>
            <a:pPr marL="0" indent="0">
              <a:buNone/>
            </a:pPr>
            <a:endParaRPr lang="en-US" sz="2400" dirty="0"/>
          </a:p>
          <a:p>
            <a:pPr marL="0" indent="0">
              <a:buNone/>
            </a:pPr>
            <a:endParaRPr lang="en-US" sz="2400" dirty="0"/>
          </a:p>
          <a:p>
            <a:endParaRPr lang="en-US" sz="2400" dirty="0"/>
          </a:p>
          <a:p>
            <a:endParaRPr lang="en-US" sz="2400" dirty="0"/>
          </a:p>
        </p:txBody>
      </p:sp>
      <p:sp>
        <p:nvSpPr>
          <p:cNvPr id="5" name="Subtitle 2">
            <a:extLst>
              <a:ext uri="{FF2B5EF4-FFF2-40B4-BE49-F238E27FC236}">
                <a16:creationId xmlns:a16="http://schemas.microsoft.com/office/drawing/2014/main" id="{F4D9ADCF-06F0-B103-19F4-DB0499A4E4C3}"/>
              </a:ext>
            </a:extLst>
          </p:cNvPr>
          <p:cNvSpPr txBox="1">
            <a:spLocks/>
          </p:cNvSpPr>
          <p:nvPr/>
        </p:nvSpPr>
        <p:spPr>
          <a:xfrm>
            <a:off x="0" y="2040570"/>
            <a:ext cx="11992851" cy="457200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buNone/>
            </a:pPr>
            <a:endParaRPr lang="en-US" sz="2400" dirty="0"/>
          </a:p>
          <a:p>
            <a:r>
              <a:rPr lang="en-GB" sz="2400" dirty="0"/>
              <a:t>Create your own LLM to understand how they work</a:t>
            </a:r>
          </a:p>
          <a:p>
            <a:r>
              <a:rPr lang="en-GB" sz="2400" dirty="0"/>
              <a:t>Make small versions of the explainable visualizations</a:t>
            </a:r>
          </a:p>
          <a:p>
            <a:r>
              <a:rPr lang="en-GB" sz="2400" dirty="0"/>
              <a:t>Play around with D3.Js and watch how the frontend interacts with the </a:t>
            </a:r>
            <a:r>
              <a:rPr lang="en-GB" sz="2400"/>
              <a:t>back end.</a:t>
            </a:r>
            <a:endParaRPr lang="en-GB" sz="2400" dirty="0"/>
          </a:p>
          <a:p>
            <a:pPr marL="0" indent="0">
              <a:buNone/>
            </a:pPr>
            <a:r>
              <a:rPr lang="en-US" sz="2400" dirty="0"/>
              <a:t> </a:t>
            </a:r>
            <a:endParaRPr lang="en-GB" sz="2400" dirty="0"/>
          </a:p>
          <a:p>
            <a:endParaRPr lang="en-GB" sz="2400" dirty="0"/>
          </a:p>
          <a:p>
            <a:endParaRPr lang="en-US" sz="2400" dirty="0"/>
          </a:p>
          <a:p>
            <a:endParaRPr lang="en-GB" sz="2400" dirty="0"/>
          </a:p>
          <a:p>
            <a:endParaRPr lang="en-GB" sz="2400" dirty="0"/>
          </a:p>
          <a:p>
            <a:endParaRPr lang="en-US" sz="2400" dirty="0"/>
          </a:p>
          <a:p>
            <a:endParaRPr lang="en-US" sz="2400" dirty="0"/>
          </a:p>
          <a:p>
            <a:endParaRPr lang="en-US" sz="2400" dirty="0"/>
          </a:p>
          <a:p>
            <a:endParaRPr lang="en-US" sz="2400" dirty="0"/>
          </a:p>
          <a:p>
            <a:endParaRPr lang="en-US" sz="2400" dirty="0"/>
          </a:p>
        </p:txBody>
      </p:sp>
    </p:spTree>
    <p:extLst>
      <p:ext uri="{BB962C8B-B14F-4D97-AF65-F5344CB8AC3E}">
        <p14:creationId xmlns:p14="http://schemas.microsoft.com/office/powerpoint/2010/main" val="1170143855"/>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0</TotalTime>
  <Words>1727</Words>
  <Application>Microsoft Office PowerPoint</Application>
  <PresentationFormat>Widescreen</PresentationFormat>
  <Paragraphs>221</Paragraphs>
  <Slides>26</Slides>
  <Notes>1</Notes>
  <HiddenSlides>0</HiddenSlides>
  <MMClips>0</MMClips>
  <ScaleCrop>false</ScaleCrop>
  <HeadingPairs>
    <vt:vector size="4" baseType="variant">
      <vt:variant>
        <vt:lpstr>Theme</vt:lpstr>
      </vt:variant>
      <vt:variant>
        <vt:i4>2</vt:i4>
      </vt:variant>
      <vt:variant>
        <vt:lpstr>Slide Titles</vt:lpstr>
      </vt:variant>
      <vt:variant>
        <vt:i4>26</vt:i4>
      </vt:variant>
    </vt:vector>
  </HeadingPairs>
  <TitlesOfParts>
    <vt:vector size="28" baseType="lpstr">
      <vt:lpstr>Dividend</vt:lpstr>
      <vt:lpstr>Ion Boardroom</vt:lpstr>
      <vt:lpstr>PHD Progression 7</vt:lpstr>
      <vt:lpstr>Uploading visbert  and attentionviz to gitHUB </vt:lpstr>
      <vt:lpstr>Understanding the visBERT code</vt:lpstr>
      <vt:lpstr>Changing the document input for visBERT</vt:lpstr>
      <vt:lpstr>DATa preparation</vt:lpstr>
      <vt:lpstr>Hugging  face for transformers and finetuning</vt:lpstr>
      <vt:lpstr>AttentionVIZ</vt:lpstr>
      <vt:lpstr>AttentionVIZ</vt:lpstr>
      <vt:lpstr>AttentionVIZ</vt:lpstr>
      <vt:lpstr>AttentionVIZ</vt:lpstr>
      <vt:lpstr>AttentionVIZ: vector normalization</vt:lpstr>
      <vt:lpstr>AttentionVIZ: Dot product vs distance</vt:lpstr>
      <vt:lpstr>AttentionVIZ: views and interactivity</vt:lpstr>
      <vt:lpstr>AttentionVIZ: views and interactivity</vt:lpstr>
      <vt:lpstr>AttentionVIZ: views and interactivity</vt:lpstr>
      <vt:lpstr>AttentionVIZ: views and interactivity</vt:lpstr>
      <vt:lpstr>AttentionVIZ: views and interactivity</vt:lpstr>
      <vt:lpstr>AttentionVIZ: Findings and Evaluation</vt:lpstr>
      <vt:lpstr>AttentionVIZ: Findings and Evaluation</vt:lpstr>
      <vt:lpstr>AttentionVIZ: Findings and Evaluation</vt:lpstr>
      <vt:lpstr>AttentionVIZ: Findings and Evaluation</vt:lpstr>
      <vt:lpstr>AttentionVIZ: Findings and Evaluation</vt:lpstr>
      <vt:lpstr>AttentionVIZ: identifying anomalies and unexpected Behaviour</vt:lpstr>
      <vt:lpstr>AttentionVIZ: Future works</vt:lpstr>
      <vt:lpstr>AttentionVIZ: Future works</vt:lpstr>
      <vt:lpstr>Supervisors Feedback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Emmanuel Olanrewaju</dc:creator>
  <cp:lastModifiedBy>Olanrewaju, Emmanuel (Student)</cp:lastModifiedBy>
  <cp:revision>2</cp:revision>
  <dcterms:created xsi:type="dcterms:W3CDTF">2025-11-27T19:10:33Z</dcterms:created>
  <dcterms:modified xsi:type="dcterms:W3CDTF">2026-01-14T02:56:37Z</dcterms:modified>
</cp:coreProperties>
</file>