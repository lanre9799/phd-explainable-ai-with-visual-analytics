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1" r:id="rId5"/>
    <p:sldId id="260" r:id="rId6"/>
    <p:sldId id="271" r:id="rId7"/>
    <p:sldId id="270" r:id="rId8"/>
    <p:sldId id="273" r:id="rId9"/>
    <p:sldId id="274" r:id="rId10"/>
    <p:sldId id="300" r:id="rId11"/>
    <p:sldId id="27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1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763BAA-9778-41D8-83F0-2C23CF2B0D92}" v="2" dt="2026-03-18T19:13:16.7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4" d="100"/>
          <a:sy n="74" d="100"/>
        </p:scale>
        <p:origin x="1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anrewaju, Emmanuel (Student)" userId="856d88a3-a0f5-4502-a208-88adfba07448" providerId="ADAL" clId="{D34ADB89-9553-4F7A-AB9F-7E09DCC0A1DE}"/>
    <pc:docChg chg="undo custSel addSld delSld modSld">
      <pc:chgData name="Olanrewaju, Emmanuel (Student)" userId="856d88a3-a0f5-4502-a208-88adfba07448" providerId="ADAL" clId="{D34ADB89-9553-4F7A-AB9F-7E09DCC0A1DE}" dt="2026-03-18T19:13:22.486" v="151" actId="20577"/>
      <pc:docMkLst>
        <pc:docMk/>
      </pc:docMkLst>
      <pc:sldChg chg="addSp delSp modSp mod setClrOvrMap">
        <pc:chgData name="Olanrewaju, Emmanuel (Student)" userId="856d88a3-a0f5-4502-a208-88adfba07448" providerId="ADAL" clId="{D34ADB89-9553-4F7A-AB9F-7E09DCC0A1DE}" dt="2026-03-16T18:49:43.200" v="22" actId="1076"/>
        <pc:sldMkLst>
          <pc:docMk/>
          <pc:sldMk cId="321210914" sldId="296"/>
        </pc:sldMkLst>
        <pc:spChg chg="mod">
          <ac:chgData name="Olanrewaju, Emmanuel (Student)" userId="856d88a3-a0f5-4502-a208-88adfba07448" providerId="ADAL" clId="{D34ADB89-9553-4F7A-AB9F-7E09DCC0A1DE}" dt="2026-03-16T18:45:18.112" v="9" actId="26606"/>
          <ac:spMkLst>
            <pc:docMk/>
            <pc:sldMk cId="321210914" sldId="296"/>
            <ac:spMk id="2" creationId="{1A16805C-65EE-B742-F527-5E22AA40E4BB}"/>
          </ac:spMkLst>
        </pc:spChg>
        <pc:spChg chg="add">
          <ac:chgData name="Olanrewaju, Emmanuel (Student)" userId="856d88a3-a0f5-4502-a208-88adfba07448" providerId="ADAL" clId="{D34ADB89-9553-4F7A-AB9F-7E09DCC0A1DE}" dt="2026-03-16T18:45:18.112" v="9" actId="26606"/>
          <ac:spMkLst>
            <pc:docMk/>
            <pc:sldMk cId="321210914" sldId="296"/>
            <ac:spMk id="29" creationId="{879A26B8-6C4E-452B-ADD3-ED324A7AB7E8}"/>
          </ac:spMkLst>
        </pc:spChg>
        <pc:spChg chg="add">
          <ac:chgData name="Olanrewaju, Emmanuel (Student)" userId="856d88a3-a0f5-4502-a208-88adfba07448" providerId="ADAL" clId="{D34ADB89-9553-4F7A-AB9F-7E09DCC0A1DE}" dt="2026-03-16T18:45:18.112" v="9" actId="26606"/>
          <ac:spMkLst>
            <pc:docMk/>
            <pc:sldMk cId="321210914" sldId="296"/>
            <ac:spMk id="30" creationId="{9B4167E1-E2B0-4192-8DA2-6967DDFF87A5}"/>
          </ac:spMkLst>
        </pc:spChg>
        <pc:spChg chg="add">
          <ac:chgData name="Olanrewaju, Emmanuel (Student)" userId="856d88a3-a0f5-4502-a208-88adfba07448" providerId="ADAL" clId="{D34ADB89-9553-4F7A-AB9F-7E09DCC0A1DE}" dt="2026-03-16T18:45:18.112" v="9" actId="26606"/>
          <ac:spMkLst>
            <pc:docMk/>
            <pc:sldMk cId="321210914" sldId="296"/>
            <ac:spMk id="31" creationId="{D03E4FEE-2E6A-44AB-B6BA-C1AD0CD6D93B}"/>
          </ac:spMkLst>
        </pc:spChg>
        <pc:spChg chg="add">
          <ac:chgData name="Olanrewaju, Emmanuel (Student)" userId="856d88a3-a0f5-4502-a208-88adfba07448" providerId="ADAL" clId="{D34ADB89-9553-4F7A-AB9F-7E09DCC0A1DE}" dt="2026-03-16T18:45:18.112" v="9" actId="26606"/>
          <ac:spMkLst>
            <pc:docMk/>
            <pc:sldMk cId="321210914" sldId="296"/>
            <ac:spMk id="32" creationId="{0817EB59-13B3-43DA-9B91-A7CC174A6069}"/>
          </ac:spMkLst>
        </pc:spChg>
        <pc:spChg chg="add">
          <ac:chgData name="Olanrewaju, Emmanuel (Student)" userId="856d88a3-a0f5-4502-a208-88adfba07448" providerId="ADAL" clId="{D34ADB89-9553-4F7A-AB9F-7E09DCC0A1DE}" dt="2026-03-16T18:45:18.112" v="9" actId="26606"/>
          <ac:spMkLst>
            <pc:docMk/>
            <pc:sldMk cId="321210914" sldId="296"/>
            <ac:spMk id="33" creationId="{1FB0D1AA-7AC2-1BA8-CA95-F550E3D0B474}"/>
          </ac:spMkLst>
        </pc:spChg>
        <pc:picChg chg="mod ord modCrop">
          <ac:chgData name="Olanrewaju, Emmanuel (Student)" userId="856d88a3-a0f5-4502-a208-88adfba07448" providerId="ADAL" clId="{D34ADB89-9553-4F7A-AB9F-7E09DCC0A1DE}" dt="2026-03-16T18:49:43.200" v="22" actId="1076"/>
          <ac:picMkLst>
            <pc:docMk/>
            <pc:sldMk cId="321210914" sldId="296"/>
            <ac:picMk id="5" creationId="{AD8105E4-5909-E249-F1F5-5744D1CD7831}"/>
          </ac:picMkLst>
        </pc:picChg>
      </pc:sldChg>
      <pc:sldChg chg="modSp new mod">
        <pc:chgData name="Olanrewaju, Emmanuel (Student)" userId="856d88a3-a0f5-4502-a208-88adfba07448" providerId="ADAL" clId="{D34ADB89-9553-4F7A-AB9F-7E09DCC0A1DE}" dt="2026-03-16T22:27:49.992" v="25" actId="5793"/>
        <pc:sldMkLst>
          <pc:docMk/>
          <pc:sldMk cId="4194293998" sldId="300"/>
        </pc:sldMkLst>
        <pc:spChg chg="mod">
          <ac:chgData name="Olanrewaju, Emmanuel (Student)" userId="856d88a3-a0f5-4502-a208-88adfba07448" providerId="ADAL" clId="{D34ADB89-9553-4F7A-AB9F-7E09DCC0A1DE}" dt="2026-03-16T22:27:49.992" v="25" actId="5793"/>
          <ac:spMkLst>
            <pc:docMk/>
            <pc:sldMk cId="4194293998" sldId="300"/>
            <ac:spMk id="3" creationId="{7CD2F89C-EC1E-1999-E690-A19F3BA9E311}"/>
          </ac:spMkLst>
        </pc:spChg>
      </pc:sldChg>
      <pc:sldChg chg="modSp new mod">
        <pc:chgData name="Olanrewaju, Emmanuel (Student)" userId="856d88a3-a0f5-4502-a208-88adfba07448" providerId="ADAL" clId="{D34ADB89-9553-4F7A-AB9F-7E09DCC0A1DE}" dt="2026-03-18T19:13:22.486" v="151" actId="20577"/>
        <pc:sldMkLst>
          <pc:docMk/>
          <pc:sldMk cId="1402914175" sldId="301"/>
        </pc:sldMkLst>
        <pc:spChg chg="mod">
          <ac:chgData name="Olanrewaju, Emmanuel (Student)" userId="856d88a3-a0f5-4502-a208-88adfba07448" providerId="ADAL" clId="{D34ADB89-9553-4F7A-AB9F-7E09DCC0A1DE}" dt="2026-03-18T19:13:22.486" v="151" actId="20577"/>
          <ac:spMkLst>
            <pc:docMk/>
            <pc:sldMk cId="1402914175" sldId="301"/>
            <ac:spMk id="2" creationId="{023BBEC6-0533-6C90-8C94-F673885EB09B}"/>
          </ac:spMkLst>
        </pc:spChg>
        <pc:spChg chg="mod">
          <ac:chgData name="Olanrewaju, Emmanuel (Student)" userId="856d88a3-a0f5-4502-a208-88adfba07448" providerId="ADAL" clId="{D34ADB89-9553-4F7A-AB9F-7E09DCC0A1DE}" dt="2026-03-18T19:13:16.763" v="143"/>
          <ac:spMkLst>
            <pc:docMk/>
            <pc:sldMk cId="1402914175" sldId="301"/>
            <ac:spMk id="3" creationId="{75930E60-8606-0A57-3DCC-2323680DBA2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CECBB2B-B924-4C0C-BF94-0E1052B9D8D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92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BB2B-B924-4C0C-BF94-0E1052B9D8D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2224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CECBB2B-B924-4C0C-BF94-0E1052B9D8D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0292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BB2B-B924-4C0C-BF94-0E1052B9D8D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142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BB2B-B924-4C0C-BF94-0E1052B9D8D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8452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BB2B-B924-4C0C-BF94-0E1052B9D8D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6384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BB2B-B924-4C0C-BF94-0E1052B9D8D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583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CECBB2B-B924-4C0C-BF94-0E1052B9D8D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9131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BB2B-B924-4C0C-BF94-0E1052B9D8D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35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BB2B-B924-4C0C-BF94-0E1052B9D8D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152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CECBB2B-B924-4C0C-BF94-0E1052B9D8D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275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CECBB2B-B924-4C0C-BF94-0E1052B9D8D7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6B88796-48DB-4416-A0A2-8BB35568E751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6899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AA8C8-5BDC-91D3-93B4-2608431B20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PHD Progression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D9EC84-04A2-7814-ED19-6D76B9D6D9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Explainable AI with Visual analytics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0056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FD2E5-ABB2-7962-C724-BBAF61CA6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B449F-A3BB-F64E-32A5-64A067E9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BLIP: Bootstrapping Language-image pre-training for Unified Vision-Language Understanding and Generation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7FC7D-7C3C-153F-DC1C-9B2BA541B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Understanding-focused models (e.g., CLIP, ALBEF) </a:t>
            </a:r>
          </a:p>
          <a:p>
            <a:pPr lvl="0"/>
            <a:r>
              <a:rPr lang="en-GB" dirty="0"/>
              <a:t>Generation-focused models (e.g., </a:t>
            </a:r>
            <a:r>
              <a:rPr lang="en-GB" dirty="0" err="1"/>
              <a:t>SimVLM</a:t>
            </a:r>
            <a:r>
              <a:rPr lang="en-GB" dirty="0"/>
              <a:t>)</a:t>
            </a:r>
          </a:p>
          <a:p>
            <a:r>
              <a:rPr lang="en-GB" dirty="0"/>
              <a:t>No model excels at both tasks, and most models rely on noisy web-scraped captions, which affects the learning quality. BLIP resolves these two problems.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9490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509E5-1B29-EE6A-B878-D7B8A244A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5911A-59D4-2908-9DAC-0A911E4F8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BLIP: Bootstrapping Language-image pre-training for Unified Vision-Language Understanding and Generation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A5EA30-0A18-55E1-4D39-40633E5C6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Multimodal mixture of Encoder-Decoder (MED): a new model architecture for effective multi-task pre-training and flexible transfer learning. An MED can operate either as a unimodal encoder, or an image-grounded text encoder, or an image-grounded text decoder.</a:t>
            </a:r>
          </a:p>
          <a:p>
            <a:endParaRPr lang="en-US" dirty="0"/>
          </a:p>
          <a:p>
            <a:r>
              <a:rPr lang="en-US" dirty="0"/>
              <a:t>Captioning and Filtering: a captioner to produce synthetic captions given web images, and a filter to remove noisy captions from both the original web texts and the synthetic texts.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lvl="0"/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0670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16339-1400-C2E7-266F-7E254CD9A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36F6DB7-CF8D-494A-82F6-13B58DCA9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7E5194-6E82-4A44-99C3-FE7D87F3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7D7543-AB81-8DDE-BE62-8FCAC6B61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300">
                <a:solidFill>
                  <a:srgbClr val="FFFFFF"/>
                </a:solidFill>
              </a:rPr>
              <a:t>BLIP: Bootstrapping Language-image pre-training for Unified Vision-Language Understanding and Generation</a:t>
            </a:r>
            <a:endParaRPr lang="en-GB" sz="1300">
              <a:solidFill>
                <a:srgbClr val="FFFFFF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9FCC1E1-84D3-494D-A0A0-286AFA1C3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6E09E90-FF79-402E-AF01-97A279BE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C6946F8-4B9B-4C51-9F51-2DB377392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B3D2B3D-A285-438C-A344-AED3E46A0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D42B4F8-F8B0-7742-C36C-05EE8FE93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110" y="2052084"/>
            <a:ext cx="3033249" cy="3856229"/>
          </a:xfrm>
        </p:spPr>
        <p:txBody>
          <a:bodyPr anchor="t">
            <a:normAutofit/>
          </a:bodyPr>
          <a:lstStyle/>
          <a:p>
            <a:pPr lvl="0"/>
            <a:r>
              <a:rPr lang="en-GB" sz="1600" b="1">
                <a:solidFill>
                  <a:srgbClr val="FFFFFF"/>
                </a:solidFill>
              </a:rPr>
              <a:t>ITC</a:t>
            </a:r>
            <a:r>
              <a:rPr lang="en-GB" sz="1600">
                <a:solidFill>
                  <a:srgbClr val="FFFFFF"/>
                </a:solidFill>
              </a:rPr>
              <a:t> – Aligns image/text embeddings</a:t>
            </a:r>
          </a:p>
          <a:p>
            <a:pPr lvl="0"/>
            <a:r>
              <a:rPr lang="en-GB" sz="1600" b="1">
                <a:solidFill>
                  <a:srgbClr val="FFFFFF"/>
                </a:solidFill>
              </a:rPr>
              <a:t>ITM</a:t>
            </a:r>
            <a:r>
              <a:rPr lang="en-GB" sz="1600">
                <a:solidFill>
                  <a:srgbClr val="FFFFFF"/>
                </a:solidFill>
              </a:rPr>
              <a:t> – Determines if an image-text pair matches</a:t>
            </a:r>
          </a:p>
          <a:p>
            <a:r>
              <a:rPr lang="en-GB" sz="1600" b="1">
                <a:solidFill>
                  <a:srgbClr val="FFFFFF"/>
                </a:solidFill>
              </a:rPr>
              <a:t>LM</a:t>
            </a:r>
            <a:r>
              <a:rPr lang="en-GB" sz="1600">
                <a:solidFill>
                  <a:srgbClr val="FFFFFF"/>
                </a:solidFill>
              </a:rPr>
              <a:t> – Text generation given an image</a:t>
            </a:r>
          </a:p>
          <a:p>
            <a:pPr marL="0" indent="0">
              <a:buNone/>
            </a:pPr>
            <a:endParaRPr lang="en-GB" sz="160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FFA61F-15A1-53E4-4514-544F48A77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800" y="2106561"/>
            <a:ext cx="6866506" cy="264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834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9FF34B-14D5-EEFE-03AC-5D293734A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93146F-62ED-4C59-844C-0935D0FB5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F3D65BA-1C65-40FB-92EF-83951BDC1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F52CCA-FCDD-49A0-BFFC-3BD41F1B8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722F54-80A2-D458-8B5A-A8CC61396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>
                <a:solidFill>
                  <a:srgbClr val="FFFFFF"/>
                </a:solidFill>
              </a:rPr>
              <a:t>BLIP: Bootstrapping Language-image pre-training for Unified Vision-Language Understanding and Generation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D9115B-6F95-D7E6-9479-1C208D3FC9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031354"/>
              </p:ext>
            </p:extLst>
          </p:nvPr>
        </p:nvGraphicFramePr>
        <p:xfrm>
          <a:off x="771440" y="2440701"/>
          <a:ext cx="6834513" cy="2244314"/>
        </p:xfrm>
        <a:graphic>
          <a:graphicData uri="http://schemas.openxmlformats.org/drawingml/2006/table">
            <a:tbl>
              <a:tblPr firstRow="1" firstCol="1" bandRow="1"/>
              <a:tblGrid>
                <a:gridCol w="2245483">
                  <a:extLst>
                    <a:ext uri="{9D8B030D-6E8A-4147-A177-3AD203B41FA5}">
                      <a16:colId xmlns:a16="http://schemas.microsoft.com/office/drawing/2014/main" val="1945587474"/>
                    </a:ext>
                  </a:extLst>
                </a:gridCol>
                <a:gridCol w="2454132">
                  <a:extLst>
                    <a:ext uri="{9D8B030D-6E8A-4147-A177-3AD203B41FA5}">
                      <a16:colId xmlns:a16="http://schemas.microsoft.com/office/drawing/2014/main" val="2497290668"/>
                    </a:ext>
                  </a:extLst>
                </a:gridCol>
                <a:gridCol w="2134898">
                  <a:extLst>
                    <a:ext uri="{9D8B030D-6E8A-4147-A177-3AD203B41FA5}">
                      <a16:colId xmlns:a16="http://schemas.microsoft.com/office/drawing/2014/main" val="2247943626"/>
                    </a:ext>
                  </a:extLst>
                </a:gridCol>
              </a:tblGrid>
              <a:tr h="351950">
                <a:tc>
                  <a:txBody>
                    <a:bodyPr/>
                    <a:lstStyle/>
                    <a:p>
                      <a:pPr algn="just" fontAlgn="ctr">
                        <a:lnSpc>
                          <a:spcPct val="116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600" b="1" i="0" u="none" strike="noStrike">
                          <a:solidFill>
                            <a:srgbClr val="0F1115"/>
                          </a:solidFill>
                          <a:effectLst/>
                          <a:latin typeface="system-ui"/>
                          <a:ea typeface="system-ui"/>
                          <a:cs typeface="system-ui"/>
                        </a:rPr>
                        <a:t>Mode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19" marR="12519" marT="12519" marB="12519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lnSpc>
                          <a:spcPct val="116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600" b="1" i="0" u="none" strike="noStrike">
                          <a:solidFill>
                            <a:srgbClr val="0F1115"/>
                          </a:solidFill>
                          <a:effectLst/>
                          <a:latin typeface="system-ui"/>
                          <a:ea typeface="system-ui"/>
                          <a:cs typeface="system-ui"/>
                        </a:rPr>
                        <a:t>Purpose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19" marR="12519" marT="12519" marB="12519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lnSpc>
                          <a:spcPct val="116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600" b="1" i="0" u="none" strike="noStrike">
                          <a:solidFill>
                            <a:srgbClr val="0F1115"/>
                          </a:solidFill>
                          <a:effectLst/>
                          <a:latin typeface="system-ui"/>
                          <a:ea typeface="system-ui"/>
                          <a:cs typeface="system-ui"/>
                        </a:rPr>
                        <a:t>Activated By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19" marR="12519" marT="12519" marB="12519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09838"/>
                  </a:ext>
                </a:extLst>
              </a:tr>
              <a:tr h="630788">
                <a:tc>
                  <a:txBody>
                    <a:bodyPr/>
                    <a:lstStyle/>
                    <a:p>
                      <a:pPr algn="just" fontAlgn="ctr">
                        <a:lnSpc>
                          <a:spcPct val="116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600" b="1" i="0" u="none" strike="noStrike">
                          <a:solidFill>
                            <a:srgbClr val="0F1115"/>
                          </a:solidFill>
                          <a:effectLst/>
                          <a:latin typeface="system-ui"/>
                          <a:ea typeface="system-ui"/>
                          <a:cs typeface="system-ui"/>
                        </a:rPr>
                        <a:t>Unimodal Encoder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19" marR="12519" marT="12519" marB="12519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lnSpc>
                          <a:spcPct val="116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600" b="0" i="0" u="none" strike="noStrike">
                          <a:solidFill>
                            <a:srgbClr val="0F1115"/>
                          </a:solidFill>
                          <a:effectLst/>
                          <a:latin typeface="system-ui"/>
                          <a:ea typeface="system-ui"/>
                          <a:cs typeface="system-ui"/>
                        </a:rPr>
                        <a:t>Align image/text representations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19" marR="12519" marT="12519" marB="12519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lnSpc>
                          <a:spcPct val="116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600" b="0" i="0" u="none" strike="noStrike">
                          <a:solidFill>
                            <a:srgbClr val="0F1115"/>
                          </a:solidFill>
                          <a:effectLst/>
                          <a:latin typeface="system-ui"/>
                          <a:ea typeface="system-ui"/>
                          <a:cs typeface="system-ui"/>
                        </a:rPr>
                        <a:t>Contrastive loss (ITC)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19" marR="12519" marT="12519" marB="12519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815694"/>
                  </a:ext>
                </a:extLst>
              </a:tr>
              <a:tr h="630788">
                <a:tc>
                  <a:txBody>
                    <a:bodyPr/>
                    <a:lstStyle/>
                    <a:p>
                      <a:pPr algn="just" fontAlgn="ctr">
                        <a:lnSpc>
                          <a:spcPct val="116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600" b="1" i="0" u="none" strike="noStrike">
                          <a:solidFill>
                            <a:srgbClr val="0F1115"/>
                          </a:solidFill>
                          <a:effectLst/>
                          <a:latin typeface="system-ui"/>
                          <a:ea typeface="system-ui"/>
                          <a:cs typeface="system-ui"/>
                        </a:rPr>
                        <a:t>Image-grounded Text Encoder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19" marR="12519" marT="12519" marB="12519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lnSpc>
                          <a:spcPct val="116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600" b="0" i="0" u="none" strike="noStrike">
                          <a:solidFill>
                            <a:srgbClr val="0F1115"/>
                          </a:solidFill>
                          <a:effectLst/>
                          <a:latin typeface="system-ui"/>
                          <a:ea typeface="system-ui"/>
                          <a:cs typeface="system-ui"/>
                        </a:rPr>
                        <a:t>Fine-grained image-text reasoning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19" marR="12519" marT="12519" marB="12519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lnSpc>
                          <a:spcPct val="116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600" b="0" i="0" u="none" strike="noStrike">
                          <a:solidFill>
                            <a:srgbClr val="0F1115"/>
                          </a:solidFill>
                          <a:effectLst/>
                          <a:latin typeface="system-ui"/>
                          <a:ea typeface="system-ui"/>
                          <a:cs typeface="system-ui"/>
                        </a:rPr>
                        <a:t>Matching loss (ITM)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19" marR="12519" marT="12519" marB="12519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330713"/>
                  </a:ext>
                </a:extLst>
              </a:tr>
              <a:tr h="630788">
                <a:tc>
                  <a:txBody>
                    <a:bodyPr/>
                    <a:lstStyle/>
                    <a:p>
                      <a:pPr algn="just" fontAlgn="ctr">
                        <a:lnSpc>
                          <a:spcPct val="116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600" b="1" i="0" u="none" strike="noStrike">
                          <a:solidFill>
                            <a:srgbClr val="0F1115"/>
                          </a:solidFill>
                          <a:effectLst/>
                          <a:latin typeface="system-ui"/>
                          <a:ea typeface="system-ui"/>
                          <a:cs typeface="system-ui"/>
                        </a:rPr>
                        <a:t>Image-grounded Text Decoder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19" marR="12519" marT="12519" marB="12519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lnSpc>
                          <a:spcPct val="116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600" b="0" i="0" u="none" strike="noStrike">
                          <a:solidFill>
                            <a:srgbClr val="0F1115"/>
                          </a:solidFill>
                          <a:effectLst/>
                          <a:latin typeface="system-ui"/>
                          <a:ea typeface="system-ui"/>
                          <a:cs typeface="system-ui"/>
                        </a:rPr>
                        <a:t>Generate captions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19" marR="12519" marT="12519" marB="12519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lnSpc>
                          <a:spcPct val="116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600" b="0" i="0" u="none" strike="noStrike" dirty="0">
                          <a:solidFill>
                            <a:srgbClr val="0F1115"/>
                          </a:solidFill>
                          <a:effectLst/>
                          <a:latin typeface="system-ui"/>
                          <a:ea typeface="system-ui"/>
                          <a:cs typeface="system-ui"/>
                        </a:rPr>
                        <a:t>Language </a:t>
                      </a:r>
                      <a:r>
                        <a:rPr lang="en-GB" sz="1600" b="0" i="0" u="none" strike="noStrike" dirty="0" err="1">
                          <a:solidFill>
                            <a:srgbClr val="0F1115"/>
                          </a:solidFill>
                          <a:effectLst/>
                          <a:latin typeface="system-ui"/>
                          <a:ea typeface="system-ui"/>
                          <a:cs typeface="system-ui"/>
                        </a:rPr>
                        <a:t>Modeling</a:t>
                      </a:r>
                      <a:r>
                        <a:rPr lang="en-GB" sz="1600" b="0" i="0" u="none" strike="noStrike" dirty="0">
                          <a:solidFill>
                            <a:srgbClr val="0F1115"/>
                          </a:solidFill>
                          <a:effectLst/>
                          <a:latin typeface="system-ui"/>
                          <a:ea typeface="system-ui"/>
                          <a:cs typeface="system-ui"/>
                        </a:rPr>
                        <a:t> loss (LM)</a:t>
                      </a:r>
                      <a:endParaRPr lang="en-GB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19" marR="12519" marT="12519" marB="12519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617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520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7F3A49-F608-F07D-59A7-A015A2D7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36F6DB7-CF8D-494A-82F6-13B58DCA9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7E5194-6E82-4A44-99C3-FE7D87F3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87E4A-8561-E0E4-199B-D7E21BCB2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</p:spPr>
        <p:txBody>
          <a:bodyPr>
            <a:normAutofit/>
          </a:bodyPr>
          <a:lstStyle/>
          <a:p>
            <a:r>
              <a:rPr lang="en-GB" b="1" dirty="0" err="1">
                <a:solidFill>
                  <a:schemeClr val="tx1"/>
                </a:solidFill>
              </a:rPr>
              <a:t>CapFilt</a:t>
            </a:r>
            <a:r>
              <a:rPr lang="en-GB" b="1" dirty="0">
                <a:solidFill>
                  <a:schemeClr val="tx1"/>
                </a:solidFill>
              </a:rPr>
              <a:t> Pipeline</a:t>
            </a:r>
            <a:endParaRPr lang="en-GB" dirty="0">
              <a:solidFill>
                <a:schemeClr val="tx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FCC1E1-84D3-494D-A0A0-286AFA1C3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6E09E90-FF79-402E-AF01-97A279BE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C6946F8-4B9B-4C51-9F51-2DB377392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B3D2B3D-A285-438C-A344-AED3E46A0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E5E7700-BAD8-5477-4AAB-3BC1FCB91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110" y="2052084"/>
            <a:ext cx="3033249" cy="3856229"/>
          </a:xfrm>
        </p:spPr>
        <p:txBody>
          <a:bodyPr anchor="t">
            <a:normAutofit fontScale="85000" lnSpcReduction="10000"/>
          </a:bodyPr>
          <a:lstStyle/>
          <a:p>
            <a:pPr lvl="0"/>
            <a:r>
              <a:rPr lang="en-GB" b="1" dirty="0"/>
              <a:t>Captioner</a:t>
            </a:r>
            <a:r>
              <a:rPr lang="en-GB" dirty="0"/>
              <a:t> (fine-tuned MED decoder)</a:t>
            </a:r>
          </a:p>
          <a:p>
            <a:pPr lvl="1"/>
            <a:r>
              <a:rPr lang="en-GB" dirty="0"/>
              <a:t>Generates synthetic captions for web images using nucleus sampling (more diverse).</a:t>
            </a:r>
          </a:p>
          <a:p>
            <a:pPr lvl="0"/>
            <a:r>
              <a:rPr lang="en-GB" b="1" dirty="0"/>
              <a:t>Filter</a:t>
            </a:r>
            <a:r>
              <a:rPr lang="en-GB" dirty="0"/>
              <a:t> (fine-tuned MED encoder)</a:t>
            </a:r>
          </a:p>
          <a:p>
            <a:pPr lvl="1"/>
            <a:r>
              <a:rPr lang="en-GB" dirty="0"/>
              <a:t>Removes bad/noisy captions (both original and synthetic) using learned image-text matching.</a:t>
            </a:r>
          </a:p>
          <a:p>
            <a:pPr lvl="0"/>
            <a:r>
              <a:rPr lang="en-GB" b="1" dirty="0"/>
              <a:t>Bootstrapped dataset</a:t>
            </a:r>
            <a:r>
              <a:rPr lang="en-GB" dirty="0"/>
              <a:t> =</a:t>
            </a:r>
            <a:br>
              <a:rPr lang="en-GB" dirty="0"/>
            </a:br>
            <a:r>
              <a:rPr lang="en-GB" b="1" dirty="0"/>
              <a:t>human-annotated + filtered synthetic + filtered original web captions</a:t>
            </a:r>
            <a:endParaRPr lang="en-GB" dirty="0"/>
          </a:p>
          <a:p>
            <a:pPr marL="0" indent="0">
              <a:buNone/>
            </a:pPr>
            <a:endParaRPr lang="en-GB" sz="1600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9FF675-442F-930E-10B6-6FD99914C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800" y="2295390"/>
            <a:ext cx="6866506" cy="226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2534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018F0E-4298-2A50-0612-F7648A61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36F6DB7-CF8D-494A-82F6-13B58DCA9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7E5194-6E82-4A44-99C3-FE7D87F3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7024D0-3F7A-673B-6D9E-B899C67FD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BLIP: POC</a:t>
            </a:r>
            <a:endParaRPr lang="en-GB" sz="2400">
              <a:solidFill>
                <a:srgbClr val="FFFFFF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9FCC1E1-84D3-494D-A0A0-286AFA1C3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E09E90-FF79-402E-AF01-97A279BE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6946F8-4B9B-4C51-9F51-2DB377392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B3D2B3D-A285-438C-A344-AED3E46A0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BEAC54C6-C993-EAEC-E3D0-E596035DF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110" y="2052084"/>
            <a:ext cx="3033249" cy="3856229"/>
          </a:xfrm>
        </p:spPr>
        <p:txBody>
          <a:bodyPr anchor="t">
            <a:normAutofit lnSpcReduction="10000"/>
          </a:bodyPr>
          <a:lstStyle/>
          <a:p>
            <a:r>
              <a:rPr lang="en-GB" sz="1600" dirty="0">
                <a:solidFill>
                  <a:srgbClr val="FFFFFF"/>
                </a:solidFill>
              </a:rPr>
              <a:t>This tasks focuses on Caption generation and showing the attention between token and image patches</a:t>
            </a:r>
          </a:p>
          <a:p>
            <a:endParaRPr lang="en-GB" sz="1600" dirty="0">
              <a:solidFill>
                <a:srgbClr val="FFFFFF"/>
              </a:solidFill>
            </a:endParaRPr>
          </a:p>
          <a:p>
            <a:r>
              <a:rPr lang="en-GB" sz="1600" b="1" dirty="0"/>
              <a:t>Spatial Saliency Map</a:t>
            </a:r>
            <a:r>
              <a:rPr lang="en-GB" sz="1600" dirty="0"/>
              <a:t> The output is a 24×24 map assigning an importance score to each image patch, which is the same form as </a:t>
            </a:r>
            <a:r>
              <a:rPr lang="en-GB" sz="1600" dirty="0" err="1"/>
              <a:t>GradCAM</a:t>
            </a:r>
            <a:r>
              <a:rPr lang="en-GB" sz="1600" dirty="0"/>
              <a:t> or LIME </a:t>
            </a:r>
            <a:r>
              <a:rPr lang="en-GB" sz="1600" dirty="0" err="1"/>
              <a:t>superpixel</a:t>
            </a:r>
            <a:r>
              <a:rPr lang="en-GB" sz="1600" dirty="0"/>
              <a:t> explanations — making cross-attention results directly comparable to gradient-based methods in user studies.</a:t>
            </a:r>
            <a:endParaRPr lang="en-GB" sz="1600" dirty="0">
              <a:solidFill>
                <a:srgbClr val="FFFFFF"/>
              </a:solidFill>
            </a:endParaRPr>
          </a:p>
          <a:p>
            <a:endParaRPr lang="en-GB" sz="1600" dirty="0">
              <a:solidFill>
                <a:srgbClr val="FFFFFF"/>
              </a:solidFill>
            </a:endParaRPr>
          </a:p>
          <a:p>
            <a:endParaRPr lang="en-GB" sz="1600" dirty="0">
              <a:solidFill>
                <a:srgbClr val="FFFFFF"/>
              </a:solidFill>
            </a:endParaRPr>
          </a:p>
          <a:p>
            <a:pPr lvl="0"/>
            <a:endParaRPr lang="en-GB" sz="16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GB" sz="1600" dirty="0">
              <a:solidFill>
                <a:srgbClr val="FFFFFF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292537-3681-E15B-26AA-7D57CBCF3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721477"/>
              </p:ext>
            </p:extLst>
          </p:nvPr>
        </p:nvGraphicFramePr>
        <p:xfrm>
          <a:off x="4568800" y="1161399"/>
          <a:ext cx="6866507" cy="4533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92474">
                  <a:extLst>
                    <a:ext uri="{9D8B030D-6E8A-4147-A177-3AD203B41FA5}">
                      <a16:colId xmlns:a16="http://schemas.microsoft.com/office/drawing/2014/main" val="2071171487"/>
                    </a:ext>
                  </a:extLst>
                </a:gridCol>
                <a:gridCol w="4774033">
                  <a:extLst>
                    <a:ext uri="{9D8B030D-6E8A-4147-A177-3AD203B41FA5}">
                      <a16:colId xmlns:a16="http://schemas.microsoft.com/office/drawing/2014/main" val="628505836"/>
                    </a:ext>
                  </a:extLst>
                </a:gridCol>
              </a:tblGrid>
              <a:tr h="435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Component</a:t>
                      </a:r>
                      <a:endParaRPr lang="en-GB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109" marR="114109" marT="76073" marB="7607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effectLst/>
                        </a:rPr>
                        <a:t>Responsibility</a:t>
                      </a:r>
                      <a:endParaRPr lang="en-GB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109" marR="114109" marT="76073" marB="76073"/>
                </a:tc>
                <a:extLst>
                  <a:ext uri="{0D108BD9-81ED-4DB2-BD59-A6C34878D82A}">
                    <a16:rowId xmlns:a16="http://schemas.microsoft.com/office/drawing/2014/main" val="37322452"/>
                  </a:ext>
                </a:extLst>
              </a:tr>
              <a:tr h="10817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effectLst/>
                        </a:rPr>
                        <a:t>Flask Backend (app.py)</a:t>
                      </a:r>
                      <a:endParaRPr lang="en-GB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109" marR="76073" marT="57054" marB="5705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Loads BLIP model, runs image encoding, executes greedy decode loop, extracts cross-attention tensors per token per layer, normalises and returns them as JSON.</a:t>
                      </a:r>
                      <a:endParaRPr lang="en-GB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109" marR="114109" marT="57054" marB="57054"/>
                </a:tc>
                <a:extLst>
                  <a:ext uri="{0D108BD9-81ED-4DB2-BD59-A6C34878D82A}">
                    <a16:rowId xmlns:a16="http://schemas.microsoft.com/office/drawing/2014/main" val="2427574229"/>
                  </a:ext>
                </a:extLst>
              </a:tr>
              <a:tr h="10817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effectLst/>
                        </a:rPr>
                        <a:t>D3.js Frontend (index.html)</a:t>
                      </a:r>
                      <a:endParaRPr lang="en-GB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109" marR="76073" marT="57054" marB="5705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Accepts base64 image from user, posts to backend, receives attention matrix, and renders 4 linked interactive visualizations: overlay, spatial heatmap, cross-attention matrix, and token bar chart.</a:t>
                      </a:r>
                      <a:endParaRPr lang="en-GB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109" marR="114109" marT="57054" marB="57054"/>
                </a:tc>
                <a:extLst>
                  <a:ext uri="{0D108BD9-81ED-4DB2-BD59-A6C34878D82A}">
                    <a16:rowId xmlns:a16="http://schemas.microsoft.com/office/drawing/2014/main" val="1107613362"/>
                  </a:ext>
                </a:extLst>
              </a:tr>
              <a:tr h="853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>
                          <a:effectLst/>
                        </a:rPr>
                        <a:t>REST API (/</a:t>
                      </a:r>
                      <a:r>
                        <a:rPr lang="en-GB" sz="1500" dirty="0" err="1">
                          <a:effectLst/>
                        </a:rPr>
                        <a:t>analyze</a:t>
                      </a:r>
                      <a:r>
                        <a:rPr lang="en-GB" sz="15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109" marR="76073" marT="57054" marB="5705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effectLst/>
                        </a:rPr>
                        <a:t>Stateless POST endpoint receiving base64 image + optional text, returning caption, tokens, and a (T x 576) attention matrix.</a:t>
                      </a:r>
                      <a:endParaRPr lang="en-GB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109" marR="114109" marT="57054" marB="57054"/>
                </a:tc>
                <a:extLst>
                  <a:ext uri="{0D108BD9-81ED-4DB2-BD59-A6C34878D82A}">
                    <a16:rowId xmlns:a16="http://schemas.microsoft.com/office/drawing/2014/main" val="2070334792"/>
                  </a:ext>
                </a:extLst>
              </a:tr>
              <a:tr h="10817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effectLst/>
                        </a:rPr>
                        <a:t>BLIP Model</a:t>
                      </a:r>
                      <a:endParaRPr lang="en-GB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109" marR="76073" marT="57054" marB="5705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</a:rPr>
                        <a:t>Salesforce blip-image-captioning-base: </a:t>
                      </a:r>
                      <a:r>
                        <a:rPr lang="en-US" sz="1500" dirty="0" err="1">
                          <a:effectLst/>
                        </a:rPr>
                        <a:t>ViT</a:t>
                      </a:r>
                      <a:r>
                        <a:rPr lang="en-US" sz="1500" dirty="0">
                          <a:effectLst/>
                        </a:rPr>
                        <a:t>-B/16 vision encoder producing 576 patch embeddings + 1 CLS, followed by a BERT-like text decoder with 12-layer cross-attention to those patches.</a:t>
                      </a:r>
                      <a:endParaRPr lang="en-GB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114109" marR="114109" marT="57054" marB="57054"/>
                </a:tc>
                <a:extLst>
                  <a:ext uri="{0D108BD9-81ED-4DB2-BD59-A6C34878D82A}">
                    <a16:rowId xmlns:a16="http://schemas.microsoft.com/office/drawing/2014/main" val="718528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780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35A61-242E-46F4-14FF-EB39FA8DF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09A88-B3BF-D14D-F0FC-E87993CA3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Blip: POC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C0DB1E-A8AC-3D20-5D2F-D3CEC62A9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BLIP has two types of attention internally:</a:t>
            </a:r>
          </a:p>
          <a:p>
            <a:r>
              <a:rPr lang="en-GB" b="1" dirty="0"/>
              <a:t>Self-attention</a:t>
            </a:r>
            <a:r>
              <a:rPr lang="en-GB" dirty="0"/>
              <a:t> (within the text decoder): each token attending to previous tokens — explains language generation order, not image grounding</a:t>
            </a:r>
          </a:p>
          <a:p>
            <a:r>
              <a:rPr lang="en-GB" b="1" dirty="0"/>
              <a:t>Cross-attention</a:t>
            </a:r>
            <a:r>
              <a:rPr lang="en-GB" dirty="0"/>
              <a:t> (text decoder → vision encoder): each text token attending to image patches — this is the multimodal bridge and the only attention type that can produce image-grounded explanations</a:t>
            </a:r>
          </a:p>
          <a:p>
            <a:pPr marL="0" lv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7352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D2113-3509-8E9E-39EB-6C58EC0AD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7966F-3698-4A72-295E-5F6D337EF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of developing Blip: POC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FF385D-5BF8-105C-5033-4D9FAE12B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BLIP generate() uses custom internal decode loop written directly inside </a:t>
            </a:r>
            <a:r>
              <a:rPr lang="en-GB" dirty="0" err="1"/>
              <a:t>BlipForConditionalGeneration</a:t>
            </a:r>
            <a:r>
              <a:rPr lang="en-GB" dirty="0"/>
              <a:t>. It does not call </a:t>
            </a:r>
            <a:r>
              <a:rPr lang="en-GB" dirty="0" err="1"/>
              <a:t>self.text_decoder</a:t>
            </a:r>
            <a:r>
              <a:rPr lang="en-GB" dirty="0"/>
              <a:t> as a stand alone </a:t>
            </a:r>
            <a:r>
              <a:rPr lang="en-GB" dirty="0" err="1"/>
              <a:t>PyTorch</a:t>
            </a:r>
            <a:r>
              <a:rPr lang="en-GB" dirty="0"/>
              <a:t> module, </a:t>
            </a:r>
            <a:r>
              <a:rPr lang="en-GB" dirty="0" err="1"/>
              <a:t>model.text_decoder</a:t>
            </a:r>
            <a:r>
              <a:rPr lang="en-GB" dirty="0"/>
              <a:t> therefore never triggered. This is bypassed with a manual greedy decode.</a:t>
            </a:r>
          </a:p>
          <a:p>
            <a:endParaRPr lang="en-GB" dirty="0"/>
          </a:p>
          <a:p>
            <a:r>
              <a:rPr lang="en-GB" dirty="0"/>
              <a:t>Matching the token lengths in the front end and backend so visualizations can be rendered.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0636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E4122-9487-18C6-0614-210EF8E76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2F89C-EC1E-1999-E690-A19F3BA9E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From a research standpoint, the </a:t>
            </a:r>
            <a:r>
              <a:rPr lang="en-GB" b="1" dirty="0"/>
              <a:t>invariant patches are scientifically meaningful</a:t>
            </a:r>
            <a:r>
              <a:rPr lang="en-GB" dirty="0"/>
              <a:t>. They reveal:</a:t>
            </a:r>
          </a:p>
          <a:p>
            <a:r>
              <a:rPr lang="en-GB" dirty="0"/>
              <a:t>Which image regions the model uses as </a:t>
            </a:r>
            <a:r>
              <a:rPr lang="en-GB" b="1" dirty="0"/>
              <a:t>persistent spatial anchors</a:t>
            </a:r>
            <a:r>
              <a:rPr lang="en-GB" dirty="0"/>
              <a:t> regardless of what word is being generated</a:t>
            </a:r>
          </a:p>
          <a:p>
            <a:r>
              <a:rPr lang="en-GB" dirty="0"/>
              <a:t>That BLIP's cross-attention has a strong </a:t>
            </a:r>
            <a:r>
              <a:rPr lang="en-GB" b="1" dirty="0"/>
              <a:t>position prior</a:t>
            </a:r>
            <a:r>
              <a:rPr lang="en-GB" dirty="0"/>
              <a:t> independent of semantic content</a:t>
            </a:r>
          </a:p>
          <a:p>
            <a:r>
              <a:rPr lang="en-GB" dirty="0"/>
              <a:t>That naive attention averaging is </a:t>
            </a:r>
            <a:r>
              <a:rPr lang="en-GB" b="1" dirty="0"/>
              <a:t>insufficient as an explanation method</a:t>
            </a:r>
            <a:r>
              <a:rPr lang="en-GB" dirty="0"/>
              <a:t> — the invariant patches are artefacts of aggregation, not genuine cross-modal alignment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293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6E469-86C5-D051-6C53-BBD6B3FF0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9540-939C-8B68-13E9-6D22FD961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Recent Application of Explainable AI(XAI): A Systematic Literature review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51AA9-27E2-92DB-EDBC-2C75ED823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Which domains</a:t>
            </a:r>
            <a:r>
              <a:rPr lang="en-GB" dirty="0"/>
              <a:t> are most actively using XAI?</a:t>
            </a:r>
          </a:p>
          <a:p>
            <a:pPr lvl="0"/>
            <a:endParaRPr lang="en-GB" b="1" dirty="0"/>
          </a:p>
          <a:p>
            <a:pPr lvl="0"/>
            <a:r>
              <a:rPr lang="en-GB" b="1" dirty="0"/>
              <a:t>Which XAI techniques</a:t>
            </a:r>
            <a:r>
              <a:rPr lang="en-GB" dirty="0"/>
              <a:t> and explanation forms are used?</a:t>
            </a:r>
          </a:p>
          <a:p>
            <a:pPr lvl="0"/>
            <a:endParaRPr lang="en-GB" b="1" dirty="0"/>
          </a:p>
          <a:p>
            <a:pPr lvl="0"/>
            <a:r>
              <a:rPr lang="en-GB" b="1" dirty="0"/>
              <a:t>How are XAI explanations evaluated?</a:t>
            </a:r>
            <a:endParaRPr lang="en-GB" dirty="0"/>
          </a:p>
          <a:p>
            <a:pPr marL="0" lv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8803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B1A7A-D50E-9567-2815-CB0A39E70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50549-DF07-F2A9-A350-1592B900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Top domains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E37A3-FBDD-D97B-B577-259A926B8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Healthcare &amp; medicine</a:t>
            </a:r>
            <a:r>
              <a:rPr lang="en-GB" dirty="0"/>
              <a:t> </a:t>
            </a:r>
          </a:p>
          <a:p>
            <a:r>
              <a:rPr lang="en-GB" b="1" dirty="0"/>
              <a:t>Environmental &amp; agricultural systems</a:t>
            </a:r>
            <a:r>
              <a:rPr lang="en-GB" dirty="0"/>
              <a:t> </a:t>
            </a:r>
          </a:p>
          <a:p>
            <a:r>
              <a:rPr lang="en-GB" b="1" dirty="0"/>
              <a:t>Industrial &amp; manufacturing</a:t>
            </a:r>
            <a:r>
              <a:rPr lang="en-GB" dirty="0"/>
              <a:t> </a:t>
            </a:r>
          </a:p>
          <a:p>
            <a:r>
              <a:rPr lang="en-GB" b="1" dirty="0"/>
              <a:t>Cybersecurity &amp; defence</a:t>
            </a:r>
            <a:r>
              <a:rPr lang="en-GB" dirty="0"/>
              <a:t> </a:t>
            </a:r>
          </a:p>
          <a:p>
            <a:r>
              <a:rPr lang="en-GB" b="1" dirty="0"/>
              <a:t>Finance</a:t>
            </a:r>
            <a:r>
              <a:rPr lang="en-GB" dirty="0"/>
              <a:t> </a:t>
            </a:r>
          </a:p>
          <a:p>
            <a:r>
              <a:rPr lang="en-GB" b="1" dirty="0"/>
              <a:t>Transportation &amp; autonomous systems</a:t>
            </a:r>
            <a:endParaRPr lang="en-GB" dirty="0"/>
          </a:p>
          <a:p>
            <a:r>
              <a:rPr lang="en-GB" b="1" dirty="0"/>
              <a:t>Education, psychology, legal, and social science</a:t>
            </a:r>
            <a:r>
              <a:rPr lang="en-GB" dirty="0"/>
              <a:t> (smaller but growing)</a:t>
            </a:r>
          </a:p>
          <a:p>
            <a:pPr marL="0" lv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2109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F1436-FC39-53E9-C1C4-B1F397251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493FF-9863-3073-A076-0A2E6C4A8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Most Common XAI Methods Used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3AE54B-E5A6-B0A2-4612-E3431368B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Local explanations dominate (53% of papers), followed by mixed </a:t>
            </a:r>
            <a:r>
              <a:rPr lang="en-GB" b="1" dirty="0" err="1"/>
              <a:t>global+local</a:t>
            </a:r>
            <a:r>
              <a:rPr lang="en-GB" b="1" dirty="0"/>
              <a:t> (29%). </a:t>
            </a:r>
            <a:r>
              <a:rPr lang="en-GB" dirty="0"/>
              <a:t>Very few papers use purely global explanations.</a:t>
            </a:r>
          </a:p>
          <a:p>
            <a:r>
              <a:rPr lang="en-GB" b="1" dirty="0"/>
              <a:t>Most popular techniques:</a:t>
            </a:r>
            <a:endParaRPr lang="en-GB" dirty="0"/>
          </a:p>
          <a:p>
            <a:pPr lvl="0"/>
            <a:r>
              <a:rPr lang="en-GB" b="1" dirty="0"/>
              <a:t>SHAP</a:t>
            </a:r>
            <a:r>
              <a:rPr lang="en-GB" dirty="0"/>
              <a:t> – by far the most used </a:t>
            </a:r>
          </a:p>
          <a:p>
            <a:pPr lvl="1"/>
            <a:r>
              <a:rPr lang="en-GB" dirty="0"/>
              <a:t>Has mathematical guarantees (efficiency, symmetry, additivity)</a:t>
            </a:r>
          </a:p>
          <a:p>
            <a:pPr lvl="1"/>
            <a:r>
              <a:rPr lang="en-GB" dirty="0"/>
              <a:t>Considered more stable than LIME</a:t>
            </a:r>
          </a:p>
          <a:p>
            <a:pPr lvl="0"/>
            <a:r>
              <a:rPr lang="en-GB" b="1" dirty="0"/>
              <a:t>LIME</a:t>
            </a:r>
            <a:r>
              <a:rPr lang="en-GB" dirty="0"/>
              <a:t> – widely used but criticized for instability</a:t>
            </a:r>
          </a:p>
          <a:p>
            <a:pPr lvl="0"/>
            <a:r>
              <a:rPr lang="en-GB" b="1" dirty="0"/>
              <a:t>Anchors</a:t>
            </a:r>
            <a:r>
              <a:rPr lang="en-GB" dirty="0"/>
              <a:t> – used far less frequently</a:t>
            </a:r>
          </a:p>
          <a:p>
            <a:pPr mar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1721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22288-23C0-7140-9F7A-837F412A4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5141-538A-DA3E-DC3C-CF3444E88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Most Common XAI Methods Used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682331-3692-6F86-B3B9-B3D106512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For image data, the most used gradient‑based methods include:</a:t>
            </a:r>
            <a:endParaRPr lang="en-GB" dirty="0"/>
          </a:p>
          <a:p>
            <a:pPr lvl="0"/>
            <a:r>
              <a:rPr lang="en-GB" dirty="0"/>
              <a:t>Grad-CAM / Grad-CAM++</a:t>
            </a:r>
          </a:p>
          <a:p>
            <a:pPr lvl="0"/>
            <a:r>
              <a:rPr lang="en-GB" dirty="0" err="1"/>
              <a:t>SmoothGrad</a:t>
            </a:r>
            <a:endParaRPr lang="en-GB" dirty="0"/>
          </a:p>
          <a:p>
            <a:pPr lvl="0"/>
            <a:r>
              <a:rPr lang="en-GB" dirty="0"/>
              <a:t>Integrated Gradients</a:t>
            </a:r>
          </a:p>
          <a:p>
            <a:pPr lvl="0"/>
            <a:r>
              <a:rPr lang="en-GB" dirty="0"/>
              <a:t>Layer-wise Relevance Propagation (LRP)</a:t>
            </a:r>
          </a:p>
          <a:p>
            <a:pPr mar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7562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88824-A639-A67B-C8A4-42DC6874F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004B2-9364-9551-1004-BD17C16E0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Most Common XAI Methods Used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4B16A-CA11-DEBE-2CA4-4DB0044C7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Global model-agnostic methods:</a:t>
            </a:r>
            <a:endParaRPr lang="en-GB" dirty="0"/>
          </a:p>
          <a:p>
            <a:pPr lvl="0"/>
            <a:r>
              <a:rPr lang="en-GB" dirty="0"/>
              <a:t>Partial Dependence Plots (PDP)</a:t>
            </a:r>
          </a:p>
          <a:p>
            <a:pPr lvl="0"/>
            <a:r>
              <a:rPr lang="en-GB" dirty="0"/>
              <a:t>Accumulated Local Effects (ALE)</a:t>
            </a:r>
          </a:p>
          <a:p>
            <a:pPr lvl="0"/>
            <a:r>
              <a:rPr lang="en-GB" dirty="0"/>
              <a:t>Permutation Feature Importance</a:t>
            </a:r>
          </a:p>
          <a:p>
            <a:r>
              <a:rPr lang="en-GB" b="1" dirty="0"/>
              <a:t>Intrinsic (ante-hoc) models:</a:t>
            </a:r>
            <a:endParaRPr lang="en-GB" dirty="0"/>
          </a:p>
          <a:p>
            <a:pPr lvl="0"/>
            <a:r>
              <a:rPr lang="en-GB" dirty="0"/>
              <a:t>Decision trees</a:t>
            </a:r>
          </a:p>
          <a:p>
            <a:pPr lvl="0"/>
            <a:r>
              <a:rPr lang="en-GB" dirty="0"/>
              <a:t>Logistic regression</a:t>
            </a:r>
          </a:p>
          <a:p>
            <a:pPr mar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7046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2C3E1-2E92-BF2A-603A-3597240D0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8B143-1C9A-6255-E880-5E18F1B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ML Models &amp; Tasks Used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EA60C5-D8BA-3C6F-E5F7-74056365B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Across all papers:</a:t>
            </a:r>
          </a:p>
          <a:p>
            <a:r>
              <a:rPr lang="en-GB" b="1" dirty="0"/>
              <a:t>Most used model families:</a:t>
            </a:r>
            <a:endParaRPr lang="en-GB" dirty="0"/>
          </a:p>
          <a:p>
            <a:pPr lvl="0"/>
            <a:r>
              <a:rPr lang="en-GB" b="1" dirty="0"/>
              <a:t>Neural networks</a:t>
            </a:r>
            <a:r>
              <a:rPr lang="en-GB" dirty="0"/>
              <a:t> (59%)</a:t>
            </a:r>
          </a:p>
          <a:p>
            <a:pPr lvl="0"/>
            <a:r>
              <a:rPr lang="en-GB" b="1" dirty="0"/>
              <a:t>Tree-based models</a:t>
            </a:r>
            <a:r>
              <a:rPr lang="en-GB" dirty="0"/>
              <a:t> (37%)</a:t>
            </a:r>
          </a:p>
          <a:p>
            <a:pPr lvl="0"/>
            <a:r>
              <a:rPr lang="en-GB" dirty="0"/>
              <a:t>Support Vector Machines (11%)</a:t>
            </a:r>
          </a:p>
          <a:p>
            <a:pPr lvl="0"/>
            <a:r>
              <a:rPr lang="en-GB" dirty="0"/>
              <a:t>Logistic/Linear Regression (9%)</a:t>
            </a:r>
          </a:p>
          <a:p>
            <a:pPr mar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462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1A43B-6BE8-3C82-C3A5-83685BF27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AB192-7B5C-89AA-04FB-98C7CEBD7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ML Models &amp; Tasks Used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C76DC-80C0-82CF-FA73-006226424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Main ML tasks:</a:t>
            </a:r>
            <a:endParaRPr lang="en-GB" dirty="0"/>
          </a:p>
          <a:p>
            <a:pPr lvl="0"/>
            <a:r>
              <a:rPr lang="en-GB" b="1" dirty="0"/>
              <a:t>Classification</a:t>
            </a:r>
            <a:r>
              <a:rPr lang="en-GB" dirty="0"/>
              <a:t> – 70%</a:t>
            </a:r>
          </a:p>
          <a:p>
            <a:pPr lvl="0"/>
            <a:r>
              <a:rPr lang="en-GB" dirty="0"/>
              <a:t>Regression – 21%</a:t>
            </a:r>
          </a:p>
          <a:p>
            <a:pPr lvl="0"/>
            <a:r>
              <a:rPr lang="en-GB" dirty="0"/>
              <a:t>Clustering – 4%</a:t>
            </a:r>
          </a:p>
          <a:p>
            <a:pPr lvl="0"/>
            <a:r>
              <a:rPr lang="en-GB" dirty="0"/>
              <a:t>Reinforcement learning – 1%</a:t>
            </a:r>
          </a:p>
          <a:p>
            <a:pPr mar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7440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F04DA-185C-7D41-E02B-42D7B849B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899ED-D483-2FA9-49DF-F38F33C8D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Evaluation of XAI Methods is a Major Weakness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5B3E38-D1BD-E36A-D942-49B0ADC8B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Heavy reliance on </a:t>
            </a:r>
            <a:r>
              <a:rPr lang="en-GB" b="1" dirty="0"/>
              <a:t>anecdotal interpretation</a:t>
            </a:r>
            <a:endParaRPr lang="en-GB" dirty="0"/>
          </a:p>
          <a:p>
            <a:pPr lvl="0"/>
            <a:r>
              <a:rPr lang="en-GB" dirty="0"/>
              <a:t>Qualitative reasoning or </a:t>
            </a:r>
            <a:r>
              <a:rPr lang="en-GB" b="1" dirty="0"/>
              <a:t>expert opinion</a:t>
            </a:r>
            <a:r>
              <a:rPr lang="en-GB" dirty="0"/>
              <a:t> only</a:t>
            </a:r>
          </a:p>
          <a:p>
            <a:pPr lvl="0"/>
            <a:r>
              <a:rPr lang="en-GB" dirty="0"/>
              <a:t>Very few quantitative explainability metrics</a:t>
            </a:r>
          </a:p>
          <a:p>
            <a:pPr lvl="0"/>
            <a:r>
              <a:rPr lang="en-GB" dirty="0"/>
              <a:t>Lack of standardized evaluation frameworks</a:t>
            </a:r>
          </a:p>
          <a:p>
            <a:pPr mar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762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7012E-AE5B-D12C-90D9-04139732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0E81B-C623-2802-BB37-D0D8EC729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4. Visual Analytics for Explainable AI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66EE69-DF48-8D96-31A0-AF799CD75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What Is Visual Analytics in XAI?</a:t>
            </a:r>
          </a:p>
          <a:p>
            <a:pPr lvl="0"/>
            <a:r>
              <a:rPr lang="en-GB" dirty="0"/>
              <a:t>Interactive visual interfaces, and Algorithmic explanation techniques</a:t>
            </a:r>
          </a:p>
          <a:p>
            <a:pPr mar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2516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689AC-4418-7ACC-A2B1-B264831BF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F58D9-EA5C-BB17-8086-92AAEFFB1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Visualization Techniques for Explaining AI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940BC-C70D-1882-72E8-CCC6B2826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Local &amp; Feature‑Based Explanations</a:t>
            </a:r>
          </a:p>
          <a:p>
            <a:pPr lvl="0"/>
            <a:r>
              <a:rPr lang="en-GB" dirty="0"/>
              <a:t>Saliency maps (images)</a:t>
            </a:r>
          </a:p>
          <a:p>
            <a:pPr lvl="0"/>
            <a:r>
              <a:rPr lang="en-GB" dirty="0"/>
              <a:t>Heatmaps, feature attribution plots</a:t>
            </a:r>
          </a:p>
          <a:p>
            <a:pPr lvl="0"/>
            <a:r>
              <a:rPr lang="en-GB" dirty="0"/>
              <a:t>Layer-wise relevance propagation (LRP)</a:t>
            </a:r>
          </a:p>
          <a:p>
            <a:r>
              <a:rPr lang="en-GB" dirty="0"/>
              <a:t>Grad‑CAM for deep networks</a:t>
            </a:r>
            <a:br>
              <a:rPr lang="en-GB" dirty="0"/>
            </a:br>
            <a:r>
              <a:rPr lang="en-GB" dirty="0"/>
              <a:t>These reveal which input features influenced predictions.</a:t>
            </a:r>
          </a:p>
        </p:txBody>
      </p:sp>
    </p:spTree>
    <p:extLst>
      <p:ext uri="{BB962C8B-B14F-4D97-AF65-F5344CB8AC3E}">
        <p14:creationId xmlns:p14="http://schemas.microsoft.com/office/powerpoint/2010/main" val="2624813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765FE-D729-A398-57B8-69536608D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9DF92-6681-F56D-3866-5C2A4097C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Visualization Techniques for Explaining AI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8749A-E3A1-6A47-0AD7-0F6F68771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Global Structure &amp; </a:t>
            </a:r>
            <a:r>
              <a:rPr lang="en-GB" dirty="0" err="1"/>
              <a:t>Behavior</a:t>
            </a:r>
            <a:endParaRPr lang="en-GB" dirty="0"/>
          </a:p>
          <a:p>
            <a:pPr lvl="0"/>
            <a:r>
              <a:rPr lang="en-GB" dirty="0"/>
              <a:t>Dimensionality reduction (t‑SNE, UMAP) to visualize internal model representations</a:t>
            </a:r>
          </a:p>
          <a:p>
            <a:pPr lvl="0"/>
            <a:r>
              <a:rPr lang="en-GB" dirty="0"/>
              <a:t>Decision trees &amp; rule-based visuals for interpretable logic</a:t>
            </a:r>
          </a:p>
          <a:p>
            <a:r>
              <a:rPr lang="en-GB" dirty="0"/>
              <a:t>Performance dashboards (confusion matrices, ROC curves, error distributions)</a:t>
            </a:r>
            <a:br>
              <a:rPr lang="en-GB" dirty="0"/>
            </a:br>
            <a:r>
              <a:rPr lang="en-GB" dirty="0"/>
              <a:t>Tools like </a:t>
            </a:r>
            <a:r>
              <a:rPr lang="en-GB" dirty="0" err="1"/>
              <a:t>TensorBoard</a:t>
            </a:r>
            <a:r>
              <a:rPr lang="en-GB" dirty="0"/>
              <a:t> and Microsoft </a:t>
            </a:r>
            <a:r>
              <a:rPr lang="en-GB" dirty="0" err="1"/>
              <a:t>InterpretML</a:t>
            </a:r>
            <a:r>
              <a:rPr lang="en-GB" dirty="0"/>
              <a:t> enable interactive debugging and exploration.</a:t>
            </a:r>
          </a:p>
        </p:txBody>
      </p:sp>
    </p:spTree>
    <p:extLst>
      <p:ext uri="{BB962C8B-B14F-4D97-AF65-F5344CB8AC3E}">
        <p14:creationId xmlns:p14="http://schemas.microsoft.com/office/powerpoint/2010/main" val="1798434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7094D-71B8-B540-2636-9ADA8E00D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1F6F-BD66-4E00-3493-399AC5BDF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Challenges Identified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98D0F0-E658-56A8-7235-BA00B9FEF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Technical Challenges</a:t>
            </a:r>
          </a:p>
          <a:p>
            <a:pPr lvl="0"/>
            <a:r>
              <a:rPr lang="en-GB" dirty="0"/>
              <a:t>Difficulty visualizing high‑dimensional, nonlinear model </a:t>
            </a:r>
            <a:r>
              <a:rPr lang="en-GB" dirty="0" err="1"/>
              <a:t>behavior</a:t>
            </a:r>
            <a:endParaRPr lang="en-GB" dirty="0"/>
          </a:p>
          <a:p>
            <a:pPr lvl="0"/>
            <a:r>
              <a:rPr lang="en-GB" dirty="0"/>
              <a:t>Scalability issues for large models and big datasets</a:t>
            </a:r>
          </a:p>
          <a:p>
            <a:pPr lvl="0"/>
            <a:r>
              <a:rPr lang="en-GB" dirty="0"/>
              <a:t>Distortion risks in attribution and dimensionality reduction techniques</a:t>
            </a:r>
          </a:p>
          <a:p>
            <a:r>
              <a:rPr lang="en-GB" b="1" dirty="0"/>
              <a:t>Ethical &amp; Human-Factor Challenges</a:t>
            </a:r>
            <a:endParaRPr lang="en-GB" dirty="0"/>
          </a:p>
          <a:p>
            <a:pPr lvl="0"/>
            <a:r>
              <a:rPr lang="en-GB" dirty="0"/>
              <a:t>Explanations can hide or amplify bias</a:t>
            </a:r>
          </a:p>
          <a:p>
            <a:pPr lvl="0"/>
            <a:r>
              <a:rPr lang="en-GB" dirty="0"/>
              <a:t>Diverse users require different types of explanations</a:t>
            </a:r>
          </a:p>
          <a:p>
            <a:r>
              <a:rPr lang="en-GB" dirty="0"/>
              <a:t>Risk of over-reliance or misinterpretation of visualizations .</a:t>
            </a:r>
          </a:p>
        </p:txBody>
      </p:sp>
    </p:spTree>
    <p:extLst>
      <p:ext uri="{BB962C8B-B14F-4D97-AF65-F5344CB8AC3E}">
        <p14:creationId xmlns:p14="http://schemas.microsoft.com/office/powerpoint/2010/main" val="1533824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A6D71-4389-366F-956F-9F8D1A397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37249-9ABD-C1FB-9526-B1EEAE56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Evaluation &amp; User-</a:t>
            </a:r>
            <a:r>
              <a:rPr lang="en-GB" b="1" dirty="0" err="1"/>
              <a:t>Centered</a:t>
            </a:r>
            <a:r>
              <a:rPr lang="en-GB" b="1" dirty="0"/>
              <a:t> Design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4BF68-4162-15C6-AF12-5A97378C9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User studies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Task performance analysis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Feedback on trust, usability, cognitive load</a:t>
            </a:r>
          </a:p>
        </p:txBody>
      </p:sp>
    </p:spTree>
    <p:extLst>
      <p:ext uri="{BB962C8B-B14F-4D97-AF65-F5344CB8AC3E}">
        <p14:creationId xmlns:p14="http://schemas.microsoft.com/office/powerpoint/2010/main" val="3603473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2D0BE-7F97-839A-D8FD-D25AEF9D7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FB003-85B5-D53A-B135-509B45B41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Future Directions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30F9A7-9D42-02E1-AB07-D1E4345FA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Multimodal AI</a:t>
            </a:r>
            <a:endParaRPr lang="en-GB" dirty="0"/>
          </a:p>
          <a:p>
            <a:r>
              <a:rPr lang="en-GB" dirty="0"/>
              <a:t>Visual tools must explain models combining text, images, audio, etc.</a:t>
            </a:r>
          </a:p>
          <a:p>
            <a:r>
              <a:rPr lang="en-GB" b="1" dirty="0"/>
              <a:t>Generative AI &amp; Foundation Models</a:t>
            </a:r>
            <a:endParaRPr lang="en-GB" dirty="0"/>
          </a:p>
          <a:p>
            <a:r>
              <a:rPr lang="en-GB" dirty="0"/>
              <a:t>New explanation challenges for large-scale models.</a:t>
            </a:r>
          </a:p>
          <a:p>
            <a:r>
              <a:rPr lang="en-GB" b="1" dirty="0"/>
              <a:t>Standardized Explainability Metrics</a:t>
            </a:r>
            <a:endParaRPr lang="en-GB" dirty="0"/>
          </a:p>
          <a:p>
            <a:r>
              <a:rPr lang="en-GB" dirty="0"/>
              <a:t>Driven by policy and regulatory frameworks.</a:t>
            </a:r>
          </a:p>
          <a:p>
            <a:r>
              <a:rPr lang="en-GB" b="1" dirty="0"/>
              <a:t>Responsible AI</a:t>
            </a:r>
            <a:endParaRPr lang="en-GB" dirty="0"/>
          </a:p>
          <a:p>
            <a:r>
              <a:rPr lang="en-GB" dirty="0"/>
              <a:t>Visual analytics will increasingly support fairness, accountability, and transparency in real‑world deployments. </a:t>
            </a:r>
          </a:p>
        </p:txBody>
      </p:sp>
    </p:spTree>
    <p:extLst>
      <p:ext uri="{BB962C8B-B14F-4D97-AF65-F5344CB8AC3E}">
        <p14:creationId xmlns:p14="http://schemas.microsoft.com/office/powerpoint/2010/main" val="18226266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A28386-E0E3-3AC5-B012-D88555E55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36F6DB7-CF8D-494A-82F6-13B58DCA9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7E5194-6E82-4A44-99C3-FE7D87F3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0FFF61-433B-62A8-F45C-5EE4F4380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FFFFFF"/>
                </a:solidFill>
              </a:rPr>
              <a:t>5. Phi-4-reasoning-vision-15B Technical Report</a:t>
            </a:r>
            <a:endParaRPr lang="en-GB" sz="2200" dirty="0">
              <a:solidFill>
                <a:srgbClr val="FFFFFF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FCC1E1-84D3-494D-A0A0-286AFA1C3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6E09E90-FF79-402E-AF01-97A279BE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C6946F8-4B9B-4C51-9F51-2DB377392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B3D2B3D-A285-438C-A344-AED3E46A0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14FDD6CE-02EC-BEE5-0ED1-716E46C70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110" y="2052084"/>
            <a:ext cx="3033249" cy="3856229"/>
          </a:xfrm>
        </p:spPr>
        <p:txBody>
          <a:bodyPr anchor="t">
            <a:normAutofit/>
          </a:bodyPr>
          <a:lstStyle/>
          <a:p>
            <a:r>
              <a:rPr lang="en-GB" sz="1600" b="1" dirty="0">
                <a:solidFill>
                  <a:srgbClr val="FFFFFF"/>
                </a:solidFill>
              </a:rPr>
              <a:t>Phi‑4‑Reasoning‑Vision‑15B</a:t>
            </a:r>
            <a:r>
              <a:rPr lang="en-GB" sz="1600" dirty="0">
                <a:solidFill>
                  <a:srgbClr val="FFFFFF"/>
                </a:solidFill>
              </a:rPr>
              <a:t> is an </a:t>
            </a:r>
            <a:r>
              <a:rPr lang="en-GB" sz="1600" b="1" dirty="0">
                <a:solidFill>
                  <a:srgbClr val="FFFFFF"/>
                </a:solidFill>
              </a:rPr>
              <a:t>open‑weight, compact (15B parameter)</a:t>
            </a:r>
            <a:r>
              <a:rPr lang="en-GB" sz="1600" dirty="0">
                <a:solidFill>
                  <a:srgbClr val="FFFFFF"/>
                </a:solidFill>
              </a:rPr>
              <a:t> multimodal model designed to perform </a:t>
            </a:r>
            <a:r>
              <a:rPr lang="en-GB" sz="1600" b="1" dirty="0">
                <a:solidFill>
                  <a:srgbClr val="FFFFFF"/>
                </a:solidFill>
              </a:rPr>
              <a:t>vision–language tasks with strong mathematical, scientific, and GUI‑reasoning abilities</a:t>
            </a:r>
            <a:r>
              <a:rPr lang="en-GB" sz="1600" dirty="0">
                <a:solidFill>
                  <a:srgbClr val="FFFFFF"/>
                </a:solidFill>
              </a:rPr>
              <a:t>. </a:t>
            </a:r>
          </a:p>
          <a:p>
            <a:pPr marL="0" indent="0">
              <a:buNone/>
            </a:pPr>
            <a:endParaRPr lang="en-GB" sz="1600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D388A2-A1AB-EC59-32CB-70F06BC67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800" y="1102335"/>
            <a:ext cx="6866506" cy="465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7025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C2A8E-80BA-0063-D87F-71D77387F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41B39-E1A7-526F-57B9-4FBB46BB3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Phi-4-reasoning-vision-15B Technical Report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F11B28-5233-DDFC-AFF8-0A6DB98D6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paper contributes:</a:t>
            </a:r>
          </a:p>
          <a:p>
            <a:pPr lvl="0"/>
            <a:r>
              <a:rPr lang="en-GB" dirty="0"/>
              <a:t>A </a:t>
            </a:r>
            <a:r>
              <a:rPr lang="en-GB" b="1" dirty="0"/>
              <a:t>mid‑fusion multimodal architecture</a:t>
            </a:r>
            <a:r>
              <a:rPr lang="en-GB" dirty="0"/>
              <a:t> combining SigLIP‑2 and Phi‑4‑Reasoning.</a:t>
            </a:r>
          </a:p>
          <a:p>
            <a:pPr lvl="0"/>
            <a:r>
              <a:rPr lang="en-GB" dirty="0"/>
              <a:t>A </a:t>
            </a:r>
            <a:r>
              <a:rPr lang="en-GB" b="1" dirty="0"/>
              <a:t>high‑resolution dynamic‑resolution vision encoder</a:t>
            </a:r>
            <a:r>
              <a:rPr lang="en-GB" dirty="0"/>
              <a:t> for fine-grained perception.</a:t>
            </a:r>
          </a:p>
          <a:p>
            <a:pPr lvl="0"/>
            <a:r>
              <a:rPr lang="en-GB" dirty="0"/>
              <a:t>A </a:t>
            </a:r>
            <a:r>
              <a:rPr lang="en-GB" b="1" dirty="0"/>
              <a:t>mixed reasoning / non‑reasoning training strategy</a:t>
            </a:r>
            <a:r>
              <a:rPr lang="en-GB" dirty="0"/>
              <a:t> enabling the model to “decide” when to think.</a:t>
            </a:r>
          </a:p>
          <a:p>
            <a:pPr lvl="0"/>
            <a:r>
              <a:rPr lang="en-GB" dirty="0"/>
              <a:t>An emphasis on </a:t>
            </a:r>
            <a:r>
              <a:rPr lang="en-GB" b="1" dirty="0"/>
              <a:t>extreme data quality improvements</a:t>
            </a:r>
            <a:r>
              <a:rPr lang="en-GB" dirty="0"/>
              <a:t>, including filtering, regeneration, augmentation, and error correction of open datasets.</a:t>
            </a:r>
          </a:p>
          <a:p>
            <a:pPr lvl="0"/>
            <a:r>
              <a:rPr lang="en-GB" dirty="0"/>
              <a:t>Evidence that </a:t>
            </a:r>
            <a:r>
              <a:rPr lang="en-GB" b="1" dirty="0"/>
              <a:t>small models can push the Pareto frontier</a:t>
            </a:r>
            <a:r>
              <a:rPr lang="en-GB" dirty="0"/>
              <a:t> in the accuracy‑vs‑compute </a:t>
            </a:r>
            <a:r>
              <a:rPr lang="en-GB" dirty="0" err="1"/>
              <a:t>tradeoff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42259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17174-99D0-A9C5-0029-B53043E07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66190-30F4-A945-1C25-6FF00E04B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Phi-4-reasoning-vision-15B Technical Report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0E2564-AB44-F850-59D8-A63E504C0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paper contributes:</a:t>
            </a:r>
          </a:p>
          <a:p>
            <a:pPr lvl="0"/>
            <a:r>
              <a:rPr lang="en-GB" dirty="0"/>
              <a:t>A </a:t>
            </a:r>
            <a:r>
              <a:rPr lang="en-GB" b="1" dirty="0"/>
              <a:t>mid‑fusion multimodal architecture</a:t>
            </a:r>
            <a:r>
              <a:rPr lang="en-GB" dirty="0"/>
              <a:t> combining SigLIP‑2 and Phi‑4‑Reasoning.</a:t>
            </a:r>
          </a:p>
          <a:p>
            <a:pPr lvl="0"/>
            <a:r>
              <a:rPr lang="en-GB" dirty="0"/>
              <a:t>A </a:t>
            </a:r>
            <a:r>
              <a:rPr lang="en-GB" b="1" dirty="0"/>
              <a:t>high‑resolution dynamic‑resolution vision encoder</a:t>
            </a:r>
            <a:r>
              <a:rPr lang="en-GB" dirty="0"/>
              <a:t> for fine-grained perception.</a:t>
            </a:r>
          </a:p>
          <a:p>
            <a:pPr lvl="0"/>
            <a:r>
              <a:rPr lang="en-GB" dirty="0"/>
              <a:t>A </a:t>
            </a:r>
            <a:r>
              <a:rPr lang="en-GB" b="1" dirty="0"/>
              <a:t>mixed reasoning / non‑reasoning training strategy</a:t>
            </a:r>
            <a:r>
              <a:rPr lang="en-GB" dirty="0"/>
              <a:t> enabling the model to “decide” when to think.</a:t>
            </a:r>
          </a:p>
          <a:p>
            <a:pPr lvl="0"/>
            <a:r>
              <a:rPr lang="en-GB" dirty="0"/>
              <a:t>An emphasis on </a:t>
            </a:r>
            <a:r>
              <a:rPr lang="en-GB" b="1" dirty="0"/>
              <a:t>extreme data quality improvements</a:t>
            </a:r>
            <a:r>
              <a:rPr lang="en-GB" dirty="0"/>
              <a:t>, including filtering, regeneration, augmentation, and error correction of open datasets.</a:t>
            </a:r>
          </a:p>
          <a:p>
            <a:pPr lvl="0"/>
            <a:r>
              <a:rPr lang="en-GB" dirty="0"/>
              <a:t>Evidence that </a:t>
            </a:r>
            <a:r>
              <a:rPr lang="en-GB" b="1" dirty="0"/>
              <a:t>small models can push the Pareto frontier</a:t>
            </a:r>
            <a:r>
              <a:rPr lang="en-GB" dirty="0"/>
              <a:t> in the accuracy‑vs‑compute </a:t>
            </a:r>
            <a:r>
              <a:rPr lang="en-GB" dirty="0" err="1"/>
              <a:t>tradeoff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82136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42A56-BE40-82BA-9242-48C6C4B8A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E14E6-AF61-E8E8-7240-CA5CB2320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Phi-4-reasoning-vision-15B Technical Report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586FF-75A6-306B-E947-4A7DC3D01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Large VLMs increasingly depend on enormous datasets, long outputs, and computationally expensive reasoning. This limits deployment in real-world, interactive settings. Phi‑4‑Reasoning‑Vision‑15B seeks to be:</a:t>
            </a:r>
          </a:p>
          <a:p>
            <a:pPr lvl="0"/>
            <a:r>
              <a:rPr lang="en-GB" dirty="0"/>
              <a:t>Strong at reasoning,</a:t>
            </a:r>
          </a:p>
          <a:p>
            <a:pPr lvl="0"/>
            <a:r>
              <a:rPr lang="en-GB" dirty="0"/>
              <a:t>Efficient in inference,</a:t>
            </a:r>
          </a:p>
          <a:p>
            <a:r>
              <a:rPr lang="en-GB" dirty="0"/>
              <a:t>Competent across tasks including GUI grounding, OCR, math, science, and general VQA.</a:t>
            </a:r>
          </a:p>
        </p:txBody>
      </p:sp>
    </p:spTree>
    <p:extLst>
      <p:ext uri="{BB962C8B-B14F-4D97-AF65-F5344CB8AC3E}">
        <p14:creationId xmlns:p14="http://schemas.microsoft.com/office/powerpoint/2010/main" val="13332883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70CA08-AFEB-FE07-1585-67E03E8D0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36F6DB7-CF8D-494A-82F6-13B58DCA9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7E5194-6E82-4A44-99C3-FE7D87F3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C353FA-FB07-5F6D-4630-35DD0F30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</p:spPr>
        <p:txBody>
          <a:bodyPr>
            <a:normAutofit/>
          </a:bodyPr>
          <a:lstStyle/>
          <a:p>
            <a:r>
              <a:rPr lang="en-GB" sz="2400" b="1">
                <a:solidFill>
                  <a:srgbClr val="FFFFFF"/>
                </a:solidFill>
              </a:rPr>
              <a:t>Architecture</a:t>
            </a:r>
            <a:endParaRPr lang="en-GB" sz="2400">
              <a:solidFill>
                <a:srgbClr val="FFFFFF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FCC1E1-84D3-494D-A0A0-286AFA1C3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6E09E90-FF79-402E-AF01-97A279BE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C6946F8-4B9B-4C51-9F51-2DB377392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B3D2B3D-A285-438C-A344-AED3E46A0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36F8E4A-1CB4-C39A-4611-F3049EF4A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110" y="2052084"/>
            <a:ext cx="3033249" cy="3856229"/>
          </a:xfrm>
        </p:spPr>
        <p:txBody>
          <a:bodyPr anchor="t">
            <a:normAutofit/>
          </a:bodyPr>
          <a:lstStyle/>
          <a:p>
            <a:pPr lvl="0"/>
            <a:r>
              <a:rPr lang="en-GB" sz="1600" b="1" dirty="0">
                <a:solidFill>
                  <a:srgbClr val="FFFFFF"/>
                </a:solidFill>
              </a:rPr>
              <a:t>SigLIP‑2</a:t>
            </a:r>
            <a:r>
              <a:rPr lang="en-GB" sz="1600" dirty="0">
                <a:solidFill>
                  <a:srgbClr val="FFFFFF"/>
                </a:solidFill>
              </a:rPr>
              <a:t> as vision encoder,</a:t>
            </a:r>
          </a:p>
          <a:p>
            <a:pPr lvl="0"/>
            <a:endParaRPr lang="en-GB" sz="1600" dirty="0">
              <a:solidFill>
                <a:srgbClr val="FFFFFF"/>
              </a:solidFill>
            </a:endParaRPr>
          </a:p>
          <a:p>
            <a:pPr lvl="0"/>
            <a:r>
              <a:rPr lang="en-GB" sz="1600" dirty="0">
                <a:solidFill>
                  <a:srgbClr val="FFFFFF"/>
                </a:solidFill>
              </a:rPr>
              <a:t>A learned </a:t>
            </a:r>
            <a:r>
              <a:rPr lang="en-GB" sz="1600" b="1" dirty="0">
                <a:solidFill>
                  <a:srgbClr val="FFFFFF"/>
                </a:solidFill>
              </a:rPr>
              <a:t>MLP projector</a:t>
            </a:r>
            <a:r>
              <a:rPr lang="en-GB" sz="1600" dirty="0">
                <a:solidFill>
                  <a:srgbClr val="FFFFFF"/>
                </a:solidFill>
              </a:rPr>
              <a:t>,</a:t>
            </a:r>
          </a:p>
          <a:p>
            <a:pPr lvl="0"/>
            <a:endParaRPr lang="en-GB" sz="1600" dirty="0">
              <a:solidFill>
                <a:srgbClr val="FFFFFF"/>
              </a:solidFill>
            </a:endParaRPr>
          </a:p>
          <a:p>
            <a:pPr lvl="0"/>
            <a:r>
              <a:rPr lang="en-GB" sz="1600" dirty="0">
                <a:solidFill>
                  <a:srgbClr val="FFFFFF"/>
                </a:solidFill>
              </a:rPr>
              <a:t>The </a:t>
            </a:r>
            <a:r>
              <a:rPr lang="en-GB" sz="1600" b="1" dirty="0">
                <a:solidFill>
                  <a:srgbClr val="FFFFFF"/>
                </a:solidFill>
              </a:rPr>
              <a:t>Phi‑4‑Reasoning</a:t>
            </a:r>
            <a:r>
              <a:rPr lang="en-GB" sz="1600" dirty="0">
                <a:solidFill>
                  <a:srgbClr val="FFFFFF"/>
                </a:solidFill>
              </a:rPr>
              <a:t> LLM backbone,</a:t>
            </a:r>
          </a:p>
          <a:p>
            <a:pPr lvl="0"/>
            <a:endParaRPr lang="en-GB" sz="1600" dirty="0">
              <a:solidFill>
                <a:srgbClr val="FFFFFF"/>
              </a:solidFill>
            </a:endParaRPr>
          </a:p>
          <a:p>
            <a:pPr lvl="0"/>
            <a:r>
              <a:rPr lang="en-GB" sz="1600" dirty="0">
                <a:solidFill>
                  <a:srgbClr val="FFFFFF"/>
                </a:solidFill>
              </a:rPr>
              <a:t>Interleaving visual tokens with text tokens. </a:t>
            </a:r>
          </a:p>
          <a:p>
            <a:r>
              <a:rPr lang="en-GB" b="1" dirty="0"/>
              <a:t>Dynamic‑Resolution Encoder</a:t>
            </a:r>
            <a:endParaRPr lang="en-GB" dirty="0"/>
          </a:p>
          <a:p>
            <a:pPr lvl="0"/>
            <a:endParaRPr lang="en-GB" sz="1600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268B0-E78B-E0BE-2FD8-1A93E0A38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800" y="1831900"/>
            <a:ext cx="6866506" cy="319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541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2C408-14BE-EB0D-C7B4-DEB42B13C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4544B-11C9-F57D-B2B6-3044CD95A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Training Pipeline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7AC8AD-7A50-95C5-DB78-AC507360A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MLP pretraining</a:t>
            </a:r>
            <a:r>
              <a:rPr lang="en-GB" dirty="0"/>
              <a:t> (align image–text spaces)</a:t>
            </a:r>
          </a:p>
          <a:p>
            <a:pPr lvl="0"/>
            <a:r>
              <a:rPr lang="en-GB" b="1" dirty="0"/>
              <a:t>Full instruction tuning</a:t>
            </a:r>
            <a:r>
              <a:rPr lang="en-GB" dirty="0"/>
              <a:t> (single-image, diverse tasks)</a:t>
            </a:r>
          </a:p>
          <a:p>
            <a:r>
              <a:rPr lang="en-GB" b="1" dirty="0"/>
              <a:t>Long‑context, multi-image &amp; RAI</a:t>
            </a:r>
            <a:r>
              <a:rPr lang="en-GB" dirty="0"/>
              <a:t> (responsible AI, safety, document tasks)</a:t>
            </a:r>
          </a:p>
        </p:txBody>
      </p:sp>
    </p:spTree>
    <p:extLst>
      <p:ext uri="{BB962C8B-B14F-4D97-AF65-F5344CB8AC3E}">
        <p14:creationId xmlns:p14="http://schemas.microsoft.com/office/powerpoint/2010/main" val="15962105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E1FD0-BB63-512F-7DB9-357BBB43C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19C94-C2F4-28DA-3773-2911B463C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Evaluation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5E8133-CD09-E1FD-DB01-8EE76DAED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Math (</a:t>
            </a:r>
            <a:r>
              <a:rPr lang="en-GB" dirty="0" err="1"/>
              <a:t>MathVista</a:t>
            </a:r>
            <a:r>
              <a:rPr lang="en-GB" dirty="0"/>
              <a:t>, </a:t>
            </a:r>
            <a:r>
              <a:rPr lang="en-GB" dirty="0" err="1"/>
              <a:t>MathVerse</a:t>
            </a:r>
            <a:r>
              <a:rPr lang="en-GB" dirty="0"/>
              <a:t>, </a:t>
            </a:r>
            <a:r>
              <a:rPr lang="en-GB" dirty="0" err="1"/>
              <a:t>MathVision</a:t>
            </a:r>
            <a:r>
              <a:rPr lang="en-GB" dirty="0"/>
              <a:t>)</a:t>
            </a:r>
          </a:p>
          <a:p>
            <a:pPr lvl="0"/>
            <a:r>
              <a:rPr lang="en-GB" dirty="0"/>
              <a:t>Charts (</a:t>
            </a:r>
            <a:r>
              <a:rPr lang="en-GB" dirty="0" err="1"/>
              <a:t>ChartQA</a:t>
            </a:r>
            <a:r>
              <a:rPr lang="en-GB" dirty="0"/>
              <a:t>)</a:t>
            </a:r>
          </a:p>
          <a:p>
            <a:pPr lvl="0"/>
            <a:r>
              <a:rPr lang="en-GB" dirty="0"/>
              <a:t>Documents (</a:t>
            </a:r>
            <a:r>
              <a:rPr lang="en-GB" dirty="0" err="1"/>
              <a:t>OCRBench</a:t>
            </a:r>
            <a:r>
              <a:rPr lang="en-GB" dirty="0"/>
              <a:t>)</a:t>
            </a:r>
          </a:p>
          <a:p>
            <a:pPr lvl="0"/>
            <a:r>
              <a:rPr lang="en-GB" dirty="0"/>
              <a:t>GUI grounding (</a:t>
            </a:r>
            <a:r>
              <a:rPr lang="en-GB" dirty="0" err="1"/>
              <a:t>ScreenSpot</a:t>
            </a:r>
            <a:r>
              <a:rPr lang="en-GB" dirty="0"/>
              <a:t>)</a:t>
            </a:r>
          </a:p>
          <a:p>
            <a:r>
              <a:rPr lang="en-GB" dirty="0"/>
              <a:t>General multimodal reasoning (MMMU, AI2D)</a:t>
            </a:r>
          </a:p>
        </p:txBody>
      </p:sp>
    </p:spTree>
    <p:extLst>
      <p:ext uri="{BB962C8B-B14F-4D97-AF65-F5344CB8AC3E}">
        <p14:creationId xmlns:p14="http://schemas.microsoft.com/office/powerpoint/2010/main" val="41080780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CE5AD-77A2-0A3A-389E-E89ACBCE3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2ABD3-598F-5F03-0F60-28325857A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181" y="999201"/>
            <a:ext cx="11029616" cy="10138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Contributions of the Paper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30FF6C-9E18-7029-397A-8434AAC47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1. A compact, efficient multimodal reasoning model</a:t>
            </a:r>
            <a:endParaRPr lang="en-GB" dirty="0"/>
          </a:p>
          <a:p>
            <a:pPr lvl="0"/>
            <a:r>
              <a:rPr lang="en-GB" dirty="0"/>
              <a:t>Rigorous data filtering,</a:t>
            </a:r>
          </a:p>
          <a:p>
            <a:pPr lvl="0"/>
            <a:r>
              <a:rPr lang="en-GB" dirty="0"/>
              <a:t>Dynamic resolution perception,</a:t>
            </a:r>
          </a:p>
          <a:p>
            <a:r>
              <a:rPr lang="en-GB" dirty="0"/>
              <a:t>Efficient reasoning training. </a:t>
            </a:r>
          </a:p>
          <a:p>
            <a:pPr marL="0" indent="0">
              <a:buNone/>
            </a:pPr>
            <a:r>
              <a:rPr lang="en-GB" b="1" dirty="0"/>
              <a:t>2. </a:t>
            </a:r>
            <a:r>
              <a:rPr lang="en-GB" dirty="0"/>
              <a:t>Systematic ablation of vision encoder strategies. Dynamic resolution with large token budgets performs best. </a:t>
            </a:r>
          </a:p>
        </p:txBody>
      </p:sp>
    </p:spTree>
    <p:extLst>
      <p:ext uri="{BB962C8B-B14F-4D97-AF65-F5344CB8AC3E}">
        <p14:creationId xmlns:p14="http://schemas.microsoft.com/office/powerpoint/2010/main" val="31831683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6641B-E7A7-561A-CFF3-9E24C3337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736A4-6975-EED3-4A42-D5FA1BA2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181" y="999201"/>
            <a:ext cx="11029616" cy="10138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Contributions of the Paper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A3738D-9110-3765-2D51-A2365B6F7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3. </a:t>
            </a:r>
            <a:r>
              <a:rPr lang="en-GB" dirty="0"/>
              <a:t>Mixed-mode reasoning framework: A practical approach for controlling reasoning behaviour without reinforcement learning or excessive data. 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4. </a:t>
            </a:r>
            <a:r>
              <a:rPr lang="en-GB" dirty="0"/>
              <a:t>Strong GUI grounding &amp; computer-use abilities</a:t>
            </a:r>
            <a:r>
              <a:rPr lang="en-GB" b="1" dirty="0"/>
              <a:t>: </a:t>
            </a:r>
            <a:r>
              <a:rPr lang="en-GB" dirty="0"/>
              <a:t>Thanks to high‑resolution perception and curated GUI datasets.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5. </a:t>
            </a:r>
            <a:r>
              <a:rPr lang="en-GB" dirty="0"/>
              <a:t>High-quality, curated open-source data pipeline: A data-centric contribution with broad value for the community.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56752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05AEA-EE13-8407-79A8-FEEBFD19F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16692-C3B9-6562-D841-1C3A9C72A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301" y="1327005"/>
            <a:ext cx="11029616" cy="10138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Gaps in Research (Open Problems Identified in the Paper)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AADAE-0CA9-087A-4983-A4E9B148D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Dynamic resolution improves performance but increases cost quadratically with tokens.</a:t>
            </a:r>
          </a:p>
          <a:p>
            <a:r>
              <a:rPr lang="en-GB" dirty="0"/>
              <a:t>The boundary between reasoning and non‑reasoning is still implicitly learned</a:t>
            </a:r>
          </a:p>
          <a:p>
            <a:r>
              <a:rPr lang="en-GB" dirty="0"/>
              <a:t>The ratio between math, GUI, and general data is unresolved at larger scales</a:t>
            </a:r>
          </a:p>
          <a:p>
            <a:r>
              <a:rPr lang="en-GB" dirty="0"/>
              <a:t>Handling extreme data imbalance</a:t>
            </a:r>
          </a:p>
          <a:p>
            <a:r>
              <a:rPr lang="en-GB" dirty="0"/>
              <a:t>Fine-grained image understanding remains limited</a:t>
            </a:r>
          </a:p>
          <a:p>
            <a:r>
              <a:rPr lang="en-GB" dirty="0"/>
              <a:t>Safety in multimodal contexts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07543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03302-4CB1-492D-AC16-49BCD9C06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6C7BE-E843-67EB-4EC5-1E4A39DE7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301" y="1327005"/>
            <a:ext cx="11029616" cy="10138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Gaps in Research (Open Problems Identified in the Paper)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8AE665-AFC4-48FF-A8E8-7C0342C19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Dynamic resolution improves performance but increases cost quadratically with tokens.</a:t>
            </a:r>
          </a:p>
          <a:p>
            <a:r>
              <a:rPr lang="en-GB" dirty="0"/>
              <a:t>The boundary between reasoning and non‑reasoning is still implicitly learned</a:t>
            </a:r>
          </a:p>
          <a:p>
            <a:r>
              <a:rPr lang="en-GB" dirty="0"/>
              <a:t>The ratio between math, GUI, and general data is unresolved at larger scales</a:t>
            </a:r>
          </a:p>
          <a:p>
            <a:r>
              <a:rPr lang="en-GB" dirty="0"/>
              <a:t>Handling extreme data imbalance</a:t>
            </a:r>
          </a:p>
          <a:p>
            <a:r>
              <a:rPr lang="en-GB" dirty="0"/>
              <a:t>Fine-grained image understanding remains limited</a:t>
            </a:r>
          </a:p>
          <a:p>
            <a:r>
              <a:rPr lang="en-GB" dirty="0"/>
              <a:t>Safety in multimodal contexts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55751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F153C-4A08-C7D7-A0DA-E7207036C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3F88D-D0FD-EF30-3504-B98A1B0FC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301" y="1327005"/>
            <a:ext cx="11029616" cy="10138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Future Work Suggested by the Paper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1A15DD-36EC-7803-3860-4AF9EB617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Text-conditioned adaptive vision tokenization</a:t>
            </a:r>
          </a:p>
          <a:p>
            <a:r>
              <a:rPr lang="en-GB" dirty="0"/>
              <a:t>Improving reasoning-mode switching</a:t>
            </a:r>
          </a:p>
          <a:p>
            <a:r>
              <a:rPr lang="en-GB" dirty="0"/>
              <a:t>Large-scale experiments on data composition</a:t>
            </a:r>
          </a:p>
          <a:p>
            <a:r>
              <a:rPr lang="en-GB" dirty="0"/>
              <a:t>Better grounding and high-resolution perception</a:t>
            </a:r>
          </a:p>
          <a:p>
            <a:r>
              <a:rPr lang="en-GB" dirty="0"/>
              <a:t>Enhanced safety for multimodal reasoning</a:t>
            </a:r>
          </a:p>
          <a:p>
            <a:r>
              <a:rPr lang="en-GB" dirty="0"/>
              <a:t>Release of training data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45333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704F3-5FF9-2A46-36A1-1579BB9DD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GB" sz="1800" b="1" dirty="0">
                <a:solidFill>
                  <a:srgbClr val="FFFFFF"/>
                </a:solidFill>
              </a:rPr>
              <a:t> </a:t>
            </a:r>
            <a:br>
              <a:rPr lang="en-GB" sz="2000" b="1" dirty="0">
                <a:solidFill>
                  <a:srgbClr val="FFFFFF"/>
                </a:solidFill>
              </a:rPr>
            </a:br>
            <a:r>
              <a:rPr lang="en-GB" sz="2000" b="1" dirty="0">
                <a:solidFill>
                  <a:srgbClr val="FFFFFF"/>
                </a:solidFill>
              </a:rPr>
              <a:t>Visualizing LLM Latent Space Geometry Through Dimensionality Reduction</a:t>
            </a:r>
            <a:br>
              <a:rPr lang="en-GB" sz="1800" dirty="0">
                <a:solidFill>
                  <a:srgbClr val="FFFFFF"/>
                </a:solidFill>
              </a:rPr>
            </a:br>
            <a:endParaRPr lang="en-GB" sz="1800" dirty="0">
              <a:solidFill>
                <a:srgbClr val="FFFFFF"/>
              </a:solidFill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661D03-4DD4-45E7-A047-ED722E826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7F8A66-9B5C-59F3-5E34-0037EFF18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622471"/>
            <a:ext cx="4962525" cy="312638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A1A43-DB4B-4F45-3AD0-6A8892175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r>
              <a:rPr lang="en-GB" b="1" dirty="0"/>
              <a:t>A full pipeline for extracting and visualizing LLM latent states</a:t>
            </a:r>
          </a:p>
          <a:p>
            <a:r>
              <a:rPr lang="en-GB" dirty="0"/>
              <a:t>The paper develops a three‑stage workflow:</a:t>
            </a:r>
          </a:p>
          <a:p>
            <a:pPr lvl="0"/>
            <a:r>
              <a:rPr lang="en-GB" dirty="0"/>
              <a:t>Latent state extraction from multiple capture points inside each Transformer block.</a:t>
            </a:r>
          </a:p>
          <a:p>
            <a:pPr lvl="0"/>
            <a:r>
              <a:rPr lang="en-GB" dirty="0"/>
              <a:t>Data processing (filtering, aggregation, and optional preliminary PCA).</a:t>
            </a:r>
          </a:p>
          <a:p>
            <a:r>
              <a:rPr lang="en-GB" dirty="0"/>
              <a:t>Dimensionality reduction &amp; visualization using PCA/UMAP. This enables reproducible geometric analysis of LLM internals. </a:t>
            </a:r>
          </a:p>
        </p:txBody>
      </p:sp>
    </p:spTree>
    <p:extLst>
      <p:ext uri="{BB962C8B-B14F-4D97-AF65-F5344CB8AC3E}">
        <p14:creationId xmlns:p14="http://schemas.microsoft.com/office/powerpoint/2010/main" val="31565492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22E1A-F7A3-9074-F692-32A386E9B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47725"/>
            <a:ext cx="11029616" cy="10138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Discovery of a new geometric signature: MLP vs. Attention separation</a:t>
            </a:r>
            <a:br>
              <a:rPr lang="en-GB" b="1" dirty="0"/>
            </a:br>
            <a:endParaRPr lang="en-GB" dirty="0">
              <a:solidFill>
                <a:srgbClr val="FFFFFF"/>
              </a:solidFill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661D03-4DD4-45E7-A047-ED722E826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F5CBBD-A6F4-B35B-8108-15C3C7E72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898" y="2361056"/>
            <a:ext cx="4021179" cy="364921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859CA-CBE1-2939-0EC4-96BF929BA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r>
              <a:rPr lang="en-GB" dirty="0"/>
              <a:t>The authors observe a clear geometric separation between the latent outputs of:</a:t>
            </a:r>
          </a:p>
          <a:p>
            <a:pPr lvl="0"/>
            <a:r>
              <a:rPr lang="en-GB" dirty="0"/>
              <a:t>Attention modules and</a:t>
            </a:r>
          </a:p>
          <a:p>
            <a:pPr lvl="0"/>
            <a:r>
              <a:rPr lang="en-GB" dirty="0"/>
              <a:t>MLP modules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66705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F3A65-3BFE-CFD0-96C9-2EAE859EC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GB" b="1" dirty="0"/>
              <a:t>Analysis of high-norm latent states at the initial sequence position</a:t>
            </a:r>
            <a:endParaRPr lang="en-GB" dirty="0">
              <a:solidFill>
                <a:srgbClr val="FFFFFF"/>
              </a:solidFill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E661D03-4DD4-45E7-A047-ED722E826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6D6AD7-744E-1FB7-98D7-B2159B2AF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634876"/>
            <a:ext cx="4962525" cy="3101578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95CD77B-1C89-D6BF-B208-8FA038314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r>
              <a:rPr lang="en-GB" dirty="0"/>
              <a:t>The 0‑th token position (initial token) exhibits unusually high vector norms, even for normal vocabulary tokens in </a:t>
            </a:r>
            <a:r>
              <a:rPr lang="en-GB" dirty="0" err="1"/>
              <a:t>LLaMa</a:t>
            </a:r>
            <a:r>
              <a:rPr lang="en-GB" dirty="0"/>
              <a:t>. This:</a:t>
            </a:r>
          </a:p>
          <a:p>
            <a:pPr lvl="0"/>
            <a:r>
              <a:rPr lang="en-GB" dirty="0"/>
              <a:t>And impacts dimensionality reduction due to norm outliers.</a:t>
            </a:r>
            <a:br>
              <a:rPr lang="en-GB" dirty="0"/>
            </a:br>
            <a:r>
              <a:rPr lang="en-GB" dirty="0"/>
              <a:t>This suggests models implement special mechanisms for the initial token.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8275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879A26B8-6C4E-452B-ADD3-ED324A7AB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4167E1-E2B0-4192-8DA2-6967DDFF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560996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16805C-65EE-B742-F527-5E22AA40E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21" y="960723"/>
            <a:ext cx="4968489" cy="1013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200" b="1">
                <a:solidFill>
                  <a:srgbClr val="FFFFFF"/>
                </a:solidFill>
              </a:rPr>
              <a:t>Visualization of layerwise evolution of latent states</a:t>
            </a:r>
            <a:endParaRPr lang="en-GB" sz="2200">
              <a:solidFill>
                <a:srgbClr val="FFFFFF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3E4FEE-2E6A-44AB-B6BA-C1AD0CD6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560581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17EB59-13B3-43DA-9B91-A7CC174A6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4318" y="457200"/>
            <a:ext cx="5600007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3" name="Content Placeholder 8">
            <a:extLst>
              <a:ext uri="{FF2B5EF4-FFF2-40B4-BE49-F238E27FC236}">
                <a16:creationId xmlns:a16="http://schemas.microsoft.com/office/drawing/2014/main" id="{1FB0D1AA-7AC2-1BA8-CA95-F550E3D0B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387" y="2254102"/>
            <a:ext cx="4947221" cy="3650344"/>
          </a:xfrm>
        </p:spPr>
        <p:txBody>
          <a:bodyPr>
            <a:normAutofit/>
          </a:bodyPr>
          <a:lstStyle/>
          <a:p>
            <a:pPr lvl="0"/>
            <a:r>
              <a:rPr lang="en-GB">
                <a:solidFill>
                  <a:srgbClr val="FFFFFF"/>
                </a:solidFill>
              </a:rPr>
              <a:t>Latent state norms rise across layers</a:t>
            </a:r>
          </a:p>
          <a:p>
            <a:pPr marL="0" lvl="0" indent="0">
              <a:buNone/>
            </a:pPr>
            <a:endParaRPr lang="en-GB">
              <a:solidFill>
                <a:srgbClr val="FFFFFF"/>
              </a:solidFill>
            </a:endParaRPr>
          </a:p>
          <a:p>
            <a:pPr lvl="0"/>
            <a:r>
              <a:rPr lang="en-GB">
                <a:solidFill>
                  <a:srgbClr val="FFFFFF"/>
                </a:solidFill>
              </a:rPr>
              <a:t>Peaks near the final transformer block</a:t>
            </a:r>
          </a:p>
          <a:p>
            <a:pPr marL="0" lvl="0" indent="0">
              <a:buNone/>
            </a:pPr>
            <a:endParaRPr lang="en-GB">
              <a:solidFill>
                <a:srgbClr val="FFFFFF"/>
              </a:solidFill>
            </a:endParaRPr>
          </a:p>
          <a:p>
            <a:r>
              <a:rPr lang="en-GB">
                <a:solidFill>
                  <a:srgbClr val="FFFFFF"/>
                </a:solidFill>
              </a:rPr>
              <a:t>Drop after the final normalization layer.</a:t>
            </a:r>
            <a:br>
              <a:rPr lang="en-GB">
                <a:solidFill>
                  <a:srgbClr val="FFFFFF"/>
                </a:solidFill>
              </a:rPr>
            </a:br>
            <a:r>
              <a:rPr lang="en-GB">
                <a:solidFill>
                  <a:srgbClr val="FFFFFF"/>
                </a:solidFill>
              </a:rPr>
              <a:t>PCA visualizations reveal clear layerwise trajectories in latent space for both GPT‑2 and LLaMa.</a:t>
            </a:r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8105E4-5909-E249-F1F5-5744D1CD78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06" r="5522" b="2"/>
          <a:stretch>
            <a:fillRect/>
          </a:stretch>
        </p:blipFill>
        <p:spPr>
          <a:xfrm>
            <a:off x="6071618" y="960723"/>
            <a:ext cx="6022232" cy="432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109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49E2A-4121-72B0-3070-74F996232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FFFFF"/>
                </a:solidFill>
              </a:rPr>
              <a:t>Geometric structure of positional information</a:t>
            </a:r>
            <a:br>
              <a:rPr lang="en-GB" dirty="0">
                <a:solidFill>
                  <a:srgbClr val="FFFFFF"/>
                </a:solidFill>
              </a:rPr>
            </a:br>
            <a:endParaRPr lang="en-GB" dirty="0">
              <a:solidFill>
                <a:srgbClr val="FFFFFF"/>
              </a:solidFill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E661D03-4DD4-45E7-A047-ED722E826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9EF419-A07D-8EE4-FBB6-5F761DA51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286" y="2361056"/>
            <a:ext cx="3366403" cy="3649219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1B920CA-23C3-B7A7-4741-72F3F037B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r>
              <a:rPr lang="en-GB" b="1" dirty="0"/>
              <a:t>GPT‑2 (learned embeddings):</a:t>
            </a:r>
            <a:endParaRPr lang="en-GB" dirty="0"/>
          </a:p>
          <a:p>
            <a:pPr lvl="0"/>
            <a:r>
              <a:rPr lang="en-GB" dirty="0"/>
              <a:t>Exhibits a helical high-dimensional positional structure, consistent with prior findings.</a:t>
            </a:r>
          </a:p>
          <a:p>
            <a:r>
              <a:rPr lang="en-GB" dirty="0"/>
              <a:t>Visible across multiple PCA dimensions. </a:t>
            </a:r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7433432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F88B-F620-D023-0111-7AFBAF7E3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FFFFF"/>
                </a:solidFill>
              </a:rPr>
              <a:t>Geometric structure of positional information</a:t>
            </a:r>
            <a:endParaRPr lang="en-GB" dirty="0">
              <a:solidFill>
                <a:srgbClr val="FFFFFF"/>
              </a:solidFill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E661D03-4DD4-45E7-A047-ED722E826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F3D6A85-B754-9D8E-52BC-7618C3219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301" y="2361056"/>
            <a:ext cx="3512373" cy="3649219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4C0C439-8AE9-600E-1B82-1FDCE93D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r>
              <a:rPr lang="en-GB" b="1" dirty="0" err="1"/>
              <a:t>LLaMa</a:t>
            </a:r>
            <a:r>
              <a:rPr lang="en-GB" b="1" dirty="0"/>
              <a:t> (</a:t>
            </a:r>
            <a:r>
              <a:rPr lang="en-GB" b="1" dirty="0" err="1"/>
              <a:t>RoPE</a:t>
            </a:r>
            <a:r>
              <a:rPr lang="en-GB" b="1" dirty="0"/>
              <a:t>):</a:t>
            </a:r>
            <a:endParaRPr lang="en-GB" dirty="0"/>
          </a:p>
          <a:p>
            <a:pPr lvl="0"/>
            <a:r>
              <a:rPr lang="en-GB" dirty="0"/>
              <a:t>Shows lower‑dimensional geometric patterns,</a:t>
            </a:r>
          </a:p>
          <a:p>
            <a:pPr lvl="0"/>
            <a:r>
              <a:rPr lang="en-GB" dirty="0"/>
              <a:t>With early sequence positions forming long “tails” before converging,</a:t>
            </a:r>
          </a:p>
          <a:p>
            <a:r>
              <a:rPr lang="en-GB" dirty="0"/>
              <a:t>But less pronounced than GPT‑2 because </a:t>
            </a:r>
            <a:r>
              <a:rPr lang="en-GB" dirty="0" err="1"/>
              <a:t>RoPE</a:t>
            </a:r>
            <a:r>
              <a:rPr lang="en-GB" dirty="0"/>
              <a:t> interacts differently with attention.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7390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F3BCC-626C-366B-A445-9F2213A8F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200" b="1">
                <a:solidFill>
                  <a:srgbClr val="FFFFFF"/>
                </a:solidFill>
              </a:rPr>
              <a:t>Repeating token experiment (new behavioral insight)</a:t>
            </a:r>
            <a:br>
              <a:rPr lang="en-GB" sz="2200">
                <a:solidFill>
                  <a:srgbClr val="FFFFFF"/>
                </a:solidFill>
              </a:rPr>
            </a:br>
            <a:r>
              <a:rPr lang="en-GB" sz="2200" b="1">
                <a:solidFill>
                  <a:srgbClr val="FFFFFF"/>
                </a:solidFill>
              </a:rPr>
              <a:t>For LLaMa, repeated “e” tokens show:</a:t>
            </a:r>
            <a:br>
              <a:rPr lang="en-GB" sz="2200">
                <a:solidFill>
                  <a:srgbClr val="FFFFFF"/>
                </a:solidFill>
              </a:rPr>
            </a:br>
            <a:endParaRPr lang="en-GB" sz="2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3979A-D4CA-D33D-5566-298DF44F4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386" y="2180496"/>
            <a:ext cx="7225075" cy="36783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For </a:t>
            </a:r>
            <a:r>
              <a:rPr lang="en-GB" b="1" dirty="0" err="1"/>
              <a:t>LLaMa</a:t>
            </a:r>
            <a:r>
              <a:rPr lang="en-GB" b="1" dirty="0"/>
              <a:t>, repeated “e” tokens show:</a:t>
            </a:r>
            <a:endParaRPr lang="en-GB" dirty="0"/>
          </a:p>
          <a:p>
            <a:pPr lvl="0"/>
            <a:r>
              <a:rPr lang="en-GB" dirty="0"/>
              <a:t>Convergence of latent states over long sequences,</a:t>
            </a:r>
          </a:p>
          <a:p>
            <a:pPr lvl="0"/>
            <a:r>
              <a:rPr lang="en-GB" dirty="0"/>
              <a:t>Later tokens drift toward a direction similar to the &lt;BOS&gt; token,</a:t>
            </a:r>
          </a:p>
          <a:p>
            <a:pPr lvl="0"/>
            <a:r>
              <a:rPr lang="en-GB" dirty="0"/>
              <a:t>Matching prior observations about “massive activations”.</a:t>
            </a:r>
            <a:br>
              <a:rPr lang="en-GB" dirty="0"/>
            </a:br>
            <a:r>
              <a:rPr lang="en-GB" dirty="0"/>
              <a:t>This suggests </a:t>
            </a:r>
            <a:r>
              <a:rPr lang="en-GB" dirty="0" err="1"/>
              <a:t>RoPE</a:t>
            </a:r>
            <a:r>
              <a:rPr lang="en-GB" dirty="0"/>
              <a:t>-based models may normalize repeated contexts by compressing long repeated sequences into a stable representation.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DCF5BF-F126-F4A3-7E58-38E8F36118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1" r="3" b="3"/>
          <a:stretch>
            <a:fillRect/>
          </a:stretch>
        </p:blipFill>
        <p:spPr>
          <a:xfrm>
            <a:off x="7736460" y="1871133"/>
            <a:ext cx="4333619" cy="488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9472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BBEC6-0533-6C90-8C94-F673885EB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30E60-8606-0A57-3DCC-2323680DB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Focus more on text based LLMs only.</a:t>
            </a:r>
          </a:p>
          <a:p>
            <a:r>
              <a:rPr lang="en-GB" dirty="0"/>
              <a:t>What are their key challenges to make them trustworthy?</a:t>
            </a:r>
          </a:p>
          <a:p>
            <a:r>
              <a:rPr lang="en-GB" dirty="0"/>
              <a:t>Develop clustering based </a:t>
            </a:r>
            <a:r>
              <a:rPr lang="en-GB" dirty="0" err="1"/>
              <a:t>PoCs</a:t>
            </a:r>
            <a:r>
              <a:rPr lang="en-GB" dirty="0"/>
              <a:t> with d3.js</a:t>
            </a:r>
          </a:p>
          <a:p>
            <a:r>
              <a:rPr lang="en-GB" dirty="0"/>
              <a:t>Cite only peer reviewed papers(journals, conferences)</a:t>
            </a:r>
          </a:p>
          <a:p>
            <a:r>
              <a:rPr lang="en-GB" dirty="0"/>
              <a:t>Avoid technical jargon and explain them in simple words.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291417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Metadata/LabelInfo.xml><?xml version="1.0" encoding="utf-8"?>
<clbl:labelList xmlns:clbl="http://schemas.microsoft.com/office/2020/mipLabelMetadata">
  <clbl:label id="{d79a8112-4fbe-417a-a112-cd0fb490d85c}" enabled="0" method="" siteId="{d79a8112-4fbe-417a-a112-cd0fb490d85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936</TotalTime>
  <Words>2324</Words>
  <Application>Microsoft Office PowerPoint</Application>
  <PresentationFormat>Widescreen</PresentationFormat>
  <Paragraphs>271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Gill Sans MT</vt:lpstr>
      <vt:lpstr>system-ui</vt:lpstr>
      <vt:lpstr>Wingdings 2</vt:lpstr>
      <vt:lpstr>Dividend</vt:lpstr>
      <vt:lpstr>PHD Progression</vt:lpstr>
      <vt:lpstr>1. BLIP: Bootstrapping Language-image pre-training for Unified Vision-Language Understanding and Generation</vt:lpstr>
      <vt:lpstr>BLIP: Bootstrapping Language-image pre-training for Unified Vision-Language Understanding and Generation</vt:lpstr>
      <vt:lpstr>BLIP: Bootstrapping Language-image pre-training for Unified Vision-Language Understanding and Generation</vt:lpstr>
      <vt:lpstr>BLIP: Bootstrapping Language-image pre-training for Unified Vision-Language Understanding and Generation</vt:lpstr>
      <vt:lpstr>CapFilt Pipeline</vt:lpstr>
      <vt:lpstr>BLIP: POC</vt:lpstr>
      <vt:lpstr>Blip: POC</vt:lpstr>
      <vt:lpstr>Challenges of developing Blip: POC</vt:lpstr>
      <vt:lpstr>PowerPoint Presentation</vt:lpstr>
      <vt:lpstr>3. Recent Application of Explainable AI(XAI): A Systematic Literature review</vt:lpstr>
      <vt:lpstr>Top domains</vt:lpstr>
      <vt:lpstr>Most Common XAI Methods Used</vt:lpstr>
      <vt:lpstr>Most Common XAI Methods Used</vt:lpstr>
      <vt:lpstr>Most Common XAI Methods Used</vt:lpstr>
      <vt:lpstr>ML Models &amp; Tasks Used</vt:lpstr>
      <vt:lpstr>ML Models &amp; Tasks Used</vt:lpstr>
      <vt:lpstr>Evaluation of XAI Methods is a Major Weakness</vt:lpstr>
      <vt:lpstr>4. Visual Analytics for Explainable AI</vt:lpstr>
      <vt:lpstr>Visualization Techniques for Explaining AI</vt:lpstr>
      <vt:lpstr>Visualization Techniques for Explaining AI</vt:lpstr>
      <vt:lpstr>Challenges Identified</vt:lpstr>
      <vt:lpstr>Evaluation &amp; User-Centered Design</vt:lpstr>
      <vt:lpstr>Future Directions</vt:lpstr>
      <vt:lpstr>5. Phi-4-reasoning-vision-15B Technical Report</vt:lpstr>
      <vt:lpstr>Phi-4-reasoning-vision-15B Technical Report</vt:lpstr>
      <vt:lpstr>Phi-4-reasoning-vision-15B Technical Report</vt:lpstr>
      <vt:lpstr>Phi-4-reasoning-vision-15B Technical Report</vt:lpstr>
      <vt:lpstr>Architecture</vt:lpstr>
      <vt:lpstr>Training Pipeline</vt:lpstr>
      <vt:lpstr>Evaluation </vt:lpstr>
      <vt:lpstr>Contributions of the Paper  </vt:lpstr>
      <vt:lpstr>Contributions of the Paper  </vt:lpstr>
      <vt:lpstr>Gaps in Research (Open Problems Identified in the Paper)   </vt:lpstr>
      <vt:lpstr>Gaps in Research (Open Problems Identified in the Paper)   </vt:lpstr>
      <vt:lpstr>Future Work Suggested by the Paper  </vt:lpstr>
      <vt:lpstr>  Visualizing LLM Latent Space Geometry Through Dimensionality Reduction </vt:lpstr>
      <vt:lpstr>Discovery of a new geometric signature: MLP vs. Attention separation </vt:lpstr>
      <vt:lpstr>Analysis of high-norm latent states at the initial sequence position</vt:lpstr>
      <vt:lpstr>Visualization of layerwise evolution of latent states</vt:lpstr>
      <vt:lpstr>Geometric structure of positional information </vt:lpstr>
      <vt:lpstr>Geometric structure of positional information</vt:lpstr>
      <vt:lpstr>Repeating token experiment (new behavioral insight) For LLaMa, repeated “e” tokens show: </vt:lpstr>
      <vt:lpstr>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Olanrewaju, Emmanuel (Student)</cp:lastModifiedBy>
  <cp:revision>2</cp:revision>
  <dcterms:created xsi:type="dcterms:W3CDTF">2026-03-09T10:57:10Z</dcterms:created>
  <dcterms:modified xsi:type="dcterms:W3CDTF">2026-03-18T19:13:25Z</dcterms:modified>
</cp:coreProperties>
</file>